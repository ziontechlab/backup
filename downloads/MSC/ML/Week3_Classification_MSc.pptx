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06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0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5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637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07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2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0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0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56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54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372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06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28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40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32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78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04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dirty="0"/>
              <a:t>Week 3 – </a:t>
            </a:r>
            <a:r>
              <a:rPr sz="4000" dirty="0"/>
              <a:t>Classification</a:t>
            </a:r>
            <a:r>
              <a:rPr sz="4800" dirty="0"/>
              <a:t> &amp;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dirty="0"/>
              <a:t>• </a:t>
            </a:r>
            <a:r>
              <a:rPr sz="2800" dirty="0"/>
              <a:t>Understand classification concepts</a:t>
            </a:r>
          </a:p>
          <a:p>
            <a:pPr marL="0" indent="0">
              <a:lnSpc>
                <a:spcPct val="200000"/>
              </a:lnSpc>
              <a:buNone/>
            </a:pPr>
            <a:r>
              <a:rPr sz="2800" dirty="0"/>
              <a:t>• Training </a:t>
            </a:r>
            <a:r>
              <a:rPr sz="2800" dirty="0" err="1"/>
              <a:t>vs</a:t>
            </a:r>
            <a:r>
              <a:rPr sz="2800" dirty="0"/>
              <a:t> Testing datasets</a:t>
            </a:r>
          </a:p>
          <a:p>
            <a:pPr marL="0" indent="0">
              <a:lnSpc>
                <a:spcPct val="200000"/>
              </a:lnSpc>
              <a:buNone/>
            </a:pPr>
            <a:r>
              <a:rPr sz="2800" dirty="0"/>
              <a:t>• Evaluation metrics</a:t>
            </a:r>
          </a:p>
          <a:p>
            <a:pPr marL="0" indent="0">
              <a:lnSpc>
                <a:spcPct val="200000"/>
              </a:lnSpc>
              <a:buNone/>
            </a:pPr>
            <a:r>
              <a:rPr sz="2800" dirty="0"/>
              <a:t>• Confusion matrix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dirty="0"/>
              <a:t>Supervised learning technique</a:t>
            </a:r>
          </a:p>
          <a:p>
            <a:pPr>
              <a:lnSpc>
                <a:spcPct val="250000"/>
              </a:lnSpc>
            </a:pPr>
            <a:r>
              <a:rPr dirty="0"/>
              <a:t>Predicts categorical outputs</a:t>
            </a:r>
          </a:p>
          <a:p>
            <a:pPr>
              <a:lnSpc>
                <a:spcPct val="250000"/>
              </a:lnSpc>
            </a:pPr>
            <a:r>
              <a:rPr dirty="0"/>
              <a:t>Examples: Spam detection, Disease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Binary classification</a:t>
            </a:r>
          </a:p>
          <a:p>
            <a:pPr>
              <a:lnSpc>
                <a:spcPct val="200000"/>
              </a:lnSpc>
            </a:pPr>
            <a:r>
              <a:rPr sz="2400" dirty="0"/>
              <a:t>Multiclass classification</a:t>
            </a:r>
          </a:p>
          <a:p>
            <a:pPr>
              <a:lnSpc>
                <a:spcPct val="200000"/>
              </a:lnSpc>
            </a:pPr>
            <a:r>
              <a:rPr sz="2400" dirty="0" err="1"/>
              <a:t>Multilabel</a:t>
            </a:r>
            <a:r>
              <a:rPr sz="2400" dirty="0"/>
              <a:t>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vs Testing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Training data: learn patterns</a:t>
            </a:r>
          </a:p>
          <a:p>
            <a:pPr>
              <a:lnSpc>
                <a:spcPct val="200000"/>
              </a:lnSpc>
            </a:pPr>
            <a:r>
              <a:rPr sz="2400" dirty="0"/>
              <a:t>Testing data: evaluate performance</a:t>
            </a:r>
          </a:p>
          <a:p>
            <a:pPr>
              <a:lnSpc>
                <a:spcPct val="200000"/>
              </a:lnSpc>
            </a:pPr>
            <a:r>
              <a:rPr sz="2400" dirty="0"/>
              <a:t>Typical split: 70/30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Data Splitting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Prevents </a:t>
            </a:r>
            <a:r>
              <a:rPr sz="2400" dirty="0" err="1"/>
              <a:t>overfitting</a:t>
            </a:r>
            <a:endParaRPr sz="2400" dirty="0"/>
          </a:p>
          <a:p>
            <a:pPr>
              <a:lnSpc>
                <a:spcPct val="200000"/>
              </a:lnSpc>
            </a:pPr>
            <a:r>
              <a:rPr sz="2400" dirty="0"/>
              <a:t>Ensures generalization</a:t>
            </a:r>
          </a:p>
          <a:p>
            <a:pPr>
              <a:lnSpc>
                <a:spcPct val="200000"/>
              </a:lnSpc>
            </a:pPr>
            <a:r>
              <a:rPr sz="2400" dirty="0"/>
              <a:t>Improves real-world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TP, TN, FP, FN</a:t>
            </a:r>
          </a:p>
          <a:p>
            <a:pPr>
              <a:lnSpc>
                <a:spcPct val="200000"/>
              </a:lnSpc>
            </a:pPr>
            <a:r>
              <a:rPr sz="2400" dirty="0"/>
              <a:t>Used to evaluate classification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dirty="0"/>
              <a:t>Accuracy</a:t>
            </a:r>
          </a:p>
          <a:p>
            <a:pPr>
              <a:lnSpc>
                <a:spcPct val="150000"/>
              </a:lnSpc>
            </a:pPr>
            <a:r>
              <a:rPr sz="2400" dirty="0"/>
              <a:t>Precision</a:t>
            </a:r>
          </a:p>
          <a:p>
            <a:pPr>
              <a:lnSpc>
                <a:spcPct val="150000"/>
              </a:lnSpc>
            </a:pPr>
            <a:r>
              <a:rPr sz="2400" dirty="0"/>
              <a:t>Recall</a:t>
            </a:r>
          </a:p>
          <a:p>
            <a:pPr>
              <a:lnSpc>
                <a:spcPct val="150000"/>
              </a:lnSpc>
            </a:pPr>
            <a:r>
              <a:rPr sz="2400" dirty="0"/>
              <a:t>F1-score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8029697" cy="4195481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rgbClr val="FFFF00"/>
                </a:solidFill>
              </a:rPr>
              <a:t>Accuracy = (TP + TN) / (TP + TN + FP + FN)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 &amp;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800" dirty="0">
                <a:solidFill>
                  <a:srgbClr val="FFFF00"/>
                </a:solidFill>
              </a:rPr>
              <a:t>Precision = TP / (TP + FP)</a:t>
            </a:r>
          </a:p>
          <a:p>
            <a:pPr>
              <a:lnSpc>
                <a:spcPct val="200000"/>
              </a:lnSpc>
            </a:pPr>
            <a:r>
              <a:rPr sz="2800" dirty="0">
                <a:solidFill>
                  <a:srgbClr val="FFFF00"/>
                </a:solidFill>
              </a:rPr>
              <a:t>Recall = TP / (TP + FN)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F1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988755" cy="4195481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rgbClr val="FFFF00"/>
                </a:solidFill>
              </a:rPr>
              <a:t>F1 = 2 * (Precision * Recall) / (Precision + Recall)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800" dirty="0"/>
              <a:t>Confusion matrix exercise</a:t>
            </a:r>
          </a:p>
          <a:p>
            <a:pPr>
              <a:lnSpc>
                <a:spcPct val="200000"/>
              </a:lnSpc>
            </a:pPr>
            <a:r>
              <a:rPr sz="2800" dirty="0"/>
              <a:t>Train simple classifier</a:t>
            </a:r>
          </a:p>
          <a:p>
            <a:pPr>
              <a:lnSpc>
                <a:spcPct val="200000"/>
              </a:lnSpc>
            </a:pPr>
            <a:r>
              <a:rPr sz="2800" dirty="0"/>
              <a:t>Evaluate performance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163</Words>
  <Application>Microsoft Office PowerPoint</Application>
  <PresentationFormat>On-screen Show (4:3)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Week 3 – Classification &amp; Model Evaluation</vt:lpstr>
      <vt:lpstr>Learning Objectives</vt:lpstr>
      <vt:lpstr>Introduction to Classification</vt:lpstr>
      <vt:lpstr>Types of Classification</vt:lpstr>
      <vt:lpstr>Training vs Testing Dataset</vt:lpstr>
      <vt:lpstr>Importance of Data Splitting</vt:lpstr>
      <vt:lpstr>Confusion Matrix</vt:lpstr>
      <vt:lpstr>Evaluation Metrics</vt:lpstr>
      <vt:lpstr>Accuracy</vt:lpstr>
      <vt:lpstr>Precision &amp; Recall</vt:lpstr>
      <vt:lpstr>F1 Score</vt:lpstr>
      <vt:lpstr>Activities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– Classification &amp; Model Evaluation</dc:title>
  <dc:subject/>
  <dc:creator>Sewwandi</dc:creator>
  <cp:keywords/>
  <dc:description>generated using python-pptx</dc:description>
  <cp:lastModifiedBy>Sewwandi</cp:lastModifiedBy>
  <cp:revision>2</cp:revision>
  <dcterms:created xsi:type="dcterms:W3CDTF">2013-01-27T09:14:16Z</dcterms:created>
  <dcterms:modified xsi:type="dcterms:W3CDTF">2026-03-21T19:04:04Z</dcterms:modified>
  <cp:category/>
</cp:coreProperties>
</file>