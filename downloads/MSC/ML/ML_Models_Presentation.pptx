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1A2E"/>
                </a:solidFill>
                <a:latin typeface="Arial"/>
              </a:rPr>
              <a:t>Class Separation — SVM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Class A</c:v>
                </c:pt>
              </c:strCache>
            </c:strRef>
          </c:tx>
          <c:spPr>
            <a:solidFill>
              <a:srgbClr val="5E35B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p1</c:v>
                  </c:pt>
                  <c:pt idx="1">
                    <c:v>p2</c:v>
                  </c:pt>
                  <c:pt idx="2">
                    <c:v>p3</c:v>
                  </c:pt>
                  <c:pt idx="3">
                    <c:v>p4</c:v>
                  </c:pt>
                  <c:pt idx="4">
                    <c:v>p5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2.1</c:v>
                </c:pt>
                <c:pt idx="1">
                  <c:v>2.8</c:v>
                </c:pt>
                <c:pt idx="2">
                  <c:v>1.9</c:v>
                </c:pt>
                <c:pt idx="3">
                  <c:v>3.2</c:v>
                </c:pt>
                <c:pt idx="4">
                  <c:v>2.5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Class B</c:v>
                </c:pt>
              </c:strCache>
            </c:strRef>
          </c:tx>
          <c:spPr>
            <a:solidFill>
              <a:srgbClr val="0089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p1</c:v>
                  </c:pt>
                  <c:pt idx="1">
                    <c:v>p2</c:v>
                  </c:pt>
                  <c:pt idx="2">
                    <c:v>p3</c:v>
                  </c:pt>
                  <c:pt idx="3">
                    <c:v>p4</c:v>
                  </c:pt>
                  <c:pt idx="4">
                    <c:v>p5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5.1</c:v>
                </c:pt>
                <c:pt idx="1">
                  <c:v>5.8</c:v>
                </c:pt>
                <c:pt idx="2">
                  <c:v>6.2</c:v>
                </c:pt>
                <c:pt idx="3">
                  <c:v>4.9</c:v>
                </c:pt>
                <c:pt idx="4">
                  <c:v>5.5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8909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8909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Performance Comparison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F57C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Decision Tree</c:v>
                  </c:pt>
                  <c:pt idx="1">
                    <c:v>Random Forest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68</c:v>
                </c:pt>
                <c:pt idx="1">
                  <c:v>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Speed</c:v>
                </c:pt>
              </c:strCache>
            </c:strRef>
          </c:tx>
          <c:spPr>
            <a:solidFill>
              <a:srgbClr val="0089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Decision Tree</c:v>
                  </c:pt>
                  <c:pt idx="1">
                    <c:v>Random Forest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95</c:v>
                </c:pt>
                <c:pt idx="1">
                  <c:v>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8909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8909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Metrics Comparison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Decision Tree</c:v>
                </c:pt>
              </c:strCache>
            </c:strRef>
          </c:tx>
          <c:spPr>
            <a:solidFill>
              <a:srgbClr val="F57C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F1-Score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</c:v>
                </c:pt>
                <c:pt idx="1">
                  <c:v>70</c:v>
                </c:pt>
                <c:pt idx="2">
                  <c:v>68</c:v>
                </c:pt>
                <c:pt idx="3">
                  <c:v>69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0089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F1-Score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91</c:v>
                </c:pt>
                <c:pt idx="1">
                  <c:v>90</c:v>
                </c:pt>
                <c:pt idx="2">
                  <c:v>88</c:v>
                </c:pt>
                <c:pt idx="3">
                  <c:v>89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1A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0"/>
            <a:ext cx="73152" cy="51435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5E35B1">
              <a:alpha val="30000"/>
            </a:srgbClr>
          </a:solidFill>
          <a:ln w="12700">
            <a:solidFill>
              <a:srgbClr val="5E35B1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2286000"/>
            <a:ext cx="2286000" cy="2286000"/>
          </a:xfrm>
          <a:prstGeom prst="ellipse">
            <a:avLst/>
          </a:prstGeom>
          <a:solidFill>
            <a:srgbClr val="00897B">
              <a:alpha val="25000"/>
            </a:srgbClr>
          </a:solidFill>
          <a:ln w="12700">
            <a:solidFill>
              <a:srgbClr val="00897B">
                <a:alpha val="25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914400"/>
            <a:ext cx="502920" cy="5029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914400"/>
            <a:ext cx="502920" cy="50292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914400"/>
            <a:ext cx="502920" cy="5029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8640" y="16459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</a:t>
            </a:r>
            <a:endParaRPr lang="en-US" sz="3800" dirty="0"/>
          </a:p>
        </p:txBody>
      </p:sp>
      <p:sp>
        <p:nvSpPr>
          <p:cNvPr id="11" name="Text 6"/>
          <p:cNvSpPr/>
          <p:nvPr/>
        </p:nvSpPr>
        <p:spPr>
          <a:xfrm>
            <a:off x="548640" y="2514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SVM, Decision Trees &amp; Ensembles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548640" y="3108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Concepts, Comparisons, and Practical Activities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0" y="4983480"/>
            <a:ext cx="2743200" cy="1600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109728" cy="685800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298448"/>
            <a:ext cx="457200" cy="457200"/>
          </a:xfrm>
          <a:prstGeom prst="ellipse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5331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3533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3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645920" y="13258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hyperplane concept in SVM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200" y="2057400"/>
            <a:ext cx="8229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2057400"/>
            <a:ext cx="109728" cy="685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5800" y="2167128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2199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80160" y="22219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645920" y="21945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decision tree construction and analysis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2926080"/>
            <a:ext cx="109728" cy="68580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85800" y="3035808"/>
            <a:ext cx="457200" cy="45720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090672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80160" y="30906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645920" y="30632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tree-based models effectively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457200" y="3794760"/>
            <a:ext cx="8229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57200" y="3794760"/>
            <a:ext cx="109728" cy="6858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85800" y="3904488"/>
            <a:ext cx="457200" cy="45720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959352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280160" y="39593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1645920" y="39319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ensemble learning methods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Machine Learning Models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categorize, predict, and classify data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today: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2011680" cy="2560320"/>
          </a:xfrm>
          <a:prstGeom prst="rect">
            <a:avLst/>
          </a:prstGeom>
          <a:solidFill>
            <a:srgbClr val="5E35B1">
              <a:alpha val="85000"/>
            </a:srgbClr>
          </a:solidFill>
          <a:ln w="19050">
            <a:solidFill>
              <a:srgbClr val="5E35B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3108960"/>
            <a:ext cx="502920" cy="0"/>
          </a:xfrm>
          <a:prstGeom prst="line">
            <a:avLst/>
          </a:prstGeom>
          <a:noFill/>
          <a:ln w="25400">
            <a:solidFill>
              <a:srgbClr val="FFB3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0" y="29260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B300"/>
                </a:solidFill>
              </a:rPr>
              <a:t>→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01168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5760" y="32004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514600" y="1828800"/>
            <a:ext cx="2011680" cy="2560320"/>
          </a:xfrm>
          <a:prstGeom prst="rect">
            <a:avLst/>
          </a:prstGeom>
          <a:solidFill>
            <a:srgbClr val="2E7D32">
              <a:alpha val="85000"/>
            </a:srgbClr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26280" y="3108960"/>
            <a:ext cx="502920" cy="0"/>
          </a:xfrm>
          <a:prstGeom prst="line">
            <a:avLst/>
          </a:prstGeom>
          <a:noFill/>
          <a:ln w="25400">
            <a:solidFill>
              <a:srgbClr val="FFB3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26280" y="29260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B300"/>
                </a:solidFill>
              </a:rPr>
              <a:t>→</a:t>
            </a:r>
            <a:endParaRPr lang="en-US" sz="16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011680"/>
            <a:ext cx="640080" cy="6400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514600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514600" y="32004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Tree-structured classifier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663440" y="1828800"/>
            <a:ext cx="2011680" cy="2560320"/>
          </a:xfrm>
          <a:prstGeom prst="rect">
            <a:avLst/>
          </a:prstGeom>
          <a:solidFill>
            <a:srgbClr val="00897B">
              <a:alpha val="85000"/>
            </a:srgbClr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675120" y="3108960"/>
            <a:ext cx="502920" cy="0"/>
          </a:xfrm>
          <a:prstGeom prst="line">
            <a:avLst/>
          </a:prstGeom>
          <a:noFill/>
          <a:ln w="25400">
            <a:solidFill>
              <a:srgbClr val="FFB30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675120" y="29260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B300"/>
                </a:solidFill>
              </a:rPr>
              <a:t>→</a:t>
            </a:r>
            <a:endParaRPr lang="en-US" sz="16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2011680"/>
            <a:ext cx="640080" cy="6400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663440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663440" y="32004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trees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812280" y="1828800"/>
            <a:ext cx="2011680" cy="2560320"/>
          </a:xfrm>
          <a:prstGeom prst="rect">
            <a:avLst/>
          </a:prstGeom>
          <a:solidFill>
            <a:srgbClr val="F57C00">
              <a:alpha val="85000"/>
            </a:srgbClr>
          </a:solidFill>
          <a:ln w="19050">
            <a:solidFill>
              <a:srgbClr val="F57C00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2011680"/>
            <a:ext cx="640080" cy="6400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12280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Learning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6812280" y="32004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model power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Machines (SVM)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320040" cy="320040"/>
          </a:xfrm>
          <a:prstGeom prst="ellipse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1430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algorithm for classification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993392"/>
            <a:ext cx="320040" cy="32004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4767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optimal hyperplane separating classes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798064"/>
            <a:ext cx="320040" cy="32004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75234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excellently with high-dimensional data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3602736"/>
            <a:ext cx="320040" cy="3200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55701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Maximizes the margin between classes</a:t>
            </a:r>
            <a:endParaRPr lang="en-US" sz="14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937760" y="1005840"/>
          <a:ext cx="39319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– Hyperplane Concept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3383280"/>
          </a:xfrm>
          <a:prstGeom prst="rect">
            <a:avLst/>
          </a:prstGeom>
          <a:solidFill>
            <a:srgbClr val="5E35B1">
              <a:alpha val="75000"/>
            </a:srgbClr>
          </a:solidFill>
          <a:ln w="25400">
            <a:solidFill>
              <a:srgbClr val="5E35B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91440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28016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2148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Hyperplane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11480" y="265176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boundary that separates two classes in feature space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46120" y="1005840"/>
            <a:ext cx="2743200" cy="3383280"/>
          </a:xfrm>
          <a:prstGeom prst="rect">
            <a:avLst/>
          </a:prstGeom>
          <a:solidFill>
            <a:srgbClr val="00897B">
              <a:alpha val="75000"/>
            </a:srgbClr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46120" y="1005840"/>
            <a:ext cx="2743200" cy="914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280160"/>
            <a:ext cx="731520" cy="7315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46120" y="2148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383280" y="265176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points closest to hyperplane — define the margin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17920" y="1005840"/>
            <a:ext cx="2743200" cy="3383280"/>
          </a:xfrm>
          <a:prstGeom prst="rect">
            <a:avLst/>
          </a:prstGeom>
          <a:solidFill>
            <a:srgbClr val="F57C00">
              <a:alpha val="75000"/>
            </a:srgbClr>
          </a:solidFill>
          <a:ln w="25400">
            <a:solidFill>
              <a:srgbClr val="F57C0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17920" y="1005840"/>
            <a:ext cx="2743200" cy="9144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280160"/>
            <a:ext cx="731520" cy="7315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2148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355080" y="265176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Maximizing the gap between support vectors = better generalization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365760" y="45720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Maximizing the margin between classes leads to better generalization on unseen data!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109728" cy="7772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161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points where data is split based on feature values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148840"/>
            <a:ext cx="109728" cy="7772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2219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5146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Paths representing outcomes of each split condition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15468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154680"/>
            <a:ext cx="109728" cy="77724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2278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35204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nodes containing the final class or prediction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251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interpret and visualize — great for understanding model logic!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0" y="100584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0" y="1005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 ≤ 5?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26080" y="201168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0089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0" y="2011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 ≤ 3?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03520" y="201168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0089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0" y="2011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 ≤ 7?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86000" y="301752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F57C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0" y="30175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0" y="301752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5E35B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0" y="30175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301752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5E35B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0175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301752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F57C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30175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0" y="1508760"/>
            <a:ext cx="-777240" cy="502920"/>
          </a:xfrm>
          <a:prstGeom prst="line">
            <a:avLst/>
          </a:prstGeom>
          <a:noFill/>
          <a:ln w="19050">
            <a:solidFill>
              <a:srgbClr val="78909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37760" y="1508760"/>
            <a:ext cx="1097280" cy="502920"/>
          </a:xfrm>
          <a:prstGeom prst="line">
            <a:avLst/>
          </a:prstGeom>
          <a:noFill/>
          <a:ln w="19050">
            <a:solidFill>
              <a:srgbClr val="78909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74720" y="2514600"/>
            <a:ext cx="-502920" cy="502920"/>
          </a:xfrm>
          <a:prstGeom prst="line">
            <a:avLst/>
          </a:prstGeom>
          <a:noFill/>
          <a:ln w="19050">
            <a:solidFill>
              <a:srgbClr val="78909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49040" y="2514600"/>
            <a:ext cx="640080" cy="502920"/>
          </a:xfrm>
          <a:prstGeom prst="line">
            <a:avLst/>
          </a:prstGeom>
          <a:noFill/>
          <a:ln w="19050">
            <a:solidFill>
              <a:srgbClr val="78909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06440" y="2514600"/>
            <a:ext cx="-502920" cy="502920"/>
          </a:xfrm>
          <a:prstGeom prst="line">
            <a:avLst/>
          </a:prstGeom>
          <a:noFill/>
          <a:ln w="19050">
            <a:solidFill>
              <a:srgbClr val="78909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26480" y="2514600"/>
            <a:ext cx="685800" cy="502920"/>
          </a:xfrm>
          <a:prstGeom prst="line">
            <a:avLst/>
          </a:prstGeom>
          <a:noFill/>
          <a:ln w="19050">
            <a:solidFill>
              <a:srgbClr val="78909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23360" y="16916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394960" y="16916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4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Construction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057400" cy="3108960"/>
          </a:xfrm>
          <a:prstGeom prst="rect">
            <a:avLst/>
          </a:prstGeom>
          <a:solidFill>
            <a:srgbClr val="5E35B1">
              <a:alpha val="80000"/>
            </a:srgbClr>
          </a:solidFill>
          <a:ln w="19050">
            <a:solidFill>
              <a:srgbClr val="5E35B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2057400" cy="109728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234440"/>
            <a:ext cx="685800" cy="685800"/>
          </a:xfrm>
          <a:prstGeom prst="ellipse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234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20574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Best Feature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1874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attribute that best separates data using Gini / Information Gain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3172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300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423160" y="1005840"/>
            <a:ext cx="2057400" cy="3108960"/>
          </a:xfrm>
          <a:prstGeom prst="rect">
            <a:avLst/>
          </a:prstGeom>
          <a:solidFill>
            <a:srgbClr val="00897B">
              <a:alpha val="80000"/>
            </a:srgbClr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23160" y="1005840"/>
            <a:ext cx="2057400" cy="1097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08960" y="1234440"/>
            <a:ext cx="685800" cy="68580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1234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514600" y="20574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14600" y="2606040"/>
            <a:ext cx="1874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dataset into subsets based on chosen feature threshold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8056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300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572000" y="1005840"/>
            <a:ext cx="2057400" cy="3108960"/>
          </a:xfrm>
          <a:prstGeom prst="rect">
            <a:avLst/>
          </a:prstGeom>
          <a:solidFill>
            <a:srgbClr val="F57C00">
              <a:alpha val="80000"/>
            </a:srgbClr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1005840"/>
            <a:ext cx="2057400" cy="109728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57800" y="1234440"/>
            <a:ext cx="685800" cy="68580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7800" y="1234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663440" y="20574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63440" y="2606040"/>
            <a:ext cx="1874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splitting on each subset — recursively build the tree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2940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300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720840" y="1005840"/>
            <a:ext cx="2057400" cy="3108960"/>
          </a:xfrm>
          <a:prstGeom prst="rect">
            <a:avLst/>
          </a:prstGeom>
          <a:solidFill>
            <a:srgbClr val="2E7D32">
              <a:alpha val="80000"/>
            </a:srgbClr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20840" y="1005840"/>
            <a:ext cx="2057400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06640" y="1234440"/>
            <a:ext cx="685800" cy="6858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06640" y="1234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812280" y="20574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12280" y="2606040"/>
            <a:ext cx="1874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when nodes are pure or maximum depth is reached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389120"/>
            <a:ext cx="8412480" cy="502920"/>
          </a:xfrm>
          <a:prstGeom prst="rect">
            <a:avLst/>
          </a:prstGeom>
          <a:solidFill>
            <a:srgbClr val="FFB300">
              <a:alpha val="85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3891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Criteria: Gini Index measures impurity  |  Information Gain measures entropy reduction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188720" cy="2011680"/>
          </a:xfrm>
          <a:prstGeom prst="rect">
            <a:avLst/>
          </a:prstGeom>
          <a:solidFill>
            <a:srgbClr val="2E7D32">
              <a:alpha val="75000"/>
            </a:srgbClr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1188720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8016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19659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22860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691640" y="1097280"/>
            <a:ext cx="1188720" cy="2011680"/>
          </a:xfrm>
          <a:prstGeom prst="rect">
            <a:avLst/>
          </a:prstGeom>
          <a:solidFill>
            <a:srgbClr val="00897B">
              <a:alpha val="75000"/>
            </a:srgbClr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91640" y="1097280"/>
            <a:ext cx="1188720" cy="914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28016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19659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2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691640" y="22860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108960" y="1097280"/>
            <a:ext cx="1188720" cy="2011680"/>
          </a:xfrm>
          <a:prstGeom prst="rect">
            <a:avLst/>
          </a:prstGeom>
          <a:solidFill>
            <a:srgbClr val="5E35B1">
              <a:alpha val="75000"/>
            </a:srgbClr>
          </a:solidFill>
          <a:ln w="19050">
            <a:solidFill>
              <a:srgbClr val="5E35B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108960" y="1097280"/>
            <a:ext cx="1188720" cy="91440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28016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108960" y="19659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3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3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3108960" y="22860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72000" y="2103120"/>
            <a:ext cx="731520" cy="0"/>
          </a:xfrm>
          <a:prstGeom prst="line">
            <a:avLst/>
          </a:prstGeom>
          <a:noFill/>
          <a:ln w="38100">
            <a:solidFill>
              <a:srgbClr val="F57C0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572000" y="19202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7C00"/>
                </a:solidFill>
              </a:rPr>
              <a:t>⟹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4572000" y="23317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909C"/>
                </a:solidFill>
              </a:rPr>
              <a:t>Majority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8909C"/>
                </a:solidFill>
              </a:rPr>
              <a:t>Vote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440680" y="1005840"/>
            <a:ext cx="3383280" cy="2286000"/>
          </a:xfrm>
          <a:prstGeom prst="rect">
            <a:avLst/>
          </a:prstGeom>
          <a:solidFill>
            <a:srgbClr val="00897B">
              <a:alpha val="85000"/>
            </a:srgbClr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440680" y="1005840"/>
            <a:ext cx="3383280" cy="1097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1188720"/>
            <a:ext cx="914400" cy="9144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440680" y="21945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5440680" y="2651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Prediction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411480" y="3593592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77724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tree trained on random data &amp; feature subsets (bagging)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411480" y="4050792"/>
            <a:ext cx="256032" cy="25603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77724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predictions via majority vote (classification)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411480" y="4507992"/>
            <a:ext cx="256032" cy="256032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77724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overfitting dramatically vs single trees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Learning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97480" cy="3291840"/>
          </a:xfrm>
          <a:prstGeom prst="rect">
            <a:avLst/>
          </a:prstGeom>
          <a:solidFill>
            <a:srgbClr val="5E35B1">
              <a:alpha val="82000"/>
            </a:srgbClr>
          </a:solidFill>
          <a:ln w="19050">
            <a:solidFill>
              <a:srgbClr val="5E35B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2697480" cy="91440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23444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0574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" y="2606040"/>
            <a:ext cx="2514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Aggregating — train models on random subsets, average predictions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91840" y="1005840"/>
            <a:ext cx="2697480" cy="3291840"/>
          </a:xfrm>
          <a:prstGeom prst="rect">
            <a:avLst/>
          </a:prstGeom>
          <a:solidFill>
            <a:srgbClr val="F57C00">
              <a:alpha val="82000"/>
            </a:srgbClr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91840" y="1005840"/>
            <a:ext cx="2697480" cy="9144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234440"/>
            <a:ext cx="685800" cy="685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91840" y="20574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383280" y="2606040"/>
            <a:ext cx="2514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training — each model corrects errors of previous ones (AdaBoost, XGBoost)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17920" y="1005840"/>
            <a:ext cx="2697480" cy="3291840"/>
          </a:xfrm>
          <a:prstGeom prst="rect">
            <a:avLst/>
          </a:prstGeom>
          <a:solidFill>
            <a:srgbClr val="00897B">
              <a:alpha val="82000"/>
            </a:srgbClr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17920" y="1005840"/>
            <a:ext cx="2697480" cy="914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234440"/>
            <a:ext cx="685800" cy="6858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20574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309360" y="2606040"/>
            <a:ext cx="2514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+ random feature selection for maximum diversity between trees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multiple models reduces variance, bias, and improves overall predictive performance!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Tree-Based Models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51560"/>
          <a:ext cx="50292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097280"/>
          <a:ext cx="3291840" cy="3200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7C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7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4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7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Speed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7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Activity – Decision Tree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057400" cy="3246120"/>
          </a:xfrm>
          <a:prstGeom prst="rect">
            <a:avLst/>
          </a:prstGeom>
          <a:solidFill>
            <a:srgbClr val="5E35B1">
              <a:alpha val="80000"/>
            </a:srgbClr>
          </a:solidFill>
          <a:ln w="19050">
            <a:solidFill>
              <a:srgbClr val="5E35B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2057400" cy="91440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234440"/>
            <a:ext cx="713232" cy="713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20574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347472" y="24688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Dataset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47472" y="292608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sample dataset (e.g. Iris, Titanic, or custom CSV)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423160" y="1005840"/>
            <a:ext cx="2057400" cy="3246120"/>
          </a:xfrm>
          <a:prstGeom prst="rect">
            <a:avLst/>
          </a:prstGeom>
          <a:solidFill>
            <a:srgbClr val="00897B">
              <a:alpha val="80000"/>
            </a:srgbClr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423160" y="1005840"/>
            <a:ext cx="2057400" cy="914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672" y="1234440"/>
            <a:ext cx="713232" cy="7132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423160" y="20574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2496312" y="24688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Features &amp; Labels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496312" y="292608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input features (X) and target label (y) to predict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0" y="1005840"/>
            <a:ext cx="2057400" cy="3246120"/>
          </a:xfrm>
          <a:prstGeom prst="rect">
            <a:avLst/>
          </a:prstGeom>
          <a:solidFill>
            <a:srgbClr val="F57C00">
              <a:alpha val="80000"/>
            </a:srgbClr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572000" y="1005840"/>
            <a:ext cx="2057400" cy="9144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9512" y="1234440"/>
            <a:ext cx="713232" cy="7132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572000" y="20574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4645152" y="24688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Tree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645152" y="292608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scikit-learn, Weka, or your preferred ML tool to train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720840" y="1005840"/>
            <a:ext cx="2057400" cy="3246120"/>
          </a:xfrm>
          <a:prstGeom prst="rect">
            <a:avLst/>
          </a:prstGeom>
          <a:solidFill>
            <a:srgbClr val="2E7D32">
              <a:alpha val="80000"/>
            </a:srgbClr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720840" y="1005840"/>
            <a:ext cx="2057400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2" y="1234440"/>
            <a:ext cx="713232" cy="7132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720840" y="20574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6793992" y="24688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Splits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6793992" y="292608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decision rules, feature importance, and tree depth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365760" y="44348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Tip: Try splitting at different feature thresholds and observe how accuracy changes!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– Model Accuracy Comparison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188720"/>
            <a:ext cx="3017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852160" y="1188720"/>
            <a:ext cx="91440" cy="5943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35040" y="128016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exact same dataset for fair comparison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852160" y="1938528"/>
            <a:ext cx="3017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52160" y="1938528"/>
            <a:ext cx="91440" cy="594360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35040" y="202996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Measure: Accuracy, Precision, Recall &amp; F1-Score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852160" y="2688336"/>
            <a:ext cx="3017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52160" y="2688336"/>
            <a:ext cx="91440" cy="5943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35040" y="2779776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outperforms due to reduced variance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852160" y="3438144"/>
            <a:ext cx="3017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852160" y="3438144"/>
            <a:ext cx="91440" cy="59436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35040" y="3529584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Discuss: When would a single tree be preferred?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D1A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011680" cy="3291840"/>
          </a:xfrm>
          <a:prstGeom prst="rect">
            <a:avLst/>
          </a:prstGeom>
          <a:solidFill>
            <a:srgbClr val="5E35B1">
              <a:alpha val="78000"/>
            </a:srgbClr>
          </a:solidFill>
          <a:ln w="19050">
            <a:solidFill>
              <a:srgbClr val="5E35B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2011680" cy="109728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234440"/>
            <a:ext cx="685800" cy="685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2057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65760" y="2606040"/>
            <a:ext cx="1828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hyperplane &amp; support vectors for classification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3840480"/>
            <a:ext cx="457200" cy="3657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377440" y="1005840"/>
            <a:ext cx="2011680" cy="3291840"/>
          </a:xfrm>
          <a:prstGeom prst="rect">
            <a:avLst/>
          </a:prstGeom>
          <a:solidFill>
            <a:srgbClr val="2E7D32">
              <a:alpha val="78000"/>
            </a:srgbClr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377440" y="1005840"/>
            <a:ext cx="2011680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1234440"/>
            <a:ext cx="685800" cy="685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377440" y="2057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2468880" y="2606040"/>
            <a:ext cx="1828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 and interpretable, but prone to overfitting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680" y="3840480"/>
            <a:ext cx="457200" cy="36576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663440" y="1005840"/>
            <a:ext cx="2011680" cy="3291840"/>
          </a:xfrm>
          <a:prstGeom prst="rect">
            <a:avLst/>
          </a:prstGeom>
          <a:solidFill>
            <a:srgbClr val="00897B">
              <a:alpha val="78000"/>
            </a:srgbClr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4663440" y="1005840"/>
            <a:ext cx="2011680" cy="1097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1808" y="1234440"/>
            <a:ext cx="685800" cy="6858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663440" y="2057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4754880" y="2606040"/>
            <a:ext cx="1828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trees — reduces overfitting, boosts accuracy</a:t>
            </a:r>
            <a:endParaRPr lang="en-US" sz="12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3840480"/>
            <a:ext cx="457200" cy="36576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720840" y="1005840"/>
            <a:ext cx="2011680" cy="3291840"/>
          </a:xfrm>
          <a:prstGeom prst="rect">
            <a:avLst/>
          </a:prstGeom>
          <a:solidFill>
            <a:srgbClr val="F57C00">
              <a:alpha val="78000"/>
            </a:srgbClr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6720840" y="1005840"/>
            <a:ext cx="2011680" cy="109728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9208" y="1234440"/>
            <a:ext cx="685800" cy="68580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720840" y="2057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Methods</a:t>
            </a:r>
            <a:endParaRPr lang="en-US" sz="1500" dirty="0"/>
          </a:p>
        </p:txBody>
      </p:sp>
      <p:sp>
        <p:nvSpPr>
          <p:cNvPr id="27" name="Text 18"/>
          <p:cNvSpPr/>
          <p:nvPr/>
        </p:nvSpPr>
        <p:spPr>
          <a:xfrm>
            <a:off x="6812280" y="2606040"/>
            <a:ext cx="1828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models = improved predictive performance</a:t>
            </a:r>
            <a:endParaRPr lang="en-US" sz="12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8080" y="3840480"/>
            <a:ext cx="45720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5E35B1">
              <a:alpha val="20000"/>
            </a:srgbClr>
          </a:solidFill>
          <a:ln w="12700">
            <a:solidFill>
              <a:srgbClr val="5E35B1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4114800" cy="4114800"/>
          </a:xfrm>
          <a:prstGeom prst="ellipse">
            <a:avLst/>
          </a:prstGeom>
          <a:solidFill>
            <a:srgbClr val="00897B">
              <a:alpha val="18000"/>
            </a:srgbClr>
          </a:solidFill>
          <a:ln w="12700">
            <a:solidFill>
              <a:srgbClr val="00897B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-457200"/>
            <a:ext cx="2743200" cy="2743200"/>
          </a:xfrm>
          <a:prstGeom prst="ellipse">
            <a:avLst/>
          </a:prstGeom>
          <a:solidFill>
            <a:srgbClr val="F57C00">
              <a:alpha val="15000"/>
            </a:srgbClr>
          </a:solidFill>
          <a:ln w="12700">
            <a:solidFill>
              <a:srgbClr val="F57C00">
                <a:alpha val="15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45720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325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457200" y="2331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914400" y="3017520"/>
            <a:ext cx="7315200" cy="384048"/>
          </a:xfrm>
          <a:prstGeom prst="rect">
            <a:avLst/>
          </a:prstGeom>
          <a:solidFill>
            <a:srgbClr val="5E35B1">
              <a:alpha val="25000"/>
            </a:srgbClr>
          </a:solidFill>
          <a:ln w="12700">
            <a:solidFill>
              <a:srgbClr val="5E35B1">
                <a:alpha val="6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97280" y="304495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What surprised you about how ensemble methods work?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14400" y="3520440"/>
            <a:ext cx="7315200" cy="384048"/>
          </a:xfrm>
          <a:prstGeom prst="rect">
            <a:avLst/>
          </a:prstGeom>
          <a:solidFill>
            <a:srgbClr val="5E35B1">
              <a:alpha val="25000"/>
            </a:srgbClr>
          </a:solidFill>
          <a:ln w="12700">
            <a:solidFill>
              <a:srgbClr val="5E35B1">
                <a:alpha val="6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354787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When would you prefer a single decision tree over Random Forest?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14400" y="4023360"/>
            <a:ext cx="7315200" cy="384048"/>
          </a:xfrm>
          <a:prstGeom prst="rect">
            <a:avLst/>
          </a:prstGeom>
          <a:solidFill>
            <a:srgbClr val="5E35B1">
              <a:alpha val="25000"/>
            </a:srgbClr>
          </a:solidFill>
          <a:ln w="12700">
            <a:solidFill>
              <a:srgbClr val="5E35B1">
                <a:alpha val="6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97280" y="405079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How might SVM handle very noisy or overlapping data?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Models: SVM, Decision Trees &amp; Ensembles</dc:title>
  <dc:subject>PptxGenJS Presentation</dc:subject>
  <dc:creator>PptxGenJS</dc:creator>
  <cp:lastModifiedBy>PptxGenJS</cp:lastModifiedBy>
  <cp:revision>1</cp:revision>
  <dcterms:created xsi:type="dcterms:W3CDTF">2026-03-28T15:22:29Z</dcterms:created>
  <dcterms:modified xsi:type="dcterms:W3CDTF">2026-03-28T15:22:29Z</dcterms:modified>
</cp:coreProperties>
</file>