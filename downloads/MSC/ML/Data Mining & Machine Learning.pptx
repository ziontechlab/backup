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7BAAF3D-A3C8-4965-97FA-DD062FA6B9D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Topic 6" id="{29441217-2CB5-4093-B077-2A254D89DDF8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14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76279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63575" y="3226820"/>
            <a:ext cx="3859795" cy="304801"/>
          </a:xfrm>
        </p:spPr>
        <p:txBody>
          <a:bodyPr anchor="b"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199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11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4"/>
            <a:ext cx="4351023" cy="2283823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93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1368" y="2603500"/>
            <a:ext cx="4828744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1" y="2603500"/>
            <a:ext cx="4825159" cy="3377705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092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36063"/>
            <a:ext cx="48251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212326"/>
            <a:ext cx="4825158" cy="2807476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1" y="2603499"/>
            <a:ext cx="4825160" cy="60882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212327"/>
            <a:ext cx="4825159" cy="280747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2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317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452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773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2" y="1143000"/>
            <a:ext cx="3227192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313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5945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2683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819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3556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1" name="TextBox 10"/>
          <p:cNvSpPr txBox="1"/>
          <p:nvPr/>
        </p:nvSpPr>
        <p:spPr bwMode="gray">
          <a:xfrm>
            <a:off x="898295" y="603589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705137" y="261378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705034"/>
          </a:xfrm>
        </p:spPr>
        <p:txBody>
          <a:bodyPr anchor="ctr"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86515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14393"/>
            <a:ext cx="8825659" cy="101266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786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2404477"/>
            <a:ext cx="8825659" cy="178870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8587" y="5024967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6702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09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87261"/>
            <a:ext cx="3129168" cy="28397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10999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87261"/>
            <a:ext cx="3145380" cy="28397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1" y="2603500"/>
            <a:ext cx="315744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87261"/>
            <a:ext cx="3161029" cy="283979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54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20744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1246"/>
            <a:ext cx="2691242" cy="158376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20745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42840"/>
            <a:ext cx="2691242" cy="155217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7"/>
            <a:ext cx="3050438" cy="92140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5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18992"/>
            <a:ext cx="2691242" cy="1576018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09107"/>
            <a:ext cx="3054127" cy="89634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42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79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97430"/>
            <a:ext cx="1409965" cy="4729626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97429"/>
            <a:ext cx="6247546" cy="472962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71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42000"/>
                    <a:hueMod val="42000"/>
                    <a:satMod val="124000"/>
                    <a:lumMod val="62000"/>
                  </a:schemeClr>
                  <a:schemeClr val="dk2">
                    <a:tint val="96000"/>
                    <a:satMod val="130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Oval 40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9" name="Oval 3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1587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4000"/>
                  </a:schemeClr>
                </a:gs>
                <a:gs pos="73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Oval 3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49" name="Oval 4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1000"/>
                  </a:schemeClr>
                </a:gs>
                <a:gs pos="75000">
                  <a:schemeClr val="accent1">
                    <a:lumMod val="60000"/>
                    <a:lumOff val="40000"/>
                    <a:alpha val="0"/>
                  </a:schemeClr>
                </a:gs>
                <a:gs pos="36000">
                  <a:schemeClr val="accent1">
                    <a:lumMod val="60000"/>
                    <a:lumOff val="4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523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  <a:alpha val="10000"/>
                  </a:schemeClr>
                </a:gs>
                <a:gs pos="66000">
                  <a:schemeClr val="accent1">
                    <a:lumMod val="60000"/>
                    <a:lumOff val="40000"/>
                    <a:alpha val="0"/>
                  </a:schemeClr>
                </a:gs>
                <a:gs pos="31000">
                  <a:schemeClr val="accent1">
                    <a:lumMod val="60000"/>
                    <a:lumOff val="40000"/>
                    <a:alpha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47920"/>
            <a:ext cx="8761413" cy="728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9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407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044372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254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800" dirty="0"/>
              <a:t>MSc Computing</a:t>
            </a:r>
          </a:p>
          <a:p>
            <a:r>
              <a:rPr sz="4800" dirty="0"/>
              <a:t>Data Mining &amp;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Topics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2400" dirty="0"/>
              <a:t>Dimensionality Reduction (PCA)</a:t>
            </a:r>
          </a:p>
          <a:p>
            <a:pPr>
              <a:lnSpc>
                <a:spcPct val="200000"/>
              </a:lnSpc>
            </a:pPr>
            <a:r>
              <a:rPr sz="2400" dirty="0"/>
              <a:t>Clustering: K-means, Hierarchical, DBSCAN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Learning </a:t>
            </a:r>
            <a:r>
              <a:rPr dirty="0" smtClean="0"/>
              <a:t>Outcomes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2400" dirty="0"/>
              <a:t>Reduce feature dimensions</a:t>
            </a:r>
          </a:p>
          <a:p>
            <a:pPr>
              <a:lnSpc>
                <a:spcPct val="200000"/>
              </a:lnSpc>
            </a:pPr>
            <a:r>
              <a:rPr sz="2400" dirty="0"/>
              <a:t>Apply clustering algorithms effectively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PCA (Principal Component Analysis)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2000" dirty="0"/>
              <a:t>Reduces high-dimensional data</a:t>
            </a:r>
          </a:p>
          <a:p>
            <a:pPr>
              <a:lnSpc>
                <a:spcPct val="200000"/>
              </a:lnSpc>
            </a:pPr>
            <a:r>
              <a:rPr sz="2000" dirty="0"/>
              <a:t>Finds principal components</a:t>
            </a:r>
          </a:p>
          <a:p>
            <a:pPr>
              <a:lnSpc>
                <a:spcPct val="200000"/>
              </a:lnSpc>
            </a:pPr>
            <a:r>
              <a:rPr sz="2000" dirty="0"/>
              <a:t>Removes redundancy</a:t>
            </a:r>
          </a:p>
          <a:p>
            <a:pPr>
              <a:lnSpc>
                <a:spcPct val="200000"/>
              </a:lnSpc>
            </a:pPr>
            <a:r>
              <a:rPr sz="2000" dirty="0"/>
              <a:t>Improves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2400" dirty="0"/>
              <a:t>Unsupervised learning</a:t>
            </a:r>
          </a:p>
          <a:p>
            <a:pPr>
              <a:lnSpc>
                <a:spcPct val="200000"/>
              </a:lnSpc>
            </a:pPr>
            <a:r>
              <a:rPr sz="2400" dirty="0"/>
              <a:t>Groups similar data points</a:t>
            </a:r>
          </a:p>
          <a:p>
            <a:pPr>
              <a:lnSpc>
                <a:spcPct val="200000"/>
              </a:lnSpc>
            </a:pPr>
            <a:r>
              <a:rPr sz="2400" dirty="0"/>
              <a:t>No labeled data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2400" dirty="0"/>
              <a:t>Partitions data into K clusters</a:t>
            </a:r>
          </a:p>
          <a:p>
            <a:pPr>
              <a:lnSpc>
                <a:spcPct val="200000"/>
              </a:lnSpc>
            </a:pPr>
            <a:r>
              <a:rPr sz="2400" dirty="0"/>
              <a:t>Centroid-based method</a:t>
            </a:r>
          </a:p>
          <a:p>
            <a:pPr>
              <a:lnSpc>
                <a:spcPct val="200000"/>
              </a:lnSpc>
            </a:pPr>
            <a:r>
              <a:rPr sz="2400" dirty="0"/>
              <a:t>Iterative optimization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Hierarchical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sz="2000" dirty="0"/>
              <a:t>Builds tree (</a:t>
            </a:r>
            <a:r>
              <a:rPr sz="2000" dirty="0" err="1"/>
              <a:t>dendrogram</a:t>
            </a:r>
            <a:r>
              <a:rPr sz="2000" dirty="0"/>
              <a:t>)</a:t>
            </a:r>
          </a:p>
          <a:p>
            <a:pPr>
              <a:lnSpc>
                <a:spcPct val="250000"/>
              </a:lnSpc>
            </a:pPr>
            <a:r>
              <a:rPr sz="2000" dirty="0"/>
              <a:t>Agglomerative or Divisive</a:t>
            </a:r>
          </a:p>
          <a:p>
            <a:pPr>
              <a:lnSpc>
                <a:spcPct val="250000"/>
              </a:lnSpc>
            </a:pPr>
            <a:r>
              <a:rPr sz="2000" dirty="0"/>
              <a:t>No need to predefine clusters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2400" dirty="0"/>
              <a:t>Density-based clustering</a:t>
            </a:r>
          </a:p>
          <a:p>
            <a:pPr>
              <a:lnSpc>
                <a:spcPct val="200000"/>
              </a:lnSpc>
            </a:pPr>
            <a:r>
              <a:rPr sz="2400" dirty="0"/>
              <a:t>Finds arbitrary shape clusters</a:t>
            </a:r>
          </a:p>
          <a:p>
            <a:pPr>
              <a:lnSpc>
                <a:spcPct val="200000"/>
              </a:lnSpc>
            </a:pPr>
            <a:r>
              <a:rPr sz="2400" dirty="0"/>
              <a:t>Handles noise/outliers well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5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2400" dirty="0"/>
              <a:t>Visual clustering demo</a:t>
            </a:r>
          </a:p>
          <a:p>
            <a:pPr>
              <a:lnSpc>
                <a:spcPct val="200000"/>
              </a:lnSpc>
            </a:pPr>
            <a:r>
              <a:rPr sz="2400" dirty="0"/>
              <a:t>Algorithm comparison</a:t>
            </a:r>
          </a:p>
          <a:p>
            <a:pPr>
              <a:lnSpc>
                <a:spcPct val="200000"/>
              </a:lnSpc>
            </a:pPr>
            <a:r>
              <a:rPr sz="2400" dirty="0"/>
              <a:t>Discussion on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Topics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2400" dirty="0"/>
              <a:t>Anomaly Detection</a:t>
            </a:r>
          </a:p>
          <a:p>
            <a:pPr>
              <a:lnSpc>
                <a:spcPct val="200000"/>
              </a:lnSpc>
            </a:pPr>
            <a:r>
              <a:rPr sz="2400" dirty="0"/>
              <a:t>Outlier Analysis</a:t>
            </a:r>
          </a:p>
          <a:p>
            <a:pPr>
              <a:lnSpc>
                <a:spcPct val="200000"/>
              </a:lnSpc>
            </a:pPr>
            <a:r>
              <a:rPr sz="2400" dirty="0"/>
              <a:t>Neural Networks</a:t>
            </a:r>
          </a:p>
          <a:p>
            <a:pPr>
              <a:lnSpc>
                <a:spcPct val="200000"/>
              </a:lnSpc>
            </a:pPr>
            <a:r>
              <a:rPr sz="2400" dirty="0" err="1"/>
              <a:t>Feedforward</a:t>
            </a:r>
            <a:r>
              <a:rPr sz="2400" dirty="0"/>
              <a:t> &amp; </a:t>
            </a:r>
            <a:r>
              <a:rPr sz="2400" dirty="0" err="1"/>
              <a:t>Backpropagation</a:t>
            </a:r>
            <a:endParaRPr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Learning </a:t>
            </a:r>
            <a:r>
              <a:rPr dirty="0" smtClean="0"/>
              <a:t>Outcomes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2400" dirty="0"/>
              <a:t>Detect anomalies in datasets</a:t>
            </a:r>
          </a:p>
          <a:p>
            <a:pPr>
              <a:lnSpc>
                <a:spcPct val="200000"/>
              </a:lnSpc>
            </a:pPr>
            <a:r>
              <a:rPr sz="2400" dirty="0"/>
              <a:t>Understand neural network training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Anomaly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2400" dirty="0"/>
              <a:t>Identify rare or unusual patterns</a:t>
            </a:r>
          </a:p>
          <a:p>
            <a:pPr>
              <a:lnSpc>
                <a:spcPct val="200000"/>
              </a:lnSpc>
            </a:pPr>
            <a:r>
              <a:rPr sz="2400" dirty="0"/>
              <a:t>Used in fraud detection, security, healthcare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2400" dirty="0"/>
              <a:t>Detect abnormal data points</a:t>
            </a:r>
          </a:p>
          <a:p>
            <a:pPr>
              <a:lnSpc>
                <a:spcPct val="200000"/>
              </a:lnSpc>
            </a:pPr>
            <a:r>
              <a:rPr sz="2400" dirty="0"/>
              <a:t>Statistical &amp; ML methods</a:t>
            </a:r>
          </a:p>
          <a:p>
            <a:pPr>
              <a:lnSpc>
                <a:spcPct val="200000"/>
              </a:lnSpc>
            </a:pPr>
            <a:r>
              <a:rPr sz="2400" dirty="0"/>
              <a:t>Important for data cleaning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Neural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2400" dirty="0"/>
              <a:t>Inspired by human brain</a:t>
            </a:r>
          </a:p>
          <a:p>
            <a:pPr>
              <a:lnSpc>
                <a:spcPct val="200000"/>
              </a:lnSpc>
            </a:pPr>
            <a:r>
              <a:rPr sz="2400" dirty="0"/>
              <a:t>Layers: input, hidden, output</a:t>
            </a:r>
          </a:p>
          <a:p>
            <a:pPr>
              <a:lnSpc>
                <a:spcPct val="200000"/>
              </a:lnSpc>
            </a:pPr>
            <a:r>
              <a:rPr sz="2400" dirty="0"/>
              <a:t>Used in deep learning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Feedforward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2400" dirty="0"/>
              <a:t>Data moves forward through layers</a:t>
            </a:r>
          </a:p>
          <a:p>
            <a:pPr>
              <a:lnSpc>
                <a:spcPct val="200000"/>
              </a:lnSpc>
            </a:pPr>
            <a:r>
              <a:rPr sz="2400" dirty="0"/>
              <a:t>Weighted sum + activation function</a:t>
            </a:r>
          </a:p>
          <a:p>
            <a:pPr>
              <a:lnSpc>
                <a:spcPct val="200000"/>
              </a:lnSpc>
            </a:pPr>
            <a:r>
              <a:rPr sz="2400" dirty="0"/>
              <a:t>Produces output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Backpropagation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2400" dirty="0"/>
              <a:t>Error calculation</a:t>
            </a:r>
          </a:p>
          <a:p>
            <a:pPr>
              <a:lnSpc>
                <a:spcPct val="200000"/>
              </a:lnSpc>
            </a:pPr>
            <a:r>
              <a:rPr sz="2400" dirty="0"/>
              <a:t>Adjust weights using gradients</a:t>
            </a:r>
          </a:p>
          <a:p>
            <a:pPr>
              <a:lnSpc>
                <a:spcPct val="200000"/>
              </a:lnSpc>
            </a:pPr>
            <a:r>
              <a:rPr sz="2400" dirty="0"/>
              <a:t>Improves model accuracy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Activities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sz="2400" dirty="0" err="1"/>
              <a:t>Backpropagation</a:t>
            </a:r>
            <a:r>
              <a:rPr sz="2400" dirty="0"/>
              <a:t> explanation</a:t>
            </a:r>
          </a:p>
          <a:p>
            <a:pPr>
              <a:lnSpc>
                <a:spcPct val="200000"/>
              </a:lnSpc>
            </a:pPr>
            <a:r>
              <a:rPr sz="2400" dirty="0"/>
              <a:t>Simple neural network example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F1C4790-FE3C-4020-8CA7-00621DA7BB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</TotalTime>
  <Words>201</Words>
  <Application>Microsoft Office PowerPoint</Application>
  <PresentationFormat>Widescreen</PresentationFormat>
  <Paragraphs>63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 3</vt:lpstr>
      <vt:lpstr>Ion Boardroom</vt:lpstr>
      <vt:lpstr>MSc Computing Data Mining &amp; Machine Learning</vt:lpstr>
      <vt:lpstr>Topics</vt:lpstr>
      <vt:lpstr>Learning Outcomes</vt:lpstr>
      <vt:lpstr>PCA (Principal Component Analysis)</vt:lpstr>
      <vt:lpstr>Clustering Overview</vt:lpstr>
      <vt:lpstr>K-means Clustering</vt:lpstr>
      <vt:lpstr>Hierarchical Clustering</vt:lpstr>
      <vt:lpstr>DBSCAN</vt:lpstr>
      <vt:lpstr>Week 5 Activities</vt:lpstr>
      <vt:lpstr>Topics</vt:lpstr>
      <vt:lpstr>Learning Outcomes</vt:lpstr>
      <vt:lpstr>Anomaly Detection</vt:lpstr>
      <vt:lpstr>Outlier Analysis</vt:lpstr>
      <vt:lpstr>Neural Networks</vt:lpstr>
      <vt:lpstr>Feedforward Process</vt:lpstr>
      <vt:lpstr>Backpropagation</vt:lpstr>
      <vt:lpstr>Activities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MSc Computing Data Mining &amp; Machine Learning</dc:title>
  <dc:subject/>
  <dc:creator>Sewwandi</dc:creator>
  <cp:keywords/>
  <dc:description>generated using python-pptx</dc:description>
  <cp:lastModifiedBy>Sewwandi</cp:lastModifiedBy>
  <cp:revision>2</cp:revision>
  <dcterms:created xsi:type="dcterms:W3CDTF">2013-01-27T09:14:16Z</dcterms:created>
  <dcterms:modified xsi:type="dcterms:W3CDTF">2026-04-04T18:47:15Z</dcterms:modified>
  <cp:category/>
</cp:coreProperties>
</file>