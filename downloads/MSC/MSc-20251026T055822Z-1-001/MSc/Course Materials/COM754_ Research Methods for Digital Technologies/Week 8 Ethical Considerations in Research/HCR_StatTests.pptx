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wdp" ContentType="image/vnd.ms-photo"/>
  <Default Extension="xls" ContentType="application/vnd.ms-exce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6" r:id="rId1"/>
  </p:sldMasterIdLst>
  <p:sldIdLst>
    <p:sldId id="256" r:id="rId2"/>
    <p:sldId id="257" r:id="rId3"/>
    <p:sldId id="289" r:id="rId4"/>
    <p:sldId id="291" r:id="rId5"/>
    <p:sldId id="290" r:id="rId6"/>
    <p:sldId id="303" r:id="rId7"/>
    <p:sldId id="292" r:id="rId8"/>
    <p:sldId id="293" r:id="rId9"/>
    <p:sldId id="297" r:id="rId10"/>
    <p:sldId id="298" r:id="rId11"/>
    <p:sldId id="299" r:id="rId12"/>
    <p:sldId id="300" r:id="rId13"/>
    <p:sldId id="301" r:id="rId14"/>
    <p:sldId id="302" r:id="rId15"/>
    <p:sldId id="262" r:id="rId16"/>
    <p:sldId id="263" r:id="rId17"/>
    <p:sldId id="264" r:id="rId18"/>
    <p:sldId id="265" r:id="rId19"/>
    <p:sldId id="294" r:id="rId20"/>
    <p:sldId id="295" r:id="rId21"/>
    <p:sldId id="296" r:id="rId22"/>
    <p:sldId id="266" r:id="rId23"/>
    <p:sldId id="267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86" r:id="rId32"/>
    <p:sldId id="277" r:id="rId33"/>
    <p:sldId id="278" r:id="rId34"/>
    <p:sldId id="287" r:id="rId35"/>
    <p:sldId id="288" r:id="rId36"/>
    <p:sldId id="304" r:id="rId37"/>
    <p:sldId id="305" r:id="rId38"/>
    <p:sldId id="306" r:id="rId39"/>
    <p:sldId id="307" r:id="rId40"/>
    <p:sldId id="308" r:id="rId41"/>
    <p:sldId id="284" r:id="rId42"/>
    <p:sldId id="285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249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printerSettings" Target="printerSettings/printerSettings1.bin"/><Relationship Id="rId4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Workbook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Work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0"/>
    </mc:Choice>
    <mc:Fallback>
      <c:style val="20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Attendance vs. Module Grade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47625">
              <a:noFill/>
            </a:ln>
          </c:spPr>
          <c:xVal>
            <c:numRef>
              <c:f>Sheet2!$B$2:$B$15</c:f>
              <c:numCache>
                <c:formatCode>General</c:formatCode>
                <c:ptCount val="14"/>
                <c:pt idx="0">
                  <c:v>22.0</c:v>
                </c:pt>
                <c:pt idx="1">
                  <c:v>76.0</c:v>
                </c:pt>
                <c:pt idx="2">
                  <c:v>82.0</c:v>
                </c:pt>
                <c:pt idx="3">
                  <c:v>46.0</c:v>
                </c:pt>
                <c:pt idx="4">
                  <c:v>67.0</c:v>
                </c:pt>
                <c:pt idx="5">
                  <c:v>30.0</c:v>
                </c:pt>
                <c:pt idx="6">
                  <c:v>87.0</c:v>
                </c:pt>
                <c:pt idx="7">
                  <c:v>97.0</c:v>
                </c:pt>
                <c:pt idx="8">
                  <c:v>95.0</c:v>
                </c:pt>
                <c:pt idx="9">
                  <c:v>100.0</c:v>
                </c:pt>
                <c:pt idx="10">
                  <c:v>68.0</c:v>
                </c:pt>
                <c:pt idx="11">
                  <c:v>94.0</c:v>
                </c:pt>
                <c:pt idx="12">
                  <c:v>65.0</c:v>
                </c:pt>
                <c:pt idx="13">
                  <c:v>70.0</c:v>
                </c:pt>
              </c:numCache>
            </c:numRef>
          </c:xVal>
          <c:yVal>
            <c:numRef>
              <c:f>Sheet2!$C$2:$C$15</c:f>
              <c:numCache>
                <c:formatCode>General</c:formatCode>
                <c:ptCount val="14"/>
                <c:pt idx="0">
                  <c:v>18.0</c:v>
                </c:pt>
                <c:pt idx="1">
                  <c:v>46.0</c:v>
                </c:pt>
                <c:pt idx="2">
                  <c:v>54.0</c:v>
                </c:pt>
                <c:pt idx="3">
                  <c:v>30.0</c:v>
                </c:pt>
                <c:pt idx="4">
                  <c:v>38.0</c:v>
                </c:pt>
                <c:pt idx="5">
                  <c:v>25.0</c:v>
                </c:pt>
                <c:pt idx="6">
                  <c:v>56.0</c:v>
                </c:pt>
                <c:pt idx="7">
                  <c:v>78.0</c:v>
                </c:pt>
                <c:pt idx="8">
                  <c:v>65.0</c:v>
                </c:pt>
                <c:pt idx="9">
                  <c:v>72.0</c:v>
                </c:pt>
                <c:pt idx="10">
                  <c:v>40.0</c:v>
                </c:pt>
                <c:pt idx="11">
                  <c:v>58.0</c:v>
                </c:pt>
                <c:pt idx="12">
                  <c:v>34.0</c:v>
                </c:pt>
                <c:pt idx="13">
                  <c:v>43.0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21005864"/>
        <c:axId val="2120693752"/>
      </c:scatterChart>
      <c:valAx>
        <c:axId val="2121005864"/>
        <c:scaling>
          <c:orientation val="minMax"/>
          <c:max val="100.0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Attendance (%)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120693752"/>
        <c:crosses val="autoZero"/>
        <c:crossBetween val="midCat"/>
      </c:valAx>
      <c:valAx>
        <c:axId val="2120693752"/>
        <c:scaling>
          <c:orientation val="minMax"/>
          <c:max val="10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800"/>
                  <a:t>Grade (%)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121005864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0"/>
    </mc:Choice>
    <mc:Fallback>
      <c:style val="20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Attendance vs. Module Grade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47625">
              <a:noFill/>
            </a:ln>
          </c:spPr>
          <c:trendline>
            <c:spPr>
              <a:ln w="47625">
                <a:solidFill>
                  <a:srgbClr val="008000"/>
                </a:solidFill>
              </a:ln>
            </c:spPr>
            <c:trendlineType val="linear"/>
            <c:dispRSqr val="0"/>
            <c:dispEq val="1"/>
            <c:trendlineLbl>
              <c:layout>
                <c:manualLayout>
                  <c:x val="-0.164626445105733"/>
                  <c:y val="0.00402908453148697"/>
                </c:manualLayout>
              </c:layout>
              <c:numFmt formatCode="General" sourceLinked="0"/>
              <c:txPr>
                <a:bodyPr/>
                <a:lstStyle/>
                <a:p>
                  <a:pPr>
                    <a:defRPr sz="1800"/>
                  </a:pPr>
                  <a:endParaRPr lang="en-US"/>
                </a:p>
              </c:txPr>
            </c:trendlineLbl>
          </c:trendline>
          <c:xVal>
            <c:numRef>
              <c:f>Sheet2!$B$2:$B$15</c:f>
              <c:numCache>
                <c:formatCode>General</c:formatCode>
                <c:ptCount val="14"/>
                <c:pt idx="0">
                  <c:v>22.0</c:v>
                </c:pt>
                <c:pt idx="1">
                  <c:v>76.0</c:v>
                </c:pt>
                <c:pt idx="2">
                  <c:v>82.0</c:v>
                </c:pt>
                <c:pt idx="3">
                  <c:v>46.0</c:v>
                </c:pt>
                <c:pt idx="4">
                  <c:v>67.0</c:v>
                </c:pt>
                <c:pt idx="5">
                  <c:v>30.0</c:v>
                </c:pt>
                <c:pt idx="6">
                  <c:v>87.0</c:v>
                </c:pt>
                <c:pt idx="7">
                  <c:v>97.0</c:v>
                </c:pt>
                <c:pt idx="8">
                  <c:v>95.0</c:v>
                </c:pt>
                <c:pt idx="9">
                  <c:v>100.0</c:v>
                </c:pt>
                <c:pt idx="10">
                  <c:v>68.0</c:v>
                </c:pt>
                <c:pt idx="11">
                  <c:v>94.0</c:v>
                </c:pt>
                <c:pt idx="12">
                  <c:v>65.0</c:v>
                </c:pt>
                <c:pt idx="13">
                  <c:v>70.0</c:v>
                </c:pt>
              </c:numCache>
            </c:numRef>
          </c:xVal>
          <c:yVal>
            <c:numRef>
              <c:f>Sheet2!$C$2:$C$15</c:f>
              <c:numCache>
                <c:formatCode>General</c:formatCode>
                <c:ptCount val="14"/>
                <c:pt idx="0">
                  <c:v>18.0</c:v>
                </c:pt>
                <c:pt idx="1">
                  <c:v>46.0</c:v>
                </c:pt>
                <c:pt idx="2">
                  <c:v>54.0</c:v>
                </c:pt>
                <c:pt idx="3">
                  <c:v>30.0</c:v>
                </c:pt>
                <c:pt idx="4">
                  <c:v>38.0</c:v>
                </c:pt>
                <c:pt idx="5">
                  <c:v>25.0</c:v>
                </c:pt>
                <c:pt idx="6">
                  <c:v>56.0</c:v>
                </c:pt>
                <c:pt idx="7">
                  <c:v>78.0</c:v>
                </c:pt>
                <c:pt idx="8">
                  <c:v>65.0</c:v>
                </c:pt>
                <c:pt idx="9">
                  <c:v>72.0</c:v>
                </c:pt>
                <c:pt idx="10">
                  <c:v>40.0</c:v>
                </c:pt>
                <c:pt idx="11">
                  <c:v>58.0</c:v>
                </c:pt>
                <c:pt idx="12">
                  <c:v>34.0</c:v>
                </c:pt>
                <c:pt idx="13">
                  <c:v>43.0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8667800"/>
        <c:axId val="2119154536"/>
      </c:scatterChart>
      <c:valAx>
        <c:axId val="2118667800"/>
        <c:scaling>
          <c:orientation val="minMax"/>
          <c:max val="100.0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Attendance (%)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119154536"/>
        <c:crosses val="autoZero"/>
        <c:crossBetween val="midCat"/>
      </c:valAx>
      <c:valAx>
        <c:axId val="2119154536"/>
        <c:scaling>
          <c:orientation val="minMax"/>
          <c:max val="10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800"/>
                  <a:t>Grade (%)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118667800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Relationship Id="rId2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Relationship Id="rId2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Relationship Id="rId2" Type="http://schemas.openxmlformats.org/officeDocument/2006/relationships/image" Target="../media/image2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27/11/2014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93482-8E69-40F7-BCAD-5662A6CADB27}" type="datetime4">
              <a:rPr lang="en-US" smtClean="0"/>
              <a:pPr/>
              <a:t>November 27,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27/11/2014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706-D8F2-4D1A-855A-CADC92600C26}" type="datetime4">
              <a:rPr lang="en-US" smtClean="0"/>
              <a:pPr/>
              <a:t>November 27, 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F123-1704-49AC-9D15-C4B1462B8014}" type="datetime4">
              <a:rPr lang="en-US" smtClean="0"/>
              <a:pPr/>
              <a:t>November 27, 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7EC2-47FB-48A1-8644-C8A81DDAA119}" type="datetime4">
              <a:rPr lang="en-US" smtClean="0"/>
              <a:pPr/>
              <a:t>November 27, 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C3ED-7435-49F9-84C8-03CCA2F8DEDB}" type="datetime4">
              <a:rPr lang="en-US" smtClean="0"/>
              <a:pPr/>
              <a:t>November 27, 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49BF1-FCD3-4395-8FF6-0047AF66228E}" type="datetime4">
              <a:rPr lang="en-US" smtClean="0"/>
              <a:pPr/>
              <a:t>November 27, 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61222-2C8B-4501-BE87-6797EC025925}" type="datetime4">
              <a:rPr lang="en-US" smtClean="0"/>
              <a:pPr/>
              <a:t>November 27, 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smtClean="0"/>
              <a:t>Drag picture to placeholder or click icon to add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5AFD-D735-4504-A039-ADEBB6448D55}" type="datetime4">
              <a:rPr lang="en-US" smtClean="0"/>
              <a:pPr/>
              <a:t>November 27,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8118-FB93-4E87-B380-0175F2FE2167}" type="datetime4">
              <a:rPr lang="en-US" smtClean="0"/>
              <a:pPr/>
              <a:t>November 27,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D47D15-0AD3-BD40-BFFD-CEE64276BA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91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16C01193-8287-4834-A286-6B880643E934}" type="datetime4">
              <a:rPr lang="en-US" smtClean="0"/>
              <a:pPr/>
              <a:t>November 27,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  <p:sldLayoutId id="2147483998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3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microsoft.com/office/2007/relationships/hdphoto" Target="../media/hdphoto2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7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4" Type="http://schemas.openxmlformats.org/officeDocument/2006/relationships/image" Target="../media/image15.emf"/><Relationship Id="rId5" Type="http://schemas.openxmlformats.org/officeDocument/2006/relationships/image" Target="../media/image16.png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4" Type="http://schemas.openxmlformats.org/officeDocument/2006/relationships/image" Target="../media/image20.w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4" Type="http://schemas.openxmlformats.org/officeDocument/2006/relationships/image" Target="../media/image21.wmf"/><Relationship Id="rId5" Type="http://schemas.openxmlformats.org/officeDocument/2006/relationships/oleObject" Target="../embeddings/oleObject9.bin"/><Relationship Id="rId6" Type="http://schemas.openxmlformats.org/officeDocument/2006/relationships/image" Target="../media/image22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4" Type="http://schemas.openxmlformats.org/officeDocument/2006/relationships/image" Target="../media/image23.emf"/><Relationship Id="rId5" Type="http://schemas.openxmlformats.org/officeDocument/2006/relationships/oleObject" Target="../embeddings/Microsoft_Excel_97_-_2004_Worksheet1.xls"/><Relationship Id="rId6" Type="http://schemas.openxmlformats.org/officeDocument/2006/relationships/image" Target="../media/image24.e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_-_2004_Worksheet2.xls"/><Relationship Id="rId4" Type="http://schemas.openxmlformats.org/officeDocument/2006/relationships/image" Target="../media/image25.e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_-_2004_Worksheet3.xls"/><Relationship Id="rId4" Type="http://schemas.openxmlformats.org/officeDocument/2006/relationships/image" Target="../media/image26.emf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hyperlink" Target="http://www.danielsoper.com/statcalc3/calc.aspx?id=44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_-_2004_Worksheet4.xls"/><Relationship Id="rId4" Type="http://schemas.openxmlformats.org/officeDocument/2006/relationships/image" Target="../media/image30.png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eg"/><Relationship Id="rId3" Type="http://schemas.openxmlformats.org/officeDocument/2006/relationships/hyperlink" Target="http://youtu.be/VW1IEqKuf6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Relationships… or the lack of!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Statistical Tests</a:t>
            </a:r>
          </a:p>
          <a:p>
            <a:endParaRPr lang="en-US" sz="2000" dirty="0"/>
          </a:p>
          <a:p>
            <a:r>
              <a:rPr lang="en-US" sz="2000" dirty="0" smtClean="0"/>
              <a:t>COM527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5898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7706"/>
          <a:stretch/>
        </p:blipFill>
        <p:spPr>
          <a:xfrm>
            <a:off x="2496163" y="2578016"/>
            <a:ext cx="4111483" cy="2944484"/>
          </a:xfrm>
          <a:prstGeom prst="rect">
            <a:avLst/>
          </a:prstGeom>
          <a:effectLst>
            <a:reflection blurRad="6350" stA="21000" endA="300" endPos="21000" dir="5400000" sy="-100000" algn="bl" rotWithShape="0"/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Similarities and Differences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911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2675467"/>
            <a:ext cx="7823200" cy="3450696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Determine if there is a statistically significant difference between two sample sets</a:t>
            </a:r>
          </a:p>
          <a:p>
            <a:r>
              <a:rPr lang="en-US" sz="2800" dirty="0" smtClean="0"/>
              <a:t>Non-parametric statistical test</a:t>
            </a:r>
          </a:p>
          <a:p>
            <a:pPr lvl="1"/>
            <a:r>
              <a:rPr lang="en-US" sz="2600" dirty="0" smtClean="0"/>
              <a:t>Assumes no knowledge of underlying population distribution</a:t>
            </a:r>
          </a:p>
          <a:p>
            <a:pPr lvl="1"/>
            <a:r>
              <a:rPr lang="en-US" sz="2600" dirty="0" smtClean="0"/>
              <a:t>Or, that it is not a normal distribution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Comparing Data: </a:t>
            </a:r>
            <a:r>
              <a:rPr lang="en-US" dirty="0"/>
              <a:t>M</a:t>
            </a:r>
            <a:r>
              <a:rPr lang="en-US" dirty="0" smtClean="0"/>
              <a:t>ann-Whitney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860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78015"/>
            <a:ext cx="8229599" cy="3905217"/>
          </a:xfrm>
        </p:spPr>
        <p:txBody>
          <a:bodyPr/>
          <a:lstStyle/>
          <a:p>
            <a:r>
              <a:rPr lang="en-US" dirty="0" smtClean="0"/>
              <a:t>Method:</a:t>
            </a:r>
          </a:p>
          <a:p>
            <a:pPr marL="759143" lvl="1" indent="-457200">
              <a:buFont typeface="+mj-lt"/>
              <a:buAutoNum type="arabicPeriod"/>
            </a:pPr>
            <a:r>
              <a:rPr lang="en-US" dirty="0" smtClean="0"/>
              <a:t>Gather data from both data sets and RANK it</a:t>
            </a:r>
          </a:p>
          <a:p>
            <a:pPr marL="759143" lvl="1" indent="-457200">
              <a:buFont typeface="+mj-lt"/>
              <a:buAutoNum type="arabicPeriod"/>
            </a:pPr>
            <a:r>
              <a:rPr lang="en-US" dirty="0" smtClean="0"/>
              <a:t>Allocate the rank values back into the data sets</a:t>
            </a:r>
          </a:p>
          <a:p>
            <a:pPr marL="759143" lvl="1" indent="-457200">
              <a:buFont typeface="+mj-lt"/>
              <a:buAutoNum type="arabicPeriod"/>
            </a:pPr>
            <a:r>
              <a:rPr lang="en-US" dirty="0" smtClean="0"/>
              <a:t>SUM the RANKS for each data set to give </a:t>
            </a:r>
            <a:r>
              <a:rPr lang="en-US" i="1" dirty="0" smtClean="0"/>
              <a:t>R</a:t>
            </a:r>
          </a:p>
          <a:p>
            <a:pPr marL="759143" lvl="1" indent="-457200">
              <a:buFont typeface="+mj-lt"/>
              <a:buAutoNum type="arabicPeriod"/>
            </a:pPr>
            <a:r>
              <a:rPr lang="en-US" dirty="0" smtClean="0"/>
              <a:t>CALCULATE U value for each data set</a:t>
            </a:r>
          </a:p>
          <a:p>
            <a:pPr marL="759143" lvl="1" indent="-457200">
              <a:buFont typeface="+mj-lt"/>
              <a:buAutoNum type="arabicPeriod"/>
            </a:pPr>
            <a:r>
              <a:rPr lang="en-US" dirty="0" smtClean="0"/>
              <a:t>SELECT smallest U value and compare to critical value table</a:t>
            </a:r>
          </a:p>
          <a:p>
            <a:r>
              <a:rPr lang="en-US" dirty="0" smtClean="0"/>
              <a:t>U value is: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Comparing Data: </a:t>
            </a:r>
            <a:r>
              <a:rPr lang="en-US" dirty="0"/>
              <a:t>M</a:t>
            </a:r>
            <a:r>
              <a:rPr lang="en-US" dirty="0" smtClean="0"/>
              <a:t>ann-Whitney Test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902019"/>
              </p:ext>
            </p:extLst>
          </p:nvPr>
        </p:nvGraphicFramePr>
        <p:xfrm>
          <a:off x="2227605" y="5348112"/>
          <a:ext cx="2755169" cy="1064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3" name="Equation" r:id="rId3" imgW="1117600" imgH="431800" progId="Equation.3">
                  <p:embed/>
                </p:oleObj>
              </mc:Choice>
              <mc:Fallback>
                <p:oleObj name="Equation" r:id="rId3" imgW="1117600" imgH="431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27605" y="5348112"/>
                        <a:ext cx="2755169" cy="10644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7582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᧐᧘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13" y="1594552"/>
            <a:ext cx="8684006" cy="5050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7840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tail of two </a:t>
            </a:r>
            <a:r>
              <a:rPr lang="en-US" strike="sngStrike" dirty="0" smtClean="0"/>
              <a:t>cities</a:t>
            </a:r>
            <a:r>
              <a:rPr lang="en-US" dirty="0" smtClean="0"/>
              <a:t> …tails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51246"/>
          <a:stretch/>
        </p:blipFill>
        <p:spPr>
          <a:xfrm>
            <a:off x="487929" y="2069792"/>
            <a:ext cx="3240346" cy="46136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50046" t="19260" b="19396"/>
          <a:stretch/>
        </p:blipFill>
        <p:spPr>
          <a:xfrm>
            <a:off x="5204922" y="3262434"/>
            <a:ext cx="3401210" cy="289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86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Mann-Whitney Test 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5467"/>
            <a:ext cx="8229599" cy="3450696"/>
          </a:xfrm>
        </p:spPr>
        <p:txBody>
          <a:bodyPr>
            <a:normAutofit/>
          </a:bodyPr>
          <a:lstStyle/>
          <a:p>
            <a:r>
              <a:rPr lang="en-US" dirty="0" smtClean="0"/>
              <a:t>Suppose we deploy a survey, asking computing students and psychology students how much they enjoy a new computer game</a:t>
            </a:r>
          </a:p>
          <a:p>
            <a:r>
              <a:rPr lang="en-US" dirty="0" smtClean="0"/>
              <a:t>They rate the playability of the game on a semantic differential scale:</a:t>
            </a:r>
          </a:p>
          <a:p>
            <a:pPr lvl="1"/>
            <a:r>
              <a:rPr lang="en-US" dirty="0" smtClean="0"/>
              <a:t>1 = Very boring</a:t>
            </a:r>
          </a:p>
          <a:p>
            <a:pPr lvl="1"/>
            <a:r>
              <a:rPr lang="en-US" dirty="0" smtClean="0"/>
              <a:t>10 = Very exciting</a:t>
            </a:r>
          </a:p>
        </p:txBody>
      </p:sp>
    </p:spTree>
    <p:extLst>
      <p:ext uri="{BB962C8B-B14F-4D97-AF65-F5344CB8AC3E}">
        <p14:creationId xmlns:p14="http://schemas.microsoft.com/office/powerpoint/2010/main" val="4111429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Mann-Whitney Test 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5467"/>
            <a:ext cx="8229599" cy="3450696"/>
          </a:xfrm>
        </p:spPr>
        <p:txBody>
          <a:bodyPr>
            <a:normAutofit/>
          </a:bodyPr>
          <a:lstStyle/>
          <a:p>
            <a:r>
              <a:rPr lang="en-US" dirty="0" smtClean="0"/>
              <a:t>We get the following results: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553749"/>
              </p:ext>
            </p:extLst>
          </p:nvPr>
        </p:nvGraphicFramePr>
        <p:xfrm>
          <a:off x="2526606" y="3297094"/>
          <a:ext cx="413788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324"/>
                <a:gridCol w="208255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Computing Ratings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Psychology Ratings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307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Mann-Whitney Test 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5467"/>
            <a:ext cx="8229599" cy="3450696"/>
          </a:xfrm>
        </p:spPr>
        <p:txBody>
          <a:bodyPr>
            <a:normAutofit/>
          </a:bodyPr>
          <a:lstStyle/>
          <a:p>
            <a:r>
              <a:rPr lang="en-US" dirty="0" smtClean="0"/>
              <a:t>Rank the Values: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454193"/>
              </p:ext>
            </p:extLst>
          </p:nvPr>
        </p:nvGraphicFramePr>
        <p:xfrm>
          <a:off x="2526606" y="3297094"/>
          <a:ext cx="413788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324"/>
                <a:gridCol w="208255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Computing Ratings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Psychology Ratings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 (6)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 (8.5)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 (5)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 (11)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(1)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 (4)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 (2.5)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 (7)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 (8.5)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 (12)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 (2.5)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 (10)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7640" y="6126163"/>
            <a:ext cx="5977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 Note the split ranks where duplicates occur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193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Mann-Whitney Test 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5467"/>
            <a:ext cx="8229599" cy="3450696"/>
          </a:xfrm>
        </p:spPr>
        <p:txBody>
          <a:bodyPr>
            <a:normAutofit/>
          </a:bodyPr>
          <a:lstStyle/>
          <a:p>
            <a:r>
              <a:rPr lang="en-US" dirty="0" smtClean="0"/>
              <a:t>Sum the Ranks for each data set to get R: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303339"/>
              </p:ext>
            </p:extLst>
          </p:nvPr>
        </p:nvGraphicFramePr>
        <p:xfrm>
          <a:off x="2526606" y="3297094"/>
          <a:ext cx="413788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324"/>
                <a:gridCol w="208255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Computing Ratings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Psychology Ratings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 (6)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 (8.5)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 (5)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 (11)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(1)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 (4)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 (2.5)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 (7)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 (8.5)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 (12)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 (2.5)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 (10)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none" dirty="0" smtClean="0"/>
                        <a:t>25.5</a:t>
                      </a:r>
                      <a:endParaRPr lang="en-US" b="1" u="non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none" dirty="0" smtClean="0"/>
                        <a:t>52.5</a:t>
                      </a:r>
                      <a:endParaRPr lang="en-US" b="1" u="non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119805" y="5894482"/>
            <a:ext cx="1174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R: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08520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Mann-Whitney Test 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5467"/>
            <a:ext cx="8229599" cy="3450696"/>
          </a:xfrm>
        </p:spPr>
        <p:txBody>
          <a:bodyPr>
            <a:normAutofit/>
          </a:bodyPr>
          <a:lstStyle/>
          <a:p>
            <a:r>
              <a:rPr lang="en-US" dirty="0" smtClean="0"/>
              <a:t>Calculate U values for each data set: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124942"/>
              </p:ext>
            </p:extLst>
          </p:nvPr>
        </p:nvGraphicFramePr>
        <p:xfrm>
          <a:off x="4548917" y="3297094"/>
          <a:ext cx="413788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324"/>
                <a:gridCol w="208255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Computing Ratings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Psychology Ratings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 (6)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 (8.5)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 (5)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 (11)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(1)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 (4)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 (2.5)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 (7)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 (8.5)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 (12)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 (2.5)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 (10)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none" dirty="0" smtClean="0"/>
                        <a:t>25.5</a:t>
                      </a:r>
                      <a:endParaRPr lang="en-US" b="1" u="non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none" dirty="0" smtClean="0"/>
                        <a:t>52.5</a:t>
                      </a:r>
                      <a:endParaRPr lang="en-US" b="1" u="non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42116" y="5894482"/>
            <a:ext cx="1174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R: </a:t>
            </a:r>
            <a:endParaRPr lang="en-US" b="1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434616"/>
              </p:ext>
            </p:extLst>
          </p:nvPr>
        </p:nvGraphicFramePr>
        <p:xfrm>
          <a:off x="806450" y="3259138"/>
          <a:ext cx="2801938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7" name="Equation" r:id="rId3" imgW="1473200" imgH="622300" progId="Equation.3">
                  <p:embed/>
                </p:oleObj>
              </mc:Choice>
              <mc:Fallback>
                <p:oleObj name="Equation" r:id="rId3" imgW="1473200" imgH="622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6450" y="3259138"/>
                        <a:ext cx="2801938" cy="1146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510894"/>
              </p:ext>
            </p:extLst>
          </p:nvPr>
        </p:nvGraphicFramePr>
        <p:xfrm>
          <a:off x="793750" y="4979988"/>
          <a:ext cx="2827338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8" name="Equation" r:id="rId5" imgW="1485900" imgH="622300" progId="Equation.3">
                  <p:embed/>
                </p:oleObj>
              </mc:Choice>
              <mc:Fallback>
                <p:oleObj name="Equation" r:id="rId5" imgW="1485900" imgH="622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3750" y="4979988"/>
                        <a:ext cx="2827338" cy="1146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4049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Mann-Whitney Test 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5467"/>
            <a:ext cx="8229599" cy="3450696"/>
          </a:xfrm>
        </p:spPr>
        <p:txBody>
          <a:bodyPr>
            <a:normAutofit/>
          </a:bodyPr>
          <a:lstStyle/>
          <a:p>
            <a:r>
              <a:rPr lang="en-US" dirty="0" smtClean="0"/>
              <a:t>Choose smallest U value and compare to critical value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601778"/>
              </p:ext>
            </p:extLst>
          </p:nvPr>
        </p:nvGraphicFramePr>
        <p:xfrm>
          <a:off x="4548917" y="3297094"/>
          <a:ext cx="413788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324"/>
                <a:gridCol w="208255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Computing Ratings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Psychology Ratings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 (6)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 (8.5)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 (5)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 (11)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(1)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 (4)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 (2.5)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 (7)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 (8.5)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 (12)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 (2.5)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 (10)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none" dirty="0" smtClean="0"/>
                        <a:t>25.5</a:t>
                      </a:r>
                      <a:endParaRPr lang="en-US" b="1" u="non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none" dirty="0" smtClean="0"/>
                        <a:t>52.5</a:t>
                      </a:r>
                      <a:endParaRPr lang="en-US" b="1" u="non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42116" y="5894482"/>
            <a:ext cx="1174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R: </a:t>
            </a:r>
            <a:endParaRPr lang="en-US" b="1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768865"/>
              </p:ext>
            </p:extLst>
          </p:nvPr>
        </p:nvGraphicFramePr>
        <p:xfrm>
          <a:off x="806450" y="3259138"/>
          <a:ext cx="2801938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8" name="Equation" r:id="rId3" imgW="1473200" imgH="622300" progId="Equation.3">
                  <p:embed/>
                </p:oleObj>
              </mc:Choice>
              <mc:Fallback>
                <p:oleObj name="Equation" r:id="rId3" imgW="1473200" imgH="622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6450" y="3259138"/>
                        <a:ext cx="2801938" cy="1146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9941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᧐᧘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13" y="1594552"/>
            <a:ext cx="8684006" cy="5050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1000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Mann-Whitney Test 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5467"/>
            <a:ext cx="8229599" cy="3450696"/>
          </a:xfrm>
        </p:spPr>
        <p:txBody>
          <a:bodyPr>
            <a:normAutofit/>
          </a:bodyPr>
          <a:lstStyle/>
          <a:p>
            <a:r>
              <a:rPr lang="en-US" dirty="0" smtClean="0"/>
              <a:t>Choose smallest U value and compare to critical value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866128"/>
              </p:ext>
            </p:extLst>
          </p:nvPr>
        </p:nvGraphicFramePr>
        <p:xfrm>
          <a:off x="4548917" y="3297094"/>
          <a:ext cx="413788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324"/>
                <a:gridCol w="208255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Computing Ratings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Psychology Ratings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 (6)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 (8.5)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 (5)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 (11)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(1)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 (4)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 (2.5)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 (7)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 (8.5)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 (12)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 (2.5)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 (10)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none" dirty="0" smtClean="0"/>
                        <a:t>25.5</a:t>
                      </a:r>
                      <a:endParaRPr lang="en-US" b="1" u="non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none" dirty="0" smtClean="0"/>
                        <a:t>52.5</a:t>
                      </a:r>
                      <a:endParaRPr lang="en-US" b="1" u="non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42116" y="5894482"/>
            <a:ext cx="1174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R: </a:t>
            </a:r>
            <a:endParaRPr lang="en-US" b="1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893076"/>
              </p:ext>
            </p:extLst>
          </p:nvPr>
        </p:nvGraphicFramePr>
        <p:xfrm>
          <a:off x="806450" y="3259138"/>
          <a:ext cx="2801938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3" imgW="1473200" imgH="622300" progId="Equation.3">
                  <p:embed/>
                </p:oleObj>
              </mc:Choice>
              <mc:Fallback>
                <p:oleObj name="Equation" r:id="rId3" imgW="1473200" imgH="622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6450" y="3259138"/>
                        <a:ext cx="2801938" cy="1146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6450" y="4649646"/>
            <a:ext cx="33356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Confidence interval = 0.02</a:t>
            </a:r>
          </a:p>
          <a:p>
            <a:r>
              <a:rPr lang="en-US" sz="2000" dirty="0" smtClean="0"/>
              <a:t>Two-tail test</a:t>
            </a:r>
          </a:p>
          <a:p>
            <a:r>
              <a:rPr lang="en-US" sz="2000" dirty="0" smtClean="0"/>
              <a:t>critical value = 3</a:t>
            </a:r>
          </a:p>
          <a:p>
            <a:r>
              <a:rPr lang="en-US" sz="2000" dirty="0" smtClean="0"/>
              <a:t>U &gt; critical value</a:t>
            </a:r>
          </a:p>
          <a:p>
            <a:r>
              <a:rPr lang="en-US" sz="2000" dirty="0" smtClean="0"/>
              <a:t>Results not significant</a:t>
            </a:r>
          </a:p>
          <a:p>
            <a:r>
              <a:rPr lang="en-US" sz="2000" dirty="0" smtClean="0"/>
              <a:t>(but would be at </a:t>
            </a:r>
            <a:r>
              <a:rPr lang="en-US" sz="2000" dirty="0" smtClean="0">
                <a:latin typeface="Lucida Grande"/>
                <a:ea typeface="Lucida Grande"/>
                <a:cs typeface="Lucida Grande"/>
              </a:rPr>
              <a:t>α=</a:t>
            </a:r>
            <a:r>
              <a:rPr lang="en-US" sz="2000" dirty="0" smtClean="0"/>
              <a:t>0.05)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22239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7501" y="2323652"/>
            <a:ext cx="7743933" cy="3508977"/>
          </a:xfrm>
        </p:spPr>
        <p:txBody>
          <a:bodyPr>
            <a:normAutofit/>
          </a:bodyPr>
          <a:lstStyle/>
          <a:p>
            <a:r>
              <a:rPr lang="en-US" dirty="0"/>
              <a:t>The t</a:t>
            </a:r>
            <a:r>
              <a:rPr lang="en-US" dirty="0" smtClean="0"/>
              <a:t>-Test </a:t>
            </a:r>
            <a:r>
              <a:rPr lang="en-US" dirty="0"/>
              <a:t>is used to compare sets of results</a:t>
            </a:r>
          </a:p>
          <a:p>
            <a:r>
              <a:rPr lang="en-US" dirty="0"/>
              <a:t>Analysis of mean &amp; variance</a:t>
            </a:r>
          </a:p>
          <a:p>
            <a:pPr lvl="1"/>
            <a:r>
              <a:rPr lang="en-US" sz="2400" dirty="0"/>
              <a:t>Parametric test = population assumed to be normal</a:t>
            </a:r>
          </a:p>
          <a:p>
            <a:r>
              <a:rPr lang="en-US" dirty="0"/>
              <a:t>Determine if they are from same population</a:t>
            </a:r>
          </a:p>
          <a:p>
            <a:pPr lvl="1"/>
            <a:r>
              <a:rPr lang="en-US" sz="2400" dirty="0"/>
              <a:t>E.g.- </a:t>
            </a:r>
            <a:r>
              <a:rPr lang="en-US" sz="2400" dirty="0" err="1" smtClean="0"/>
              <a:t>idealised</a:t>
            </a:r>
            <a:r>
              <a:rPr lang="en-US" sz="2400" dirty="0" smtClean="0"/>
              <a:t> </a:t>
            </a:r>
            <a:r>
              <a:rPr lang="en-US" sz="2400" dirty="0"/>
              <a:t>normal </a:t>
            </a:r>
            <a:r>
              <a:rPr lang="en-US" sz="2400" dirty="0" smtClean="0"/>
              <a:t>distributions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Comparing Data: t-Test</a:t>
            </a:r>
            <a:endParaRPr lang="en-US" dirty="0"/>
          </a:p>
        </p:txBody>
      </p:sp>
      <p:pic>
        <p:nvPicPr>
          <p:cNvPr id="4" name="Picture 4" descr="stat_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23" y="4621690"/>
            <a:ext cx="2389620" cy="21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051307guinness_pin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2" t="13291" r="12992" b="5775"/>
          <a:stretch/>
        </p:blipFill>
        <p:spPr bwMode="auto">
          <a:xfrm>
            <a:off x="7610815" y="4623897"/>
            <a:ext cx="1231209" cy="2119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668403" y="4697720"/>
            <a:ext cx="1449338" cy="2045522"/>
            <a:chOff x="687501" y="4535758"/>
            <a:chExt cx="1618216" cy="228386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501" y="4535758"/>
              <a:ext cx="1618216" cy="197609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687501" y="6511849"/>
              <a:ext cx="16182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 smtClean="0"/>
                <a:t>William </a:t>
              </a:r>
              <a:r>
                <a:rPr lang="en-US" sz="1400" i="1" dirty="0" err="1" smtClean="0"/>
                <a:t>Gosset</a:t>
              </a:r>
              <a:endParaRPr lang="en-US" sz="14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8656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675467"/>
            <a:ext cx="4288466" cy="3450696"/>
          </a:xfrm>
        </p:spPr>
        <p:txBody>
          <a:bodyPr/>
          <a:lstStyle/>
          <a:p>
            <a:pPr eaLnBrk="1" hangingPunct="1"/>
            <a:r>
              <a:rPr lang="en-GB" dirty="0">
                <a:latin typeface="Arial" charset="0"/>
              </a:rPr>
              <a:t>Are these from same distributed population?</a:t>
            </a:r>
          </a:p>
          <a:p>
            <a:pPr lvl="1" eaLnBrk="1" hangingPunct="1"/>
            <a:r>
              <a:rPr lang="en-GB" dirty="0">
                <a:latin typeface="Arial" charset="0"/>
              </a:rPr>
              <a:t>Distance between means is static</a:t>
            </a:r>
          </a:p>
          <a:p>
            <a:pPr marL="1143000" lvl="2" indent="-228600" eaLnBrk="1" hangingPunct="1"/>
            <a:r>
              <a:rPr lang="en-GB" dirty="0" smtClean="0">
                <a:latin typeface="Arial" charset="0"/>
              </a:rPr>
              <a:t>‘</a:t>
            </a:r>
            <a:r>
              <a:rPr lang="en-GB" altLang="ja-JP" dirty="0" smtClean="0">
                <a:latin typeface="Arial" charset="0"/>
              </a:rPr>
              <a:t>mean</a:t>
            </a:r>
            <a:r>
              <a:rPr lang="en-GB" altLang="ja-JP" dirty="0">
                <a:latin typeface="Arial" charset="0"/>
              </a:rPr>
              <a:t>-</a:t>
            </a:r>
            <a:r>
              <a:rPr lang="en-GB" altLang="ja-JP" dirty="0" smtClean="0">
                <a:latin typeface="Arial" charset="0"/>
              </a:rPr>
              <a:t>only’ analysis </a:t>
            </a:r>
            <a:r>
              <a:rPr lang="en-GB" altLang="ja-JP" dirty="0">
                <a:latin typeface="Arial" charset="0"/>
              </a:rPr>
              <a:t>is weak!</a:t>
            </a:r>
          </a:p>
          <a:p>
            <a:pPr lvl="1" eaLnBrk="1" hangingPunct="1"/>
            <a:r>
              <a:rPr lang="en-GB" dirty="0">
                <a:latin typeface="Arial" charset="0"/>
              </a:rPr>
              <a:t>Variance is of interest: overlap</a:t>
            </a:r>
          </a:p>
        </p:txBody>
      </p:sp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>
                <a:latin typeface="Arial" charset="0"/>
              </a:rPr>
              <a:t>Comparing Results: The T-test</a:t>
            </a:r>
            <a:endParaRPr lang="en-US">
              <a:latin typeface="Arial" charset="0"/>
            </a:endParaRPr>
          </a:p>
        </p:txBody>
      </p:sp>
      <p:pic>
        <p:nvPicPr>
          <p:cNvPr id="50179" name="Picture 4" descr="stat_t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463" y="3122613"/>
            <a:ext cx="4097337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3420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457201" y="2558920"/>
            <a:ext cx="8298886" cy="4019795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GB" sz="2600" dirty="0">
                <a:latin typeface="Arial" charset="0"/>
              </a:rPr>
              <a:t>t</a:t>
            </a:r>
            <a:r>
              <a:rPr lang="en-GB" sz="2600" dirty="0" smtClean="0">
                <a:latin typeface="Arial" charset="0"/>
              </a:rPr>
              <a:t>-Test </a:t>
            </a:r>
            <a:r>
              <a:rPr lang="en-GB" sz="2600" dirty="0">
                <a:latin typeface="Arial" charset="0"/>
              </a:rPr>
              <a:t>formula:</a:t>
            </a:r>
          </a:p>
          <a:p>
            <a:pPr eaLnBrk="1" hangingPunct="1"/>
            <a:endParaRPr lang="en-GB" sz="2600" dirty="0">
              <a:latin typeface="Arial" charset="0"/>
            </a:endParaRPr>
          </a:p>
          <a:p>
            <a:pPr eaLnBrk="1" hangingPunct="1"/>
            <a:endParaRPr lang="en-GB" sz="2600" dirty="0">
              <a:latin typeface="Arial" charset="0"/>
            </a:endParaRPr>
          </a:p>
          <a:p>
            <a:pPr eaLnBrk="1" hangingPunct="1"/>
            <a:endParaRPr lang="en-GB" sz="2600" dirty="0">
              <a:latin typeface="Arial" charset="0"/>
            </a:endParaRPr>
          </a:p>
          <a:p>
            <a:pPr eaLnBrk="1" hangingPunct="1"/>
            <a:endParaRPr lang="en-GB" sz="2600" dirty="0">
              <a:latin typeface="Arial" charset="0"/>
            </a:endParaRPr>
          </a:p>
          <a:p>
            <a:pPr eaLnBrk="1" hangingPunct="1"/>
            <a:endParaRPr lang="en-GB" sz="2600" dirty="0">
              <a:latin typeface="Arial" charset="0"/>
            </a:endParaRPr>
          </a:p>
          <a:p>
            <a:pPr eaLnBrk="1" hangingPunct="1"/>
            <a:endParaRPr lang="en-GB" sz="2600" dirty="0">
              <a:latin typeface="Arial" charset="0"/>
            </a:endParaRPr>
          </a:p>
          <a:p>
            <a:pPr eaLnBrk="1" hangingPunct="1"/>
            <a:endParaRPr lang="en-GB" sz="2600" dirty="0" smtClean="0">
              <a:latin typeface="Arial" charset="0"/>
            </a:endParaRPr>
          </a:p>
          <a:p>
            <a:pPr eaLnBrk="1" hangingPunct="1"/>
            <a:endParaRPr lang="en-GB" sz="2600" dirty="0">
              <a:latin typeface="Arial" charset="0"/>
            </a:endParaRPr>
          </a:p>
          <a:p>
            <a:pPr lvl="1" eaLnBrk="1" hangingPunct="1"/>
            <a:r>
              <a:rPr lang="en-GB" sz="2200" dirty="0">
                <a:latin typeface="Arial" charset="0"/>
              </a:rPr>
              <a:t>Where:</a:t>
            </a:r>
          </a:p>
        </p:txBody>
      </p:sp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>
                <a:latin typeface="Arial" charset="0"/>
              </a:rPr>
              <a:t>Comparing Results: The T-test</a:t>
            </a:r>
            <a:endParaRPr lang="en-US">
              <a:latin typeface="Arial" charset="0"/>
            </a:endParaRPr>
          </a:p>
        </p:txBody>
      </p:sp>
      <p:pic>
        <p:nvPicPr>
          <p:cNvPr id="51203" name="Picture 4" descr="stat_t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649" y="2537335"/>
            <a:ext cx="4956994" cy="3279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4" name="Picture 5" descr="stat_t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996" y="5978893"/>
            <a:ext cx="35147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15271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675467"/>
            <a:ext cx="8229599" cy="3450696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GB" sz="2600" dirty="0">
                <a:latin typeface="Arial" charset="0"/>
              </a:rPr>
              <a:t>Complete T-test formula:</a:t>
            </a:r>
          </a:p>
          <a:p>
            <a:pPr eaLnBrk="1" hangingPunct="1"/>
            <a:endParaRPr lang="en-GB" sz="2600" dirty="0">
              <a:latin typeface="Arial" charset="0"/>
            </a:endParaRPr>
          </a:p>
          <a:p>
            <a:pPr eaLnBrk="1" hangingPunct="1"/>
            <a:endParaRPr lang="en-GB" sz="2600" dirty="0">
              <a:latin typeface="Arial" charset="0"/>
            </a:endParaRPr>
          </a:p>
          <a:p>
            <a:pPr eaLnBrk="1" hangingPunct="1"/>
            <a:endParaRPr lang="en-GB" sz="2600" dirty="0">
              <a:latin typeface="Arial" charset="0"/>
            </a:endParaRPr>
          </a:p>
          <a:p>
            <a:pPr eaLnBrk="1" hangingPunct="1"/>
            <a:endParaRPr lang="en-GB" sz="2600" dirty="0">
              <a:latin typeface="Arial" charset="0"/>
            </a:endParaRPr>
          </a:p>
          <a:p>
            <a:pPr eaLnBrk="1" hangingPunct="1"/>
            <a:endParaRPr lang="en-GB" sz="2600" dirty="0">
              <a:latin typeface="Arial" charset="0"/>
            </a:endParaRPr>
          </a:p>
          <a:p>
            <a:pPr eaLnBrk="1" hangingPunct="1"/>
            <a:r>
              <a:rPr lang="en-GB" sz="2600" dirty="0">
                <a:latin typeface="Arial" charset="0"/>
              </a:rPr>
              <a:t>If </a:t>
            </a:r>
            <a:r>
              <a:rPr lang="en-GB" sz="2600" i="1" dirty="0">
                <a:latin typeface="Arial" charset="0"/>
              </a:rPr>
              <a:t>t &gt; tabulated value</a:t>
            </a:r>
            <a:r>
              <a:rPr lang="en-GB" sz="2600" dirty="0">
                <a:latin typeface="Arial" charset="0"/>
              </a:rPr>
              <a:t> we conclude that the means are significantly different at that level of probability (</a:t>
            </a:r>
            <a:r>
              <a:rPr lang="el-GR" sz="2600" i="1" dirty="0">
                <a:latin typeface="Arial" charset="0"/>
                <a:cs typeface="Arial" charset="0"/>
              </a:rPr>
              <a:t>α</a:t>
            </a:r>
            <a:r>
              <a:rPr lang="en-GB" sz="2600" dirty="0">
                <a:latin typeface="Arial" charset="0"/>
                <a:cs typeface="Arial" charset="0"/>
              </a:rPr>
              <a:t>)</a:t>
            </a:r>
          </a:p>
          <a:p>
            <a:pPr lvl="1" eaLnBrk="1" hangingPunct="1"/>
            <a:r>
              <a:rPr lang="en-GB" sz="2200" dirty="0">
                <a:latin typeface="Arial" charset="0"/>
                <a:cs typeface="Arial" charset="0"/>
              </a:rPr>
              <a:t>Reject the null hypothesis (the sample sets are insignificantly different)</a:t>
            </a:r>
          </a:p>
          <a:p>
            <a:pPr lvl="1" eaLnBrk="1" hangingPunct="1"/>
            <a:r>
              <a:rPr lang="en-GB" sz="2200" dirty="0">
                <a:latin typeface="Arial" charset="0"/>
                <a:cs typeface="Arial" charset="0"/>
              </a:rPr>
              <a:t>i.e. the results differ / </a:t>
            </a:r>
            <a:r>
              <a:rPr lang="en-GB" sz="2200" dirty="0" smtClean="0">
                <a:latin typeface="Arial" charset="0"/>
                <a:cs typeface="Arial" charset="0"/>
              </a:rPr>
              <a:t>the ‘</a:t>
            </a:r>
            <a:r>
              <a:rPr lang="en-GB" altLang="ja-JP" sz="2200" i="1" dirty="0" smtClean="0">
                <a:latin typeface="Arial" charset="0"/>
                <a:cs typeface="Arial" charset="0"/>
              </a:rPr>
              <a:t>change</a:t>
            </a:r>
            <a:r>
              <a:rPr lang="en-GB" altLang="ja-JP" i="1" dirty="0" smtClean="0">
                <a:latin typeface="Arial" charset="0"/>
                <a:cs typeface="Arial" charset="0"/>
              </a:rPr>
              <a:t>’ </a:t>
            </a:r>
            <a:r>
              <a:rPr lang="en-GB" altLang="ja-JP" sz="2200" dirty="0" smtClean="0">
                <a:latin typeface="Arial" charset="0"/>
                <a:cs typeface="Arial" charset="0"/>
              </a:rPr>
              <a:t>has </a:t>
            </a:r>
            <a:r>
              <a:rPr lang="en-GB" altLang="ja-JP" sz="2200" dirty="0">
                <a:latin typeface="Arial" charset="0"/>
                <a:cs typeface="Arial" charset="0"/>
              </a:rPr>
              <a:t>had an impact</a:t>
            </a:r>
            <a:endParaRPr lang="el-GR" sz="2200" dirty="0">
              <a:latin typeface="Arial" charset="0"/>
              <a:cs typeface="Arial" charset="0"/>
            </a:endParaRPr>
          </a:p>
        </p:txBody>
      </p:sp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>
                <a:latin typeface="Arial" charset="0"/>
              </a:rPr>
              <a:t>Comparing Results: The T-test</a:t>
            </a:r>
            <a:endParaRPr lang="en-US">
              <a:latin typeface="Arial" charset="0"/>
            </a:endParaRPr>
          </a:p>
        </p:txBody>
      </p:sp>
      <p:pic>
        <p:nvPicPr>
          <p:cNvPr id="52227" name="Picture 4" descr="stat_t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688" y="2629234"/>
            <a:ext cx="4169544" cy="1835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50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t-Test 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Suppose we are interested in comparing the efficiency of two computer systems. </a:t>
            </a:r>
          </a:p>
          <a:p>
            <a:r>
              <a:rPr lang="en-GB" dirty="0" smtClean="0"/>
              <a:t>We run a random selection of programs on Machine A and then another random selection on Machine B and measure the amount of time it takes (in seconds) for each program to run.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2032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t-Test 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63532"/>
            <a:ext cx="5433658" cy="4525963"/>
          </a:xfrm>
        </p:spPr>
        <p:txBody>
          <a:bodyPr>
            <a:normAutofit/>
          </a:bodyPr>
          <a:lstStyle/>
          <a:p>
            <a:r>
              <a:rPr lang="en-GB" dirty="0" smtClean="0"/>
              <a:t>We get the following results:</a:t>
            </a:r>
          </a:p>
          <a:p>
            <a:endParaRPr lang="en-GB" dirty="0"/>
          </a:p>
          <a:p>
            <a:r>
              <a:rPr lang="en-GB" dirty="0" smtClean="0"/>
              <a:t>Machine A</a:t>
            </a:r>
          </a:p>
          <a:p>
            <a:pPr lvl="1"/>
            <a:r>
              <a:rPr lang="en-GB" dirty="0"/>
              <a:t>n</a:t>
            </a:r>
            <a:r>
              <a:rPr lang="en-GB" dirty="0" smtClean="0"/>
              <a:t> = 12</a:t>
            </a:r>
          </a:p>
          <a:p>
            <a:pPr lvl="1"/>
            <a:r>
              <a:rPr lang="en-GB" dirty="0" smtClean="0"/>
              <a:t>Mean = 77.3</a:t>
            </a:r>
          </a:p>
          <a:p>
            <a:pPr lvl="1"/>
            <a:r>
              <a:rPr lang="en-GB" dirty="0" err="1" smtClean="0"/>
              <a:t>St.dev</a:t>
            </a:r>
            <a:r>
              <a:rPr lang="en-GB" dirty="0" smtClean="0"/>
              <a:t> = 46.4</a:t>
            </a:r>
            <a:endParaRPr lang="en-GB" dirty="0"/>
          </a:p>
          <a:p>
            <a:r>
              <a:rPr lang="en-GB" dirty="0" smtClean="0"/>
              <a:t>Machine B</a:t>
            </a:r>
          </a:p>
          <a:p>
            <a:pPr lvl="1"/>
            <a:r>
              <a:rPr lang="en-GB" dirty="0" smtClean="0"/>
              <a:t>n = 12</a:t>
            </a:r>
          </a:p>
          <a:p>
            <a:pPr lvl="1"/>
            <a:r>
              <a:rPr lang="en-GB" dirty="0" smtClean="0"/>
              <a:t>Mean = 111.4</a:t>
            </a:r>
          </a:p>
          <a:p>
            <a:pPr lvl="1"/>
            <a:r>
              <a:rPr lang="en-GB" dirty="0" err="1" smtClean="0"/>
              <a:t>St.dev</a:t>
            </a:r>
            <a:r>
              <a:rPr lang="en-GB" dirty="0" smtClean="0"/>
              <a:t> = 18.9</a:t>
            </a: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868493"/>
              </p:ext>
            </p:extLst>
          </p:nvPr>
        </p:nvGraphicFramePr>
        <p:xfrm>
          <a:off x="5308386" y="2163532"/>
          <a:ext cx="2397893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0"/>
                <a:gridCol w="1199013"/>
              </a:tblGrid>
              <a:tr h="26448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Machine A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Machine B</a:t>
                      </a:r>
                      <a:endParaRPr lang="en-GB" sz="1600" dirty="0"/>
                    </a:p>
                  </a:txBody>
                  <a:tcPr/>
                </a:tc>
              </a:tr>
              <a:tr h="26448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78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</a:t>
                      </a:r>
                    </a:p>
                  </a:txBody>
                  <a:tcPr marL="12700" marR="12700" marT="12700" marB="0" anchor="ctr"/>
                </a:tc>
              </a:tr>
              <a:tr h="26448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43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</a:t>
                      </a:r>
                    </a:p>
                  </a:txBody>
                  <a:tcPr marL="12700" marR="12700" marT="12700" marB="0" anchor="ctr"/>
                </a:tc>
              </a:tr>
              <a:tr h="26448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89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</a:t>
                      </a:r>
                    </a:p>
                  </a:txBody>
                  <a:tcPr marL="12700" marR="12700" marT="12700" marB="0" anchor="ctr"/>
                </a:tc>
              </a:tr>
              <a:tr h="26448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63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</a:t>
                      </a:r>
                    </a:p>
                  </a:txBody>
                  <a:tcPr marL="12700" marR="12700" marT="12700" marB="0" anchor="ctr"/>
                </a:tc>
              </a:tr>
              <a:tr h="26448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27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132</a:t>
                      </a:r>
                    </a:p>
                  </a:txBody>
                  <a:tcPr marL="12700" marR="12700" marT="12700" marB="0" anchor="ctr"/>
                </a:tc>
              </a:tr>
              <a:tr h="26448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78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145</a:t>
                      </a:r>
                    </a:p>
                  </a:txBody>
                  <a:tcPr marL="12700" marR="12700" marT="12700" marB="0" anchor="ctr"/>
                </a:tc>
              </a:tr>
              <a:tr h="26448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113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134</a:t>
                      </a:r>
                    </a:p>
                  </a:txBody>
                  <a:tcPr marL="12700" marR="12700" marT="12700" marB="0" anchor="ctr"/>
                </a:tc>
              </a:tr>
              <a:tr h="26448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45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</a:t>
                      </a:r>
                    </a:p>
                  </a:txBody>
                  <a:tcPr marL="12700" marR="12700" marT="12700" marB="0" anchor="ctr"/>
                </a:tc>
              </a:tr>
              <a:tr h="26448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203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12700" marR="12700" marT="12700" marB="0" anchor="ctr"/>
                </a:tc>
              </a:tr>
              <a:tr h="26448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86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129</a:t>
                      </a:r>
                    </a:p>
                  </a:txBody>
                  <a:tcPr marL="12700" marR="12700" marT="12700" marB="0" anchor="ctr"/>
                </a:tc>
              </a:tr>
              <a:tr h="26448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45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91</a:t>
                      </a:r>
                    </a:p>
                  </a:txBody>
                  <a:tcPr marL="12700" marR="12700" marT="12700" marB="0" anchor="ctr"/>
                </a:tc>
              </a:tr>
              <a:tr h="26448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58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96</a:t>
                      </a:r>
                    </a:p>
                  </a:txBody>
                  <a:tcPr marL="12700" marR="12700" marT="1270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393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t-Test 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62925"/>
            <a:ext cx="5214682" cy="4340638"/>
          </a:xfrm>
        </p:spPr>
        <p:txBody>
          <a:bodyPr>
            <a:normAutofit/>
          </a:bodyPr>
          <a:lstStyle/>
          <a:p>
            <a:r>
              <a:rPr lang="en-GB" dirty="0" smtClean="0"/>
              <a:t>We apply the t-Test to determine if the difference in the groups is significant</a:t>
            </a:r>
          </a:p>
          <a:p>
            <a:r>
              <a:rPr lang="en-GB" dirty="0" smtClean="0"/>
              <a:t>We decide upon a 0.05 confidence interval</a:t>
            </a:r>
          </a:p>
          <a:p>
            <a:pPr lvl="1"/>
            <a:r>
              <a:rPr lang="en-GB" dirty="0" err="1" smtClean="0"/>
              <a:t>df</a:t>
            </a:r>
            <a:r>
              <a:rPr lang="en-GB" dirty="0" smtClean="0"/>
              <a:t>= 22</a:t>
            </a:r>
            <a:endParaRPr lang="en-GB" dirty="0"/>
          </a:p>
          <a:p>
            <a:pPr lvl="1"/>
            <a:r>
              <a:rPr lang="en-GB" dirty="0" smtClean="0"/>
              <a:t>t = 2.3569</a:t>
            </a:r>
          </a:p>
          <a:p>
            <a:pPr lvl="1"/>
            <a:r>
              <a:rPr lang="en-GB" dirty="0" smtClean="0"/>
              <a:t>Using a two-tail test</a:t>
            </a:r>
          </a:p>
          <a:p>
            <a:pPr marL="1143000" lvl="2">
              <a:lnSpc>
                <a:spcPct val="80000"/>
              </a:lnSpc>
            </a:pPr>
            <a:r>
              <a:rPr lang="en-GB" dirty="0">
                <a:latin typeface="Arial" charset="0"/>
              </a:rPr>
              <a:t>A</a:t>
            </a:r>
            <a:r>
              <a:rPr lang="en-GB" dirty="0">
                <a:latin typeface="Arial" charset="0"/>
                <a:cs typeface="Arial" charset="0"/>
              </a:rPr>
              <a:t>≠B</a:t>
            </a:r>
          </a:p>
          <a:p>
            <a:pPr marL="1143000" lvl="2">
              <a:lnSpc>
                <a:spcPct val="80000"/>
              </a:lnSpc>
            </a:pPr>
            <a:r>
              <a:rPr lang="en-GB" dirty="0">
                <a:latin typeface="Arial" charset="0"/>
                <a:cs typeface="Arial" charset="0"/>
              </a:rPr>
              <a:t>Tests A&gt;B </a:t>
            </a:r>
            <a:r>
              <a:rPr lang="en-GB" u="sng" dirty="0">
                <a:latin typeface="Arial" charset="0"/>
                <a:cs typeface="Arial" charset="0"/>
              </a:rPr>
              <a:t>and</a:t>
            </a:r>
            <a:r>
              <a:rPr lang="en-GB" dirty="0">
                <a:latin typeface="Arial" charset="0"/>
                <a:cs typeface="Arial" charset="0"/>
              </a:rPr>
              <a:t> A&lt;</a:t>
            </a:r>
            <a:r>
              <a:rPr lang="en-GB" dirty="0" smtClean="0">
                <a:latin typeface="Arial" charset="0"/>
                <a:cs typeface="Arial" charset="0"/>
              </a:rPr>
              <a:t>B</a:t>
            </a:r>
            <a:endParaRPr lang="en-GB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844257"/>
              </p:ext>
            </p:extLst>
          </p:nvPr>
        </p:nvGraphicFramePr>
        <p:xfrm>
          <a:off x="5890858" y="2128321"/>
          <a:ext cx="2397893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0"/>
                <a:gridCol w="1199013"/>
              </a:tblGrid>
              <a:tr h="27917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Machine A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Machine B</a:t>
                      </a:r>
                      <a:endParaRPr lang="en-GB" sz="1600" dirty="0"/>
                    </a:p>
                  </a:txBody>
                  <a:tcPr/>
                </a:tc>
              </a:tr>
              <a:tr h="27917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78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</a:t>
                      </a:r>
                    </a:p>
                  </a:txBody>
                  <a:tcPr marL="12700" marR="12700" marT="12700" marB="0" anchor="ctr"/>
                </a:tc>
              </a:tr>
              <a:tr h="27917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43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</a:t>
                      </a:r>
                    </a:p>
                  </a:txBody>
                  <a:tcPr marL="12700" marR="12700" marT="12700" marB="0" anchor="ctr"/>
                </a:tc>
              </a:tr>
              <a:tr h="27917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89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</a:t>
                      </a:r>
                    </a:p>
                  </a:txBody>
                  <a:tcPr marL="12700" marR="12700" marT="12700" marB="0" anchor="ctr"/>
                </a:tc>
              </a:tr>
              <a:tr h="27917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63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</a:t>
                      </a:r>
                    </a:p>
                  </a:txBody>
                  <a:tcPr marL="12700" marR="12700" marT="12700" marB="0" anchor="ctr"/>
                </a:tc>
              </a:tr>
              <a:tr h="27917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27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132</a:t>
                      </a:r>
                    </a:p>
                  </a:txBody>
                  <a:tcPr marL="12700" marR="12700" marT="12700" marB="0" anchor="ctr"/>
                </a:tc>
              </a:tr>
              <a:tr h="27917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78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145</a:t>
                      </a:r>
                    </a:p>
                  </a:txBody>
                  <a:tcPr marL="12700" marR="12700" marT="12700" marB="0" anchor="ctr"/>
                </a:tc>
              </a:tr>
              <a:tr h="27917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113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134</a:t>
                      </a:r>
                    </a:p>
                  </a:txBody>
                  <a:tcPr marL="12700" marR="12700" marT="12700" marB="0" anchor="ctr"/>
                </a:tc>
              </a:tr>
              <a:tr h="27917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45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</a:t>
                      </a:r>
                    </a:p>
                  </a:txBody>
                  <a:tcPr marL="12700" marR="12700" marT="12700" marB="0" anchor="ctr"/>
                </a:tc>
              </a:tr>
              <a:tr h="27917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203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12700" marR="12700" marT="12700" marB="0" anchor="ctr"/>
                </a:tc>
              </a:tr>
              <a:tr h="27917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86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129</a:t>
                      </a:r>
                    </a:p>
                  </a:txBody>
                  <a:tcPr marL="12700" marR="12700" marT="12700" marB="0" anchor="ctr"/>
                </a:tc>
              </a:tr>
              <a:tr h="27917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45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91</a:t>
                      </a:r>
                    </a:p>
                  </a:txBody>
                  <a:tcPr marL="12700" marR="12700" marT="12700" marB="0" anchor="ctr"/>
                </a:tc>
              </a:tr>
              <a:tr h="27917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58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96</a:t>
                      </a:r>
                    </a:p>
                  </a:txBody>
                  <a:tcPr marL="12700" marR="12700" marT="1270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717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49045" y="-73025"/>
            <a:ext cx="6403975" cy="1254125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latin typeface="Arial" charset="0"/>
              </a:rPr>
              <a:t>Comparing Results: The </a:t>
            </a:r>
            <a:r>
              <a:rPr lang="en-GB" sz="3600" dirty="0" smtClean="0">
                <a:latin typeface="Arial" charset="0"/>
              </a:rPr>
              <a:t>t-Test</a:t>
            </a:r>
            <a:endParaRPr lang="en-US" sz="3600" dirty="0">
              <a:latin typeface="Arial" charset="0"/>
            </a:endParaRP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53299" y="1617663"/>
            <a:ext cx="4439000" cy="49006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sz="2600" dirty="0">
                <a:latin typeface="Arial" charset="0"/>
              </a:rPr>
              <a:t>Degrees of freedom</a:t>
            </a:r>
          </a:p>
          <a:p>
            <a:pPr eaLnBrk="1" hangingPunct="1">
              <a:lnSpc>
                <a:spcPct val="80000"/>
              </a:lnSpc>
            </a:pPr>
            <a:endParaRPr lang="en-GB" sz="2600" dirty="0">
              <a:latin typeface="Arial" charset="0"/>
            </a:endParaRPr>
          </a:p>
          <a:p>
            <a:pPr eaLnBrk="1" hangingPunct="1">
              <a:lnSpc>
                <a:spcPct val="80000"/>
              </a:lnSpc>
            </a:pPr>
            <a:endParaRPr lang="en-GB" sz="2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2800" dirty="0">
                <a:latin typeface="Lucida Grande"/>
                <a:ea typeface="Lucida Grande"/>
                <a:cs typeface="Lucida Grande"/>
              </a:rPr>
              <a:t>α</a:t>
            </a:r>
            <a:r>
              <a:rPr lang="en-GB" sz="2600" i="1" dirty="0" smtClean="0">
                <a:latin typeface="Arial" charset="0"/>
              </a:rPr>
              <a:t> </a:t>
            </a:r>
            <a:r>
              <a:rPr lang="en-GB" sz="2600" dirty="0">
                <a:latin typeface="Arial" charset="0"/>
              </a:rPr>
              <a:t>= probability of error</a:t>
            </a:r>
          </a:p>
          <a:p>
            <a:pPr lvl="1">
              <a:lnSpc>
                <a:spcPct val="80000"/>
              </a:lnSpc>
            </a:pPr>
            <a:r>
              <a:rPr lang="en-GB" sz="2200" dirty="0">
                <a:latin typeface="Arial" charset="0"/>
              </a:rPr>
              <a:t>In this example</a:t>
            </a:r>
            <a:br>
              <a:rPr lang="en-GB" sz="2200" dirty="0">
                <a:latin typeface="Arial" charset="0"/>
              </a:rPr>
            </a:br>
            <a:r>
              <a:rPr lang="en-US" dirty="0">
                <a:latin typeface="Lucida Grande"/>
                <a:ea typeface="Lucida Grande"/>
                <a:cs typeface="Lucida Grande"/>
              </a:rPr>
              <a:t>α</a:t>
            </a:r>
            <a:r>
              <a:rPr lang="en-GB" sz="2200" dirty="0" smtClean="0">
                <a:latin typeface="Arial" charset="0"/>
              </a:rPr>
              <a:t>=0.05</a:t>
            </a:r>
          </a:p>
          <a:p>
            <a:pPr lvl="1">
              <a:lnSpc>
                <a:spcPct val="80000"/>
              </a:lnSpc>
            </a:pPr>
            <a:endParaRPr lang="en-GB" sz="2200" dirty="0" smtClean="0">
              <a:latin typeface="Arial" charset="0"/>
            </a:endParaRPr>
          </a:p>
          <a:p>
            <a:pPr marL="274320" lvl="1">
              <a:lnSpc>
                <a:spcPct val="80000"/>
              </a:lnSpc>
            </a:pPr>
            <a:r>
              <a:rPr lang="en-GB" dirty="0"/>
              <a:t>t = </a:t>
            </a:r>
            <a:r>
              <a:rPr lang="en-GB" dirty="0" smtClean="0"/>
              <a:t>2.3569</a:t>
            </a:r>
            <a:endParaRPr lang="en-GB" sz="2400" dirty="0">
              <a:latin typeface="Arial" charset="0"/>
            </a:endParaRPr>
          </a:p>
          <a:p>
            <a:pPr eaLnBrk="1" hangingPunct="1">
              <a:lnSpc>
                <a:spcPct val="80000"/>
              </a:lnSpc>
            </a:pPr>
            <a:endParaRPr lang="en-GB" sz="1400" dirty="0">
              <a:latin typeface="Arial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GB" sz="2600" dirty="0" smtClean="0">
                <a:latin typeface="Arial" charset="0"/>
              </a:rPr>
              <a:t>In this case, the result is significant</a:t>
            </a:r>
          </a:p>
          <a:p>
            <a:pPr lvl="1">
              <a:lnSpc>
                <a:spcPct val="80000"/>
              </a:lnSpc>
            </a:pPr>
            <a:r>
              <a:rPr lang="en-GB" dirty="0" smtClean="0">
                <a:latin typeface="Arial" charset="0"/>
              </a:rPr>
              <a:t>Since </a:t>
            </a:r>
            <a:r>
              <a:rPr lang="en-GB" i="1" dirty="0" smtClean="0">
                <a:latin typeface="Arial" charset="0"/>
              </a:rPr>
              <a:t>t &gt; critical value</a:t>
            </a:r>
            <a:endParaRPr lang="en-GB" i="1" dirty="0">
              <a:latin typeface="Arial" charset="0"/>
            </a:endParaRPr>
          </a:p>
        </p:txBody>
      </p:sp>
      <p:graphicFrame>
        <p:nvGraphicFramePr>
          <p:cNvPr id="573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766811"/>
              </p:ext>
            </p:extLst>
          </p:nvPr>
        </p:nvGraphicFramePr>
        <p:xfrm>
          <a:off x="741363" y="2185988"/>
          <a:ext cx="28352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0" name="Equation" r:id="rId3" imgW="1143000" imgH="241300" progId="Equation.3">
                  <p:embed/>
                </p:oleObj>
              </mc:Choice>
              <mc:Fallback>
                <p:oleObj name="Equation" r:id="rId3" imgW="11430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3" y="2185988"/>
                        <a:ext cx="28352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4792299" y="907245"/>
            <a:ext cx="3113975" cy="5858162"/>
            <a:chOff x="4400791" y="907245"/>
            <a:chExt cx="2970746" cy="5588713"/>
          </a:xfrm>
        </p:grpSpPr>
        <p:pic>
          <p:nvPicPr>
            <p:cNvPr id="7" name="Picture 6" descr="Screen Shot 2014-11-26 at 16.19.22.png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1190" b="11013"/>
            <a:stretch/>
          </p:blipFill>
          <p:spPr>
            <a:xfrm>
              <a:off x="4400791" y="907245"/>
              <a:ext cx="2970746" cy="5569617"/>
            </a:xfrm>
            <a:prstGeom prst="rect">
              <a:avLst/>
            </a:prstGeom>
          </p:spPr>
        </p:pic>
        <p:sp>
          <p:nvSpPr>
            <p:cNvPr id="80902" name="Oval 6"/>
            <p:cNvSpPr>
              <a:spLocks noChangeArrowheads="1"/>
            </p:cNvSpPr>
            <p:nvPr/>
          </p:nvSpPr>
          <p:spPr bwMode="auto">
            <a:xfrm>
              <a:off x="5453979" y="6200683"/>
              <a:ext cx="439737" cy="295275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solidFill>
                  <a:srgbClr val="FF3300"/>
                </a:solidFill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98757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87676" y="204581"/>
            <a:ext cx="6254347" cy="6889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3500" dirty="0">
                <a:latin typeface="Arial" charset="0"/>
              </a:rPr>
              <a:t>One and Two-Tail Critical Values</a:t>
            </a:r>
            <a:endParaRPr lang="en-US" sz="3500" dirty="0">
              <a:latin typeface="Arial" charset="0"/>
            </a:endParaRPr>
          </a:p>
        </p:txBody>
      </p:sp>
      <p:pic>
        <p:nvPicPr>
          <p:cNvPr id="2" name="Picture 1" descr="Screen Shot 2014-11-26 at 16.19.2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17" y="826471"/>
            <a:ext cx="4775437" cy="591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098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latin typeface="Arial" charset="0"/>
              </a:rPr>
              <a:t>Correlation</a:t>
            </a:r>
            <a:endParaRPr lang="en-US" dirty="0">
              <a:latin typeface="Arial" charset="0"/>
            </a:endParaRPr>
          </a:p>
        </p:txBody>
      </p:sp>
      <p:pic>
        <p:nvPicPr>
          <p:cNvPr id="18434" name="Picture 3" descr="cartoon3"/>
          <p:cNvPicPr>
            <a:picLocks noChangeAspect="1" noChangeArrowheads="1"/>
          </p:cNvPicPr>
          <p:nvPr/>
        </p:nvPicPr>
        <p:blipFill>
          <a:blip r:embed="rId2">
            <a:lum bright="-12000" contrast="2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955" y="2549056"/>
            <a:ext cx="3910962" cy="4207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88624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22275" y="1661975"/>
            <a:ext cx="8448395" cy="4411662"/>
          </a:xfrm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latin typeface="Arial" charset="0"/>
              </a:rPr>
              <a:t>Determining if a relationship exists between multiple variables</a:t>
            </a:r>
          </a:p>
        </p:txBody>
      </p:sp>
      <p:pic>
        <p:nvPicPr>
          <p:cNvPr id="19459" name="Picture 5" descr="cancer_smoking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39590" y="2337261"/>
            <a:ext cx="4172748" cy="4358583"/>
          </a:xfrm>
          <a:noFill/>
        </p:spPr>
      </p:pic>
      <p:pic>
        <p:nvPicPr>
          <p:cNvPr id="19460" name="Picture 8" descr="RelationshipMarketing"/>
          <p:cNvPicPr>
            <a:picLocks noGrp="1" noChangeAspect="1" noChangeArrowheads="1"/>
          </p:cNvPicPr>
          <p:nvPr>
            <p:ph sz="quarter"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6" r="17573"/>
          <a:stretch/>
        </p:blipFill>
        <p:spPr>
          <a:xfrm>
            <a:off x="754341" y="3080206"/>
            <a:ext cx="2816843" cy="3246849"/>
          </a:xfrm>
          <a:noFill/>
        </p:spPr>
      </p:pic>
    </p:spTree>
    <p:extLst>
      <p:ext uri="{BB962C8B-B14F-4D97-AF65-F5344CB8AC3E}">
        <p14:creationId xmlns:p14="http://schemas.microsoft.com/office/powerpoint/2010/main" val="34698957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17897" y="-110428"/>
            <a:ext cx="5764921" cy="125272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latin typeface="Arial" charset="0"/>
              </a:rPr>
              <a:t>Correlation &amp; Regression</a:t>
            </a:r>
            <a:endParaRPr lang="en-US" sz="4000" dirty="0">
              <a:latin typeface="Arial" charset="0"/>
            </a:endParaRP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1950" y="1636713"/>
            <a:ext cx="8229600" cy="46974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dirty="0">
                <a:latin typeface="Arial" charset="0"/>
              </a:rPr>
              <a:t>Correlation describes whether variables which describe a subject are related</a:t>
            </a:r>
          </a:p>
          <a:p>
            <a:pPr lvl="1" eaLnBrk="1" hangingPunct="1">
              <a:lnSpc>
                <a:spcPct val="90000"/>
              </a:lnSpc>
            </a:pPr>
            <a:r>
              <a:rPr lang="en-GB" dirty="0">
                <a:latin typeface="Arial" charset="0"/>
              </a:rPr>
              <a:t>e.g. does fat intake correlate with heart disease?</a:t>
            </a:r>
          </a:p>
          <a:p>
            <a:pPr lvl="1" eaLnBrk="1" hangingPunct="1">
              <a:lnSpc>
                <a:spcPct val="90000"/>
              </a:lnSpc>
            </a:pPr>
            <a:r>
              <a:rPr lang="en-GB" dirty="0">
                <a:latin typeface="Arial" charset="0"/>
              </a:rPr>
              <a:t>e.g. does download speed correlate with the number of servers in a cluster?</a:t>
            </a:r>
          </a:p>
          <a:p>
            <a:pPr lvl="1" eaLnBrk="1" hangingPunct="1">
              <a:lnSpc>
                <a:spcPct val="90000"/>
              </a:lnSpc>
            </a:pPr>
            <a:r>
              <a:rPr lang="en-GB" dirty="0">
                <a:latin typeface="Arial" charset="0"/>
              </a:rPr>
              <a:t>e.g. does number of cigarettes smoked correlate with number of lung cancer deaths?</a:t>
            </a:r>
          </a:p>
          <a:p>
            <a:pPr eaLnBrk="1" hangingPunct="1">
              <a:lnSpc>
                <a:spcPct val="90000"/>
              </a:lnSpc>
            </a:pPr>
            <a:r>
              <a:rPr lang="en-GB" dirty="0">
                <a:latin typeface="Arial" charset="0"/>
              </a:rPr>
              <a:t>Regression is the determination of a mathematical expression of the correlation</a:t>
            </a:r>
          </a:p>
          <a:p>
            <a:pPr eaLnBrk="1" hangingPunct="1">
              <a:lnSpc>
                <a:spcPct val="90000"/>
              </a:lnSpc>
            </a:pPr>
            <a:endParaRPr lang="en-GB" sz="900" dirty="0">
              <a:latin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Arial" charset="0"/>
              </a:rPr>
              <a:t>For example:</a:t>
            </a:r>
          </a:p>
        </p:txBody>
      </p:sp>
      <p:graphicFrame>
        <p:nvGraphicFramePr>
          <p:cNvPr id="20483" name="Object 11"/>
          <p:cNvGraphicFramePr>
            <a:graphicFrameLocks noChangeAspect="1"/>
          </p:cNvGraphicFramePr>
          <p:nvPr/>
        </p:nvGraphicFramePr>
        <p:xfrm>
          <a:off x="3105150" y="5545138"/>
          <a:ext cx="207803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" name="Equation" r:id="rId3" imgW="647419" imgH="203112" progId="Equation.3">
                  <p:embed/>
                </p:oleObj>
              </mc:Choice>
              <mc:Fallback>
                <p:oleObj name="Equation" r:id="rId3" imgW="64741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5545138"/>
                        <a:ext cx="2078038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24638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 charset="0"/>
              </a:rPr>
              <a:t>Correlation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483103"/>
            <a:ext cx="7685088" cy="4087950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Arial" charset="0"/>
              </a:rPr>
              <a:t>A Pearson correlation co-efficient is calculated from the data sets (X and Y)</a:t>
            </a:r>
          </a:p>
          <a:p>
            <a:endParaRPr lang="en-GB" sz="3200" dirty="0">
              <a:latin typeface="Arial" charset="0"/>
            </a:endParaRPr>
          </a:p>
          <a:p>
            <a:endParaRPr lang="en-GB" sz="4400" dirty="0">
              <a:latin typeface="Arial" charset="0"/>
            </a:endParaRPr>
          </a:p>
          <a:p>
            <a:r>
              <a:rPr lang="en-GB" sz="2800" dirty="0">
                <a:latin typeface="Arial" charset="0"/>
              </a:rPr>
              <a:t>Where covariance is:</a:t>
            </a:r>
          </a:p>
        </p:txBody>
      </p:sp>
      <p:graphicFrame>
        <p:nvGraphicFramePr>
          <p:cNvPr id="21507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760964524"/>
              </p:ext>
            </p:extLst>
          </p:nvPr>
        </p:nvGraphicFramePr>
        <p:xfrm>
          <a:off x="2167036" y="3564329"/>
          <a:ext cx="3180193" cy="107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6" name="Equation" r:id="rId3" imgW="1282700" imgH="431800" progId="Equation.3">
                  <p:embed/>
                </p:oleObj>
              </mc:Choice>
              <mc:Fallback>
                <p:oleObj name="Equation" r:id="rId3" imgW="1282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7036" y="3564329"/>
                        <a:ext cx="3180193" cy="10707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797134556"/>
              </p:ext>
            </p:extLst>
          </p:nvPr>
        </p:nvGraphicFramePr>
        <p:xfrm>
          <a:off x="4316532" y="5022277"/>
          <a:ext cx="3825756" cy="1205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7" name="Equation" r:id="rId5" imgW="1905000" imgH="609600" progId="Equation.3">
                  <p:embed/>
                </p:oleObj>
              </mc:Choice>
              <mc:Fallback>
                <p:oleObj name="Equation" r:id="rId5" imgW="19050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532" y="5022277"/>
                        <a:ext cx="3825756" cy="1205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6293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 charset="0"/>
              </a:rPr>
              <a:t>Correlation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0356" y="2600785"/>
            <a:ext cx="8394373" cy="3863345"/>
          </a:xfrm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latin typeface="Arial" charset="0"/>
              </a:rPr>
              <a:t>Correlation ranges </a:t>
            </a:r>
          </a:p>
          <a:p>
            <a:pPr lvl="1" eaLnBrk="1" hangingPunct="1"/>
            <a:r>
              <a:rPr lang="en-GB" sz="2400" i="1" dirty="0">
                <a:latin typeface="Arial" charset="0"/>
              </a:rPr>
              <a:t>r(X,Y)=0</a:t>
            </a:r>
            <a:r>
              <a:rPr lang="en-GB" sz="2400" dirty="0">
                <a:latin typeface="Arial" charset="0"/>
              </a:rPr>
              <a:t>: there is definitely no correlation;</a:t>
            </a:r>
          </a:p>
          <a:p>
            <a:pPr lvl="1" eaLnBrk="1" hangingPunct="1"/>
            <a:r>
              <a:rPr lang="en-GB" sz="2400" i="1" dirty="0">
                <a:latin typeface="Arial" charset="0"/>
              </a:rPr>
              <a:t>r(X,Y)= </a:t>
            </a:r>
            <a:r>
              <a:rPr lang="en-US" sz="2400" i="1" dirty="0">
                <a:latin typeface="Arial" charset="0"/>
              </a:rPr>
              <a:t>±</a:t>
            </a:r>
            <a:r>
              <a:rPr lang="en-GB" sz="2400" i="1" dirty="0">
                <a:latin typeface="Arial" charset="0"/>
              </a:rPr>
              <a:t>1</a:t>
            </a:r>
            <a:r>
              <a:rPr lang="en-GB" sz="2400" dirty="0">
                <a:latin typeface="Arial" charset="0"/>
              </a:rPr>
              <a:t>: there absolutely is a correlation;</a:t>
            </a:r>
            <a:endParaRPr lang="el-GR" sz="2400" dirty="0">
              <a:latin typeface="Arial" charset="0"/>
            </a:endParaRPr>
          </a:p>
          <a:p>
            <a:pPr eaLnBrk="1" hangingPunct="1"/>
            <a:endParaRPr lang="en-GB" sz="2800" dirty="0" smtClean="0">
              <a:latin typeface="Arial" charset="0"/>
            </a:endParaRPr>
          </a:p>
          <a:p>
            <a:pPr eaLnBrk="1" hangingPunct="1"/>
            <a:r>
              <a:rPr lang="en-GB" sz="2800" dirty="0" smtClean="0">
                <a:latin typeface="Arial" charset="0"/>
              </a:rPr>
              <a:t>Is </a:t>
            </a:r>
            <a:r>
              <a:rPr lang="en-GB" sz="2800" dirty="0">
                <a:latin typeface="Arial" charset="0"/>
              </a:rPr>
              <a:t>a correlation significant or the result of chance?</a:t>
            </a:r>
          </a:p>
          <a:p>
            <a:pPr lvl="1" eaLnBrk="1" hangingPunct="1"/>
            <a:r>
              <a:rPr lang="en-GB" sz="2400" dirty="0">
                <a:latin typeface="Arial" charset="0"/>
              </a:rPr>
              <a:t>Depends upon </a:t>
            </a:r>
            <a:r>
              <a:rPr lang="en-GB" sz="2400" i="1" dirty="0">
                <a:latin typeface="Arial" charset="0"/>
              </a:rPr>
              <a:t>sample size (</a:t>
            </a:r>
            <a:r>
              <a:rPr lang="en-GB" sz="2400" dirty="0">
                <a:latin typeface="Arial" charset="0"/>
              </a:rPr>
              <a:t>degrees of freedom</a:t>
            </a:r>
            <a:r>
              <a:rPr lang="en-GB" sz="2400" i="1" dirty="0">
                <a:latin typeface="Arial" charset="0"/>
              </a:rPr>
              <a:t>)</a:t>
            </a:r>
          </a:p>
          <a:p>
            <a:pPr lvl="1" eaLnBrk="1" hangingPunct="1"/>
            <a:r>
              <a:rPr lang="en-GB" sz="2400" dirty="0">
                <a:latin typeface="Arial" charset="0"/>
              </a:rPr>
              <a:t>Rule of thumb </a:t>
            </a:r>
            <a:r>
              <a:rPr lang="en-GB" sz="2400" i="1" dirty="0">
                <a:latin typeface="Arial" charset="0"/>
              </a:rPr>
              <a:t>r&gt;</a:t>
            </a:r>
            <a:r>
              <a:rPr lang="en-US" sz="2400" i="1" dirty="0">
                <a:latin typeface="Arial" charset="0"/>
              </a:rPr>
              <a:t>±0.7 ≈ </a:t>
            </a:r>
            <a:r>
              <a:rPr lang="en-US" sz="2400" dirty="0">
                <a:latin typeface="Arial" charset="0"/>
              </a:rPr>
              <a:t>strong correlation</a:t>
            </a:r>
          </a:p>
          <a:p>
            <a:pPr lvl="1" eaLnBrk="1" hangingPunct="1"/>
            <a:r>
              <a:rPr lang="en-US" sz="2400" dirty="0">
                <a:latin typeface="Arial" charset="0"/>
              </a:rPr>
              <a:t>Methods available to ascertain significance</a:t>
            </a:r>
          </a:p>
        </p:txBody>
      </p:sp>
    </p:spTree>
    <p:extLst>
      <p:ext uri="{BB962C8B-B14F-4D97-AF65-F5344CB8AC3E}">
        <p14:creationId xmlns:p14="http://schemas.microsoft.com/office/powerpoint/2010/main" val="1802354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 charset="0"/>
              </a:rPr>
              <a:t>+</a:t>
            </a:r>
            <a:r>
              <a:rPr lang="ja-JP" altLang="en-GB">
                <a:latin typeface="Arial" charset="0"/>
              </a:rPr>
              <a:t>’</a:t>
            </a:r>
            <a:r>
              <a:rPr lang="en-GB" altLang="ja-JP">
                <a:latin typeface="Arial" charset="0"/>
              </a:rPr>
              <a:t>ve and –</a:t>
            </a:r>
            <a:r>
              <a:rPr lang="ja-JP" altLang="en-GB">
                <a:latin typeface="Arial" charset="0"/>
              </a:rPr>
              <a:t>’</a:t>
            </a:r>
            <a:r>
              <a:rPr lang="en-GB" altLang="ja-JP">
                <a:latin typeface="Arial" charset="0"/>
              </a:rPr>
              <a:t>ve correlations</a:t>
            </a:r>
            <a:endParaRPr lang="en-GB">
              <a:latin typeface="Arial" charset="0"/>
            </a:endParaRPr>
          </a:p>
        </p:txBody>
      </p:sp>
      <p:graphicFrame>
        <p:nvGraphicFramePr>
          <p:cNvPr id="23554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845062898"/>
              </p:ext>
            </p:extLst>
          </p:nvPr>
        </p:nvGraphicFramePr>
        <p:xfrm>
          <a:off x="303648" y="2589992"/>
          <a:ext cx="4166752" cy="3372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4" name="Chart" r:id="rId3" imgW="4597400" imgH="3302000" progId="Excel.Chart.8">
                  <p:embed/>
                </p:oleObj>
              </mc:Choice>
              <mc:Fallback>
                <p:oleObj name="Chart" r:id="rId3" imgW="4597400" imgH="3302000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48" y="2589992"/>
                        <a:ext cx="4166752" cy="33726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367095178"/>
              </p:ext>
            </p:extLst>
          </p:nvPr>
        </p:nvGraphicFramePr>
        <p:xfrm>
          <a:off x="4592639" y="2589992"/>
          <a:ext cx="4182546" cy="3386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5" name="Chart" r:id="rId5" imgW="4597400" imgH="3302000" progId="Excel.Chart.8">
                  <p:embed/>
                </p:oleObj>
              </mc:Choice>
              <mc:Fallback>
                <p:oleObj name="Chart" r:id="rId5" imgW="4597400" imgH="3302000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2639" y="2589992"/>
                        <a:ext cx="4182546" cy="3386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2" name="Text Box 8"/>
          <p:cNvSpPr txBox="1">
            <a:spLocks noChangeArrowheads="1"/>
          </p:cNvSpPr>
          <p:nvPr/>
        </p:nvSpPr>
        <p:spPr bwMode="auto">
          <a:xfrm>
            <a:off x="774700" y="6315075"/>
            <a:ext cx="2409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GB">
              <a:cs typeface="+mn-cs"/>
            </a:endParaRPr>
          </a:p>
        </p:txBody>
      </p:sp>
      <p:sp>
        <p:nvSpPr>
          <p:cNvPr id="129033" name="Text Box 9"/>
          <p:cNvSpPr txBox="1">
            <a:spLocks noChangeArrowheads="1"/>
          </p:cNvSpPr>
          <p:nvPr/>
        </p:nvSpPr>
        <p:spPr bwMode="auto">
          <a:xfrm>
            <a:off x="1209675" y="5983288"/>
            <a:ext cx="20970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GB" i="1">
                <a:cs typeface="+mn-cs"/>
              </a:rPr>
              <a:t>r=0.947</a:t>
            </a:r>
          </a:p>
        </p:txBody>
      </p:sp>
      <p:sp>
        <p:nvSpPr>
          <p:cNvPr id="129034" name="Text Box 10"/>
          <p:cNvSpPr txBox="1">
            <a:spLocks noChangeArrowheads="1"/>
          </p:cNvSpPr>
          <p:nvPr/>
        </p:nvSpPr>
        <p:spPr bwMode="auto">
          <a:xfrm>
            <a:off x="5772150" y="5994400"/>
            <a:ext cx="2097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GB" i="1">
                <a:cs typeface="+mn-cs"/>
              </a:rPr>
              <a:t>r=-0.913</a:t>
            </a:r>
          </a:p>
        </p:txBody>
      </p:sp>
    </p:spTree>
    <p:extLst>
      <p:ext uri="{BB962C8B-B14F-4D97-AF65-F5344CB8AC3E}">
        <p14:creationId xmlns:p14="http://schemas.microsoft.com/office/powerpoint/2010/main" val="37259345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86458" y="1719263"/>
            <a:ext cx="8536469" cy="4411662"/>
          </a:xfrm>
        </p:spPr>
        <p:txBody>
          <a:bodyPr/>
          <a:lstStyle/>
          <a:p>
            <a:r>
              <a:rPr lang="en-GB" sz="2600" dirty="0">
                <a:latin typeface="Arial" charset="0"/>
              </a:rPr>
              <a:t>Number of logged-in users vs. mean packet delay (</a:t>
            </a:r>
            <a:r>
              <a:rPr lang="en-GB" sz="2600" dirty="0" err="1">
                <a:latin typeface="Arial" charset="0"/>
              </a:rPr>
              <a:t>ms</a:t>
            </a:r>
            <a:r>
              <a:rPr lang="en-GB" sz="2600" dirty="0">
                <a:latin typeface="Arial" charset="0"/>
              </a:rPr>
              <a:t>) on an intranet</a:t>
            </a:r>
          </a:p>
          <a:p>
            <a:pPr lvl="1"/>
            <a:r>
              <a:rPr lang="en-GB" i="1" dirty="0">
                <a:latin typeface="Arial" charset="0"/>
              </a:rPr>
              <a:t>r=0.91</a:t>
            </a:r>
          </a:p>
        </p:txBody>
      </p:sp>
      <p:graphicFrame>
        <p:nvGraphicFramePr>
          <p:cNvPr id="24579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589334094"/>
              </p:ext>
            </p:extLst>
          </p:nvPr>
        </p:nvGraphicFramePr>
        <p:xfrm>
          <a:off x="2347407" y="2650545"/>
          <a:ext cx="5883506" cy="396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3" name="Chart" r:id="rId3" imgW="5676900" imgH="4076700" progId="Excel.Chart.8">
                  <p:embed/>
                </p:oleObj>
              </mc:Choice>
              <mc:Fallback>
                <p:oleObj name="Chart" r:id="rId3" imgW="5676900" imgH="4076700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407" y="2650545"/>
                        <a:ext cx="5883506" cy="396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24493" y="-120168"/>
            <a:ext cx="5156255" cy="1252537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Arial" charset="0"/>
              </a:rPr>
              <a:t>Correlation Example</a:t>
            </a:r>
          </a:p>
        </p:txBody>
      </p:sp>
    </p:spTree>
    <p:extLst>
      <p:ext uri="{BB962C8B-B14F-4D97-AF65-F5344CB8AC3E}">
        <p14:creationId xmlns:p14="http://schemas.microsoft.com/office/powerpoint/2010/main" val="793835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86458" y="1719263"/>
            <a:ext cx="8536469" cy="4411662"/>
          </a:xfrm>
        </p:spPr>
        <p:txBody>
          <a:bodyPr/>
          <a:lstStyle/>
          <a:p>
            <a:r>
              <a:rPr lang="en-GB" sz="2600" dirty="0">
                <a:latin typeface="Arial" charset="0"/>
              </a:rPr>
              <a:t>Number of logged-in users vs. mean packet delay (</a:t>
            </a:r>
            <a:r>
              <a:rPr lang="en-GB" sz="2600" dirty="0" err="1">
                <a:latin typeface="Arial" charset="0"/>
              </a:rPr>
              <a:t>ms</a:t>
            </a:r>
            <a:r>
              <a:rPr lang="en-GB" sz="2600" dirty="0">
                <a:latin typeface="Arial" charset="0"/>
              </a:rPr>
              <a:t>) on an intranet</a:t>
            </a:r>
          </a:p>
          <a:p>
            <a:pPr lvl="1"/>
            <a:r>
              <a:rPr lang="en-GB" i="1" dirty="0">
                <a:latin typeface="Arial" charset="0"/>
              </a:rPr>
              <a:t>r=0.91</a:t>
            </a:r>
          </a:p>
        </p:txBody>
      </p:sp>
      <p:sp>
        <p:nvSpPr>
          <p:cNvPr id="245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24493" y="-120168"/>
            <a:ext cx="5156255" cy="1252537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Arial" charset="0"/>
              </a:rPr>
              <a:t>Correlation Example</a:t>
            </a: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8047803"/>
              </p:ext>
            </p:extLst>
          </p:nvPr>
        </p:nvGraphicFramePr>
        <p:xfrm>
          <a:off x="2597228" y="2638106"/>
          <a:ext cx="6088438" cy="4052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9" name="Chart" r:id="rId3" imgW="5676900" imgH="4076700" progId="Excel.Chart.8">
                  <p:embed/>
                </p:oleObj>
              </mc:Choice>
              <mc:Fallback>
                <p:oleObj name="Chart" r:id="rId3" imgW="5676900" imgH="4076700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228" y="2638106"/>
                        <a:ext cx="6088438" cy="40528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57451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48098" y="-135558"/>
            <a:ext cx="5074951" cy="1295400"/>
          </a:xfrm>
        </p:spPr>
        <p:txBody>
          <a:bodyPr/>
          <a:lstStyle/>
          <a:p>
            <a:r>
              <a:rPr lang="en-GB" dirty="0">
                <a:latin typeface="Arial" charset="0"/>
              </a:rPr>
              <a:t>Correlation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38716" y="2077232"/>
            <a:ext cx="4363720" cy="4411663"/>
          </a:xfrm>
        </p:spPr>
        <p:txBody>
          <a:bodyPr/>
          <a:lstStyle/>
          <a:p>
            <a:pPr eaLnBrk="1" hangingPunct="1"/>
            <a:r>
              <a:rPr lang="en-GB" dirty="0">
                <a:latin typeface="Arial" charset="0"/>
              </a:rPr>
              <a:t>Correlation significance testing allows evaluation of strength with a </a:t>
            </a:r>
            <a:r>
              <a:rPr lang="en-GB" i="1" dirty="0">
                <a:latin typeface="Arial" charset="0"/>
              </a:rPr>
              <a:t>confidence interval</a:t>
            </a:r>
          </a:p>
          <a:p>
            <a:pPr lvl="1" eaLnBrk="1" hangingPunct="1"/>
            <a:r>
              <a:rPr lang="en-GB" i="1" dirty="0" smtClean="0">
                <a:latin typeface="Arial" charset="0"/>
              </a:rPr>
              <a:t>r &gt; critical </a:t>
            </a:r>
            <a:r>
              <a:rPr lang="en-GB" i="1" dirty="0">
                <a:latin typeface="Arial" charset="0"/>
              </a:rPr>
              <a:t>value = correlation is statistically significant</a:t>
            </a:r>
          </a:p>
        </p:txBody>
      </p:sp>
      <p:pic>
        <p:nvPicPr>
          <p:cNvPr id="117258" name="Picture 5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02436" y="1955232"/>
            <a:ext cx="4253771" cy="4763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48893" y="6088063"/>
            <a:ext cx="4572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457200"/>
            <a:r>
              <a:rPr lang="en-GB" sz="1200" dirty="0">
                <a:latin typeface="Calibri" charset="0"/>
                <a:hlinkClick r:id="rId3"/>
              </a:rPr>
              <a:t>http://www.danielsoper.com/statcalc3/calc.aspx?id=44</a:t>
            </a:r>
            <a:r>
              <a:rPr lang="en-GB" sz="1200" dirty="0">
                <a:latin typeface="Calibri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92727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249141" y="166464"/>
            <a:ext cx="4552245" cy="1252728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latin typeface="Arial" charset="0"/>
              </a:rPr>
              <a:t>Correlation &amp; Regression</a:t>
            </a:r>
            <a:endParaRPr lang="en-US" sz="3600" dirty="0">
              <a:latin typeface="Arial" charset="0"/>
            </a:endParaRP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1950" y="1636713"/>
            <a:ext cx="8229600" cy="4697412"/>
          </a:xfrm>
        </p:spPr>
        <p:txBody>
          <a:bodyPr/>
          <a:lstStyle/>
          <a:p>
            <a:pPr eaLnBrk="1" hangingPunct="1"/>
            <a:r>
              <a:rPr lang="en-GB">
                <a:latin typeface="Arial" charset="0"/>
              </a:rPr>
              <a:t>Example:</a:t>
            </a:r>
            <a:endParaRPr lang="en-US">
              <a:latin typeface="Arial" charset="0"/>
            </a:endParaRPr>
          </a:p>
        </p:txBody>
      </p:sp>
      <p:pic>
        <p:nvPicPr>
          <p:cNvPr id="2765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0" y="2247900"/>
            <a:ext cx="6069013" cy="4070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652" name="Text Box 6"/>
          <p:cNvSpPr txBox="1">
            <a:spLocks noChangeArrowheads="1"/>
          </p:cNvSpPr>
          <p:nvPr/>
        </p:nvSpPr>
        <p:spPr bwMode="auto">
          <a:xfrm>
            <a:off x="5934075" y="4181475"/>
            <a:ext cx="1863725" cy="1449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GB" sz="1600" b="1" i="1">
                <a:latin typeface="Times New Roman" charset="0"/>
              </a:rPr>
              <a:t>r=0.73</a:t>
            </a:r>
          </a:p>
          <a:p>
            <a:pPr algn="r" eaLnBrk="1" hangingPunct="1">
              <a:spcBef>
                <a:spcPct val="50000"/>
              </a:spcBef>
            </a:pPr>
            <a:r>
              <a:rPr lang="en-GB" sz="1600" b="1" i="1">
                <a:latin typeface="Times New Roman" charset="0"/>
              </a:rPr>
              <a:t>N=18</a:t>
            </a:r>
          </a:p>
          <a:p>
            <a:pPr algn="r" eaLnBrk="1" hangingPunct="1">
              <a:spcBef>
                <a:spcPct val="50000"/>
              </a:spcBef>
            </a:pPr>
            <a:r>
              <a:rPr lang="en-GB" sz="1600" b="1" i="1">
                <a:latin typeface="Times New Roman" charset="0"/>
              </a:rPr>
              <a:t>df=16</a:t>
            </a:r>
          </a:p>
          <a:p>
            <a:pPr algn="r" eaLnBrk="1" hangingPunct="1">
              <a:spcBef>
                <a:spcPct val="50000"/>
              </a:spcBef>
            </a:pPr>
            <a:r>
              <a:rPr lang="en-GB" sz="1600" b="1" i="1">
                <a:latin typeface="Times New Roman" charset="0"/>
              </a:rPr>
              <a:t>P&lt;0.01</a:t>
            </a:r>
            <a:endParaRPr lang="el-GR" sz="1600" b="1" i="1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8291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249141" y="166464"/>
            <a:ext cx="4552245" cy="1252728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latin typeface="Arial" charset="0"/>
              </a:rPr>
              <a:t>Correlation &amp; Regression</a:t>
            </a:r>
            <a:endParaRPr lang="en-US" sz="3600" dirty="0">
              <a:latin typeface="Arial" charset="0"/>
            </a:endParaRP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1950" y="1636713"/>
            <a:ext cx="8229600" cy="4697412"/>
          </a:xfrm>
        </p:spPr>
        <p:txBody>
          <a:bodyPr/>
          <a:lstStyle/>
          <a:p>
            <a:pPr eaLnBrk="1" hangingPunct="1"/>
            <a:r>
              <a:rPr lang="en-GB">
                <a:latin typeface="Arial" charset="0"/>
              </a:rPr>
              <a:t>Example:</a:t>
            </a:r>
            <a:endParaRPr lang="en-US">
              <a:latin typeface="Arial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32285" y="2219371"/>
            <a:ext cx="6536767" cy="43053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66464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249141" y="166464"/>
            <a:ext cx="4552245" cy="1252728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latin typeface="Arial" charset="0"/>
              </a:rPr>
              <a:t>Correlation &amp; Regression</a:t>
            </a:r>
            <a:endParaRPr lang="en-US" sz="3600" dirty="0">
              <a:latin typeface="Arial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55579" y="2409824"/>
            <a:ext cx="4700510" cy="35100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43749" y="1789113"/>
            <a:ext cx="8362005" cy="4697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>
                <a:latin typeface="Arial" charset="0"/>
              </a:rPr>
              <a:t>Can be used to predict values not sampled</a:t>
            </a:r>
          </a:p>
          <a:p>
            <a:pPr lvl="1"/>
            <a:r>
              <a:rPr lang="en-US" dirty="0" smtClean="0">
                <a:latin typeface="Arial" charset="0"/>
              </a:rPr>
              <a:t>Linear trend:</a:t>
            </a:r>
          </a:p>
          <a:p>
            <a:pPr marL="1143000" lvl="2"/>
            <a:r>
              <a:rPr lang="en-US" i="1" dirty="0" smtClean="0">
                <a:latin typeface="Arial" charset="0"/>
              </a:rPr>
              <a:t>y=0.071 * x – 0.87</a:t>
            </a:r>
          </a:p>
          <a:p>
            <a:pPr lvl="1"/>
            <a:r>
              <a:rPr lang="en-US" dirty="0" smtClean="0">
                <a:latin typeface="Arial" charset="0"/>
              </a:rPr>
              <a:t>What if height is?:</a:t>
            </a:r>
          </a:p>
          <a:p>
            <a:pPr lvl="1"/>
            <a:r>
              <a:rPr lang="en-US" dirty="0" smtClean="0">
                <a:latin typeface="Arial" charset="0"/>
              </a:rPr>
              <a:t>66 = self-esteem 3.82</a:t>
            </a:r>
          </a:p>
          <a:p>
            <a:pPr marL="1143000" lvl="2"/>
            <a:r>
              <a:rPr lang="en-US" dirty="0" smtClean="0">
                <a:latin typeface="Arial" charset="0"/>
              </a:rPr>
              <a:t>(0.071*66)-0.87</a:t>
            </a:r>
          </a:p>
          <a:p>
            <a:pPr lvl="1"/>
            <a:r>
              <a:rPr lang="en-US" dirty="0" smtClean="0">
                <a:latin typeface="Arial" charset="0"/>
              </a:rPr>
              <a:t>73.5 = self-esteem 4.35</a:t>
            </a:r>
          </a:p>
          <a:p>
            <a:pPr lvl="1"/>
            <a:r>
              <a:rPr lang="en-US" dirty="0" smtClean="0">
                <a:latin typeface="Arial" charset="0"/>
              </a:rPr>
              <a:t>37 = self-esteem 1.78</a:t>
            </a:r>
          </a:p>
          <a:p>
            <a:pPr marL="1143000" lvl="2"/>
            <a:r>
              <a:rPr lang="en-US" dirty="0" smtClean="0">
                <a:latin typeface="Arial" charset="0"/>
              </a:rPr>
              <a:t>…and so on…</a:t>
            </a:r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8297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Correlation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Suppose we are interested in seeing whether the attendance of students to computing classes is related to the grades they achieve</a:t>
            </a:r>
          </a:p>
          <a:p>
            <a:r>
              <a:rPr lang="en-GB" dirty="0" smtClean="0"/>
              <a:t>We take a historic look at student module grades (%) and their attendance at the module classes (%)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73262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Correlation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969746"/>
            <a:ext cx="3768640" cy="4156417"/>
          </a:xfrm>
        </p:spPr>
        <p:txBody>
          <a:bodyPr/>
          <a:lstStyle/>
          <a:p>
            <a:r>
              <a:rPr lang="en-GB" dirty="0" smtClean="0"/>
              <a:t>We obtain the following data:</a:t>
            </a: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408840"/>
              </p:ext>
            </p:extLst>
          </p:nvPr>
        </p:nvGraphicFramePr>
        <p:xfrm>
          <a:off x="4225840" y="1969746"/>
          <a:ext cx="4460960" cy="4758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927"/>
                <a:gridCol w="1638866"/>
                <a:gridCol w="1121167"/>
              </a:tblGrid>
              <a:tr h="313801">
                <a:tc>
                  <a:txBody>
                    <a:bodyPr/>
                    <a:lstStyle/>
                    <a:p>
                      <a:r>
                        <a:rPr lang="en-GB" dirty="0" smtClean="0"/>
                        <a:t>Student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Attendance (%)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Grade (%)</a:t>
                      </a:r>
                      <a:endParaRPr lang="en-GB" dirty="0"/>
                    </a:p>
                  </a:txBody>
                  <a:tcPr/>
                </a:tc>
              </a:tr>
              <a:tr h="3138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A. Catt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12700" marR="12700" marT="12700" marB="0" anchor="ctr"/>
                </a:tc>
              </a:tr>
              <a:tr h="3138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A. Lovelace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</a:t>
                      </a:r>
                    </a:p>
                  </a:txBody>
                  <a:tcPr marL="12700" marR="12700" marT="12700" marB="0" anchor="ctr"/>
                </a:tc>
              </a:tr>
              <a:tr h="3138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A. Turing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82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</a:t>
                      </a:r>
                    </a:p>
                  </a:txBody>
                  <a:tcPr marL="12700" marR="12700" marT="12700" marB="0" anchor="ctr"/>
                </a:tc>
              </a:tr>
              <a:tr h="3138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B. Gates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12700" marR="12700" marT="12700" marB="0" anchor="ctr"/>
                </a:tc>
              </a:tr>
              <a:tr h="3138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G. Moore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67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</a:t>
                      </a:r>
                    </a:p>
                  </a:txBody>
                  <a:tcPr marL="12700" marR="12700" marT="12700" marB="0" anchor="ctr"/>
                </a:tc>
              </a:tr>
              <a:tr h="3138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J. Bloggs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</a:t>
                      </a:r>
                    </a:p>
                  </a:txBody>
                  <a:tcPr marL="12700" marR="12700" marT="12700" marB="0" anchor="ctr"/>
                </a:tc>
              </a:tr>
              <a:tr h="3138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J. Nash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87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</a:t>
                      </a:r>
                    </a:p>
                  </a:txBody>
                  <a:tcPr marL="12700" marR="12700" marT="12700" marB="0" anchor="ctr"/>
                </a:tc>
              </a:tr>
              <a:tr h="3138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J. Newman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78</a:t>
                      </a:r>
                    </a:p>
                  </a:txBody>
                  <a:tcPr marL="12700" marR="12700" marT="12700" marB="0" anchor="ctr"/>
                </a:tc>
              </a:tr>
              <a:tr h="3138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J. Von Neumann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</a:t>
                      </a:r>
                    </a:p>
                  </a:txBody>
                  <a:tcPr marL="12700" marR="12700" marT="12700" marB="0" anchor="ctr"/>
                </a:tc>
              </a:tr>
              <a:tr h="3138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K. Croston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</a:t>
                      </a:r>
                    </a:p>
                  </a:txBody>
                  <a:tcPr marL="12700" marR="12700" marT="12700" marB="0" anchor="ctr"/>
                </a:tc>
              </a:tr>
              <a:tr h="3138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K. Pietersen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12700" marR="12700" marT="12700" marB="0" anchor="ctr"/>
                </a:tc>
              </a:tr>
              <a:tr h="3138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L. Euler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94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</a:t>
                      </a:r>
                    </a:p>
                  </a:txBody>
                  <a:tcPr marL="12700" marR="12700" marT="12700" marB="0" anchor="ctr"/>
                </a:tc>
              </a:tr>
              <a:tr h="3138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S. Jobs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</a:t>
                      </a:r>
                    </a:p>
                  </a:txBody>
                  <a:tcPr marL="12700" marR="12700" marT="12700" marB="0" anchor="ctr"/>
                </a:tc>
              </a:tr>
              <a:tr h="3138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S. Wozniak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</a:t>
                      </a:r>
                    </a:p>
                  </a:txBody>
                  <a:tcPr marL="12700" marR="12700" marT="1270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2736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Correlation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2038069"/>
            <a:ext cx="7974060" cy="4088094"/>
          </a:xfrm>
        </p:spPr>
        <p:txBody>
          <a:bodyPr/>
          <a:lstStyle/>
          <a:p>
            <a:r>
              <a:rPr lang="en-GB" dirty="0" smtClean="0"/>
              <a:t>We plot the data:</a:t>
            </a:r>
            <a:endParaRPr lang="en-GB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9880132"/>
              </p:ext>
            </p:extLst>
          </p:nvPr>
        </p:nvGraphicFramePr>
        <p:xfrm>
          <a:off x="1486280" y="2305727"/>
          <a:ext cx="6215353" cy="44796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161862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Correlation &amp; Regression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894687"/>
            <a:ext cx="7974060" cy="4231476"/>
          </a:xfrm>
        </p:spPr>
        <p:txBody>
          <a:bodyPr/>
          <a:lstStyle/>
          <a:p>
            <a:r>
              <a:rPr lang="en-GB" dirty="0" smtClean="0"/>
              <a:t>We plot the data:</a:t>
            </a:r>
            <a:endParaRPr lang="en-GB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312832"/>
              </p:ext>
            </p:extLst>
          </p:nvPr>
        </p:nvGraphicFramePr>
        <p:xfrm>
          <a:off x="1370695" y="2430280"/>
          <a:ext cx="6079813" cy="4381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654980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Correlation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2488697"/>
            <a:ext cx="8229599" cy="3637466"/>
          </a:xfrm>
        </p:spPr>
        <p:txBody>
          <a:bodyPr/>
          <a:lstStyle/>
          <a:p>
            <a:r>
              <a:rPr lang="en-GB" dirty="0" smtClean="0"/>
              <a:t>Check the correlation:</a:t>
            </a:r>
          </a:p>
          <a:p>
            <a:endParaRPr lang="en-GB" dirty="0" smtClean="0"/>
          </a:p>
          <a:p>
            <a:pPr lvl="1"/>
            <a:r>
              <a:rPr lang="en-GB" dirty="0" smtClean="0"/>
              <a:t>r=0.942</a:t>
            </a:r>
          </a:p>
          <a:p>
            <a:pPr lvl="1"/>
            <a:r>
              <a:rPr lang="en-GB" dirty="0" smtClean="0"/>
              <a:t>n= 14</a:t>
            </a:r>
          </a:p>
          <a:p>
            <a:pPr lvl="1"/>
            <a:r>
              <a:rPr lang="en-GB" dirty="0" smtClean="0"/>
              <a:t>Confidence interval of 0.05</a:t>
            </a:r>
          </a:p>
          <a:p>
            <a:pPr lvl="1"/>
            <a:r>
              <a:rPr lang="en-GB" dirty="0" smtClean="0"/>
              <a:t>p(two-tail)=0.00000047</a:t>
            </a:r>
          </a:p>
          <a:p>
            <a:pPr lvl="1"/>
            <a:r>
              <a:rPr lang="en-GB" dirty="0"/>
              <a:t>p</a:t>
            </a:r>
            <a:r>
              <a:rPr lang="en-GB" dirty="0" smtClean="0"/>
              <a:t>&lt;0.05, so relationship is significant</a:t>
            </a:r>
          </a:p>
        </p:txBody>
      </p:sp>
    </p:spTree>
    <p:extLst>
      <p:ext uri="{BB962C8B-B14F-4D97-AF65-F5344CB8AC3E}">
        <p14:creationId xmlns:p14="http://schemas.microsoft.com/office/powerpoint/2010/main" val="36920771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charset="0"/>
              </a:rPr>
              <a:t>Correlation &amp; </a:t>
            </a:r>
            <a:r>
              <a:rPr lang="en-GB" dirty="0" smtClean="0">
                <a:latin typeface="Arial" charset="0"/>
              </a:rPr>
              <a:t>Causality</a:t>
            </a:r>
            <a:endParaRPr lang="en-GB" dirty="0">
              <a:latin typeface="Arial" charset="0"/>
            </a:endParaRPr>
          </a:p>
        </p:txBody>
      </p:sp>
      <p:sp>
        <p:nvSpPr>
          <p:cNvPr id="133125" name="Text Box 5"/>
          <p:cNvSpPr txBox="1">
            <a:spLocks noChangeArrowheads="1"/>
          </p:cNvSpPr>
          <p:nvPr/>
        </p:nvSpPr>
        <p:spPr bwMode="auto">
          <a:xfrm>
            <a:off x="1795463" y="6257465"/>
            <a:ext cx="561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GB" sz="2000" i="1" dirty="0" smtClean="0">
                <a:cs typeface="+mn-cs"/>
              </a:rPr>
              <a:t>What</a:t>
            </a:r>
            <a:r>
              <a:rPr lang="en-GB" sz="2000" i="1" dirty="0" smtClean="0"/>
              <a:t>’</a:t>
            </a:r>
            <a:r>
              <a:rPr lang="en-GB" sz="2000" i="1" dirty="0" smtClean="0">
                <a:cs typeface="+mn-cs"/>
              </a:rPr>
              <a:t>s </a:t>
            </a:r>
            <a:r>
              <a:rPr lang="en-GB" sz="2000" i="1" dirty="0">
                <a:cs typeface="+mn-cs"/>
              </a:rPr>
              <a:t>wrong with this picture?</a:t>
            </a:r>
          </a:p>
        </p:txBody>
      </p:sp>
      <p:graphicFrame>
        <p:nvGraphicFramePr>
          <p:cNvPr id="33795" name="Object 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548624"/>
              </p:ext>
            </p:extLst>
          </p:nvPr>
        </p:nvGraphicFramePr>
        <p:xfrm>
          <a:off x="1612730" y="2642323"/>
          <a:ext cx="5825656" cy="3599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9" name="Chart" r:id="rId3" imgW="6967152" imgH="4218083" progId="Excel.Chart.8">
                  <p:embed/>
                </p:oleObj>
              </mc:Choice>
              <mc:Fallback>
                <p:oleObj name="Chart" r:id="rId3" imgW="6967152" imgH="4218083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730" y="2642323"/>
                        <a:ext cx="5825656" cy="35994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9" name="Text Box 9"/>
          <p:cNvSpPr txBox="1">
            <a:spLocks noChangeArrowheads="1"/>
          </p:cNvSpPr>
          <p:nvPr/>
        </p:nvSpPr>
        <p:spPr bwMode="auto">
          <a:xfrm>
            <a:off x="2693676" y="4504865"/>
            <a:ext cx="1778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400" i="1" dirty="0">
                <a:cs typeface="+mn-cs"/>
              </a:rPr>
              <a:t>r = -0.9869</a:t>
            </a:r>
          </a:p>
        </p:txBody>
      </p:sp>
    </p:spTree>
    <p:extLst>
      <p:ext uri="{BB962C8B-B14F-4D97-AF65-F5344CB8AC3E}">
        <p14:creationId xmlns:p14="http://schemas.microsoft.com/office/powerpoint/2010/main" val="3998249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charset="0"/>
              </a:rPr>
              <a:t>Correlation &amp; </a:t>
            </a:r>
            <a:r>
              <a:rPr lang="en-GB" dirty="0" smtClean="0">
                <a:latin typeface="Arial" charset="0"/>
              </a:rPr>
              <a:t>Causality</a:t>
            </a:r>
            <a:endParaRPr lang="en-GB" dirty="0">
              <a:latin typeface="Arial" charset="0"/>
            </a:endParaRPr>
          </a:p>
        </p:txBody>
      </p:sp>
      <p:pic>
        <p:nvPicPr>
          <p:cNvPr id="34818" name="Picture 4" descr="dilbert_corr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07" y="2776628"/>
            <a:ext cx="8555567" cy="273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005" name="Text Box 5"/>
          <p:cNvSpPr txBox="1">
            <a:spLocks noChangeArrowheads="1"/>
          </p:cNvSpPr>
          <p:nvPr/>
        </p:nvSpPr>
        <p:spPr bwMode="auto">
          <a:xfrm>
            <a:off x="1446213" y="5570538"/>
            <a:ext cx="6257925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GB" sz="2000">
                <a:cs typeface="+mn-cs"/>
                <a:hlinkClick r:id="rId3"/>
              </a:rPr>
              <a:t>Correlation does NOT imply causation!</a:t>
            </a:r>
            <a:r>
              <a:rPr lang="en-GB" sz="2000">
                <a:cs typeface="+mn-cs"/>
              </a:rPr>
              <a:t> (0 – 2m 45s)</a:t>
            </a:r>
          </a:p>
          <a:p>
            <a:pPr algn="ctr">
              <a:spcBef>
                <a:spcPct val="50000"/>
              </a:spcBef>
              <a:defRPr/>
            </a:pPr>
            <a:r>
              <a:rPr lang="en-GB" sz="2000">
                <a:cs typeface="+mn-cs"/>
              </a:rPr>
              <a:t>…but causation can be investigated separately</a:t>
            </a:r>
          </a:p>
        </p:txBody>
      </p:sp>
    </p:spTree>
    <p:extLst>
      <p:ext uri="{BB962C8B-B14F-4D97-AF65-F5344CB8AC3E}">
        <p14:creationId xmlns:p14="http://schemas.microsoft.com/office/powerpoint/2010/main" val="4904490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Waveform.thmx</Template>
  <TotalTime>468</TotalTime>
  <Words>1518</Words>
  <Application>Microsoft Macintosh PowerPoint</Application>
  <PresentationFormat>On-screen Show (4:3)</PresentationFormat>
  <Paragraphs>387</Paragraphs>
  <Slides>42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Waveform</vt:lpstr>
      <vt:lpstr>Equation</vt:lpstr>
      <vt:lpstr>Chart</vt:lpstr>
      <vt:lpstr>Relationships… or the lack of!</vt:lpstr>
      <vt:lpstr>Similarities and Differences</vt:lpstr>
      <vt:lpstr>Comparing Data: Mann-Whitney Test</vt:lpstr>
      <vt:lpstr>Comparing Data: Mann-Whitney Test</vt:lpstr>
      <vt:lpstr>PowerPoint Presentation</vt:lpstr>
      <vt:lpstr>A tail of two cities …tails</vt:lpstr>
      <vt:lpstr>Mann-Whitney Test Example 1</vt:lpstr>
      <vt:lpstr>Mann-Whitney Test Example 1</vt:lpstr>
      <vt:lpstr>Mann-Whitney Test Example 1</vt:lpstr>
      <vt:lpstr>Mann-Whitney Test Example 1</vt:lpstr>
      <vt:lpstr>Mann-Whitney Test Example 1</vt:lpstr>
      <vt:lpstr>Mann-Whitney Test Example 1</vt:lpstr>
      <vt:lpstr>PowerPoint Presentation</vt:lpstr>
      <vt:lpstr>Mann-Whitney Test Example 1</vt:lpstr>
      <vt:lpstr>Comparing Data: t-Test</vt:lpstr>
      <vt:lpstr>Comparing Results: The T-test</vt:lpstr>
      <vt:lpstr>Comparing Results: The T-test</vt:lpstr>
      <vt:lpstr>Comparing Results: The T-test</vt:lpstr>
      <vt:lpstr>t-Test Example</vt:lpstr>
      <vt:lpstr>t-Test Example</vt:lpstr>
      <vt:lpstr>t-Test Example</vt:lpstr>
      <vt:lpstr>Comparing Results: The t-Test</vt:lpstr>
      <vt:lpstr>One and Two-Tail Critical Values</vt:lpstr>
      <vt:lpstr>Correlation</vt:lpstr>
      <vt:lpstr>PowerPoint Presentation</vt:lpstr>
      <vt:lpstr>Correlation &amp; Regression</vt:lpstr>
      <vt:lpstr>Correlation</vt:lpstr>
      <vt:lpstr>Correlation</vt:lpstr>
      <vt:lpstr>+’ve and –’ve correlations</vt:lpstr>
      <vt:lpstr>Correlation Example</vt:lpstr>
      <vt:lpstr>Correlation Example</vt:lpstr>
      <vt:lpstr>Correlation</vt:lpstr>
      <vt:lpstr>Correlation &amp; Regression</vt:lpstr>
      <vt:lpstr>Correlation &amp; Regression</vt:lpstr>
      <vt:lpstr>Correlation &amp; Regression</vt:lpstr>
      <vt:lpstr>Correlation</vt:lpstr>
      <vt:lpstr>Correlation</vt:lpstr>
      <vt:lpstr>Correlation</vt:lpstr>
      <vt:lpstr>Correlation &amp; Regression</vt:lpstr>
      <vt:lpstr>Correlation</vt:lpstr>
      <vt:lpstr>Correlation &amp; Causality</vt:lpstr>
      <vt:lpstr>Correlation &amp; Causality</vt:lpstr>
    </vt:vector>
  </TitlesOfParts>
  <Company>Glyndwr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Relationships… or the lack of!</dc:title>
  <dc:creator>Stuart Cunningham</dc:creator>
  <cp:lastModifiedBy>Stuart Cunningham</cp:lastModifiedBy>
  <cp:revision>62</cp:revision>
  <dcterms:created xsi:type="dcterms:W3CDTF">2014-11-26T10:09:29Z</dcterms:created>
  <dcterms:modified xsi:type="dcterms:W3CDTF">2014-11-27T10:10:26Z</dcterms:modified>
</cp:coreProperties>
</file>