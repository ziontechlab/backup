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5" r:id="rId2"/>
  </p:sldMasterIdLst>
  <p:notesMasterIdLst>
    <p:notesMasterId r:id="rId36"/>
  </p:notesMasterIdLst>
  <p:sldIdLst>
    <p:sldId id="288" r:id="rId3"/>
    <p:sldId id="257" r:id="rId4"/>
    <p:sldId id="258" r:id="rId5"/>
    <p:sldId id="259" r:id="rId6"/>
    <p:sldId id="260" r:id="rId7"/>
    <p:sldId id="263" r:id="rId8"/>
    <p:sldId id="264" r:id="rId9"/>
    <p:sldId id="265" r:id="rId10"/>
    <p:sldId id="262" r:id="rId11"/>
    <p:sldId id="266" r:id="rId12"/>
    <p:sldId id="267" r:id="rId13"/>
    <p:sldId id="261"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5" d="100"/>
          <a:sy n="75" d="100"/>
        </p:scale>
        <p:origin x="78"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E8D928-7216-4829-A501-0E991346B9F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GB"/>
        </a:p>
      </dgm:t>
    </dgm:pt>
    <dgm:pt modelId="{7954C881-B566-4B80-833C-B65377579F88}">
      <dgm:prSet/>
      <dgm:spPr/>
      <dgm:t>
        <a:bodyPr/>
        <a:lstStyle/>
        <a:p>
          <a:pPr algn="ctr" rtl="0"/>
          <a:r>
            <a:rPr lang="en-GB" dirty="0"/>
            <a:t>Questions?</a:t>
          </a:r>
        </a:p>
      </dgm:t>
    </dgm:pt>
    <dgm:pt modelId="{1116499E-AE0A-41E4-ACA5-5128BC8B6AF9}" type="parTrans" cxnId="{15C4DD5A-DD03-4D83-BD9B-CC12B57BFE78}">
      <dgm:prSet/>
      <dgm:spPr/>
      <dgm:t>
        <a:bodyPr/>
        <a:lstStyle/>
        <a:p>
          <a:endParaRPr lang="en-GB"/>
        </a:p>
      </dgm:t>
    </dgm:pt>
    <dgm:pt modelId="{D75D494B-1F4E-4F29-AF5D-80A9047A6622}" type="sibTrans" cxnId="{15C4DD5A-DD03-4D83-BD9B-CC12B57BFE78}">
      <dgm:prSet/>
      <dgm:spPr/>
      <dgm:t>
        <a:bodyPr/>
        <a:lstStyle/>
        <a:p>
          <a:endParaRPr lang="en-GB"/>
        </a:p>
      </dgm:t>
    </dgm:pt>
    <dgm:pt modelId="{108C4DD0-6B72-442C-89BB-FAEC7E68700B}" type="pres">
      <dgm:prSet presAssocID="{E4E8D928-7216-4829-A501-0E991346B9F0}" presName="linear" presStyleCnt="0">
        <dgm:presLayoutVars>
          <dgm:animLvl val="lvl"/>
          <dgm:resizeHandles val="exact"/>
        </dgm:presLayoutVars>
      </dgm:prSet>
      <dgm:spPr/>
    </dgm:pt>
    <dgm:pt modelId="{775A0574-FC57-443E-9284-0EE25D82033F}" type="pres">
      <dgm:prSet presAssocID="{7954C881-B566-4B80-833C-B65377579F88}" presName="parentText" presStyleLbl="node1" presStyleIdx="0" presStyleCnt="1">
        <dgm:presLayoutVars>
          <dgm:chMax val="0"/>
          <dgm:bulletEnabled val="1"/>
        </dgm:presLayoutVars>
      </dgm:prSet>
      <dgm:spPr/>
    </dgm:pt>
  </dgm:ptLst>
  <dgm:cxnLst>
    <dgm:cxn modelId="{AAF0FF6A-6419-46EB-9EE3-F2BE62E7380D}" type="presOf" srcId="{E4E8D928-7216-4829-A501-0E991346B9F0}" destId="{108C4DD0-6B72-442C-89BB-FAEC7E68700B}" srcOrd="0" destOrd="0" presId="urn:microsoft.com/office/officeart/2005/8/layout/vList2"/>
    <dgm:cxn modelId="{870FA072-9064-443C-A850-F348191BABB4}" type="presOf" srcId="{7954C881-B566-4B80-833C-B65377579F88}" destId="{775A0574-FC57-443E-9284-0EE25D82033F}" srcOrd="0" destOrd="0" presId="urn:microsoft.com/office/officeart/2005/8/layout/vList2"/>
    <dgm:cxn modelId="{15C4DD5A-DD03-4D83-BD9B-CC12B57BFE78}" srcId="{E4E8D928-7216-4829-A501-0E991346B9F0}" destId="{7954C881-B566-4B80-833C-B65377579F88}" srcOrd="0" destOrd="0" parTransId="{1116499E-AE0A-41E4-ACA5-5128BC8B6AF9}" sibTransId="{D75D494B-1F4E-4F29-AF5D-80A9047A6622}"/>
    <dgm:cxn modelId="{7D245F05-1806-4BA1-9FBE-C6F6A12408C1}" type="presParOf" srcId="{108C4DD0-6B72-442C-89BB-FAEC7E68700B}" destId="{775A0574-FC57-443E-9284-0EE25D82033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5A0574-FC57-443E-9284-0EE25D82033F}">
      <dsp:nvSpPr>
        <dsp:cNvPr id="0" name=""/>
        <dsp:cNvSpPr/>
      </dsp:nvSpPr>
      <dsp:spPr>
        <a:xfrm>
          <a:off x="0" y="1296900"/>
          <a:ext cx="10363200" cy="1521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rtl="0">
            <a:lnSpc>
              <a:spcPct val="90000"/>
            </a:lnSpc>
            <a:spcBef>
              <a:spcPct val="0"/>
            </a:spcBef>
            <a:spcAft>
              <a:spcPct val="35000"/>
            </a:spcAft>
            <a:buNone/>
          </a:pPr>
          <a:r>
            <a:rPr lang="en-GB" sz="6500" kern="1200" dirty="0"/>
            <a:t>Questions?</a:t>
          </a:r>
        </a:p>
      </dsp:txBody>
      <dsp:txXfrm>
        <a:off x="74249" y="1371149"/>
        <a:ext cx="10214702" cy="13725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060A3-FB1B-4612-AEDE-6ADD6DDA353C}" type="datetimeFigureOut">
              <a:rPr lang="en-GB" smtClean="0"/>
              <a:t>06/10/2020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205C81-F1E5-4552-890E-CDE7C0395774}" type="slidenum">
              <a:rPr lang="en-GB" smtClean="0"/>
              <a:t>‹#›</a:t>
            </a:fld>
            <a:endParaRPr lang="en-GB"/>
          </a:p>
        </p:txBody>
      </p:sp>
    </p:spTree>
    <p:extLst>
      <p:ext uri="{BB962C8B-B14F-4D97-AF65-F5344CB8AC3E}">
        <p14:creationId xmlns:p14="http://schemas.microsoft.com/office/powerpoint/2010/main" val="270228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0" fontAlgn="base" hangingPunct="0">
              <a:spcBef>
                <a:spcPct val="0"/>
              </a:spcBef>
              <a:spcAft>
                <a:spcPct val="0"/>
              </a:spcAft>
              <a:defRPr/>
            </a:pPr>
            <a:fld id="{71E9B611-79A5-4063-8624-6013F60C0F92}" type="slidenum">
              <a:rPr lang="en-GB" altLang="en-US" sz="1200" smtClean="0">
                <a:solidFill>
                  <a:srgbClr val="000000"/>
                </a:solidFill>
                <a:latin typeface="Times New Roman" panose="02020603050405020304" pitchFamily="18" charset="0"/>
              </a:rPr>
              <a:pPr eaLnBrk="0" fontAlgn="base" hangingPunct="0">
                <a:spcBef>
                  <a:spcPct val="0"/>
                </a:spcBef>
                <a:spcAft>
                  <a:spcPct val="0"/>
                </a:spcAft>
                <a:defRPr/>
              </a:pPr>
              <a:t>1</a:t>
            </a:fld>
            <a:endParaRPr lang="en-GB" altLang="en-US" sz="12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761284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19475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147484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6747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7818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4292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816311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32954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10</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317225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11</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42876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558293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7556073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229829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80083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028943514"/>
      </p:ext>
    </p:extLst>
  </p:cSld>
  <p:clrMapOvr>
    <a:masterClrMapping/>
  </p:clrMapOvr>
  <p:transition advTm="5000">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6000" b="0" i="0" u="none" strike="noStrike" kern="1200" cap="none" spc="0" normalizeH="0" baseline="0" noProof="0">
                <a:ln>
                  <a:noFill/>
                </a:ln>
                <a:solidFill>
                  <a:srgbClr val="FFFFFF"/>
                </a:solidFill>
                <a:effectLst/>
                <a:uLnTx/>
                <a:uFillTx/>
                <a:latin typeface="Georgia" pitchFamily="18" charset="0"/>
                <a:ea typeface="+mn-ea"/>
                <a:cs typeface="+mn-cs"/>
              </a:rPr>
              <a:t>c</a:t>
            </a:r>
            <a:r>
              <a:rPr kumimoji="0" lang="en-GB" sz="4000" b="0" i="0" u="none" strike="noStrike" kern="1200" cap="none" spc="0" normalizeH="0" baseline="0" noProof="0">
                <a:ln>
                  <a:noFill/>
                </a:ln>
                <a:solidFill>
                  <a:srgbClr val="FFFFFF"/>
                </a:solidFill>
                <a:effectLst/>
                <a:uLnTx/>
                <a:uFillTx/>
                <a:latin typeface="Georgia" pitchFamily="18" charset="0"/>
                <a:ea typeface="+mn-ea"/>
                <a:cs typeface="+mn-cs"/>
              </a:rPr>
              <a:t>@</a:t>
            </a:r>
            <a:r>
              <a:rPr kumimoji="0" lang="en-GB" sz="6000" b="0" i="0" u="none" strike="noStrike" kern="1200" cap="none" spc="0" normalizeH="0" baseline="0" noProof="0">
                <a:ln>
                  <a:noFill/>
                </a:ln>
                <a:solidFill>
                  <a:srgbClr val="FFFFFF"/>
                </a:solidFill>
                <a:effectLst/>
                <a:uLnTx/>
                <a:uFillTx/>
                <a:latin typeface="Georgia" pitchFamily="18" charset="0"/>
                <a:ea typeface="+mn-ea"/>
                <a:cs typeface="+mn-cs"/>
              </a:rPr>
              <a:t>g</a:t>
            </a:r>
          </a:p>
        </p:txBody>
      </p:sp>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935744653"/>
      </p:ext>
    </p:extLst>
  </p:cSld>
  <p:clrMapOvr>
    <a:masterClrMapping/>
  </p:clrMapOvr>
  <p:transition advTm="5000">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143115272"/>
      </p:ext>
    </p:extLst>
  </p:cSld>
  <p:clrMapOvr>
    <a:masterClrMapping/>
  </p:clrMapOvr>
  <p:transition advTm="5000">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244475998"/>
      </p:ext>
    </p:extLst>
  </p:cSld>
  <p:clrMapOvr>
    <a:masterClrMapping/>
  </p:clrMapOvr>
  <p:transition advTm="5000">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044001944"/>
      </p:ext>
    </p:extLst>
  </p:cSld>
  <p:clrMapOvr>
    <a:masterClrMapping/>
  </p:clrMapOvr>
  <p:transition advTm="5000">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1920327284"/>
      </p:ext>
    </p:extLst>
  </p:cSld>
  <p:clrMapOvr>
    <a:masterClrMapping/>
  </p:clrMapOvr>
  <p:transition advTm="5000">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98963496"/>
      </p:ext>
    </p:extLst>
  </p:cSld>
  <p:clrMapOvr>
    <a:masterClrMapping/>
  </p:clrMapOvr>
  <p:transition advTm="5000">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2262178046"/>
      </p:ext>
    </p:extLst>
  </p:cSld>
  <p:clrMapOvr>
    <a:masterClrMapping/>
  </p:clrMapOvr>
  <p:transition advTm="5000">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1991747359"/>
      </p:ext>
    </p:extLst>
  </p:cSld>
  <p:clrMapOvr>
    <a:masterClrMapping/>
  </p:clrMapOvr>
  <p:transition advTm="5000">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170859964"/>
      </p:ext>
    </p:extLst>
  </p:cSld>
  <p:clrMapOvr>
    <a:masterClrMapping/>
  </p:clrMapOvr>
  <p:transition advTm="5000">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631713520"/>
      </p:ext>
    </p:extLst>
  </p:cSld>
  <p:clrMapOvr>
    <a:masterClrMapping/>
  </p:clrMapOvr>
  <p:transition advTm="5000">
    <p:dissolv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1469212226"/>
      </p:ext>
    </p:extLst>
  </p:cSld>
  <p:clrMapOvr>
    <a:masterClrMapping/>
  </p:clrMapOvr>
  <p:transition advTm="5000">
    <p:dissolv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endParaRPr lang="en-GB" noProof="0"/>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311496306"/>
      </p:ext>
    </p:extLst>
  </p:cSld>
  <p:clrMapOvr>
    <a:masterClrMapping/>
  </p:clrMapOvr>
  <p:transition advTm="5000">
    <p:dissolv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344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6EEE6291-FC66-4C7E-B805-791E609FC7B6}"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916884234"/>
      </p:ext>
    </p:extLst>
  </p:cSld>
  <p:clrMapOvr>
    <a:masterClrMapping/>
  </p:clrMapOvr>
  <p:transition advTm="5000">
    <p:dissolv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0" fontAlgn="base" hangingPunct="0">
              <a:spcBef>
                <a:spcPct val="0"/>
              </a:spcBef>
              <a:spcAft>
                <a:spcPct val="0"/>
              </a:spcAft>
              <a:defRPr/>
            </a:pPr>
            <a:r>
              <a:rPr lang="en-GB" sz="6000">
                <a:solidFill>
                  <a:srgbClr val="FFFFFF"/>
                </a:solidFill>
                <a:latin typeface="Georgia" pitchFamily="18" charset="0"/>
              </a:rPr>
              <a:t>c</a:t>
            </a:r>
            <a:r>
              <a:rPr lang="en-GB" sz="4000">
                <a:solidFill>
                  <a:srgbClr val="FFFFFF"/>
                </a:solidFill>
                <a:latin typeface="Georgia" pitchFamily="18" charset="0"/>
              </a:rPr>
              <a:t>@</a:t>
            </a:r>
            <a:r>
              <a:rPr lang="en-GB" sz="6000">
                <a:solidFill>
                  <a:srgbClr val="FFFFFF"/>
                </a:solidFill>
                <a:latin typeface="Georgia" pitchFamily="18" charset="0"/>
              </a:rPr>
              <a:t>g</a:t>
            </a:r>
          </a:p>
        </p:txBody>
      </p:sp>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eaLnBrk="0" fontAlgn="base" hangingPunct="0">
              <a:spcBef>
                <a:spcPct val="0"/>
              </a:spcBef>
              <a:spcAft>
                <a:spcPct val="0"/>
              </a:spcAft>
              <a:defRPr/>
            </a:pPr>
            <a:fld id="{1FCC69CA-3F23-44CA-945B-0FA4477283F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659924111"/>
      </p:ext>
    </p:extLst>
  </p:cSld>
  <p:clrMapOvr>
    <a:masterClrMapping/>
  </p:clrMapOvr>
  <p:transition advTm="5000">
    <p:dissolv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91377758-8C37-4DF1-97AB-37A77D625D27}"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238357982"/>
      </p:ext>
    </p:extLst>
  </p:cSld>
  <p:clrMapOvr>
    <a:masterClrMapping/>
  </p:clrMapOvr>
  <p:transition advTm="5000">
    <p:dissolv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AFDF3D6-0B4F-41BB-A2E9-5EE288C12E7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4190542607"/>
      </p:ext>
    </p:extLst>
  </p:cSld>
  <p:clrMapOvr>
    <a:masterClrMapping/>
  </p:clrMapOvr>
  <p:transition advTm="5000">
    <p:dissolv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B4005AFC-2604-42A5-BE75-ACBC63D550FA}"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709871249"/>
      </p:ext>
    </p:extLst>
  </p:cSld>
  <p:clrMapOvr>
    <a:masterClrMapping/>
  </p:clrMapOvr>
  <p:transition advTm="5000">
    <p:dissolv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C1E6357F-E285-4B03-9226-48D613FBC57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999184440"/>
      </p:ext>
    </p:extLst>
  </p:cSld>
  <p:clrMapOvr>
    <a:masterClrMapping/>
  </p:clrMapOvr>
  <p:transition advTm="5000">
    <p:dissolv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3C15E10C-CC7A-417A-A2EE-23A0EFFC8E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612773846"/>
      </p:ext>
    </p:extLst>
  </p:cSld>
  <p:clrMapOvr>
    <a:masterClrMapping/>
  </p:clrMapOvr>
  <p:transition advTm="5000">
    <p:dissolv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509E4A2D-E46C-4766-8C2E-027EBC5B508C}"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99692917"/>
      </p:ext>
    </p:extLst>
  </p:cSld>
  <p:clrMapOvr>
    <a:masterClrMapping/>
  </p:clrMapOvr>
  <p:transition advTm="5000">
    <p:dissolv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137E9A74-7737-4008-93AE-82F7F5FA4879}"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402760874"/>
      </p:ext>
    </p:extLst>
  </p:cSld>
  <p:clrMapOvr>
    <a:masterClrMapping/>
  </p:clrMapOvr>
  <p:transition advTm="5000">
    <p:dissolv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8B50079-DBA3-4EC3-9B8C-5C8B3B58FB4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657090057"/>
      </p:ext>
    </p:extLst>
  </p:cSld>
  <p:clrMapOvr>
    <a:masterClrMapping/>
  </p:clrMapOvr>
  <p:transition advTm="5000">
    <p:dissolv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245E8AE7-88A0-4549-A1EA-61CBAAEBA1F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83088469"/>
      </p:ext>
    </p:extLst>
  </p:cSld>
  <p:clrMapOvr>
    <a:masterClrMapping/>
  </p:clrMapOvr>
  <p:transition advTm="5000">
    <p:dissolv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A3B7A2F1-7C63-4914-A25E-31B95FAF13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861689248"/>
      </p:ext>
    </p:extLst>
  </p:cSld>
  <p:clrMapOvr>
    <a:masterClrMapping/>
  </p:clrMapOvr>
  <p:transition advTm="5000">
    <p:dissolv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endParaRPr lang="en-GB" noProof="0"/>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58EA372-0C85-4E5C-A78F-2E1B1B18CAB2}"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869910835"/>
      </p:ext>
    </p:extLst>
  </p:cSld>
  <p:clrMapOvr>
    <a:masterClrMapping/>
  </p:clrMapOvr>
  <p:transition advTm="5000">
    <p:dissolv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eaLnBrk="0" fontAlgn="base" hangingPunct="0">
              <a:spcBef>
                <a:spcPct val="0"/>
              </a:spcBef>
              <a:spcAft>
                <a:spcPct val="0"/>
              </a:spcAft>
            </a:pPr>
            <a:fld id="{17DD356B-E5CD-44F2-850A-F898D624950E}" type="datetime1">
              <a:rPr lang="en-US" smtClean="0">
                <a:solidFill>
                  <a:srgbClr val="000000"/>
                </a:solidFill>
                <a:latin typeface="Arial"/>
              </a:rPr>
              <a:pPr eaLnBrk="0" fontAlgn="base" hangingPunct="0">
                <a:spcBef>
                  <a:spcPct val="0"/>
                </a:spcBef>
                <a:spcAft>
                  <a:spcPct val="0"/>
                </a:spcAft>
              </a:pPr>
              <a:t>10/6/2020</a:t>
            </a:fld>
            <a:endParaRPr lang="en-US">
              <a:solidFill>
                <a:srgbClr val="000000"/>
              </a:solidFill>
              <a:latin typeface="Arial"/>
            </a:endParaRP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pPr>
            <a:r>
              <a:rPr lang="en-US">
                <a:solidFill>
                  <a:srgbClr val="000000"/>
                </a:solidFill>
                <a:latin typeface="Arial"/>
              </a:rPr>
              <a:t>From Security in Computing, Fifth Edition, by Charles P. Pfleeger, et al. (ISBN: 9780134085043). Copyright 2015 by Pearson Education, Inc. All rights reserved.</a:t>
            </a:r>
            <a:endParaRPr lang="en-US" dirty="0">
              <a:solidFill>
                <a:srgbClr val="000000"/>
              </a:solidFill>
              <a:latin typeface="Arial"/>
            </a:endParaRPr>
          </a:p>
        </p:txBody>
      </p:sp>
      <p:sp>
        <p:nvSpPr>
          <p:cNvPr id="6" name="Slide Number Placeholder 5"/>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smtClean="0">
                <a:solidFill>
                  <a:srgbClr val="000000"/>
                </a:solidFill>
                <a:latin typeface="Arial"/>
              </a:rPr>
              <a:pPr eaLnBrk="0" fontAlgn="base" hangingPunct="0">
                <a:spcBef>
                  <a:spcPct val="0"/>
                </a:spcBef>
                <a:spcAft>
                  <a:spcPct val="0"/>
                </a:spcAft>
              </a:pPr>
              <a:t>‹#›</a:t>
            </a:fld>
            <a:endParaRPr lang="en-US">
              <a:solidFill>
                <a:srgbClr val="000000"/>
              </a:solidFill>
              <a:latin typeface="Arial"/>
            </a:endParaRPr>
          </a:p>
        </p:txBody>
      </p:sp>
    </p:spTree>
    <p:extLst>
      <p:ext uri="{BB962C8B-B14F-4D97-AF65-F5344CB8AC3E}">
        <p14:creationId xmlns:p14="http://schemas.microsoft.com/office/powerpoint/2010/main" val="1543204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1.jpe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eaLnBrk="0" fontAlgn="base" hangingPunct="0">
              <a:spcBef>
                <a:spcPct val="0"/>
              </a:spcBef>
              <a:spcAft>
                <a:spcPct val="0"/>
              </a:spcAft>
              <a:defRPr/>
            </a:pPr>
            <a:fld id="{74D1ED90-0827-4CB6-B597-69384EBF957E}"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pic>
        <p:nvPicPr>
          <p:cNvPr id="1031" name="Picture 65" descr="Glyndwr PPT-4"/>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98058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ransition advTm="5000">
    <p:dissolve/>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eaLnBrk="0" fontAlgn="base" hangingPunct="0">
              <a:spcBef>
                <a:spcPct val="0"/>
              </a:spcBef>
              <a:spcAft>
                <a:spcPct val="0"/>
              </a:spcAft>
              <a:defRPr/>
            </a:pPr>
            <a:fld id="{74D1ED90-0827-4CB6-B597-69384EBF957E}"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pic>
        <p:nvPicPr>
          <p:cNvPr id="1031" name="Picture 65" descr="Glyndwr PPT-4"/>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391270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ransition advTm="5000">
    <p:dissolve/>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631950" y="869950"/>
            <a:ext cx="8928100" cy="1728788"/>
          </a:xfrm>
        </p:spPr>
        <p:txBody>
          <a:bodyPr/>
          <a:lstStyle/>
          <a:p>
            <a:pPr algn="r"/>
            <a:r>
              <a:rPr lang="en-US" altLang="en-US" sz="5400">
                <a:latin typeface="Georgia" panose="02040502050405020303" pitchFamily="18" charset="0"/>
              </a:rPr>
              <a:t>Lecture 3 </a:t>
            </a:r>
            <a:r>
              <a:rPr lang="en-US" altLang="en-US" sz="5400" dirty="0">
                <a:latin typeface="Georgia" panose="02040502050405020303" pitchFamily="18" charset="0"/>
              </a:rPr>
              <a:t>– </a:t>
            </a:r>
            <a:r>
              <a:rPr lang="en-GB" sz="5400" dirty="0"/>
              <a:t>Security Governance</a:t>
            </a:r>
            <a:endParaRPr lang="en-GB" altLang="en-US" sz="5400" dirty="0">
              <a:latin typeface="Georgia" panose="02040502050405020303" pitchFamily="18" charset="0"/>
            </a:endParaRPr>
          </a:p>
        </p:txBody>
      </p:sp>
      <p:sp>
        <p:nvSpPr>
          <p:cNvPr id="6147" name="TextBox 3"/>
          <p:cNvSpPr txBox="1">
            <a:spLocks noChangeArrowheads="1"/>
          </p:cNvSpPr>
          <p:nvPr/>
        </p:nvSpPr>
        <p:spPr bwMode="auto">
          <a:xfrm>
            <a:off x="1393052" y="2714626"/>
            <a:ext cx="892810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0" fontAlgn="base" hangingPunct="0">
              <a:spcBef>
                <a:spcPct val="0"/>
              </a:spcBef>
              <a:spcAft>
                <a:spcPct val="0"/>
              </a:spcAft>
              <a:buFontTx/>
              <a:buNone/>
            </a:pPr>
            <a:r>
              <a:rPr lang="en-GB" altLang="en-US" sz="1900" dirty="0">
                <a:solidFill>
                  <a:srgbClr val="000000"/>
                </a:solidFill>
                <a:latin typeface="Georgia" panose="02040502050405020303" pitchFamily="18" charset="0"/>
              </a:rPr>
              <a:t>COM744: Security and Risk Management</a:t>
            </a:r>
          </a:p>
          <a:p>
            <a:pPr eaLnBrk="0" fontAlgn="base" hangingPunct="0">
              <a:spcBef>
                <a:spcPct val="0"/>
              </a:spcBef>
              <a:spcAft>
                <a:spcPct val="0"/>
              </a:spcAft>
              <a:buFontTx/>
              <a:buNone/>
            </a:pPr>
            <a:r>
              <a:rPr lang="en-GB" altLang="en-US" sz="1900" dirty="0">
                <a:solidFill>
                  <a:srgbClr val="000000"/>
                </a:solidFill>
                <a:latin typeface="Georgia" panose="02040502050405020303" pitchFamily="18" charset="0"/>
              </a:rPr>
              <a:t>Nigel Houlden / </a:t>
            </a:r>
            <a:r>
              <a:rPr lang="en-GB" altLang="en-US" sz="1900">
                <a:solidFill>
                  <a:srgbClr val="000000"/>
                </a:solidFill>
                <a:latin typeface="Georgia" panose="02040502050405020303" pitchFamily="18" charset="0"/>
              </a:rPr>
              <a:t>Jason Davies</a:t>
            </a:r>
            <a:endParaRPr lang="en-GB" altLang="en-US" sz="19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2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20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20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8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endParaRPr lang="en-GB" altLang="en-US" sz="8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r>
              <a:rPr lang="en-GB" altLang="en-US" sz="1700" dirty="0">
                <a:solidFill>
                  <a:srgbClr val="000000"/>
                </a:solidFill>
                <a:latin typeface="Courier New" panose="02070309020205020404" pitchFamily="49" charset="0"/>
                <a:cs typeface="Courier New" panose="02070309020205020404" pitchFamily="49" charset="0"/>
              </a:rPr>
              <a:t>n.houlden@glyndwr.ac.uk / </a:t>
            </a:r>
            <a:r>
              <a:rPr lang="en-GB" altLang="en-US" sz="1800" dirty="0">
                <a:solidFill>
                  <a:srgbClr val="000000"/>
                </a:solidFill>
                <a:latin typeface="Courier New" panose="02070309020205020404" pitchFamily="49" charset="0"/>
                <a:cs typeface="Courier New" panose="02070309020205020404" pitchFamily="49" charset="0"/>
              </a:rPr>
              <a:t>Jason.Davies@glyndwr.ac.uk</a:t>
            </a:r>
            <a:endParaRPr lang="en-GB" altLang="en-US" sz="17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9634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sz="3600" dirty="0">
              <a:latin typeface="Georgia" panose="02040502050405020303" pitchFamily="18" charset="0"/>
            </a:endParaRPr>
          </a:p>
        </p:txBody>
      </p:sp>
      <p:sp>
        <p:nvSpPr>
          <p:cNvPr id="3" name="Text Placeholder 2"/>
          <p:cNvSpPr>
            <a:spLocks noGrp="1"/>
          </p:cNvSpPr>
          <p:nvPr>
            <p:ph type="body" idx="1"/>
          </p:nvPr>
        </p:nvSpPr>
        <p:spPr>
          <a:xfrm>
            <a:off x="914400" y="1357313"/>
            <a:ext cx="10363200" cy="4341122"/>
          </a:xfrm>
        </p:spPr>
        <p:txBody>
          <a:bodyPr/>
          <a:lstStyle/>
          <a:p>
            <a:r>
              <a:rPr lang="en-GB" dirty="0">
                <a:latin typeface="Georgia" panose="02040502050405020303" pitchFamily="18" charset="0"/>
              </a:rPr>
              <a:t>Security management concepts and principles are inherent elements in a security policy and solution deployment. </a:t>
            </a:r>
          </a:p>
          <a:p>
            <a:r>
              <a:rPr lang="en-GB" dirty="0">
                <a:latin typeface="Georgia" panose="02040502050405020303" pitchFamily="18" charset="0"/>
              </a:rPr>
              <a:t>They define the basic parameters needed for a secure environment.</a:t>
            </a:r>
          </a:p>
          <a:p>
            <a:r>
              <a:rPr lang="en-GB" dirty="0">
                <a:latin typeface="Georgia" panose="02040502050405020303" pitchFamily="18" charset="0"/>
              </a:rPr>
              <a:t>They also define the goals and objectives that both policy designers and system implementers must achieve to create a secure solution.</a:t>
            </a:r>
            <a:endParaRPr lang="en-US" dirty="0">
              <a:latin typeface="Georgia" panose="02040502050405020303" pitchFamily="18" charset="0"/>
            </a:endParaRPr>
          </a:p>
        </p:txBody>
      </p:sp>
    </p:spTree>
    <p:extLst>
      <p:ext uri="{BB962C8B-B14F-4D97-AF65-F5344CB8AC3E}">
        <p14:creationId xmlns:p14="http://schemas.microsoft.com/office/powerpoint/2010/main" val="354644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C-I-A Triad</a:t>
            </a:r>
          </a:p>
        </p:txBody>
      </p:sp>
      <p:sp>
        <p:nvSpPr>
          <p:cNvPr id="3" name="Text Placeholder 2"/>
          <p:cNvSpPr>
            <a:spLocks noGrp="1"/>
          </p:cNvSpPr>
          <p:nvPr>
            <p:ph type="body" idx="1"/>
          </p:nvPr>
        </p:nvSpPr>
        <p:spPr/>
        <p:txBody>
          <a:bodyPr>
            <a:normAutofit/>
          </a:bodyPr>
          <a:lstStyle/>
          <a:p>
            <a:r>
              <a:rPr lang="en-US" sz="2800" dirty="0">
                <a:latin typeface="Georgia" panose="02040502050405020303" pitchFamily="18" charset="0"/>
              </a:rPr>
              <a:t>Confidentiality</a:t>
            </a:r>
          </a:p>
          <a:p>
            <a:r>
              <a:rPr lang="en-US" sz="2800" dirty="0">
                <a:latin typeface="Georgia" panose="02040502050405020303" pitchFamily="18" charset="0"/>
              </a:rPr>
              <a:t>Integrity</a:t>
            </a:r>
          </a:p>
          <a:p>
            <a:r>
              <a:rPr lang="en-US" sz="2800" dirty="0">
                <a:latin typeface="Georgia" panose="02040502050405020303" pitchFamily="18" charset="0"/>
              </a:rPr>
              <a:t>Availability</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2089" y="1988904"/>
            <a:ext cx="4046328" cy="3483209"/>
          </a:xfrm>
          <a:prstGeom prst="rect">
            <a:avLst/>
          </a:prstGeom>
        </p:spPr>
      </p:pic>
    </p:spTree>
    <p:extLst>
      <p:ext uri="{BB962C8B-B14F-4D97-AF65-F5344CB8AC3E}">
        <p14:creationId xmlns:p14="http://schemas.microsoft.com/office/powerpoint/2010/main" val="3146215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sz="3600" dirty="0">
              <a:latin typeface="Georgia" panose="02040502050405020303" pitchFamily="18" charset="0"/>
            </a:endParaRPr>
          </a:p>
        </p:txBody>
      </p:sp>
      <p:sp>
        <p:nvSpPr>
          <p:cNvPr id="3" name="Text Placeholder 2"/>
          <p:cNvSpPr>
            <a:spLocks noGrp="1"/>
          </p:cNvSpPr>
          <p:nvPr>
            <p:ph type="body" idx="1"/>
          </p:nvPr>
        </p:nvSpPr>
        <p:spPr>
          <a:xfrm>
            <a:off x="914400" y="1357313"/>
            <a:ext cx="10363200" cy="4341122"/>
          </a:xfrm>
        </p:spPr>
        <p:txBody>
          <a:bodyPr/>
          <a:lstStyle/>
          <a:p>
            <a:r>
              <a:rPr lang="en-GB" dirty="0">
                <a:latin typeface="Georgia" panose="02040502050405020303" pitchFamily="18" charset="0"/>
              </a:rPr>
              <a:t>The primary goals and objectives of security are contained within the CIA Triad</a:t>
            </a:r>
            <a:endParaRPr lang="en-US" dirty="0">
              <a:latin typeface="Georgia" panose="02040502050405020303" pitchFamily="18" charset="0"/>
            </a:endParaRPr>
          </a:p>
        </p:txBody>
      </p:sp>
    </p:spTree>
    <p:extLst>
      <p:ext uri="{BB962C8B-B14F-4D97-AF65-F5344CB8AC3E}">
        <p14:creationId xmlns:p14="http://schemas.microsoft.com/office/powerpoint/2010/main" val="1904796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851038"/>
          </a:xfrm>
        </p:spPr>
        <p:txBody>
          <a:bodyPr/>
          <a:lstStyle/>
          <a:p>
            <a:r>
              <a:rPr lang="en-GB" sz="3600" dirty="0">
                <a:latin typeface="Georgia" panose="02040502050405020303" pitchFamily="18" charset="0"/>
              </a:rPr>
              <a:t>Confidentiality</a:t>
            </a:r>
            <a:endParaRPr lang="en-US" sz="3600" dirty="0">
              <a:latin typeface="Georgia" panose="02040502050405020303" pitchFamily="18" charset="0"/>
            </a:endParaRPr>
          </a:p>
        </p:txBody>
      </p:sp>
      <p:sp>
        <p:nvSpPr>
          <p:cNvPr id="3" name="Text Placeholder 2"/>
          <p:cNvSpPr>
            <a:spLocks noGrp="1"/>
          </p:cNvSpPr>
          <p:nvPr>
            <p:ph type="body" idx="1"/>
          </p:nvPr>
        </p:nvSpPr>
        <p:spPr>
          <a:xfrm>
            <a:off x="225286" y="878473"/>
            <a:ext cx="11741427" cy="4647683"/>
          </a:xfrm>
        </p:spPr>
        <p:txBody>
          <a:bodyPr/>
          <a:lstStyle/>
          <a:p>
            <a:r>
              <a:rPr lang="en-GB" dirty="0">
                <a:latin typeface="Georgia" panose="02040502050405020303" pitchFamily="18" charset="0"/>
              </a:rPr>
              <a:t>If a security mechanism offers confidentiality, it offers a high level of assurance that data, objects, or resources are restricted from unauthorized subjects. </a:t>
            </a:r>
          </a:p>
          <a:p>
            <a:r>
              <a:rPr lang="en-GB" dirty="0">
                <a:latin typeface="Georgia" panose="02040502050405020303" pitchFamily="18" charset="0"/>
              </a:rPr>
              <a:t>If a threat exists against confidentiality, unauthorized disclosure could take place.</a:t>
            </a:r>
          </a:p>
          <a:p>
            <a:r>
              <a:rPr lang="en-GB" dirty="0">
                <a:latin typeface="Georgia" panose="02040502050405020303" pitchFamily="18" charset="0"/>
              </a:rPr>
              <a:t>In general, for confidentiality to be maintained on a network, data must be protected from unauthorized access, use, or disclosure while in storage, in process, and in transit.</a:t>
            </a:r>
          </a:p>
        </p:txBody>
      </p:sp>
    </p:spTree>
    <p:extLst>
      <p:ext uri="{BB962C8B-B14F-4D97-AF65-F5344CB8AC3E}">
        <p14:creationId xmlns:p14="http://schemas.microsoft.com/office/powerpoint/2010/main" val="2595458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851038"/>
          </a:xfrm>
        </p:spPr>
        <p:txBody>
          <a:bodyPr/>
          <a:lstStyle/>
          <a:p>
            <a:r>
              <a:rPr lang="en-GB" sz="3600" dirty="0">
                <a:latin typeface="Georgia" panose="02040502050405020303" pitchFamily="18" charset="0"/>
              </a:rPr>
              <a:t>Confidentiality</a:t>
            </a:r>
            <a:endParaRPr lang="en-US" sz="3600" dirty="0">
              <a:latin typeface="Georgia" panose="02040502050405020303" pitchFamily="18" charset="0"/>
            </a:endParaRPr>
          </a:p>
        </p:txBody>
      </p:sp>
      <p:sp>
        <p:nvSpPr>
          <p:cNvPr id="3" name="Text Placeholder 2"/>
          <p:cNvSpPr>
            <a:spLocks noGrp="1"/>
          </p:cNvSpPr>
          <p:nvPr>
            <p:ph type="body" idx="1"/>
          </p:nvPr>
        </p:nvSpPr>
        <p:spPr>
          <a:xfrm>
            <a:off x="225286" y="745953"/>
            <a:ext cx="11741427" cy="4341122"/>
          </a:xfrm>
        </p:spPr>
        <p:txBody>
          <a:bodyPr/>
          <a:lstStyle/>
          <a:p>
            <a:pPr>
              <a:buFont typeface="Arial" panose="020B0604020202020204" pitchFamily="34" charset="0"/>
              <a:buChar char="•"/>
            </a:pPr>
            <a:r>
              <a:rPr lang="en-GB" dirty="0">
                <a:latin typeface="Georgia" panose="02040502050405020303" pitchFamily="18" charset="0"/>
              </a:rPr>
              <a:t>Numerous attacks focus on the violation of confidentiality.</a:t>
            </a:r>
          </a:p>
          <a:p>
            <a:pPr>
              <a:buFont typeface="Arial" panose="020B0604020202020204" pitchFamily="34" charset="0"/>
              <a:buChar char="•"/>
            </a:pPr>
            <a:r>
              <a:rPr lang="en-GB" sz="2000" dirty="0">
                <a:latin typeface="Georgia" panose="02040502050405020303" pitchFamily="18" charset="0"/>
              </a:rPr>
              <a:t>These include:</a:t>
            </a:r>
          </a:p>
          <a:p>
            <a:pPr lvl="1">
              <a:buFont typeface="Arial" panose="020B0604020202020204" pitchFamily="34" charset="0"/>
              <a:buChar char="•"/>
            </a:pPr>
            <a:r>
              <a:rPr lang="en-GB" sz="2000" dirty="0">
                <a:latin typeface="Georgia" panose="02040502050405020303" pitchFamily="18" charset="0"/>
                <a:ea typeface="+mn-ea"/>
                <a:cs typeface="+mn-cs"/>
              </a:rPr>
              <a:t>capturing network traffic </a:t>
            </a:r>
          </a:p>
          <a:p>
            <a:pPr lvl="1">
              <a:buFont typeface="Arial" panose="020B0604020202020204" pitchFamily="34" charset="0"/>
              <a:buChar char="•"/>
            </a:pPr>
            <a:r>
              <a:rPr lang="en-GB" sz="2000" dirty="0">
                <a:latin typeface="Georgia" panose="02040502050405020303" pitchFamily="18" charset="0"/>
                <a:ea typeface="+mn-ea"/>
                <a:cs typeface="+mn-cs"/>
              </a:rPr>
              <a:t>stealing password files </a:t>
            </a:r>
          </a:p>
          <a:p>
            <a:pPr lvl="1">
              <a:buFont typeface="Arial" panose="020B0604020202020204" pitchFamily="34" charset="0"/>
              <a:buChar char="•"/>
            </a:pPr>
            <a:r>
              <a:rPr lang="en-GB" sz="2000" dirty="0">
                <a:latin typeface="Georgia" panose="02040502050405020303" pitchFamily="18" charset="0"/>
                <a:ea typeface="+mn-ea"/>
                <a:cs typeface="+mn-cs"/>
              </a:rPr>
              <a:t>social engineering, </a:t>
            </a:r>
          </a:p>
          <a:p>
            <a:pPr lvl="1">
              <a:buFont typeface="Arial" panose="020B0604020202020204" pitchFamily="34" charset="0"/>
              <a:buChar char="•"/>
            </a:pPr>
            <a:r>
              <a:rPr lang="en-GB" sz="2000" dirty="0">
                <a:latin typeface="Georgia" panose="02040502050405020303" pitchFamily="18" charset="0"/>
                <a:ea typeface="+mn-ea"/>
                <a:cs typeface="+mn-cs"/>
              </a:rPr>
              <a:t>port scanning, </a:t>
            </a:r>
          </a:p>
          <a:p>
            <a:pPr lvl="1">
              <a:buFont typeface="Arial" panose="020B0604020202020204" pitchFamily="34" charset="0"/>
              <a:buChar char="•"/>
            </a:pPr>
            <a:r>
              <a:rPr lang="en-GB" sz="2000" dirty="0">
                <a:latin typeface="Georgia" panose="02040502050405020303" pitchFamily="18" charset="0"/>
                <a:ea typeface="+mn-ea"/>
                <a:cs typeface="+mn-cs"/>
              </a:rPr>
              <a:t>Shoulder surfing, </a:t>
            </a:r>
          </a:p>
          <a:p>
            <a:pPr lvl="1">
              <a:buFont typeface="Arial" panose="020B0604020202020204" pitchFamily="34" charset="0"/>
              <a:buChar char="•"/>
            </a:pPr>
            <a:r>
              <a:rPr lang="en-GB" sz="2000" dirty="0">
                <a:latin typeface="Georgia" panose="02040502050405020303" pitchFamily="18" charset="0"/>
                <a:ea typeface="+mn-ea"/>
                <a:cs typeface="+mn-cs"/>
              </a:rPr>
              <a:t>eavesdropping, </a:t>
            </a:r>
          </a:p>
          <a:p>
            <a:pPr lvl="1">
              <a:buFont typeface="Arial" panose="020B0604020202020204" pitchFamily="34" charset="0"/>
              <a:buChar char="•"/>
            </a:pPr>
            <a:r>
              <a:rPr lang="en-GB" sz="2000" dirty="0">
                <a:latin typeface="Georgia" panose="02040502050405020303" pitchFamily="18" charset="0"/>
                <a:ea typeface="+mn-ea"/>
                <a:cs typeface="+mn-cs"/>
              </a:rPr>
              <a:t>sniffing, and many others.</a:t>
            </a:r>
          </a:p>
        </p:txBody>
      </p:sp>
    </p:spTree>
    <p:extLst>
      <p:ext uri="{BB962C8B-B14F-4D97-AF65-F5344CB8AC3E}">
        <p14:creationId xmlns:p14="http://schemas.microsoft.com/office/powerpoint/2010/main" val="1822797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851038"/>
          </a:xfrm>
        </p:spPr>
        <p:txBody>
          <a:bodyPr/>
          <a:lstStyle/>
          <a:p>
            <a:r>
              <a:rPr lang="en-GB" sz="3600" dirty="0">
                <a:latin typeface="Georgia" panose="02040502050405020303" pitchFamily="18" charset="0"/>
              </a:rPr>
              <a:t>Confidentiality</a:t>
            </a:r>
            <a:endParaRPr lang="en-US" sz="3600" dirty="0">
              <a:latin typeface="Georgia" panose="02040502050405020303" pitchFamily="18" charset="0"/>
            </a:endParaRPr>
          </a:p>
        </p:txBody>
      </p:sp>
      <p:sp>
        <p:nvSpPr>
          <p:cNvPr id="3" name="Text Placeholder 2"/>
          <p:cNvSpPr>
            <a:spLocks noGrp="1"/>
          </p:cNvSpPr>
          <p:nvPr>
            <p:ph type="body" idx="1"/>
          </p:nvPr>
        </p:nvSpPr>
        <p:spPr>
          <a:xfrm>
            <a:off x="225286" y="878474"/>
            <a:ext cx="11741427" cy="4341122"/>
          </a:xfrm>
        </p:spPr>
        <p:txBody>
          <a:bodyPr/>
          <a:lstStyle/>
          <a:p>
            <a:r>
              <a:rPr lang="en-GB" sz="2400" dirty="0">
                <a:latin typeface="Georgia" panose="02040502050405020303" pitchFamily="18" charset="0"/>
              </a:rPr>
              <a:t>Many instances of unauthorized disclosure of sensitive or confidential information are the result of human error, oversight, or ineptitude. </a:t>
            </a:r>
          </a:p>
          <a:p>
            <a:endParaRPr lang="en-GB" sz="2400" dirty="0">
              <a:latin typeface="Georgia" panose="02040502050405020303" pitchFamily="18" charset="0"/>
            </a:endParaRPr>
          </a:p>
          <a:p>
            <a:r>
              <a:rPr lang="en-GB" sz="2400" dirty="0">
                <a:latin typeface="Georgia" panose="02040502050405020303" pitchFamily="18" charset="0"/>
              </a:rPr>
              <a:t>Events that lead to confidentiality breaches include:</a:t>
            </a:r>
          </a:p>
          <a:p>
            <a:pPr lvl="1">
              <a:buFont typeface="Arial" panose="020B0604020202020204" pitchFamily="34" charset="0"/>
              <a:buChar char="•"/>
            </a:pPr>
            <a:r>
              <a:rPr lang="en-GB" sz="1800" dirty="0">
                <a:latin typeface="Georgia" panose="02040502050405020303" pitchFamily="18" charset="0"/>
              </a:rPr>
              <a:t>failing to properly encrypt a transmission, </a:t>
            </a:r>
          </a:p>
          <a:p>
            <a:pPr lvl="1">
              <a:buFont typeface="Arial" panose="020B0604020202020204" pitchFamily="34" charset="0"/>
              <a:buChar char="•"/>
            </a:pPr>
            <a:r>
              <a:rPr lang="en-GB" sz="1800" dirty="0">
                <a:latin typeface="Georgia" panose="02040502050405020303" pitchFamily="18" charset="0"/>
              </a:rPr>
              <a:t>failing to fully authenticate a remote system before transferring data, </a:t>
            </a:r>
          </a:p>
          <a:p>
            <a:pPr lvl="1">
              <a:buFont typeface="Arial" panose="020B0604020202020204" pitchFamily="34" charset="0"/>
              <a:buChar char="•"/>
            </a:pPr>
            <a:r>
              <a:rPr lang="en-GB" sz="1800" dirty="0">
                <a:latin typeface="Georgia" panose="02040502050405020303" pitchFamily="18" charset="0"/>
              </a:rPr>
              <a:t>leaving open otherwise secured access points, </a:t>
            </a:r>
          </a:p>
          <a:p>
            <a:pPr lvl="1">
              <a:buFont typeface="Arial" panose="020B0604020202020204" pitchFamily="34" charset="0"/>
              <a:buChar char="•"/>
            </a:pPr>
            <a:r>
              <a:rPr lang="en-GB" sz="1800" dirty="0">
                <a:latin typeface="Georgia" panose="02040502050405020303" pitchFamily="18" charset="0"/>
              </a:rPr>
              <a:t>accessing malicious code that opens a back door, </a:t>
            </a:r>
          </a:p>
          <a:p>
            <a:pPr lvl="1">
              <a:buFont typeface="Arial" panose="020B0604020202020204" pitchFamily="34" charset="0"/>
              <a:buChar char="•"/>
            </a:pPr>
            <a:r>
              <a:rPr lang="en-GB" sz="1800" dirty="0">
                <a:latin typeface="Georgia" panose="02040502050405020303" pitchFamily="18" charset="0"/>
              </a:rPr>
              <a:t>documents left on printers, </a:t>
            </a:r>
          </a:p>
          <a:p>
            <a:pPr lvl="1">
              <a:buFont typeface="Arial" panose="020B0604020202020204" pitchFamily="34" charset="0"/>
              <a:buChar char="•"/>
            </a:pPr>
            <a:r>
              <a:rPr lang="en-GB" sz="1800" dirty="0">
                <a:latin typeface="Georgia" panose="02040502050405020303" pitchFamily="18" charset="0"/>
              </a:rPr>
              <a:t>not ‘locking’ a screen when unattended. </a:t>
            </a:r>
          </a:p>
        </p:txBody>
      </p:sp>
    </p:spTree>
    <p:extLst>
      <p:ext uri="{BB962C8B-B14F-4D97-AF65-F5344CB8AC3E}">
        <p14:creationId xmlns:p14="http://schemas.microsoft.com/office/powerpoint/2010/main" val="2407776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851038"/>
          </a:xfrm>
        </p:spPr>
        <p:txBody>
          <a:bodyPr/>
          <a:lstStyle/>
          <a:p>
            <a:r>
              <a:rPr lang="en-GB" sz="3600" dirty="0">
                <a:latin typeface="Georgia" panose="02040502050405020303" pitchFamily="18" charset="0"/>
              </a:rPr>
              <a:t>Confidentiality</a:t>
            </a:r>
            <a:endParaRPr lang="en-US" sz="3600" dirty="0">
              <a:latin typeface="Georgia" panose="02040502050405020303" pitchFamily="18" charset="0"/>
            </a:endParaRPr>
          </a:p>
        </p:txBody>
      </p:sp>
      <p:sp>
        <p:nvSpPr>
          <p:cNvPr id="3" name="Text Placeholder 2"/>
          <p:cNvSpPr>
            <a:spLocks noGrp="1"/>
          </p:cNvSpPr>
          <p:nvPr>
            <p:ph type="body" idx="1"/>
          </p:nvPr>
        </p:nvSpPr>
        <p:spPr>
          <a:xfrm>
            <a:off x="225286" y="878474"/>
            <a:ext cx="11741427" cy="4341122"/>
          </a:xfrm>
        </p:spPr>
        <p:txBody>
          <a:bodyPr/>
          <a:lstStyle/>
          <a:p>
            <a:r>
              <a:rPr lang="en-GB" sz="2400" dirty="0">
                <a:latin typeface="Georgia" panose="02040502050405020303" pitchFamily="18" charset="0"/>
              </a:rPr>
              <a:t>Violations can also occur because of an oversight in a security policy or a misconfigured security control. </a:t>
            </a:r>
          </a:p>
          <a:p>
            <a:endParaRPr lang="en-GB" sz="2400" dirty="0">
              <a:latin typeface="Georgia" panose="02040502050405020303" pitchFamily="18" charset="0"/>
            </a:endParaRPr>
          </a:p>
          <a:p>
            <a:r>
              <a:rPr lang="en-GB" sz="2400" dirty="0">
                <a:latin typeface="Georgia" panose="02040502050405020303" pitchFamily="18" charset="0"/>
              </a:rPr>
              <a:t>Confidentiality and integrity depend on each other. </a:t>
            </a:r>
          </a:p>
          <a:p>
            <a:endParaRPr lang="en-GB" sz="2400" dirty="0">
              <a:latin typeface="Georgia" panose="02040502050405020303" pitchFamily="18" charset="0"/>
            </a:endParaRPr>
          </a:p>
          <a:p>
            <a:r>
              <a:rPr lang="en-GB" sz="2400" dirty="0">
                <a:latin typeface="Georgia" panose="02040502050405020303" pitchFamily="18" charset="0"/>
              </a:rPr>
              <a:t>Without object integrity, confidentiality cannot be maintained. </a:t>
            </a:r>
          </a:p>
        </p:txBody>
      </p:sp>
    </p:spTree>
    <p:extLst>
      <p:ext uri="{BB962C8B-B14F-4D97-AF65-F5344CB8AC3E}">
        <p14:creationId xmlns:p14="http://schemas.microsoft.com/office/powerpoint/2010/main" val="3826149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Integrity</a:t>
            </a:r>
            <a:endParaRPr lang="en-US" sz="3600" dirty="0">
              <a:latin typeface="Georgia" panose="02040502050405020303" pitchFamily="18" charset="0"/>
            </a:endParaRPr>
          </a:p>
        </p:txBody>
      </p:sp>
      <p:sp>
        <p:nvSpPr>
          <p:cNvPr id="3" name="Text Placeholder 2"/>
          <p:cNvSpPr>
            <a:spLocks noGrp="1"/>
          </p:cNvSpPr>
          <p:nvPr>
            <p:ph type="body" idx="1"/>
          </p:nvPr>
        </p:nvSpPr>
        <p:spPr>
          <a:xfrm>
            <a:off x="914400" y="1085465"/>
            <a:ext cx="10363200" cy="4341122"/>
          </a:xfrm>
        </p:spPr>
        <p:txBody>
          <a:bodyPr/>
          <a:lstStyle/>
          <a:p>
            <a:r>
              <a:rPr lang="en-GB" dirty="0">
                <a:latin typeface="Georgia" panose="02040502050405020303" pitchFamily="18" charset="0"/>
              </a:rPr>
              <a:t>Integrity can be examined from three perspectives:</a:t>
            </a:r>
          </a:p>
          <a:p>
            <a:pPr lvl="1">
              <a:buFont typeface="Arial" panose="020B0604020202020204" pitchFamily="34" charset="0"/>
              <a:buChar char="•"/>
            </a:pPr>
            <a:r>
              <a:rPr lang="en-GB" dirty="0">
                <a:latin typeface="Georgia" panose="02040502050405020303" pitchFamily="18" charset="0"/>
              </a:rPr>
              <a:t>Preventing unauthorized subjects from making modifications</a:t>
            </a:r>
          </a:p>
          <a:p>
            <a:pPr lvl="1">
              <a:buFont typeface="Arial" panose="020B0604020202020204" pitchFamily="34" charset="0"/>
              <a:buChar char="•"/>
            </a:pPr>
            <a:r>
              <a:rPr lang="en-GB" dirty="0">
                <a:latin typeface="Georgia" panose="02040502050405020303" pitchFamily="18" charset="0"/>
              </a:rPr>
              <a:t>Preventing authorized subjects from making unauthorized modifications, such as mistakes</a:t>
            </a:r>
          </a:p>
          <a:p>
            <a:pPr lvl="1">
              <a:buFont typeface="Arial" panose="020B0604020202020204" pitchFamily="34" charset="0"/>
              <a:buChar char="•"/>
            </a:pPr>
            <a:r>
              <a:rPr lang="en-GB" dirty="0">
                <a:latin typeface="Georgia" panose="02040502050405020303" pitchFamily="18" charset="0"/>
              </a:rPr>
              <a:t>Maintaining the internal and external consistency of objects so that their data is a correct and true reflection of the real world and any relationship with any child, peer, or parent object is valid, consistent, and verifiable</a:t>
            </a:r>
            <a:endParaRPr lang="en-US" dirty="0">
              <a:latin typeface="Georgia" panose="02040502050405020303" pitchFamily="18" charset="0"/>
            </a:endParaRPr>
          </a:p>
        </p:txBody>
      </p:sp>
    </p:spTree>
    <p:extLst>
      <p:ext uri="{BB962C8B-B14F-4D97-AF65-F5344CB8AC3E}">
        <p14:creationId xmlns:p14="http://schemas.microsoft.com/office/powerpoint/2010/main" val="1502684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Integrity</a:t>
            </a:r>
            <a:endParaRPr lang="en-US" sz="3600" dirty="0">
              <a:latin typeface="Georgia" panose="02040502050405020303" pitchFamily="18" charset="0"/>
            </a:endParaRPr>
          </a:p>
        </p:txBody>
      </p:sp>
      <p:sp>
        <p:nvSpPr>
          <p:cNvPr id="3" name="Text Placeholder 2"/>
          <p:cNvSpPr>
            <a:spLocks noGrp="1"/>
          </p:cNvSpPr>
          <p:nvPr>
            <p:ph type="body" idx="1"/>
          </p:nvPr>
        </p:nvSpPr>
        <p:spPr>
          <a:xfrm>
            <a:off x="795130" y="1026008"/>
            <a:ext cx="10363200" cy="4341122"/>
          </a:xfrm>
        </p:spPr>
        <p:txBody>
          <a:bodyPr/>
          <a:lstStyle/>
          <a:p>
            <a:r>
              <a:rPr lang="en-GB" dirty="0">
                <a:latin typeface="Georgia" panose="02040502050405020303" pitchFamily="18" charset="0"/>
              </a:rPr>
              <a:t>For integrity to be maintained on a system, controls must be in place to restrict access to data, objects, and resources. </a:t>
            </a:r>
          </a:p>
          <a:p>
            <a:r>
              <a:rPr lang="en-GB" dirty="0">
                <a:latin typeface="Georgia" panose="02040502050405020303" pitchFamily="18" charset="0"/>
              </a:rPr>
              <a:t>Additionally, activity logging should be employed to ensure that only authorized users are able to access their respective resources. </a:t>
            </a:r>
          </a:p>
          <a:p>
            <a:r>
              <a:rPr lang="en-GB" dirty="0">
                <a:latin typeface="Georgia" panose="02040502050405020303" pitchFamily="18" charset="0"/>
              </a:rPr>
              <a:t>Maintaining and validating object integrity across storage, transport, and processing requires numerous variations of controls and oversight.</a:t>
            </a:r>
          </a:p>
        </p:txBody>
      </p:sp>
    </p:spTree>
    <p:extLst>
      <p:ext uri="{BB962C8B-B14F-4D97-AF65-F5344CB8AC3E}">
        <p14:creationId xmlns:p14="http://schemas.microsoft.com/office/powerpoint/2010/main" val="3797095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91730"/>
            <a:ext cx="10363200" cy="967823"/>
          </a:xfrm>
        </p:spPr>
        <p:txBody>
          <a:bodyPr/>
          <a:lstStyle/>
          <a:p>
            <a:r>
              <a:rPr lang="en-GB" sz="3600" dirty="0">
                <a:latin typeface="Georgia" panose="02040502050405020303" pitchFamily="18" charset="0"/>
              </a:rPr>
              <a:t>Integrity</a:t>
            </a:r>
            <a:endParaRPr lang="en-US" sz="3600" dirty="0">
              <a:latin typeface="Georgia" panose="02040502050405020303" pitchFamily="18" charset="0"/>
            </a:endParaRPr>
          </a:p>
        </p:txBody>
      </p:sp>
      <p:sp>
        <p:nvSpPr>
          <p:cNvPr id="3" name="Text Placeholder 2"/>
          <p:cNvSpPr>
            <a:spLocks noGrp="1"/>
          </p:cNvSpPr>
          <p:nvPr>
            <p:ph type="body" idx="1"/>
          </p:nvPr>
        </p:nvSpPr>
        <p:spPr>
          <a:xfrm>
            <a:off x="914400" y="866982"/>
            <a:ext cx="10363200" cy="4341122"/>
          </a:xfrm>
        </p:spPr>
        <p:txBody>
          <a:bodyPr/>
          <a:lstStyle/>
          <a:p>
            <a:r>
              <a:rPr lang="en-GB" dirty="0">
                <a:latin typeface="Georgia" panose="02040502050405020303" pitchFamily="18" charset="0"/>
              </a:rPr>
              <a:t>Numerous attacks focus on the violation of integrity. These include: </a:t>
            </a:r>
          </a:p>
          <a:p>
            <a:pPr lvl="1">
              <a:buFont typeface="Arial" panose="020B0604020202020204" pitchFamily="34" charset="0"/>
              <a:buChar char="•"/>
            </a:pPr>
            <a:r>
              <a:rPr lang="en-GB" dirty="0">
                <a:latin typeface="Georgia" panose="02040502050405020303" pitchFamily="18" charset="0"/>
              </a:rPr>
              <a:t>viruses, </a:t>
            </a:r>
          </a:p>
          <a:p>
            <a:pPr lvl="1">
              <a:buFont typeface="Arial" panose="020B0604020202020204" pitchFamily="34" charset="0"/>
              <a:buChar char="•"/>
            </a:pPr>
            <a:r>
              <a:rPr lang="en-GB" dirty="0">
                <a:latin typeface="Georgia" panose="02040502050405020303" pitchFamily="18" charset="0"/>
              </a:rPr>
              <a:t>logic bombs, </a:t>
            </a:r>
          </a:p>
          <a:p>
            <a:pPr lvl="1">
              <a:buFont typeface="Arial" panose="020B0604020202020204" pitchFamily="34" charset="0"/>
              <a:buChar char="•"/>
            </a:pPr>
            <a:r>
              <a:rPr lang="en-GB" dirty="0">
                <a:latin typeface="Georgia" panose="02040502050405020303" pitchFamily="18" charset="0"/>
              </a:rPr>
              <a:t>unauthorized access, </a:t>
            </a:r>
          </a:p>
          <a:p>
            <a:pPr lvl="1">
              <a:buFont typeface="Arial" panose="020B0604020202020204" pitchFamily="34" charset="0"/>
              <a:buChar char="•"/>
            </a:pPr>
            <a:r>
              <a:rPr lang="en-GB" dirty="0">
                <a:latin typeface="Georgia" panose="02040502050405020303" pitchFamily="18" charset="0"/>
              </a:rPr>
              <a:t>errors in coding and applications, </a:t>
            </a:r>
          </a:p>
          <a:p>
            <a:pPr lvl="1">
              <a:buFont typeface="Arial" panose="020B0604020202020204" pitchFamily="34" charset="0"/>
              <a:buChar char="•"/>
            </a:pPr>
            <a:r>
              <a:rPr lang="en-GB" dirty="0">
                <a:latin typeface="Georgia" panose="02040502050405020303" pitchFamily="18" charset="0"/>
              </a:rPr>
              <a:t>malicious modification, </a:t>
            </a:r>
          </a:p>
          <a:p>
            <a:pPr lvl="1">
              <a:buFont typeface="Arial" panose="020B0604020202020204" pitchFamily="34" charset="0"/>
              <a:buChar char="•"/>
            </a:pPr>
            <a:r>
              <a:rPr lang="en-GB" dirty="0">
                <a:latin typeface="Georgia" panose="02040502050405020303" pitchFamily="18" charset="0"/>
              </a:rPr>
              <a:t>intentional replacement, </a:t>
            </a:r>
          </a:p>
          <a:p>
            <a:pPr lvl="1">
              <a:buFont typeface="Arial" panose="020B0604020202020204" pitchFamily="34" charset="0"/>
              <a:buChar char="•"/>
            </a:pPr>
            <a:r>
              <a:rPr lang="en-GB" dirty="0">
                <a:latin typeface="Georgia" panose="02040502050405020303" pitchFamily="18" charset="0"/>
              </a:rPr>
              <a:t>system back doors.</a:t>
            </a:r>
            <a:endParaRPr lang="en-US" dirty="0">
              <a:latin typeface="Georgia" panose="02040502050405020303" pitchFamily="18" charset="0"/>
            </a:endParaRPr>
          </a:p>
        </p:txBody>
      </p:sp>
    </p:spTree>
    <p:extLst>
      <p:ext uri="{BB962C8B-B14F-4D97-AF65-F5344CB8AC3E}">
        <p14:creationId xmlns:p14="http://schemas.microsoft.com/office/powerpoint/2010/main" val="745790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1065765"/>
          </a:xfrm>
        </p:spPr>
        <p:txBody>
          <a:bodyPr/>
          <a:lstStyle/>
          <a:p>
            <a:r>
              <a:rPr lang="en-US" sz="3600" dirty="0">
                <a:latin typeface="Georgia" panose="02040502050405020303" pitchFamily="18" charset="0"/>
              </a:rPr>
              <a:t>Accountability</a:t>
            </a:r>
          </a:p>
        </p:txBody>
      </p:sp>
      <p:sp>
        <p:nvSpPr>
          <p:cNvPr id="3" name="Text Placeholder 2"/>
          <p:cNvSpPr>
            <a:spLocks noGrp="1"/>
          </p:cNvSpPr>
          <p:nvPr>
            <p:ph type="body" idx="1"/>
          </p:nvPr>
        </p:nvSpPr>
        <p:spPr>
          <a:xfrm>
            <a:off x="508000" y="839118"/>
            <a:ext cx="11144738" cy="4787959"/>
          </a:xfrm>
        </p:spPr>
        <p:txBody>
          <a:bodyPr/>
          <a:lstStyle/>
          <a:p>
            <a:pPr>
              <a:spcAft>
                <a:spcPts val="600"/>
              </a:spcAft>
            </a:pPr>
            <a:r>
              <a:rPr lang="en-GB" sz="2800" dirty="0">
                <a:latin typeface="Georgia" panose="02040502050405020303" pitchFamily="18" charset="0"/>
              </a:rPr>
              <a:t>An organisation’s security policy can be properly enforced only if accountability is maintained. </a:t>
            </a:r>
          </a:p>
          <a:p>
            <a:pPr>
              <a:spcAft>
                <a:spcPts val="600"/>
              </a:spcAft>
            </a:pPr>
            <a:r>
              <a:rPr lang="en-GB" sz="2800" dirty="0">
                <a:latin typeface="Georgia" panose="02040502050405020303" pitchFamily="18" charset="0"/>
              </a:rPr>
              <a:t>Effective accountability relies on the capability to prove a subject’s identity and track their activities. </a:t>
            </a:r>
          </a:p>
          <a:p>
            <a:pPr>
              <a:spcAft>
                <a:spcPts val="600"/>
              </a:spcAft>
            </a:pPr>
            <a:r>
              <a:rPr lang="en-GB" sz="2800" dirty="0">
                <a:latin typeface="Georgia" panose="02040502050405020303" pitchFamily="18" charset="0"/>
              </a:rPr>
              <a:t>It is established by linking a person to the activities of an online identity through the security services and the mechanisms of: </a:t>
            </a:r>
          </a:p>
          <a:p>
            <a:pPr lvl="1">
              <a:spcAft>
                <a:spcPts val="600"/>
              </a:spcAft>
            </a:pPr>
            <a:r>
              <a:rPr lang="en-GB" sz="2400" dirty="0">
                <a:latin typeface="Georgia" panose="02040502050405020303" pitchFamily="18" charset="0"/>
              </a:rPr>
              <a:t>auditing, </a:t>
            </a:r>
          </a:p>
          <a:p>
            <a:pPr lvl="1">
              <a:spcAft>
                <a:spcPts val="600"/>
              </a:spcAft>
            </a:pPr>
            <a:r>
              <a:rPr lang="en-GB" sz="2400" dirty="0">
                <a:latin typeface="Georgia" panose="02040502050405020303" pitchFamily="18" charset="0"/>
              </a:rPr>
              <a:t>authorization, </a:t>
            </a:r>
          </a:p>
          <a:p>
            <a:pPr lvl="1">
              <a:spcAft>
                <a:spcPts val="600"/>
              </a:spcAft>
            </a:pPr>
            <a:r>
              <a:rPr lang="en-GB" sz="2400" dirty="0">
                <a:latin typeface="Georgia" panose="02040502050405020303" pitchFamily="18" charset="0"/>
              </a:rPr>
              <a:t>authentication, </a:t>
            </a:r>
          </a:p>
          <a:p>
            <a:pPr lvl="1">
              <a:spcAft>
                <a:spcPts val="600"/>
              </a:spcAft>
            </a:pPr>
            <a:r>
              <a:rPr lang="en-GB" sz="2400" dirty="0">
                <a:latin typeface="Georgia" panose="02040502050405020303" pitchFamily="18" charset="0"/>
              </a:rPr>
              <a:t>and identification.</a:t>
            </a:r>
          </a:p>
        </p:txBody>
      </p:sp>
    </p:spTree>
    <p:extLst>
      <p:ext uri="{BB962C8B-B14F-4D97-AF65-F5344CB8AC3E}">
        <p14:creationId xmlns:p14="http://schemas.microsoft.com/office/powerpoint/2010/main" val="769095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Accountability</a:t>
            </a:r>
          </a:p>
        </p:txBody>
      </p:sp>
      <p:sp>
        <p:nvSpPr>
          <p:cNvPr id="3" name="Text Placeholder 2"/>
          <p:cNvSpPr>
            <a:spLocks noGrp="1"/>
          </p:cNvSpPr>
          <p:nvPr>
            <p:ph type="body" idx="1"/>
          </p:nvPr>
        </p:nvSpPr>
        <p:spPr>
          <a:xfrm>
            <a:off x="914400" y="1357313"/>
            <a:ext cx="10363200" cy="4341122"/>
          </a:xfrm>
        </p:spPr>
        <p:txBody>
          <a:bodyPr/>
          <a:lstStyle/>
          <a:p>
            <a:r>
              <a:rPr lang="en-GB" sz="2800" dirty="0">
                <a:latin typeface="Georgia" panose="02040502050405020303" pitchFamily="18" charset="0"/>
              </a:rPr>
              <a:t>Holding someone to accountability is ultimately dependent on the strength of the authentication process. </a:t>
            </a:r>
          </a:p>
          <a:p>
            <a:r>
              <a:rPr lang="en-GB" sz="2800" dirty="0">
                <a:latin typeface="Georgia" panose="02040502050405020303" pitchFamily="18" charset="0"/>
              </a:rPr>
              <a:t>Without a strong authentication</a:t>
            </a:r>
            <a:r>
              <a:rPr lang="en-US" sz="2800" dirty="0">
                <a:latin typeface="Georgia" panose="02040502050405020303" pitchFamily="18" charset="0"/>
              </a:rPr>
              <a:t> </a:t>
            </a:r>
            <a:r>
              <a:rPr lang="en-GB" sz="2800" dirty="0">
                <a:latin typeface="Georgia" panose="02040502050405020303" pitchFamily="18" charset="0"/>
              </a:rPr>
              <a:t>process, there is doubt that the human associated with a specific user account was the actual entity controlling that user account when the undesired action took place.</a:t>
            </a:r>
          </a:p>
        </p:txBody>
      </p:sp>
    </p:spTree>
    <p:extLst>
      <p:ext uri="{BB962C8B-B14F-4D97-AF65-F5344CB8AC3E}">
        <p14:creationId xmlns:p14="http://schemas.microsoft.com/office/powerpoint/2010/main" val="161495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sz="3600" dirty="0">
              <a:latin typeface="Georgia" panose="02040502050405020303" pitchFamily="18" charset="0"/>
            </a:endParaRPr>
          </a:p>
        </p:txBody>
      </p:sp>
      <p:sp>
        <p:nvSpPr>
          <p:cNvPr id="3" name="Text Placeholder 2"/>
          <p:cNvSpPr>
            <a:spLocks noGrp="1"/>
          </p:cNvSpPr>
          <p:nvPr>
            <p:ph type="body" idx="1"/>
          </p:nvPr>
        </p:nvSpPr>
        <p:spPr>
          <a:xfrm>
            <a:off x="914400" y="1357313"/>
            <a:ext cx="10363200" cy="4341122"/>
          </a:xfrm>
        </p:spPr>
        <p:txBody>
          <a:bodyPr/>
          <a:lstStyle/>
          <a:p>
            <a:r>
              <a:rPr lang="en-GB" dirty="0"/>
              <a:t>The point of security is to keep bad things from happening while supporting the occurrence of good things. </a:t>
            </a:r>
          </a:p>
          <a:p>
            <a:r>
              <a:rPr lang="en-GB" dirty="0"/>
              <a:t>When bad things do happen, organisations often desire assistance from law enforcement and the legal system.</a:t>
            </a:r>
          </a:p>
          <a:p>
            <a:r>
              <a:rPr lang="en-GB" sz="2800" dirty="0">
                <a:latin typeface="Georgia" panose="02040502050405020303" pitchFamily="18" charset="0"/>
              </a:rPr>
              <a:t>Conversely you may also need to state all reasonable steps were taken to defend your organisation.</a:t>
            </a:r>
          </a:p>
          <a:p>
            <a:pPr marL="0" indent="0" algn="ctr">
              <a:buNone/>
            </a:pPr>
            <a:r>
              <a:rPr lang="en-GB" sz="2800" i="1" dirty="0">
                <a:solidFill>
                  <a:srgbClr val="FF0000"/>
                </a:solidFill>
                <a:latin typeface="Georgia" panose="02040502050405020303" pitchFamily="18" charset="0"/>
              </a:rPr>
              <a:t>As the legal system may be coming after you!! </a:t>
            </a:r>
            <a:endParaRPr lang="en-US" sz="2800" i="1" dirty="0">
              <a:solidFill>
                <a:srgbClr val="FF0000"/>
              </a:solidFill>
              <a:latin typeface="Georgia" panose="02040502050405020303" pitchFamily="18" charset="0"/>
            </a:endParaRPr>
          </a:p>
        </p:txBody>
      </p:sp>
    </p:spTree>
    <p:extLst>
      <p:ext uri="{BB962C8B-B14F-4D97-AF65-F5344CB8AC3E}">
        <p14:creationId xmlns:p14="http://schemas.microsoft.com/office/powerpoint/2010/main" val="274146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Nonrepudiation</a:t>
            </a:r>
            <a:endParaRPr lang="en-US" sz="3600" dirty="0">
              <a:latin typeface="Georgia" panose="02040502050405020303" pitchFamily="18" charset="0"/>
            </a:endParaRPr>
          </a:p>
        </p:txBody>
      </p:sp>
      <p:sp>
        <p:nvSpPr>
          <p:cNvPr id="3" name="Text Placeholder 2"/>
          <p:cNvSpPr>
            <a:spLocks noGrp="1"/>
          </p:cNvSpPr>
          <p:nvPr>
            <p:ph type="body" idx="1"/>
          </p:nvPr>
        </p:nvSpPr>
        <p:spPr>
          <a:xfrm>
            <a:off x="914400" y="1357313"/>
            <a:ext cx="10363200" cy="4341122"/>
          </a:xfrm>
        </p:spPr>
        <p:txBody>
          <a:bodyPr/>
          <a:lstStyle/>
          <a:p>
            <a:r>
              <a:rPr lang="en-US" sz="2800" dirty="0">
                <a:latin typeface="Georgia" panose="02040502050405020303" pitchFamily="18" charset="0"/>
              </a:rPr>
              <a:t>Nonrepudiation ensures that the subject of an activity or event cannot deny that the event occurred. </a:t>
            </a:r>
          </a:p>
          <a:p>
            <a:pPr lvl="1">
              <a:buFont typeface="Arial" panose="020B0604020202020204" pitchFamily="34" charset="0"/>
              <a:buChar char="•"/>
            </a:pPr>
            <a:r>
              <a:rPr lang="en-US" sz="2400" dirty="0">
                <a:latin typeface="Georgia" panose="02040502050405020303" pitchFamily="18" charset="0"/>
              </a:rPr>
              <a:t>prevents a subject from claiming not to have sent a message, not to have performed an action, or not to have been the cause of an event. </a:t>
            </a:r>
          </a:p>
          <a:p>
            <a:pPr lvl="1">
              <a:buFont typeface="Arial" panose="020B0604020202020204" pitchFamily="34" charset="0"/>
              <a:buChar char="•"/>
            </a:pPr>
            <a:r>
              <a:rPr lang="en-US" sz="2400" dirty="0">
                <a:latin typeface="Georgia" panose="02040502050405020303" pitchFamily="18" charset="0"/>
              </a:rPr>
              <a:t>made possible through identification, authentication, authorization, accountability, and auditing.</a:t>
            </a:r>
          </a:p>
          <a:p>
            <a:r>
              <a:rPr lang="en-US" sz="2800" dirty="0">
                <a:latin typeface="Georgia" panose="02040502050405020303" pitchFamily="18" charset="0"/>
              </a:rPr>
              <a:t>Nonrepudiation can be established using digital certificates, session identifiers, transaction logs, and numerous other transactional and access control mechanisms.</a:t>
            </a:r>
          </a:p>
        </p:txBody>
      </p:sp>
    </p:spTree>
    <p:extLst>
      <p:ext uri="{BB962C8B-B14F-4D97-AF65-F5344CB8AC3E}">
        <p14:creationId xmlns:p14="http://schemas.microsoft.com/office/powerpoint/2010/main" val="1233896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Nonrepudiation</a:t>
            </a:r>
          </a:p>
        </p:txBody>
      </p:sp>
      <p:sp>
        <p:nvSpPr>
          <p:cNvPr id="3" name="Text Placeholder 2"/>
          <p:cNvSpPr>
            <a:spLocks noGrp="1"/>
          </p:cNvSpPr>
          <p:nvPr>
            <p:ph type="body" idx="1"/>
          </p:nvPr>
        </p:nvSpPr>
        <p:spPr/>
        <p:txBody>
          <a:bodyPr/>
          <a:lstStyle/>
          <a:p>
            <a:r>
              <a:rPr lang="en-GB" dirty="0">
                <a:latin typeface="Georgia" panose="02040502050405020303" pitchFamily="18" charset="0"/>
              </a:rPr>
              <a:t>Nonrepudiation is essential for accountability.</a:t>
            </a:r>
          </a:p>
          <a:p>
            <a:r>
              <a:rPr lang="en-GB" dirty="0">
                <a:latin typeface="Georgia" panose="02040502050405020303" pitchFamily="18" charset="0"/>
              </a:rPr>
              <a:t>If someone can repudiate your evidence then they can not be held accountable.  </a:t>
            </a:r>
            <a:endParaRPr lang="en-GB" dirty="0"/>
          </a:p>
        </p:txBody>
      </p:sp>
    </p:spTree>
    <p:extLst>
      <p:ext uri="{BB962C8B-B14F-4D97-AF65-F5344CB8AC3E}">
        <p14:creationId xmlns:p14="http://schemas.microsoft.com/office/powerpoint/2010/main" val="1776606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81539" y="0"/>
            <a:ext cx="10363200" cy="4114800"/>
          </a:xfrm>
        </p:spPr>
        <p:txBody>
          <a:bodyPr/>
          <a:lstStyle/>
          <a:p>
            <a:pPr marL="0" indent="0" algn="ctr">
              <a:buNone/>
            </a:pPr>
            <a:r>
              <a:rPr lang="en-US" sz="1400" dirty="0"/>
              <a:t>I tell you I didn't do it</a:t>
            </a:r>
          </a:p>
          <a:p>
            <a:pPr marL="0" indent="0" algn="ctr">
              <a:buNone/>
            </a:pPr>
            <a:r>
              <a:rPr lang="en-US" sz="1400" dirty="0"/>
              <a:t>'Cause I wasn't there</a:t>
            </a:r>
          </a:p>
          <a:p>
            <a:pPr marL="0" indent="0" algn="ctr">
              <a:buNone/>
            </a:pPr>
            <a:r>
              <a:rPr lang="en-US" sz="1400" dirty="0"/>
              <a:t>Don't blame me, it just isn't fair</a:t>
            </a:r>
          </a:p>
          <a:p>
            <a:pPr marL="0" indent="0" algn="ctr">
              <a:buNone/>
            </a:pPr>
            <a:r>
              <a:rPr lang="en-US" sz="1400" dirty="0"/>
              <a:t>You listen to their side</a:t>
            </a:r>
          </a:p>
          <a:p>
            <a:pPr marL="0" indent="0" algn="ctr">
              <a:buNone/>
            </a:pPr>
            <a:r>
              <a:rPr lang="en-US" sz="1400" dirty="0"/>
              <a:t>Now listen to mine</a:t>
            </a:r>
          </a:p>
          <a:p>
            <a:pPr marL="0" indent="0" algn="ctr">
              <a:buNone/>
            </a:pPr>
            <a:r>
              <a:rPr lang="en-US" sz="1400" dirty="0"/>
              <a:t>Can't think of a story</a:t>
            </a:r>
          </a:p>
          <a:p>
            <a:pPr marL="0" indent="0" algn="ctr">
              <a:buNone/>
            </a:pPr>
            <a:r>
              <a:rPr lang="en-US" sz="1400" dirty="0"/>
              <a:t>Sure you'll find me sometime</a:t>
            </a:r>
          </a:p>
          <a:p>
            <a:pPr marL="0" indent="0" algn="ctr">
              <a:buNone/>
            </a:pPr>
            <a:endParaRPr lang="en-US" sz="1400" dirty="0"/>
          </a:p>
          <a:p>
            <a:pPr marL="0" indent="0" algn="ctr">
              <a:buNone/>
            </a:pPr>
            <a:r>
              <a:rPr lang="en-US" sz="1400" dirty="0"/>
              <a:t>Now pass the blame and don't blame me</a:t>
            </a:r>
          </a:p>
          <a:p>
            <a:pPr marL="0" indent="0" algn="ctr">
              <a:buNone/>
            </a:pPr>
            <a:r>
              <a:rPr lang="en-US" sz="1400" dirty="0"/>
              <a:t>Just close your eyes and count to three</a:t>
            </a:r>
          </a:p>
          <a:p>
            <a:pPr marL="0" indent="0" algn="ctr">
              <a:buNone/>
            </a:pPr>
            <a:r>
              <a:rPr lang="en-US" sz="1400" dirty="0"/>
              <a:t>(One two three)</a:t>
            </a:r>
          </a:p>
          <a:p>
            <a:pPr marL="0" indent="0" algn="ctr">
              <a:buNone/>
            </a:pPr>
            <a:r>
              <a:rPr lang="en-US" sz="1400" dirty="0"/>
              <a:t>Then I'll be gone and you'll forget</a:t>
            </a:r>
          </a:p>
          <a:p>
            <a:pPr marL="0" indent="0" algn="ctr">
              <a:buNone/>
            </a:pPr>
            <a:r>
              <a:rPr lang="en-US" sz="1400" dirty="0"/>
              <a:t>The broken window, </a:t>
            </a:r>
            <a:r>
              <a:rPr lang="en-US" sz="1400" dirty="0" err="1"/>
              <a:t>t.v</a:t>
            </a:r>
            <a:r>
              <a:rPr lang="en-US" sz="1400" dirty="0"/>
              <a:t>. set</a:t>
            </a:r>
          </a:p>
          <a:p>
            <a:pPr marL="0" indent="0" algn="ctr">
              <a:buNone/>
            </a:pPr>
            <a:endParaRPr lang="en-US" sz="1400" dirty="0"/>
          </a:p>
          <a:p>
            <a:pPr marL="0" indent="0" algn="ctr">
              <a:buNone/>
            </a:pPr>
            <a:r>
              <a:rPr lang="en-US" sz="1400" dirty="0"/>
              <a:t>It wasn't me either, I'm just his mate</a:t>
            </a:r>
          </a:p>
          <a:p>
            <a:pPr marL="0" indent="0" algn="ctr">
              <a:buNone/>
            </a:pPr>
            <a:r>
              <a:rPr lang="en-US" sz="1400" dirty="0"/>
              <a:t>He told me to stand here and watch the gate</a:t>
            </a:r>
          </a:p>
          <a:p>
            <a:pPr marL="0" indent="0" algn="ctr">
              <a:buNone/>
            </a:pPr>
            <a:r>
              <a:rPr lang="en-US" sz="1400" dirty="0"/>
              <a:t>I've got a wife and three kids you know</a:t>
            </a:r>
          </a:p>
          <a:p>
            <a:pPr marL="0" indent="0" algn="ctr">
              <a:buNone/>
            </a:pPr>
            <a:r>
              <a:rPr lang="en-US" sz="1400" dirty="0"/>
              <a:t>They'll tell you I'm straight, at least I think so</a:t>
            </a:r>
          </a:p>
          <a:p>
            <a:pPr marL="0" indent="0" algn="ctr">
              <a:buNone/>
            </a:pPr>
            <a:r>
              <a:rPr lang="en-US" sz="1400" dirty="0"/>
              <a:t>I'm as honest as the day is long,</a:t>
            </a:r>
          </a:p>
          <a:p>
            <a:pPr marL="0" indent="0" algn="ctr">
              <a:buNone/>
            </a:pPr>
            <a:r>
              <a:rPr lang="en-US" sz="1400" dirty="0"/>
              <a:t>The longer the daylight, the less I do wrong</a:t>
            </a:r>
          </a:p>
          <a:p>
            <a:pPr marL="0" indent="0" algn="ctr">
              <a:buNone/>
            </a:pPr>
            <a:endParaRPr lang="en-US" sz="1400" dirty="0"/>
          </a:p>
          <a:p>
            <a:pPr marL="0" indent="0" algn="ctr">
              <a:buNone/>
            </a:pPr>
            <a:r>
              <a:rPr lang="en-US" sz="1400" dirty="0"/>
              <a:t>Pass the blame and don't blame me</a:t>
            </a:r>
          </a:p>
          <a:p>
            <a:pPr marL="0" indent="0" algn="ctr">
              <a:buNone/>
            </a:pPr>
            <a:r>
              <a:rPr lang="en-US" sz="1400" dirty="0"/>
              <a:t>Just close your eyes and count to three</a:t>
            </a:r>
          </a:p>
        </p:txBody>
      </p:sp>
      <p:sp>
        <p:nvSpPr>
          <p:cNvPr id="4" name="TextBox 3"/>
          <p:cNvSpPr txBox="1"/>
          <p:nvPr/>
        </p:nvSpPr>
        <p:spPr>
          <a:xfrm>
            <a:off x="9784861" y="5064370"/>
            <a:ext cx="2203939" cy="923330"/>
          </a:xfrm>
          <a:prstGeom prst="rect">
            <a:avLst/>
          </a:prstGeom>
          <a:noFill/>
        </p:spPr>
        <p:txBody>
          <a:bodyPr wrap="square" rtlCol="0">
            <a:spAutoFit/>
          </a:bodyPr>
          <a:lstStyle/>
          <a:p>
            <a:r>
              <a:rPr lang="en-GB" i="1" dirty="0">
                <a:solidFill>
                  <a:srgbClr val="FF0000"/>
                </a:solidFill>
              </a:rPr>
              <a:t>Shut Up</a:t>
            </a:r>
          </a:p>
          <a:p>
            <a:r>
              <a:rPr lang="en-GB" i="1" dirty="0">
                <a:solidFill>
                  <a:srgbClr val="FF0000"/>
                </a:solidFill>
              </a:rPr>
              <a:t>by</a:t>
            </a:r>
          </a:p>
          <a:p>
            <a:r>
              <a:rPr lang="en-GB" i="1" dirty="0">
                <a:solidFill>
                  <a:srgbClr val="FF0000"/>
                </a:solidFill>
              </a:rPr>
              <a:t>Madness</a:t>
            </a:r>
          </a:p>
        </p:txBody>
      </p:sp>
    </p:spTree>
    <p:extLst>
      <p:ext uri="{BB962C8B-B14F-4D97-AF65-F5344CB8AC3E}">
        <p14:creationId xmlns:p14="http://schemas.microsoft.com/office/powerpoint/2010/main" val="3060127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Protection Mechanisms</a:t>
            </a:r>
          </a:p>
        </p:txBody>
      </p:sp>
      <p:sp>
        <p:nvSpPr>
          <p:cNvPr id="3" name="Text Placeholder 2"/>
          <p:cNvSpPr>
            <a:spLocks noGrp="1"/>
          </p:cNvSpPr>
          <p:nvPr>
            <p:ph type="body" idx="1"/>
          </p:nvPr>
        </p:nvSpPr>
        <p:spPr/>
        <p:txBody>
          <a:bodyPr/>
          <a:lstStyle/>
          <a:p>
            <a:r>
              <a:rPr lang="en-US" dirty="0"/>
              <a:t>Protection mechanisms are common characteristics of security controls. </a:t>
            </a:r>
          </a:p>
          <a:p>
            <a:pPr lvl="1">
              <a:buFont typeface="Arial" panose="020B0604020202020204" pitchFamily="34" charset="0"/>
              <a:buChar char="•"/>
            </a:pPr>
            <a:r>
              <a:rPr lang="en-US" i="1" dirty="0"/>
              <a:t>Not all security controls must have them </a:t>
            </a:r>
          </a:p>
          <a:p>
            <a:r>
              <a:rPr lang="en-US" dirty="0"/>
              <a:t>These mechanisms include:</a:t>
            </a:r>
          </a:p>
          <a:p>
            <a:pPr lvl="1">
              <a:buFont typeface="Arial" panose="020B0604020202020204" pitchFamily="34" charset="0"/>
              <a:buChar char="•"/>
            </a:pPr>
            <a:r>
              <a:rPr lang="en-US" dirty="0"/>
              <a:t>multiple layers (levels of access)</a:t>
            </a:r>
          </a:p>
          <a:p>
            <a:pPr lvl="1">
              <a:buFont typeface="Arial" panose="020B0604020202020204" pitchFamily="34" charset="0"/>
              <a:buChar char="•"/>
            </a:pPr>
            <a:r>
              <a:rPr lang="en-US" dirty="0"/>
              <a:t>abstraction,</a:t>
            </a:r>
          </a:p>
          <a:p>
            <a:pPr lvl="1">
              <a:buFont typeface="Arial" panose="020B0604020202020204" pitchFamily="34" charset="0"/>
              <a:buChar char="•"/>
            </a:pPr>
            <a:r>
              <a:rPr lang="en-US" dirty="0"/>
              <a:t>hiding data, </a:t>
            </a:r>
          </a:p>
          <a:p>
            <a:pPr lvl="1">
              <a:buFont typeface="Arial" panose="020B0604020202020204" pitchFamily="34" charset="0"/>
              <a:buChar char="•"/>
            </a:pPr>
            <a:r>
              <a:rPr lang="en-US" dirty="0"/>
              <a:t>encryption.</a:t>
            </a:r>
            <a:endParaRPr lang="en-GB" dirty="0"/>
          </a:p>
        </p:txBody>
      </p:sp>
    </p:spTree>
    <p:extLst>
      <p:ext uri="{BB962C8B-B14F-4D97-AF65-F5344CB8AC3E}">
        <p14:creationId xmlns:p14="http://schemas.microsoft.com/office/powerpoint/2010/main" val="3360283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Layering</a:t>
            </a:r>
          </a:p>
        </p:txBody>
      </p:sp>
      <p:sp>
        <p:nvSpPr>
          <p:cNvPr id="3" name="Text Placeholder 2"/>
          <p:cNvSpPr>
            <a:spLocks noGrp="1"/>
          </p:cNvSpPr>
          <p:nvPr>
            <p:ph type="body" idx="1"/>
          </p:nvPr>
        </p:nvSpPr>
        <p:spPr/>
        <p:txBody>
          <a:bodyPr/>
          <a:lstStyle/>
          <a:p>
            <a:r>
              <a:rPr lang="en-GB" dirty="0"/>
              <a:t>AKA Defence in Depth</a:t>
            </a:r>
          </a:p>
          <a:p>
            <a:r>
              <a:rPr lang="en-GB" dirty="0"/>
              <a:t>Multiple controls in series</a:t>
            </a:r>
          </a:p>
          <a:p>
            <a:endParaRPr lang="en-GB" dirty="0"/>
          </a:p>
          <a:p>
            <a:endParaRPr lang="en-GB" dirty="0"/>
          </a:p>
        </p:txBody>
      </p:sp>
      <p:sp>
        <p:nvSpPr>
          <p:cNvPr id="4" name="Cloud 3"/>
          <p:cNvSpPr/>
          <p:nvPr/>
        </p:nvSpPr>
        <p:spPr bwMode="auto">
          <a:xfrm>
            <a:off x="797169" y="3313723"/>
            <a:ext cx="1352062" cy="1078523"/>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1400" b="0" i="0" u="none" strike="noStrike" cap="none" normalizeH="0" baseline="0" dirty="0">
              <a:ln>
                <a:noFill/>
              </a:ln>
              <a:solidFill>
                <a:schemeClr val="tx1"/>
              </a:solidFill>
              <a:effectLst/>
              <a:latin typeface="Tahoma"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a:ln>
                  <a:noFill/>
                </a:ln>
                <a:solidFill>
                  <a:schemeClr val="tx1"/>
                </a:solidFill>
                <a:effectLst/>
                <a:latin typeface="Tahoma" pitchFamily="34" charset="0"/>
              </a:rPr>
              <a:t>Internet</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37190" y="2837493"/>
            <a:ext cx="1350603" cy="2030982"/>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37808" y="3324380"/>
            <a:ext cx="1161467" cy="967889"/>
          </a:xfrm>
          <a:prstGeom prst="rect">
            <a:avLst/>
          </a:prstGeom>
        </p:spPr>
      </p:pic>
      <p:sp>
        <p:nvSpPr>
          <p:cNvPr id="9" name="TextBox 8"/>
          <p:cNvSpPr txBox="1"/>
          <p:nvPr/>
        </p:nvSpPr>
        <p:spPr>
          <a:xfrm>
            <a:off x="5537808" y="4392246"/>
            <a:ext cx="1161467" cy="369332"/>
          </a:xfrm>
          <a:prstGeom prst="rect">
            <a:avLst/>
          </a:prstGeom>
          <a:noFill/>
        </p:spPr>
        <p:txBody>
          <a:bodyPr wrap="square" rtlCol="0">
            <a:spAutoFit/>
          </a:bodyPr>
          <a:lstStyle/>
          <a:p>
            <a:pPr algn="ctr"/>
            <a:r>
              <a:rPr lang="en-GB" dirty="0"/>
              <a:t>ACL’s</a:t>
            </a:r>
          </a:p>
        </p:txBody>
      </p:sp>
      <p:sp>
        <p:nvSpPr>
          <p:cNvPr id="10" name="Left-Right Arrow 9"/>
          <p:cNvSpPr/>
          <p:nvPr/>
        </p:nvSpPr>
        <p:spPr bwMode="auto">
          <a:xfrm>
            <a:off x="2413536" y="3603602"/>
            <a:ext cx="932873" cy="498764"/>
          </a:xfrm>
          <a:prstGeom prst="lef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11" name="Left-Right Arrow 10"/>
          <p:cNvSpPr/>
          <p:nvPr/>
        </p:nvSpPr>
        <p:spPr bwMode="auto">
          <a:xfrm>
            <a:off x="4305584" y="3603602"/>
            <a:ext cx="932873" cy="498764"/>
          </a:xfrm>
          <a:prstGeom prst="lef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58569" y="3256033"/>
            <a:ext cx="1542751" cy="1193901"/>
          </a:xfrm>
          <a:prstGeom prst="rect">
            <a:avLst/>
          </a:prstGeom>
        </p:spPr>
      </p:pic>
      <p:sp>
        <p:nvSpPr>
          <p:cNvPr id="13" name="Left-Right Arrow 12"/>
          <p:cNvSpPr/>
          <p:nvPr/>
        </p:nvSpPr>
        <p:spPr bwMode="auto">
          <a:xfrm>
            <a:off x="6816506" y="3603602"/>
            <a:ext cx="932873" cy="498764"/>
          </a:xfrm>
          <a:prstGeom prst="lef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14" name="TextBox 13"/>
          <p:cNvSpPr txBox="1"/>
          <p:nvPr/>
        </p:nvSpPr>
        <p:spPr>
          <a:xfrm>
            <a:off x="7949210" y="4407025"/>
            <a:ext cx="1161467" cy="369332"/>
          </a:xfrm>
          <a:prstGeom prst="rect">
            <a:avLst/>
          </a:prstGeom>
          <a:noFill/>
        </p:spPr>
        <p:txBody>
          <a:bodyPr wrap="square" rtlCol="0">
            <a:spAutoFit/>
          </a:bodyPr>
          <a:lstStyle/>
          <a:p>
            <a:pPr algn="ctr"/>
            <a:r>
              <a:rPr lang="en-GB" dirty="0"/>
              <a:t>VLAN’s</a:t>
            </a:r>
          </a:p>
        </p:txBody>
      </p:sp>
    </p:spTree>
    <p:extLst>
      <p:ext uri="{BB962C8B-B14F-4D97-AF65-F5344CB8AC3E}">
        <p14:creationId xmlns:p14="http://schemas.microsoft.com/office/powerpoint/2010/main" val="3610280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Layering</a:t>
            </a:r>
          </a:p>
        </p:txBody>
      </p:sp>
      <p:sp>
        <p:nvSpPr>
          <p:cNvPr id="3" name="Text Placeholder 2"/>
          <p:cNvSpPr>
            <a:spLocks noGrp="1"/>
          </p:cNvSpPr>
          <p:nvPr>
            <p:ph type="body" idx="1"/>
          </p:nvPr>
        </p:nvSpPr>
        <p:spPr/>
        <p:txBody>
          <a:bodyPr/>
          <a:lstStyle/>
          <a:p>
            <a:pPr>
              <a:spcAft>
                <a:spcPts val="600"/>
              </a:spcAft>
            </a:pPr>
            <a:r>
              <a:rPr lang="en-US" dirty="0"/>
              <a:t>Using layers in a series rather than in parallel is important.</a:t>
            </a:r>
          </a:p>
          <a:p>
            <a:pPr>
              <a:spcAft>
                <a:spcPts val="600"/>
              </a:spcAft>
            </a:pPr>
            <a:r>
              <a:rPr lang="en-US" dirty="0"/>
              <a:t>Performing security restrictions in a series means to perform one after the other in a linear fashion. </a:t>
            </a:r>
          </a:p>
          <a:p>
            <a:pPr>
              <a:spcAft>
                <a:spcPts val="600"/>
              </a:spcAft>
            </a:pPr>
            <a:r>
              <a:rPr lang="en-US" dirty="0"/>
              <a:t>Only through a series configuration will each attack be scanned, evaluated, or mitigated by every security control.</a:t>
            </a:r>
          </a:p>
          <a:p>
            <a:r>
              <a:rPr lang="en-US" dirty="0"/>
              <a:t>Failure of a single security control does not render the </a:t>
            </a:r>
            <a:r>
              <a:rPr lang="en-GB" dirty="0"/>
              <a:t>entire solution ineffective.</a:t>
            </a:r>
          </a:p>
        </p:txBody>
      </p:sp>
    </p:spTree>
    <p:extLst>
      <p:ext uri="{BB962C8B-B14F-4D97-AF65-F5344CB8AC3E}">
        <p14:creationId xmlns:p14="http://schemas.microsoft.com/office/powerpoint/2010/main" val="988475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Abstraction</a:t>
            </a:r>
          </a:p>
        </p:txBody>
      </p:sp>
      <p:sp>
        <p:nvSpPr>
          <p:cNvPr id="3" name="Text Placeholder 2"/>
          <p:cNvSpPr>
            <a:spLocks noGrp="1"/>
          </p:cNvSpPr>
          <p:nvPr>
            <p:ph type="body" idx="1"/>
          </p:nvPr>
        </p:nvSpPr>
        <p:spPr/>
        <p:txBody>
          <a:bodyPr/>
          <a:lstStyle/>
          <a:p>
            <a:r>
              <a:rPr lang="en-US" dirty="0"/>
              <a:t>Abstraction is used for efficiency. </a:t>
            </a:r>
          </a:p>
          <a:p>
            <a:r>
              <a:rPr lang="en-US" dirty="0"/>
              <a:t>Similar elements are put into groups, classes, or roles that are assigned security controls, restrictions, or permissions as a collective.</a:t>
            </a:r>
            <a:endParaRPr lang="en-GB" dirty="0"/>
          </a:p>
        </p:txBody>
      </p:sp>
      <p:sp>
        <p:nvSpPr>
          <p:cNvPr id="4" name="Smiley Face 3"/>
          <p:cNvSpPr/>
          <p:nvPr/>
        </p:nvSpPr>
        <p:spPr bwMode="auto">
          <a:xfrm>
            <a:off x="2981038" y="4710544"/>
            <a:ext cx="720436" cy="729673"/>
          </a:xfrm>
          <a:prstGeom prst="smileyFac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5" name="Smiley Face 4"/>
          <p:cNvSpPr/>
          <p:nvPr/>
        </p:nvSpPr>
        <p:spPr bwMode="auto">
          <a:xfrm>
            <a:off x="4084783" y="4710544"/>
            <a:ext cx="720436" cy="729673"/>
          </a:xfrm>
          <a:prstGeom prst="smileyFac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6" name="Smiley Face 5"/>
          <p:cNvSpPr/>
          <p:nvPr/>
        </p:nvSpPr>
        <p:spPr bwMode="auto">
          <a:xfrm>
            <a:off x="5163128" y="4747058"/>
            <a:ext cx="720436" cy="729673"/>
          </a:xfrm>
          <a:prstGeom prst="smileyFac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7" name="Smiley Face 6"/>
          <p:cNvSpPr/>
          <p:nvPr/>
        </p:nvSpPr>
        <p:spPr bwMode="auto">
          <a:xfrm>
            <a:off x="6266873" y="4710544"/>
            <a:ext cx="720436" cy="729673"/>
          </a:xfrm>
          <a:prstGeom prst="smileyFac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8" name="Smiley Face 7"/>
          <p:cNvSpPr/>
          <p:nvPr/>
        </p:nvSpPr>
        <p:spPr bwMode="auto">
          <a:xfrm>
            <a:off x="7308273" y="4747058"/>
            <a:ext cx="720436" cy="729673"/>
          </a:xfrm>
          <a:prstGeom prst="smileyFac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9" name="Rounded Rectangle 8"/>
          <p:cNvSpPr/>
          <p:nvPr/>
        </p:nvSpPr>
        <p:spPr bwMode="auto">
          <a:xfrm>
            <a:off x="3341256" y="3629891"/>
            <a:ext cx="4518889" cy="803564"/>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2400" b="0" i="0" u="none" strike="noStrike" cap="none" normalizeH="0" baseline="0" dirty="0">
                <a:ln>
                  <a:noFill/>
                </a:ln>
                <a:solidFill>
                  <a:schemeClr val="tx1"/>
                </a:solidFill>
                <a:effectLst/>
                <a:latin typeface="Tahoma" pitchFamily="34" charset="0"/>
              </a:rPr>
              <a:t>Finance Group</a:t>
            </a:r>
          </a:p>
          <a:p>
            <a:pPr marL="0" marR="0" indent="0" algn="ctr" defTabSz="914400" rtl="0" eaLnBrk="0" fontAlgn="base" latinLnBrk="0" hangingPunct="0">
              <a:lnSpc>
                <a:spcPct val="100000"/>
              </a:lnSpc>
              <a:spcBef>
                <a:spcPct val="0"/>
              </a:spcBef>
              <a:spcAft>
                <a:spcPct val="0"/>
              </a:spcAft>
              <a:buClrTx/>
              <a:buSzTx/>
              <a:buFontTx/>
              <a:buNone/>
              <a:tabLst/>
            </a:pPr>
            <a:r>
              <a:rPr lang="en-GB" sz="1600" dirty="0">
                <a:latin typeface="Tahoma" pitchFamily="34" charset="0"/>
              </a:rPr>
              <a:t>Rights, Permissions </a:t>
            </a:r>
            <a:r>
              <a:rPr lang="en-GB" sz="1600" dirty="0" err="1">
                <a:latin typeface="Tahoma" pitchFamily="34" charset="0"/>
              </a:rPr>
              <a:t>etc</a:t>
            </a:r>
            <a:r>
              <a:rPr lang="en-GB" sz="1600" dirty="0">
                <a:latin typeface="Tahoma" pitchFamily="34" charset="0"/>
              </a:rPr>
              <a:t> set at group level</a:t>
            </a:r>
            <a:endParaRPr kumimoji="0" lang="en-GB" sz="1600" b="0" i="0" u="none" strike="noStrike" cap="none" normalizeH="0" baseline="0" dirty="0">
              <a:ln>
                <a:noFill/>
              </a:ln>
              <a:solidFill>
                <a:schemeClr val="tx1"/>
              </a:solidFill>
              <a:effectLst/>
              <a:latin typeface="Tahoma" pitchFamily="34" charset="0"/>
            </a:endParaRPr>
          </a:p>
        </p:txBody>
      </p:sp>
      <p:sp>
        <p:nvSpPr>
          <p:cNvPr id="10" name="Rectangle 9"/>
          <p:cNvSpPr/>
          <p:nvPr/>
        </p:nvSpPr>
        <p:spPr>
          <a:xfrm>
            <a:off x="2329202" y="4580823"/>
            <a:ext cx="6388288"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                                }</a:t>
            </a:r>
            <a:endParaRPr lang="en-GB"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457859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Abstraction</a:t>
            </a:r>
            <a:endParaRPr lang="en-GB" dirty="0">
              <a:latin typeface="Georgia" panose="02040502050405020303" pitchFamily="18" charset="0"/>
            </a:endParaRPr>
          </a:p>
        </p:txBody>
      </p:sp>
      <p:sp>
        <p:nvSpPr>
          <p:cNvPr id="3" name="Text Placeholder 2"/>
          <p:cNvSpPr>
            <a:spLocks noGrp="1"/>
          </p:cNvSpPr>
          <p:nvPr>
            <p:ph type="body" idx="1"/>
          </p:nvPr>
        </p:nvSpPr>
        <p:spPr/>
        <p:txBody>
          <a:bodyPr/>
          <a:lstStyle/>
          <a:p>
            <a:pPr>
              <a:spcAft>
                <a:spcPts val="600"/>
              </a:spcAft>
            </a:pPr>
            <a:r>
              <a:rPr lang="en-US" dirty="0"/>
              <a:t>Abstraction is used to define what types of data an object can contain, what types of functions can be performed on or by that object, and what capabilities that object has. </a:t>
            </a:r>
          </a:p>
          <a:p>
            <a:pPr>
              <a:spcAft>
                <a:spcPts val="600"/>
              </a:spcAft>
            </a:pPr>
            <a:r>
              <a:rPr lang="en-US" dirty="0"/>
              <a:t>Security becomes simplified by enabling you to assign security controls to a group of objects collected by type or function.</a:t>
            </a:r>
            <a:endParaRPr lang="en-GB" dirty="0"/>
          </a:p>
        </p:txBody>
      </p:sp>
    </p:spTree>
    <p:extLst>
      <p:ext uri="{BB962C8B-B14F-4D97-AF65-F5344CB8AC3E}">
        <p14:creationId xmlns:p14="http://schemas.microsoft.com/office/powerpoint/2010/main" val="1390063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Data Hiding</a:t>
            </a:r>
          </a:p>
        </p:txBody>
      </p:sp>
      <p:sp>
        <p:nvSpPr>
          <p:cNvPr id="3" name="Text Placeholder 2"/>
          <p:cNvSpPr>
            <a:spLocks noGrp="1"/>
          </p:cNvSpPr>
          <p:nvPr>
            <p:ph type="body" idx="1"/>
          </p:nvPr>
        </p:nvSpPr>
        <p:spPr>
          <a:xfrm>
            <a:off x="914400" y="1029066"/>
            <a:ext cx="10363200" cy="4114800"/>
          </a:xfrm>
        </p:spPr>
        <p:txBody>
          <a:bodyPr/>
          <a:lstStyle/>
          <a:p>
            <a:pPr>
              <a:spcBef>
                <a:spcPts val="600"/>
              </a:spcBef>
              <a:spcAft>
                <a:spcPts val="600"/>
              </a:spcAft>
            </a:pPr>
            <a:r>
              <a:rPr lang="en-US" dirty="0"/>
              <a:t>Preventing data from being discovered or accessed by a subject by positioning the data in a logical storage compartment that is not accessible or seen by the subject.</a:t>
            </a:r>
          </a:p>
          <a:p>
            <a:pPr>
              <a:spcBef>
                <a:spcPts val="600"/>
              </a:spcBef>
              <a:spcAft>
                <a:spcPts val="600"/>
              </a:spcAft>
            </a:pPr>
            <a:r>
              <a:rPr lang="en-US" dirty="0"/>
              <a:t>Forms of data hiding include keeping a database from being accessed by unauthorized visitors and restricting a subject at a lower classification level from accessing data at a higher classification level. </a:t>
            </a:r>
          </a:p>
          <a:p>
            <a:pPr>
              <a:spcBef>
                <a:spcPts val="600"/>
              </a:spcBef>
              <a:spcAft>
                <a:spcPts val="600"/>
              </a:spcAft>
            </a:pPr>
            <a:r>
              <a:rPr lang="en-US" dirty="0"/>
              <a:t>Preventing an application from accessing hardware directly is also a form of data hiding. </a:t>
            </a:r>
            <a:endParaRPr lang="en-GB" dirty="0"/>
          </a:p>
        </p:txBody>
      </p:sp>
    </p:spTree>
    <p:extLst>
      <p:ext uri="{BB962C8B-B14F-4D97-AF65-F5344CB8AC3E}">
        <p14:creationId xmlns:p14="http://schemas.microsoft.com/office/powerpoint/2010/main" val="3045726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917454"/>
          </a:xfrm>
        </p:spPr>
        <p:txBody>
          <a:bodyPr/>
          <a:lstStyle/>
          <a:p>
            <a:r>
              <a:rPr lang="en-GB" sz="3600" dirty="0">
                <a:latin typeface="Georgia" panose="02040502050405020303" pitchFamily="18" charset="0"/>
              </a:rPr>
              <a:t>Encryption</a:t>
            </a:r>
          </a:p>
        </p:txBody>
      </p:sp>
      <p:sp>
        <p:nvSpPr>
          <p:cNvPr id="3" name="Text Placeholder 2"/>
          <p:cNvSpPr>
            <a:spLocks noGrp="1"/>
          </p:cNvSpPr>
          <p:nvPr>
            <p:ph type="body" idx="1"/>
          </p:nvPr>
        </p:nvSpPr>
        <p:spPr>
          <a:xfrm>
            <a:off x="781538" y="747714"/>
            <a:ext cx="10839938" cy="4114800"/>
          </a:xfrm>
        </p:spPr>
        <p:txBody>
          <a:bodyPr/>
          <a:lstStyle/>
          <a:p>
            <a:r>
              <a:rPr lang="en-US" dirty="0"/>
              <a:t>Encryption is system of hiding the meaning or intent of a communication from unintended recipients. </a:t>
            </a:r>
          </a:p>
          <a:p>
            <a:r>
              <a:rPr lang="en-US" dirty="0"/>
              <a:t>Encryption can take many forms and be applied to every type of electronic communication, including text, audio, and video files as well as applications themselves. </a:t>
            </a:r>
          </a:p>
          <a:p>
            <a:r>
              <a:rPr lang="en-US" dirty="0"/>
              <a:t>Encryption is an important element in security controls, especially in regard to the transmission of data between systems. </a:t>
            </a:r>
          </a:p>
          <a:p>
            <a:r>
              <a:rPr lang="en-US" dirty="0"/>
              <a:t>There are various strengths of encryption, each of which is designed and/or appropriate for a specific use or purpose.</a:t>
            </a:r>
            <a:endParaRPr lang="en-GB" dirty="0"/>
          </a:p>
        </p:txBody>
      </p:sp>
    </p:spTree>
    <p:extLst>
      <p:ext uri="{BB962C8B-B14F-4D97-AF65-F5344CB8AC3E}">
        <p14:creationId xmlns:p14="http://schemas.microsoft.com/office/powerpoint/2010/main" val="104317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Applying Security Governance Principles</a:t>
            </a:r>
          </a:p>
        </p:txBody>
      </p:sp>
      <p:sp>
        <p:nvSpPr>
          <p:cNvPr id="3" name="Text Placeholder 2"/>
          <p:cNvSpPr>
            <a:spLocks noGrp="1"/>
          </p:cNvSpPr>
          <p:nvPr>
            <p:ph type="body" idx="1"/>
          </p:nvPr>
        </p:nvSpPr>
        <p:spPr/>
        <p:txBody>
          <a:bodyPr/>
          <a:lstStyle/>
          <a:p>
            <a:r>
              <a:rPr lang="en-US" dirty="0"/>
              <a:t>Security governance is the collection of practices related to supporting, defining, and directing the security efforts of an organization. </a:t>
            </a:r>
          </a:p>
          <a:p>
            <a:r>
              <a:rPr lang="en-US" dirty="0"/>
              <a:t>Security governance is closely related to: </a:t>
            </a:r>
          </a:p>
          <a:p>
            <a:pPr lvl="1">
              <a:buFont typeface="Arial" panose="020B0604020202020204" pitchFamily="34" charset="0"/>
              <a:buChar char="•"/>
            </a:pPr>
            <a:r>
              <a:rPr lang="en-US" dirty="0"/>
              <a:t>Corporate governance </a:t>
            </a:r>
          </a:p>
          <a:p>
            <a:pPr lvl="1">
              <a:buFont typeface="Arial" panose="020B0604020202020204" pitchFamily="34" charset="0"/>
              <a:buChar char="•"/>
            </a:pPr>
            <a:r>
              <a:rPr lang="en-US" dirty="0"/>
              <a:t>IT governance. </a:t>
            </a:r>
          </a:p>
          <a:p>
            <a:r>
              <a:rPr lang="en-US" dirty="0"/>
              <a:t>The goals of these three governance agendas are often the same or interrelated. </a:t>
            </a:r>
            <a:endParaRPr lang="en-GB" dirty="0"/>
          </a:p>
        </p:txBody>
      </p:sp>
    </p:spTree>
    <p:extLst>
      <p:ext uri="{BB962C8B-B14F-4D97-AF65-F5344CB8AC3E}">
        <p14:creationId xmlns:p14="http://schemas.microsoft.com/office/powerpoint/2010/main" val="170281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Applying Security Governance Principles</a:t>
            </a:r>
          </a:p>
        </p:txBody>
      </p:sp>
      <p:sp>
        <p:nvSpPr>
          <p:cNvPr id="3" name="Text Placeholder 2"/>
          <p:cNvSpPr>
            <a:spLocks noGrp="1"/>
          </p:cNvSpPr>
          <p:nvPr>
            <p:ph type="body" idx="1"/>
          </p:nvPr>
        </p:nvSpPr>
        <p:spPr/>
        <p:txBody>
          <a:bodyPr/>
          <a:lstStyle/>
          <a:p>
            <a:r>
              <a:rPr lang="en-US" dirty="0"/>
              <a:t>Security is not and should not be treated as an IT issue only. </a:t>
            </a:r>
          </a:p>
          <a:p>
            <a:r>
              <a:rPr lang="en-US" dirty="0"/>
              <a:t>Security affects every aspect of an </a:t>
            </a:r>
            <a:r>
              <a:rPr lang="en-US" dirty="0" err="1"/>
              <a:t>organisation</a:t>
            </a:r>
            <a:r>
              <a:rPr lang="en-US" dirty="0"/>
              <a:t>. </a:t>
            </a:r>
          </a:p>
          <a:p>
            <a:r>
              <a:rPr lang="en-US" dirty="0"/>
              <a:t>It is no longer just something the IT staff can handle on their own. </a:t>
            </a:r>
          </a:p>
          <a:p>
            <a:r>
              <a:rPr lang="en-US" dirty="0"/>
              <a:t>Security is a business operations issue.</a:t>
            </a:r>
            <a:endParaRPr lang="en-GB" dirty="0"/>
          </a:p>
        </p:txBody>
      </p:sp>
    </p:spTree>
    <p:extLst>
      <p:ext uri="{BB962C8B-B14F-4D97-AF65-F5344CB8AC3E}">
        <p14:creationId xmlns:p14="http://schemas.microsoft.com/office/powerpoint/2010/main" val="1911679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Top down responsibility</a:t>
            </a:r>
          </a:p>
        </p:txBody>
      </p:sp>
      <p:sp>
        <p:nvSpPr>
          <p:cNvPr id="4" name="Rectangle 3"/>
          <p:cNvSpPr/>
          <p:nvPr/>
        </p:nvSpPr>
        <p:spPr bwMode="auto">
          <a:xfrm>
            <a:off x="1234831" y="2508739"/>
            <a:ext cx="9519138" cy="67993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2400" b="0" i="0" u="none" strike="noStrike" cap="none" normalizeH="0" baseline="0" dirty="0">
                <a:ln>
                  <a:noFill/>
                </a:ln>
                <a:solidFill>
                  <a:schemeClr val="tx1"/>
                </a:solidFill>
                <a:effectLst/>
                <a:latin typeface="Tahoma" pitchFamily="34" charset="0"/>
              </a:rPr>
              <a:t>Strategic plan</a:t>
            </a:r>
          </a:p>
        </p:txBody>
      </p:sp>
      <p:sp>
        <p:nvSpPr>
          <p:cNvPr id="5" name="Rectangle 4"/>
          <p:cNvSpPr/>
          <p:nvPr/>
        </p:nvSpPr>
        <p:spPr bwMode="auto">
          <a:xfrm>
            <a:off x="1234831" y="3384061"/>
            <a:ext cx="1578707" cy="554892"/>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Tactical Plan</a:t>
            </a:r>
          </a:p>
        </p:txBody>
      </p:sp>
      <p:sp>
        <p:nvSpPr>
          <p:cNvPr id="6" name="Rectangle 5"/>
          <p:cNvSpPr/>
          <p:nvPr/>
        </p:nvSpPr>
        <p:spPr bwMode="auto">
          <a:xfrm>
            <a:off x="3180858" y="3384061"/>
            <a:ext cx="1578707" cy="554892"/>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Tactical Plan</a:t>
            </a:r>
          </a:p>
        </p:txBody>
      </p:sp>
      <p:sp>
        <p:nvSpPr>
          <p:cNvPr id="7" name="Rectangle 6"/>
          <p:cNvSpPr/>
          <p:nvPr/>
        </p:nvSpPr>
        <p:spPr bwMode="auto">
          <a:xfrm>
            <a:off x="5165969" y="3384061"/>
            <a:ext cx="1578707" cy="554892"/>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Tactical Plan</a:t>
            </a:r>
          </a:p>
        </p:txBody>
      </p:sp>
      <p:sp>
        <p:nvSpPr>
          <p:cNvPr id="8" name="Rectangle 7"/>
          <p:cNvSpPr/>
          <p:nvPr/>
        </p:nvSpPr>
        <p:spPr bwMode="auto">
          <a:xfrm>
            <a:off x="7151080" y="3384061"/>
            <a:ext cx="1578707" cy="554892"/>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Tactical Plan</a:t>
            </a:r>
          </a:p>
        </p:txBody>
      </p:sp>
      <p:sp>
        <p:nvSpPr>
          <p:cNvPr id="9" name="Rectangle 8"/>
          <p:cNvSpPr/>
          <p:nvPr/>
        </p:nvSpPr>
        <p:spPr bwMode="auto">
          <a:xfrm>
            <a:off x="9175262" y="3384061"/>
            <a:ext cx="1578707" cy="554892"/>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2000" b="0" i="0" u="none" strike="noStrike" cap="none" normalizeH="0" baseline="0" dirty="0">
                <a:ln>
                  <a:noFill/>
                </a:ln>
                <a:solidFill>
                  <a:schemeClr val="tx1"/>
                </a:solidFill>
                <a:effectLst/>
                <a:latin typeface="Tahoma" pitchFamily="34" charset="0"/>
              </a:rPr>
              <a:t>Tactical Plan</a:t>
            </a:r>
          </a:p>
        </p:txBody>
      </p:sp>
      <p:sp>
        <p:nvSpPr>
          <p:cNvPr id="10" name="Rectangle 9"/>
          <p:cNvSpPr/>
          <p:nvPr/>
        </p:nvSpPr>
        <p:spPr bwMode="auto">
          <a:xfrm>
            <a:off x="1234831" y="4228123"/>
            <a:ext cx="554892" cy="461107"/>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11" name="Rectangle 10"/>
          <p:cNvSpPr/>
          <p:nvPr/>
        </p:nvSpPr>
        <p:spPr bwMode="auto">
          <a:xfrm>
            <a:off x="1905001" y="4224214"/>
            <a:ext cx="459154" cy="461107"/>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12" name="Rectangle 11"/>
          <p:cNvSpPr/>
          <p:nvPr/>
        </p:nvSpPr>
        <p:spPr bwMode="auto">
          <a:xfrm>
            <a:off x="4204669" y="4216397"/>
            <a:ext cx="554892" cy="461107"/>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13" name="Rectangle 12"/>
          <p:cNvSpPr/>
          <p:nvPr/>
        </p:nvSpPr>
        <p:spPr bwMode="auto">
          <a:xfrm>
            <a:off x="2526325" y="4224214"/>
            <a:ext cx="250092" cy="461107"/>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14" name="Rectangle 13"/>
          <p:cNvSpPr/>
          <p:nvPr/>
        </p:nvSpPr>
        <p:spPr bwMode="auto">
          <a:xfrm>
            <a:off x="2989380" y="4224214"/>
            <a:ext cx="980831" cy="461107"/>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15" name="Rectangle 14"/>
          <p:cNvSpPr/>
          <p:nvPr/>
        </p:nvSpPr>
        <p:spPr bwMode="auto">
          <a:xfrm>
            <a:off x="7815387" y="4216396"/>
            <a:ext cx="250092" cy="461107"/>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16" name="Rectangle 15"/>
          <p:cNvSpPr/>
          <p:nvPr/>
        </p:nvSpPr>
        <p:spPr bwMode="auto">
          <a:xfrm>
            <a:off x="5957271" y="4224214"/>
            <a:ext cx="250092" cy="461107"/>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17" name="Rectangle 16"/>
          <p:cNvSpPr/>
          <p:nvPr/>
        </p:nvSpPr>
        <p:spPr bwMode="auto">
          <a:xfrm>
            <a:off x="6385157" y="4224214"/>
            <a:ext cx="250092" cy="461107"/>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18" name="Rectangle 17"/>
          <p:cNvSpPr/>
          <p:nvPr/>
        </p:nvSpPr>
        <p:spPr bwMode="auto">
          <a:xfrm>
            <a:off x="6717330" y="4224214"/>
            <a:ext cx="980831" cy="461107"/>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19" name="Rectangle 18"/>
          <p:cNvSpPr/>
          <p:nvPr/>
        </p:nvSpPr>
        <p:spPr bwMode="auto">
          <a:xfrm>
            <a:off x="4876787" y="4216396"/>
            <a:ext cx="980831" cy="461107"/>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20" name="Rectangle 19"/>
          <p:cNvSpPr/>
          <p:nvPr/>
        </p:nvSpPr>
        <p:spPr bwMode="auto">
          <a:xfrm>
            <a:off x="8970118" y="4215786"/>
            <a:ext cx="554892" cy="461107"/>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21" name="Rectangle 20"/>
          <p:cNvSpPr/>
          <p:nvPr/>
        </p:nvSpPr>
        <p:spPr bwMode="auto">
          <a:xfrm>
            <a:off x="8217861" y="4224213"/>
            <a:ext cx="554892" cy="461107"/>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22" name="Rectangle 21"/>
          <p:cNvSpPr/>
          <p:nvPr/>
        </p:nvSpPr>
        <p:spPr bwMode="auto">
          <a:xfrm>
            <a:off x="9673503" y="4224213"/>
            <a:ext cx="980831" cy="461107"/>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23" name="TextBox 22"/>
          <p:cNvSpPr txBox="1"/>
          <p:nvPr/>
        </p:nvSpPr>
        <p:spPr>
          <a:xfrm>
            <a:off x="1055078" y="4609068"/>
            <a:ext cx="9419502" cy="369332"/>
          </a:xfrm>
          <a:prstGeom prst="rect">
            <a:avLst/>
          </a:prstGeom>
          <a:noFill/>
        </p:spPr>
        <p:txBody>
          <a:bodyPr wrap="square" rtlCol="0">
            <a:spAutoFit/>
          </a:bodyPr>
          <a:lstStyle/>
          <a:p>
            <a:pPr algn="ctr"/>
            <a:r>
              <a:rPr lang="en-GB" dirty="0"/>
              <a:t>Operational Plans</a:t>
            </a:r>
          </a:p>
        </p:txBody>
      </p:sp>
      <p:sp>
        <p:nvSpPr>
          <p:cNvPr id="24" name="Right Arrow 23"/>
          <p:cNvSpPr/>
          <p:nvPr/>
        </p:nvSpPr>
        <p:spPr bwMode="auto">
          <a:xfrm>
            <a:off x="1234831" y="1571135"/>
            <a:ext cx="9519138" cy="867265"/>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2400" b="0" i="0" u="none" strike="noStrike" cap="none" normalizeH="0" baseline="0" dirty="0">
                <a:ln>
                  <a:noFill/>
                </a:ln>
                <a:solidFill>
                  <a:schemeClr val="tx1"/>
                </a:solidFill>
                <a:effectLst/>
                <a:latin typeface="Tahoma" pitchFamily="34" charset="0"/>
              </a:rPr>
              <a:t>Year 0 								Year</a:t>
            </a:r>
            <a:r>
              <a:rPr kumimoji="0" lang="en-GB" sz="2400" b="0" i="0" u="none" strike="noStrike" cap="none" normalizeH="0" dirty="0">
                <a:ln>
                  <a:noFill/>
                </a:ln>
                <a:solidFill>
                  <a:schemeClr val="tx1"/>
                </a:solidFill>
                <a:effectLst/>
                <a:latin typeface="Tahoma" pitchFamily="34" charset="0"/>
              </a:rPr>
              <a:t> 5</a:t>
            </a:r>
            <a:endParaRPr kumimoji="0" lang="en-GB" sz="2400" b="0" i="0" u="none" strike="noStrike" cap="none" normalizeH="0" baseline="0" dirty="0">
              <a:ln>
                <a:noFill/>
              </a:ln>
              <a:solidFill>
                <a:schemeClr val="tx1"/>
              </a:solidFill>
              <a:effectLst/>
              <a:latin typeface="Tahoma" pitchFamily="34" charset="0"/>
            </a:endParaRPr>
          </a:p>
        </p:txBody>
      </p:sp>
    </p:spTree>
    <p:extLst>
      <p:ext uri="{BB962C8B-B14F-4D97-AF65-F5344CB8AC3E}">
        <p14:creationId xmlns:p14="http://schemas.microsoft.com/office/powerpoint/2010/main" val="253843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841863"/>
          </a:xfrm>
        </p:spPr>
        <p:txBody>
          <a:bodyPr/>
          <a:lstStyle/>
          <a:p>
            <a:r>
              <a:rPr lang="en-US" sz="3600" dirty="0">
                <a:latin typeface="Georgia" panose="02040502050405020303" pitchFamily="18" charset="0"/>
              </a:rPr>
              <a:t>Strategic Plan</a:t>
            </a:r>
            <a:endParaRPr lang="en-GB" sz="3600" dirty="0">
              <a:latin typeface="Georgia" panose="02040502050405020303" pitchFamily="18" charset="0"/>
            </a:endParaRPr>
          </a:p>
        </p:txBody>
      </p:sp>
      <p:sp>
        <p:nvSpPr>
          <p:cNvPr id="3" name="Text Placeholder 2"/>
          <p:cNvSpPr>
            <a:spLocks noGrp="1"/>
          </p:cNvSpPr>
          <p:nvPr>
            <p:ph type="body" idx="1"/>
          </p:nvPr>
        </p:nvSpPr>
        <p:spPr>
          <a:xfrm>
            <a:off x="601785" y="778974"/>
            <a:ext cx="11199446" cy="4114800"/>
          </a:xfrm>
        </p:spPr>
        <p:txBody>
          <a:bodyPr/>
          <a:lstStyle/>
          <a:p>
            <a:r>
              <a:rPr lang="en-US" sz="3000" dirty="0"/>
              <a:t>A strategic plan is a long-term plan that is fairly stable. </a:t>
            </a:r>
          </a:p>
          <a:p>
            <a:pPr lvl="1"/>
            <a:r>
              <a:rPr lang="en-US" sz="2600" dirty="0"/>
              <a:t>defines the organisation’s security purpose. </a:t>
            </a:r>
          </a:p>
          <a:p>
            <a:r>
              <a:rPr lang="en-US" sz="3000" dirty="0"/>
              <a:t>It also helps to understand security function and align it to goals, mission, and objectives of the organization. </a:t>
            </a:r>
          </a:p>
          <a:p>
            <a:r>
              <a:rPr lang="en-US" sz="3000" dirty="0"/>
              <a:t>Has a useful life for about five years if it is maintained and updated annually. </a:t>
            </a:r>
          </a:p>
          <a:p>
            <a:r>
              <a:rPr lang="en-US" sz="3000" dirty="0"/>
              <a:t>The strategic plan also serves as the planning horizon.</a:t>
            </a:r>
          </a:p>
          <a:p>
            <a:pPr lvl="1"/>
            <a:r>
              <a:rPr lang="en-US" sz="2600" dirty="0"/>
              <a:t>Long-term goals and visions for the future are discussed in a strategic plan. </a:t>
            </a:r>
          </a:p>
          <a:p>
            <a:r>
              <a:rPr lang="en-US" sz="3000" dirty="0"/>
              <a:t>A strategic plan should include a risk assessment.</a:t>
            </a:r>
            <a:endParaRPr lang="en-GB" sz="3000" dirty="0"/>
          </a:p>
        </p:txBody>
      </p:sp>
    </p:spTree>
    <p:extLst>
      <p:ext uri="{BB962C8B-B14F-4D97-AF65-F5344CB8AC3E}">
        <p14:creationId xmlns:p14="http://schemas.microsoft.com/office/powerpoint/2010/main" val="1923061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Tactical plan</a:t>
            </a:r>
          </a:p>
        </p:txBody>
      </p:sp>
      <p:sp>
        <p:nvSpPr>
          <p:cNvPr id="3" name="Text Placeholder 2"/>
          <p:cNvSpPr>
            <a:spLocks noGrp="1"/>
          </p:cNvSpPr>
          <p:nvPr>
            <p:ph type="body" idx="1"/>
          </p:nvPr>
        </p:nvSpPr>
        <p:spPr>
          <a:xfrm>
            <a:off x="914400" y="1083774"/>
            <a:ext cx="10824308" cy="4114800"/>
          </a:xfrm>
        </p:spPr>
        <p:txBody>
          <a:bodyPr/>
          <a:lstStyle/>
          <a:p>
            <a:r>
              <a:rPr lang="en-US" dirty="0"/>
              <a:t>The tactical plan is a midterm plan </a:t>
            </a:r>
          </a:p>
          <a:p>
            <a:pPr lvl="1">
              <a:buFont typeface="Arial" panose="020B0604020202020204" pitchFamily="34" charset="0"/>
              <a:buChar char="•"/>
            </a:pPr>
            <a:r>
              <a:rPr lang="en-US" dirty="0"/>
              <a:t>developed to provide more details on accomplishing the goals set out in the strategic plan </a:t>
            </a:r>
          </a:p>
          <a:p>
            <a:pPr lvl="1">
              <a:buFont typeface="Arial" panose="020B0604020202020204" pitchFamily="34" charset="0"/>
              <a:buChar char="•"/>
            </a:pPr>
            <a:r>
              <a:rPr lang="en-US" dirty="0"/>
              <a:t>can be ad-hoc based upon unpredicted events. </a:t>
            </a:r>
          </a:p>
          <a:p>
            <a:r>
              <a:rPr lang="en-US" dirty="0"/>
              <a:t>It is typically useful for about a year and often prescribes and schedules the tasks necessary to accomplish organizational goals. </a:t>
            </a:r>
          </a:p>
        </p:txBody>
      </p:sp>
    </p:spTree>
    <p:extLst>
      <p:ext uri="{BB962C8B-B14F-4D97-AF65-F5344CB8AC3E}">
        <p14:creationId xmlns:p14="http://schemas.microsoft.com/office/powerpoint/2010/main" val="428164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Operational Plan</a:t>
            </a:r>
          </a:p>
        </p:txBody>
      </p:sp>
      <p:sp>
        <p:nvSpPr>
          <p:cNvPr id="3" name="Text Placeholder 2"/>
          <p:cNvSpPr>
            <a:spLocks noGrp="1"/>
          </p:cNvSpPr>
          <p:nvPr>
            <p:ph type="body" idx="1"/>
          </p:nvPr>
        </p:nvSpPr>
        <p:spPr/>
        <p:txBody>
          <a:bodyPr/>
          <a:lstStyle/>
          <a:p>
            <a:r>
              <a:rPr lang="en-US" dirty="0"/>
              <a:t>An operational plan is a short-term, highly detailed plan based on the strategic and tactical plans. </a:t>
            </a:r>
          </a:p>
          <a:p>
            <a:r>
              <a:rPr lang="en-US" dirty="0"/>
              <a:t>It is valid or useful only for a short time. </a:t>
            </a:r>
          </a:p>
          <a:p>
            <a:r>
              <a:rPr lang="en-US" dirty="0"/>
              <a:t>Operational plans must be updated frequently </a:t>
            </a:r>
          </a:p>
          <a:p>
            <a:r>
              <a:rPr lang="en-US" dirty="0"/>
              <a:t>Operational plans include details on how the implementation processes are in compliance with the organisation’s security policy.</a:t>
            </a:r>
            <a:endParaRPr lang="en-GB" dirty="0"/>
          </a:p>
        </p:txBody>
      </p:sp>
    </p:spTree>
    <p:extLst>
      <p:ext uri="{BB962C8B-B14F-4D97-AF65-F5344CB8AC3E}">
        <p14:creationId xmlns:p14="http://schemas.microsoft.com/office/powerpoint/2010/main" val="781811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927833"/>
          </a:xfrm>
        </p:spPr>
        <p:txBody>
          <a:bodyPr/>
          <a:lstStyle/>
          <a:p>
            <a:r>
              <a:rPr lang="en-GB" sz="3600" dirty="0">
                <a:latin typeface="Georgia" panose="02040502050405020303" pitchFamily="18" charset="0"/>
              </a:rPr>
              <a:t>Change Control/Management</a:t>
            </a:r>
          </a:p>
        </p:txBody>
      </p:sp>
      <p:sp>
        <p:nvSpPr>
          <p:cNvPr id="3" name="Text Placeholder 2"/>
          <p:cNvSpPr>
            <a:spLocks noGrp="1"/>
          </p:cNvSpPr>
          <p:nvPr>
            <p:ph type="body" idx="1"/>
          </p:nvPr>
        </p:nvSpPr>
        <p:spPr>
          <a:xfrm>
            <a:off x="914400" y="1070708"/>
            <a:ext cx="10363200" cy="4114800"/>
          </a:xfrm>
        </p:spPr>
        <p:txBody>
          <a:bodyPr/>
          <a:lstStyle/>
          <a:p>
            <a:r>
              <a:rPr lang="en-GB" dirty="0"/>
              <a:t>Change can introduce new security vulnerabilities</a:t>
            </a:r>
          </a:p>
          <a:p>
            <a:r>
              <a:rPr lang="en-US" dirty="0"/>
              <a:t>The only way to maintain security when change is required is to systematically manage change.</a:t>
            </a:r>
          </a:p>
          <a:p>
            <a:r>
              <a:rPr lang="en-US" dirty="0"/>
              <a:t>This usually involves:</a:t>
            </a:r>
          </a:p>
          <a:p>
            <a:pPr lvl="1"/>
            <a:r>
              <a:rPr lang="en-US" dirty="0"/>
              <a:t>extensive planning,</a:t>
            </a:r>
          </a:p>
          <a:p>
            <a:pPr lvl="1"/>
            <a:r>
              <a:rPr lang="en-US" dirty="0"/>
              <a:t>testing, </a:t>
            </a:r>
          </a:p>
          <a:p>
            <a:pPr lvl="1"/>
            <a:r>
              <a:rPr lang="en-US" dirty="0"/>
              <a:t>logging, </a:t>
            </a:r>
          </a:p>
          <a:p>
            <a:pPr lvl="1"/>
            <a:r>
              <a:rPr lang="en-US" dirty="0"/>
              <a:t>auditing, </a:t>
            </a:r>
          </a:p>
          <a:p>
            <a:pPr lvl="1"/>
            <a:r>
              <a:rPr lang="en-US" dirty="0"/>
              <a:t>monitoring</a:t>
            </a:r>
            <a:endParaRPr lang="en-GB" dirty="0"/>
          </a:p>
        </p:txBody>
      </p:sp>
    </p:spTree>
    <p:extLst>
      <p:ext uri="{BB962C8B-B14F-4D97-AF65-F5344CB8AC3E}">
        <p14:creationId xmlns:p14="http://schemas.microsoft.com/office/powerpoint/2010/main" val="4263644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Change Control/Management</a:t>
            </a:r>
          </a:p>
        </p:txBody>
      </p:sp>
      <p:sp>
        <p:nvSpPr>
          <p:cNvPr id="3" name="Text Placeholder 2"/>
          <p:cNvSpPr>
            <a:spLocks noGrp="1"/>
          </p:cNvSpPr>
          <p:nvPr>
            <p:ph type="body" idx="1"/>
          </p:nvPr>
        </p:nvSpPr>
        <p:spPr/>
        <p:txBody>
          <a:bodyPr/>
          <a:lstStyle/>
          <a:p>
            <a:r>
              <a:rPr lang="en-US" sz="2400" dirty="0"/>
              <a:t>Implement changes in a monitored and orderly manner. </a:t>
            </a:r>
          </a:p>
          <a:p>
            <a:r>
              <a:rPr lang="en-US" sz="2400" dirty="0"/>
              <a:t>A </a:t>
            </a:r>
            <a:r>
              <a:rPr lang="en-US" sz="2400" dirty="0" err="1"/>
              <a:t>formalised</a:t>
            </a:r>
            <a:r>
              <a:rPr lang="en-US" sz="2400" dirty="0"/>
              <a:t> testing process is included to verify that a change produces expected results.</a:t>
            </a:r>
          </a:p>
          <a:p>
            <a:r>
              <a:rPr lang="en-US" sz="2400" dirty="0"/>
              <a:t>All changes can be reversed (also known as </a:t>
            </a:r>
            <a:r>
              <a:rPr lang="en-US" sz="2400" dirty="0" err="1"/>
              <a:t>backout</a:t>
            </a:r>
            <a:r>
              <a:rPr lang="en-US" sz="2400" dirty="0"/>
              <a:t> or rollback plans/procedures).</a:t>
            </a:r>
          </a:p>
          <a:p>
            <a:r>
              <a:rPr lang="en-US" sz="2400" dirty="0"/>
              <a:t>Users are informed of changes before they occur to prevent loss of productivity.</a:t>
            </a:r>
          </a:p>
          <a:p>
            <a:r>
              <a:rPr lang="en-US" sz="2400" dirty="0"/>
              <a:t>The effects of changes are systematically </a:t>
            </a:r>
            <a:r>
              <a:rPr lang="en-US" sz="2400" dirty="0" err="1"/>
              <a:t>analysed</a:t>
            </a:r>
            <a:r>
              <a:rPr lang="en-US" sz="2400" dirty="0"/>
              <a:t>.</a:t>
            </a:r>
          </a:p>
          <a:p>
            <a:r>
              <a:rPr lang="en-US" sz="2400" dirty="0"/>
              <a:t>The negative impact of changes on capabilities, functionality, and performance is </a:t>
            </a:r>
            <a:r>
              <a:rPr lang="en-GB" sz="2400" dirty="0"/>
              <a:t>minimized.</a:t>
            </a:r>
          </a:p>
          <a:p>
            <a:r>
              <a:rPr lang="en-US" sz="2400" dirty="0"/>
              <a:t>Changes are reviewed and approved by a Change Approval Board (CAB).</a:t>
            </a:r>
            <a:endParaRPr lang="en-GB" sz="2400" dirty="0"/>
          </a:p>
        </p:txBody>
      </p:sp>
    </p:spTree>
    <p:extLst>
      <p:ext uri="{BB962C8B-B14F-4D97-AF65-F5344CB8AC3E}">
        <p14:creationId xmlns:p14="http://schemas.microsoft.com/office/powerpoint/2010/main" val="3313692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graphicFrame>
        <p:nvGraphicFramePr>
          <p:cNvPr id="4" name="Diagram 3"/>
          <p:cNvGraphicFramePr/>
          <p:nvPr>
            <p:extLst>
              <p:ext uri="{D42A27DB-BD31-4B8C-83A1-F6EECF244321}">
                <p14:modId xmlns:p14="http://schemas.microsoft.com/office/powerpoint/2010/main" val="565841454"/>
              </p:ext>
            </p:extLst>
          </p:nvPr>
        </p:nvGraphicFramePr>
        <p:xfrm>
          <a:off x="914400" y="1357313"/>
          <a:ext cx="10363200"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0972705"/>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TotalTime>
  <Words>1791</Words>
  <Application>Microsoft Office PowerPoint</Application>
  <PresentationFormat>Widescreen</PresentationFormat>
  <Paragraphs>222</Paragraphs>
  <Slides>33</Slides>
  <Notes>14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33</vt:i4>
      </vt:variant>
    </vt:vector>
  </HeadingPairs>
  <TitlesOfParts>
    <vt:vector size="41" baseType="lpstr">
      <vt:lpstr>Arial</vt:lpstr>
      <vt:lpstr>Calibri</vt:lpstr>
      <vt:lpstr>Courier New</vt:lpstr>
      <vt:lpstr>Georgia</vt:lpstr>
      <vt:lpstr>Tahoma</vt:lpstr>
      <vt:lpstr>Times New Roman</vt:lpstr>
      <vt:lpstr>Default Design</vt:lpstr>
      <vt:lpstr>1_Default Design</vt:lpstr>
      <vt:lpstr>Lecture 3 – Security Governance</vt:lpstr>
      <vt:lpstr>PowerPoint Presentation</vt:lpstr>
      <vt:lpstr>C-I-A Triad</vt:lpstr>
      <vt:lpstr>PowerPoint Presentation</vt:lpstr>
      <vt:lpstr>Confidentiality</vt:lpstr>
      <vt:lpstr>Confidentiality</vt:lpstr>
      <vt:lpstr>Confidentiality</vt:lpstr>
      <vt:lpstr>Confidentiality</vt:lpstr>
      <vt:lpstr>Integrity</vt:lpstr>
      <vt:lpstr>Integrity</vt:lpstr>
      <vt:lpstr>Integrity</vt:lpstr>
      <vt:lpstr>Accountability</vt:lpstr>
      <vt:lpstr>Accountability</vt:lpstr>
      <vt:lpstr>PowerPoint Presentation</vt:lpstr>
      <vt:lpstr>Nonrepudiation</vt:lpstr>
      <vt:lpstr>Nonrepudiation</vt:lpstr>
      <vt:lpstr>PowerPoint Presentation</vt:lpstr>
      <vt:lpstr>Protection Mechanisms</vt:lpstr>
      <vt:lpstr>Layering</vt:lpstr>
      <vt:lpstr>Layering</vt:lpstr>
      <vt:lpstr>Abstraction</vt:lpstr>
      <vt:lpstr>Abstraction</vt:lpstr>
      <vt:lpstr>Data Hiding</vt:lpstr>
      <vt:lpstr>Encryption</vt:lpstr>
      <vt:lpstr>Applying Security Governance Principles</vt:lpstr>
      <vt:lpstr>Applying Security Governance Principles</vt:lpstr>
      <vt:lpstr>Top down responsibility</vt:lpstr>
      <vt:lpstr>Strategic Plan</vt:lpstr>
      <vt:lpstr>Tactical plan</vt:lpstr>
      <vt:lpstr>Operational Plan</vt:lpstr>
      <vt:lpstr>Change Control/Management</vt:lpstr>
      <vt:lpstr>Change Control/Management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Governance</dc:title>
  <dc:creator>Nigel Houlden</dc:creator>
  <cp:lastModifiedBy>Nigel Houlden</cp:lastModifiedBy>
  <cp:revision>49</cp:revision>
  <dcterms:created xsi:type="dcterms:W3CDTF">2019-01-03T16:39:29Z</dcterms:created>
  <dcterms:modified xsi:type="dcterms:W3CDTF">2020-10-06T10:45:47Z</dcterms:modified>
</cp:coreProperties>
</file>