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5" r:id="rId2"/>
  </p:sldMasterIdLst>
  <p:notesMasterIdLst>
    <p:notesMasterId r:id="rId13"/>
  </p:notesMasterIdLst>
  <p:handoutMasterIdLst>
    <p:handoutMasterId r:id="rId14"/>
  </p:handoutMasterIdLst>
  <p:sldIdLst>
    <p:sldId id="288" r:id="rId3"/>
    <p:sldId id="257" r:id="rId4"/>
    <p:sldId id="294" r:id="rId5"/>
    <p:sldId id="290" r:id="rId6"/>
    <p:sldId id="291" r:id="rId7"/>
    <p:sldId id="295" r:id="rId8"/>
    <p:sldId id="289" r:id="rId9"/>
    <p:sldId id="293" r:id="rId10"/>
    <p:sldId id="292" r:id="rId11"/>
    <p:sldId id="296" r:id="rId12"/>
  </p:sldIdLst>
  <p:sldSz cx="12192000" cy="6858000"/>
  <p:notesSz cx="6781800"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78"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38780"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41451" y="0"/>
            <a:ext cx="2938780" cy="498056"/>
          </a:xfrm>
          <a:prstGeom prst="rect">
            <a:avLst/>
          </a:prstGeom>
        </p:spPr>
        <p:txBody>
          <a:bodyPr vert="horz" lIns="91440" tIns="45720" rIns="91440" bIns="45720" rtlCol="0"/>
          <a:lstStyle>
            <a:lvl1pPr algn="r">
              <a:defRPr sz="1200"/>
            </a:lvl1pPr>
          </a:lstStyle>
          <a:p>
            <a:fld id="{4AEC9D74-FF18-450B-A448-A8C0D875B73D}" type="datetimeFigureOut">
              <a:rPr lang="en-GB" smtClean="0"/>
              <a:t>06/10/2020</a:t>
            </a:fld>
            <a:endParaRPr lang="en-GB"/>
          </a:p>
        </p:txBody>
      </p:sp>
      <p:sp>
        <p:nvSpPr>
          <p:cNvPr id="4" name="Footer Placeholder 3"/>
          <p:cNvSpPr>
            <a:spLocks noGrp="1"/>
          </p:cNvSpPr>
          <p:nvPr>
            <p:ph type="ftr" sz="quarter" idx="2"/>
          </p:nvPr>
        </p:nvSpPr>
        <p:spPr>
          <a:xfrm>
            <a:off x="0" y="9428584"/>
            <a:ext cx="2938780"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41451" y="9428584"/>
            <a:ext cx="2938780" cy="498055"/>
          </a:xfrm>
          <a:prstGeom prst="rect">
            <a:avLst/>
          </a:prstGeom>
        </p:spPr>
        <p:txBody>
          <a:bodyPr vert="horz" lIns="91440" tIns="45720" rIns="91440" bIns="45720" rtlCol="0" anchor="b"/>
          <a:lstStyle>
            <a:lvl1pPr algn="r">
              <a:defRPr sz="1200"/>
            </a:lvl1pPr>
          </a:lstStyle>
          <a:p>
            <a:fld id="{7A482941-1032-4CA8-AB6C-1111F3E67E6B}" type="slidenum">
              <a:rPr lang="en-GB" smtClean="0"/>
              <a:t>‹#›</a:t>
            </a:fld>
            <a:endParaRPr lang="en-GB"/>
          </a:p>
        </p:txBody>
      </p:sp>
    </p:spTree>
    <p:extLst>
      <p:ext uri="{BB962C8B-B14F-4D97-AF65-F5344CB8AC3E}">
        <p14:creationId xmlns:p14="http://schemas.microsoft.com/office/powerpoint/2010/main" val="3243756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38780"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1451" y="0"/>
            <a:ext cx="2938780" cy="498056"/>
          </a:xfrm>
          <a:prstGeom prst="rect">
            <a:avLst/>
          </a:prstGeom>
        </p:spPr>
        <p:txBody>
          <a:bodyPr vert="horz" lIns="91440" tIns="45720" rIns="91440" bIns="45720" rtlCol="0"/>
          <a:lstStyle>
            <a:lvl1pPr algn="r">
              <a:defRPr sz="1200"/>
            </a:lvl1pPr>
          </a:lstStyle>
          <a:p>
            <a:fld id="{896060A3-FB1B-4612-AEDE-6ADD6DDA353C}" type="datetimeFigureOut">
              <a:rPr lang="en-GB" smtClean="0"/>
              <a:t>06/10/2020</a:t>
            </a:fld>
            <a:endParaRPr lang="en-GB"/>
          </a:p>
        </p:txBody>
      </p:sp>
      <p:sp>
        <p:nvSpPr>
          <p:cNvPr id="4" name="Slide Image Placeholder 3"/>
          <p:cNvSpPr>
            <a:spLocks noGrp="1" noRot="1" noChangeAspect="1"/>
          </p:cNvSpPr>
          <p:nvPr>
            <p:ph type="sldImg" idx="2"/>
          </p:nvPr>
        </p:nvSpPr>
        <p:spPr>
          <a:xfrm>
            <a:off x="414338"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8180" y="4777194"/>
            <a:ext cx="54254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38780"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1451" y="9428584"/>
            <a:ext cx="2938780" cy="498055"/>
          </a:xfrm>
          <a:prstGeom prst="rect">
            <a:avLst/>
          </a:prstGeom>
        </p:spPr>
        <p:txBody>
          <a:bodyPr vert="horz" lIns="91440" tIns="45720" rIns="91440" bIns="45720" rtlCol="0" anchor="b"/>
          <a:lstStyle>
            <a:lvl1pPr algn="r">
              <a:defRPr sz="1200"/>
            </a:lvl1pPr>
          </a:lstStyle>
          <a:p>
            <a:fld id="{5C205C81-F1E5-4552-890E-CDE7C0395774}" type="slidenum">
              <a:rPr lang="en-GB" smtClean="0"/>
              <a:t>‹#›</a:t>
            </a:fld>
            <a:endParaRPr lang="en-GB"/>
          </a:p>
        </p:txBody>
      </p:sp>
    </p:spTree>
    <p:extLst>
      <p:ext uri="{BB962C8B-B14F-4D97-AF65-F5344CB8AC3E}">
        <p14:creationId xmlns:p14="http://schemas.microsoft.com/office/powerpoint/2010/main" val="270228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0" fontAlgn="base" hangingPunct="0">
              <a:spcBef>
                <a:spcPct val="0"/>
              </a:spcBef>
              <a:spcAft>
                <a:spcPct val="0"/>
              </a:spcAft>
              <a:defRPr/>
            </a:pPr>
            <a:fld id="{71E9B611-79A5-4063-8624-6013F60C0F92}" type="slidenum">
              <a:rPr lang="en-GB" altLang="en-US" sz="1200" smtClean="0">
                <a:solidFill>
                  <a:srgbClr val="000000"/>
                </a:solidFill>
                <a:latin typeface="Times New Roman" panose="02020603050405020304" pitchFamily="18" charset="0"/>
              </a:rPr>
              <a:pPr eaLnBrk="0" fontAlgn="base" hangingPunct="0">
                <a:spcBef>
                  <a:spcPct val="0"/>
                </a:spcBef>
                <a:spcAft>
                  <a:spcPct val="0"/>
                </a:spcAft>
                <a:defRPr/>
              </a:pPr>
              <a:t>1</a:t>
            </a:fld>
            <a:endParaRPr lang="en-GB" altLang="en-US" sz="12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761284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4CA7DEB1-D7C8-3B49-8A71-75AFCE089D88}" type="slidenum">
              <a:rPr kumimoji="0"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19475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028943514"/>
      </p:ext>
    </p:extLst>
  </p:cSld>
  <p:clrMapOvr>
    <a:masterClrMapping/>
  </p:clrMapOvr>
  <p:transition advTm="5000">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c</a:t>
            </a:r>
            <a:r>
              <a:rPr kumimoji="0" lang="en-GB" sz="4000" b="0" i="0" u="none" strike="noStrike" kern="1200" cap="none" spc="0" normalizeH="0" baseline="0" noProof="0">
                <a:ln>
                  <a:noFill/>
                </a:ln>
                <a:solidFill>
                  <a:srgbClr val="FFFFFF"/>
                </a:solidFill>
                <a:effectLst/>
                <a:uLnTx/>
                <a:uFillTx/>
                <a:latin typeface="Georgia" pitchFamily="18" charset="0"/>
                <a:ea typeface="+mn-ea"/>
                <a:cs typeface="+mn-cs"/>
              </a:rPr>
              <a:t>@</a:t>
            </a:r>
            <a:r>
              <a:rPr kumimoji="0" lang="en-GB" sz="6000" b="0" i="0" u="none" strike="noStrike" kern="1200" cap="none" spc="0" normalizeH="0" baseline="0" noProof="0">
                <a:ln>
                  <a:noFill/>
                </a:ln>
                <a:solidFill>
                  <a:srgbClr val="FFFFFF"/>
                </a:solidFill>
                <a:effectLst/>
                <a:uLnTx/>
                <a:uFillTx/>
                <a:latin typeface="Georgia" pitchFamily="18" charset="0"/>
                <a:ea typeface="+mn-ea"/>
                <a:cs typeface="+mn-cs"/>
              </a:rPr>
              <a:t>g</a:t>
            </a: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935744653"/>
      </p:ext>
    </p:extLst>
  </p:cSld>
  <p:clrMapOvr>
    <a:masterClrMapping/>
  </p:clrMapOvr>
  <p:transition advTm="500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143115272"/>
      </p:ext>
    </p:extLst>
  </p:cSld>
  <p:clrMapOvr>
    <a:masterClrMapping/>
  </p:clrMapOvr>
  <p:transition advTm="5000">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244475998"/>
      </p:ext>
    </p:extLst>
  </p:cSld>
  <p:clrMapOvr>
    <a:masterClrMapping/>
  </p:clrMapOvr>
  <p:transition advTm="5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044001944"/>
      </p:ext>
    </p:extLst>
  </p:cSld>
  <p:clrMapOvr>
    <a:masterClrMapping/>
  </p:clrMapOvr>
  <p:transition advTm="5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920327284"/>
      </p:ext>
    </p:extLst>
  </p:cSld>
  <p:clrMapOvr>
    <a:masterClrMapping/>
  </p:clrMapOvr>
  <p:transition advTm="5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98963496"/>
      </p:ext>
    </p:extLst>
  </p:cSld>
  <p:clrMapOvr>
    <a:masterClrMapping/>
  </p:clrMapOvr>
  <p:transition advTm="5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2262178046"/>
      </p:ext>
    </p:extLst>
  </p:cSld>
  <p:clrMapOvr>
    <a:masterClrMapping/>
  </p:clrMapOvr>
  <p:transition advTm="5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991747359"/>
      </p:ext>
    </p:extLst>
  </p:cSld>
  <p:clrMapOvr>
    <a:masterClrMapping/>
  </p:clrMapOvr>
  <p:transition advTm="5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4170859964"/>
      </p:ext>
    </p:extLst>
  </p:cSld>
  <p:clrMapOvr>
    <a:masterClrMapping/>
  </p:clrMapOvr>
  <p:transition advTm="5000">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631713520"/>
      </p:ext>
    </p:extLst>
  </p:cSld>
  <p:clrMapOvr>
    <a:masterClrMapping/>
  </p:clrMapOvr>
  <p:transition advTm="5000">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1469212226"/>
      </p:ext>
    </p:extLst>
  </p:cSld>
  <p:clrMapOvr>
    <a:masterClrMapping/>
  </p:clrMapOvr>
  <p:transition advTm="5000">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Tree>
    <p:extLst>
      <p:ext uri="{BB962C8B-B14F-4D97-AF65-F5344CB8AC3E}">
        <p14:creationId xmlns:p14="http://schemas.microsoft.com/office/powerpoint/2010/main" val="3311496306"/>
      </p:ext>
    </p:extLst>
  </p:cSld>
  <p:clrMapOvr>
    <a:masterClrMapping/>
  </p:clrMapOvr>
  <p:transition advTm="5000">
    <p:dissolv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344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6EEE6291-FC66-4C7E-B805-791E609FC7B6}"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916884234"/>
      </p:ext>
    </p:extLst>
  </p:cSld>
  <p:clrMapOvr>
    <a:masterClrMapping/>
  </p:clrMapOvr>
  <p:transition advTm="5000">
    <p:dissolv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143934" y="5732463"/>
            <a:ext cx="140134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0" fontAlgn="base" hangingPunct="0">
              <a:spcBef>
                <a:spcPct val="0"/>
              </a:spcBef>
              <a:spcAft>
                <a:spcPct val="0"/>
              </a:spcAft>
              <a:defRPr/>
            </a:pPr>
            <a:r>
              <a:rPr lang="en-GB" sz="6000">
                <a:solidFill>
                  <a:srgbClr val="FFFFFF"/>
                </a:solidFill>
                <a:latin typeface="Georgia" pitchFamily="18" charset="0"/>
              </a:rPr>
              <a:t>c</a:t>
            </a:r>
            <a:r>
              <a:rPr lang="en-GB" sz="4000">
                <a:solidFill>
                  <a:srgbClr val="FFFFFF"/>
                </a:solidFill>
                <a:latin typeface="Georgia" pitchFamily="18" charset="0"/>
              </a:rPr>
              <a:t>@</a:t>
            </a:r>
            <a:r>
              <a:rPr lang="en-GB" sz="6000">
                <a:solidFill>
                  <a:srgbClr val="FFFFFF"/>
                </a:solidFill>
                <a:latin typeface="Georgia" pitchFamily="18" charset="0"/>
              </a:rPr>
              <a:t>g</a:t>
            </a: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p:txBody>
          <a:bodyPr/>
          <a:lstStyle>
            <a:lvl1pPr>
              <a:defRPr/>
            </a:lvl1pPr>
          </a:lstStyle>
          <a:p>
            <a:pPr eaLnBrk="0" fontAlgn="base" hangingPunct="0">
              <a:spcBef>
                <a:spcPct val="0"/>
              </a:spcBef>
              <a:spcAft>
                <a:spcPct val="0"/>
              </a:spcAft>
              <a:defRPr/>
            </a:pPr>
            <a:fld id="{1FCC69CA-3F23-44CA-945B-0FA4477283F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659924111"/>
      </p:ext>
    </p:extLst>
  </p:cSld>
  <p:clrMapOvr>
    <a:masterClrMapping/>
  </p:clrMapOvr>
  <p:transition advTm="5000">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91377758-8C37-4DF1-97AB-37A77D625D27}"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238357982"/>
      </p:ext>
    </p:extLst>
  </p:cSld>
  <p:clrMapOvr>
    <a:masterClrMapping/>
  </p:clrMapOvr>
  <p:transition advTm="5000">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AFDF3D6-0B4F-41BB-A2E9-5EE288C12E7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4190542607"/>
      </p:ext>
    </p:extLst>
  </p:cSld>
  <p:clrMapOvr>
    <a:masterClrMapping/>
  </p:clrMapOvr>
  <p:transition advTm="5000">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B4005AFC-2604-42A5-BE75-ACBC63D550FA}"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709871249"/>
      </p:ext>
    </p:extLst>
  </p:cSld>
  <p:clrMapOvr>
    <a:masterClrMapping/>
  </p:clrMapOvr>
  <p:transition advTm="5000">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C1E6357F-E285-4B03-9226-48D613FBC574}"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999184440"/>
      </p:ext>
    </p:extLst>
  </p:cSld>
  <p:clrMapOvr>
    <a:masterClrMapping/>
  </p:clrMapOvr>
  <p:transition advTm="5000">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3C15E10C-CC7A-417A-A2EE-23A0EFFC8E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1612773846"/>
      </p:ext>
    </p:extLst>
  </p:cSld>
  <p:clrMapOvr>
    <a:masterClrMapping/>
  </p:clrMapOvr>
  <p:transition advTm="5000">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509E4A2D-E46C-4766-8C2E-027EBC5B508C}"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99692917"/>
      </p:ext>
    </p:extLst>
  </p:cSld>
  <p:clrMapOvr>
    <a:masterClrMapping/>
  </p:clrMapOvr>
  <p:transition advTm="5000">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137E9A74-7737-4008-93AE-82F7F5FA4879}"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2402760874"/>
      </p:ext>
    </p:extLst>
  </p:cSld>
  <p:clrMapOvr>
    <a:masterClrMapping/>
  </p:clrMapOvr>
  <p:transition advTm="5000">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8B50079-DBA3-4EC3-9B8C-5C8B3B58FB4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657090057"/>
      </p:ext>
    </p:extLst>
  </p:cSld>
  <p:clrMapOvr>
    <a:masterClrMapping/>
  </p:clrMapOvr>
  <p:transition advTm="5000">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245E8AE7-88A0-4549-A1EA-61CBAAEBA1F3}"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83088469"/>
      </p:ext>
    </p:extLst>
  </p:cSld>
  <p:clrMapOvr>
    <a:masterClrMapping/>
  </p:clrMapOvr>
  <p:transition advTm="5000">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A3B7A2F1-7C63-4914-A25E-31B95FAF134D}"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3861689248"/>
      </p:ext>
    </p:extLst>
  </p:cSld>
  <p:clrMapOvr>
    <a:masterClrMapping/>
  </p:clrMapOvr>
  <p:transition advTm="5000">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1143000"/>
          </a:xfrm>
        </p:spPr>
        <p:txBody>
          <a:bodyPr/>
          <a:lstStyle/>
          <a:p>
            <a:r>
              <a:rPr lang="en-US"/>
              <a:t>Click to edit Master title style</a:t>
            </a:r>
            <a:endParaRPr lang="en-GB"/>
          </a:p>
        </p:txBody>
      </p:sp>
      <p:sp>
        <p:nvSpPr>
          <p:cNvPr id="3" name="Table Placeholder 2"/>
          <p:cNvSpPr>
            <a:spLocks noGrp="1"/>
          </p:cNvSpPr>
          <p:nvPr>
            <p:ph type="tbl" idx="1"/>
          </p:nvPr>
        </p:nvSpPr>
        <p:spPr>
          <a:xfrm>
            <a:off x="914400" y="1357313"/>
            <a:ext cx="10363200" cy="4114800"/>
          </a:xfrm>
        </p:spPr>
        <p:txBody>
          <a:bodyPr/>
          <a:lstStyle/>
          <a:p>
            <a:pPr lvl="0"/>
            <a:endParaRPr lang="en-GB" noProof="0"/>
          </a:p>
        </p:txBody>
      </p:sp>
      <p:sp>
        <p:nvSpPr>
          <p:cNvPr id="4" name="Rectangle 4"/>
          <p:cNvSpPr>
            <a:spLocks noGrp="1" noChangeArrowheads="1"/>
          </p:cNvSpPr>
          <p:nvPr>
            <p:ph type="dt" sz="half" idx="10"/>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eaLnBrk="0" fontAlgn="base" hangingPunct="0">
              <a:spcBef>
                <a:spcPct val="0"/>
              </a:spcBef>
              <a:spcAft>
                <a:spcPct val="0"/>
              </a:spcAft>
              <a:defRPr/>
            </a:pPr>
            <a:endParaRPr lang="en-GB">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eaLnBrk="0" fontAlgn="base" hangingPunct="0">
              <a:spcBef>
                <a:spcPct val="0"/>
              </a:spcBef>
              <a:spcAft>
                <a:spcPct val="0"/>
              </a:spcAft>
              <a:defRPr/>
            </a:pPr>
            <a:fld id="{758EA372-0C85-4E5C-A78F-2E1B1B18CAB2}"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spTree>
    <p:extLst>
      <p:ext uri="{BB962C8B-B14F-4D97-AF65-F5344CB8AC3E}">
        <p14:creationId xmlns:p14="http://schemas.microsoft.com/office/powerpoint/2010/main" val="869910835"/>
      </p:ext>
    </p:extLst>
  </p:cSld>
  <p:clrMapOvr>
    <a:masterClrMapping/>
  </p:clrMapOvr>
  <p:transition advTm="5000">
    <p:dissolv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eaLnBrk="0" fontAlgn="base" hangingPunct="0">
              <a:spcBef>
                <a:spcPct val="0"/>
              </a:spcBef>
              <a:spcAft>
                <a:spcPct val="0"/>
              </a:spcAft>
            </a:pPr>
            <a:fld id="{17DD356B-E5CD-44F2-850A-F898D624950E}" type="datetime1">
              <a:rPr lang="en-US" smtClean="0">
                <a:solidFill>
                  <a:srgbClr val="000000"/>
                </a:solidFill>
                <a:latin typeface="Arial"/>
              </a:rPr>
              <a:pPr eaLnBrk="0" fontAlgn="base" hangingPunct="0">
                <a:spcBef>
                  <a:spcPct val="0"/>
                </a:spcBef>
                <a:spcAft>
                  <a:spcPct val="0"/>
                </a:spcAft>
              </a:pPr>
              <a:t>10/6/2020</a:t>
            </a:fld>
            <a:endParaRPr lang="en-US">
              <a:solidFill>
                <a:srgbClr val="000000"/>
              </a:solidFill>
              <a:latin typeface="Arial"/>
            </a:endParaRP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pPr>
            <a:r>
              <a:rPr lang="en-US">
                <a:solidFill>
                  <a:srgbClr val="000000"/>
                </a:solidFill>
                <a:latin typeface="Arial"/>
              </a:rPr>
              <a:t>From Security in Computing, Fifth Edition, by Charles P. Pfleeger, et al. (ISBN: 9780134085043). Copyright 2015 by Pearson Education, Inc. All rights reserved.</a:t>
            </a:r>
            <a:endParaRPr lang="en-US" dirty="0">
              <a:solidFill>
                <a:srgbClr val="000000"/>
              </a:solidFill>
              <a:latin typeface="Arial"/>
            </a:endParaRPr>
          </a:p>
        </p:txBody>
      </p:sp>
      <p:sp>
        <p:nvSpPr>
          <p:cNvPr id="6" name="Slide Number Placeholder 5"/>
          <p:cNvSpPr>
            <a:spLocks noGrp="1"/>
          </p:cNvSpPr>
          <p:nvPr>
            <p:ph type="sldNum" sz="quarter" idx="12"/>
          </p:nvPr>
        </p:nvSpPr>
        <p:spPr/>
        <p:txBody>
          <a:bodyPr/>
          <a:lstStyle/>
          <a:p>
            <a:pPr eaLnBrk="0" fontAlgn="base" hangingPunct="0">
              <a:spcBef>
                <a:spcPct val="0"/>
              </a:spcBef>
              <a:spcAft>
                <a:spcPct val="0"/>
              </a:spcAft>
            </a:pPr>
            <a:fld id="{FD01F0F2-74A4-EF40-82B3-DFFDF0BA3880}" type="slidenum">
              <a:rPr lang="en-US" smtClean="0">
                <a:solidFill>
                  <a:srgbClr val="000000"/>
                </a:solidFill>
                <a:latin typeface="Arial"/>
              </a:rPr>
              <a:pPr eaLnBrk="0" fontAlgn="base" hangingPunct="0">
                <a:spcBef>
                  <a:spcPct val="0"/>
                </a:spcBef>
                <a:spcAft>
                  <a:spcPct val="0"/>
                </a:spcAft>
              </a:pPr>
              <a:t>‹#›</a:t>
            </a:fld>
            <a:endParaRPr lang="en-US">
              <a:solidFill>
                <a:srgbClr val="000000"/>
              </a:solidFill>
              <a:latin typeface="Arial"/>
            </a:endParaRPr>
          </a:p>
        </p:txBody>
      </p:sp>
    </p:spTree>
    <p:extLst>
      <p:ext uri="{BB962C8B-B14F-4D97-AF65-F5344CB8AC3E}">
        <p14:creationId xmlns:p14="http://schemas.microsoft.com/office/powerpoint/2010/main" val="1543204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1.jpe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98058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advTm="5000">
    <p:dissolv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42875"/>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914400" y="1357313"/>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eaLnBrk="0" fontAlgn="base" hangingPunct="0">
              <a:spcBef>
                <a:spcPct val="0"/>
              </a:spcBef>
              <a:spcAft>
                <a:spcPct val="0"/>
              </a:spcAft>
              <a:defRPr/>
            </a:pPr>
            <a:endParaRPr lang="en-GB">
              <a:solidFill>
                <a:srgbClr val="000000"/>
              </a:solidFill>
            </a:endParaRPr>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pPr eaLnBrk="0" fontAlgn="base" hangingPunct="0">
              <a:spcBef>
                <a:spcPct val="0"/>
              </a:spcBef>
              <a:spcAft>
                <a:spcPct val="0"/>
              </a:spcAft>
              <a:defRPr/>
            </a:pPr>
            <a:fld id="{74D1ED90-0827-4CB6-B597-69384EBF957E}" type="slidenum">
              <a:rPr lang="en-GB" altLang="en-US" smtClean="0">
                <a:solidFill>
                  <a:srgbClr val="000000"/>
                </a:solidFill>
              </a:rPr>
              <a:pPr eaLnBrk="0" fontAlgn="base" hangingPunct="0">
                <a:spcBef>
                  <a:spcPct val="0"/>
                </a:spcBef>
                <a:spcAft>
                  <a:spcPct val="0"/>
                </a:spcAft>
                <a:defRPr/>
              </a:pPr>
              <a:t>‹#›</a:t>
            </a:fld>
            <a:endParaRPr lang="en-GB" altLang="en-US">
              <a:solidFill>
                <a:srgbClr val="000000"/>
              </a:solidFill>
            </a:endParaRPr>
          </a:p>
        </p:txBody>
      </p:sp>
      <p:pic>
        <p:nvPicPr>
          <p:cNvPr id="1031" name="Picture 65" descr="Glyndwr PPT-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2117" y="4868864"/>
            <a:ext cx="12194117" cy="198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391270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ransition advTm="5000">
    <p:dissolve/>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631950" y="869950"/>
            <a:ext cx="8928100" cy="1728788"/>
          </a:xfrm>
        </p:spPr>
        <p:txBody>
          <a:bodyPr/>
          <a:lstStyle/>
          <a:p>
            <a:pPr algn="r"/>
            <a:r>
              <a:rPr lang="en-GB" altLang="en-US" sz="5400" dirty="0">
                <a:latin typeface="Georgia" panose="02040502050405020303" pitchFamily="18" charset="0"/>
              </a:rPr>
              <a:t>Debate</a:t>
            </a:r>
          </a:p>
        </p:txBody>
      </p:sp>
      <p:sp>
        <p:nvSpPr>
          <p:cNvPr id="2" name="TextBox 3">
            <a:extLst>
              <a:ext uri="{FF2B5EF4-FFF2-40B4-BE49-F238E27FC236}">
                <a16:creationId xmlns:a16="http://schemas.microsoft.com/office/drawing/2014/main" id="{2ECFF62F-32D6-4508-857D-B7B0E9F1EFE6}"/>
              </a:ext>
            </a:extLst>
          </p:cNvPr>
          <p:cNvSpPr txBox="1">
            <a:spLocks noChangeArrowheads="1"/>
          </p:cNvSpPr>
          <p:nvPr/>
        </p:nvSpPr>
        <p:spPr bwMode="auto">
          <a:xfrm>
            <a:off x="1212900" y="3128392"/>
            <a:ext cx="6696075" cy="1627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0" fontAlgn="base" hangingPunct="0">
              <a:spcBef>
                <a:spcPct val="0"/>
              </a:spcBef>
              <a:spcAft>
                <a:spcPct val="0"/>
              </a:spcAft>
              <a:buFontTx/>
              <a:buNone/>
            </a:pPr>
            <a:r>
              <a:rPr lang="en-GB" altLang="en-US" sz="1425" dirty="0">
                <a:solidFill>
                  <a:srgbClr val="000000"/>
                </a:solidFill>
                <a:latin typeface="Georgia" panose="02040502050405020303" pitchFamily="18" charset="0"/>
              </a:rPr>
              <a:t>COM744: Security and Risk Management</a:t>
            </a:r>
          </a:p>
          <a:p>
            <a:pPr eaLnBrk="0" fontAlgn="base" hangingPunct="0">
              <a:spcBef>
                <a:spcPct val="0"/>
              </a:spcBef>
              <a:spcAft>
                <a:spcPct val="0"/>
              </a:spcAft>
              <a:buFontTx/>
              <a:buNone/>
            </a:pPr>
            <a:r>
              <a:rPr lang="en-GB" altLang="en-US" sz="1425" dirty="0">
                <a:solidFill>
                  <a:srgbClr val="000000"/>
                </a:solidFill>
                <a:latin typeface="Georgia" panose="02040502050405020303" pitchFamily="18" charset="0"/>
              </a:rPr>
              <a:t>Nigel Houlden / Jason Davies</a:t>
            </a:r>
          </a:p>
          <a:p>
            <a:pPr eaLnBrk="0" fontAlgn="base" hangingPunct="0">
              <a:spcBef>
                <a:spcPct val="0"/>
              </a:spcBef>
              <a:spcAft>
                <a:spcPct val="0"/>
              </a:spcAft>
              <a:buFontTx/>
              <a:buNone/>
            </a:pPr>
            <a:endParaRPr lang="en-GB" altLang="en-US" sz="9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5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500" dirty="0">
              <a:solidFill>
                <a:srgbClr val="000000"/>
              </a:solidFill>
              <a:latin typeface="Georgia" panose="02040502050405020303" pitchFamily="18" charset="0"/>
            </a:endParaRPr>
          </a:p>
          <a:p>
            <a:pPr eaLnBrk="0" fontAlgn="base" hangingPunct="0">
              <a:spcBef>
                <a:spcPct val="0"/>
              </a:spcBef>
              <a:spcAft>
                <a:spcPct val="0"/>
              </a:spcAft>
              <a:buFontTx/>
              <a:buNone/>
            </a:pPr>
            <a:endParaRPr lang="en-GB" altLang="en-US" sz="135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endParaRPr lang="en-GB" altLang="en-US" sz="600" dirty="0">
              <a:solidFill>
                <a:srgbClr val="000000"/>
              </a:solidFill>
              <a:latin typeface="Courier New" panose="02070309020205020404" pitchFamily="49" charset="0"/>
              <a:cs typeface="Courier New" panose="02070309020205020404" pitchFamily="49" charset="0"/>
            </a:endParaRPr>
          </a:p>
          <a:p>
            <a:pPr eaLnBrk="0" fontAlgn="base" hangingPunct="0">
              <a:spcBef>
                <a:spcPct val="0"/>
              </a:spcBef>
              <a:spcAft>
                <a:spcPct val="0"/>
              </a:spcAft>
              <a:buFontTx/>
              <a:buNone/>
            </a:pPr>
            <a:r>
              <a:rPr lang="en-GB" altLang="en-US" sz="1275" dirty="0">
                <a:solidFill>
                  <a:srgbClr val="000000"/>
                </a:solidFill>
                <a:latin typeface="Courier New" panose="02070309020205020404" pitchFamily="49" charset="0"/>
                <a:cs typeface="Courier New" panose="02070309020205020404" pitchFamily="49" charset="0"/>
              </a:rPr>
              <a:t>n.houlden@glyndwr.ac.uk / Jason.Davies@glyndwr.ac.uk</a:t>
            </a:r>
          </a:p>
        </p:txBody>
      </p:sp>
    </p:spTree>
    <p:extLst>
      <p:ext uri="{BB962C8B-B14F-4D97-AF65-F5344CB8AC3E}">
        <p14:creationId xmlns:p14="http://schemas.microsoft.com/office/powerpoint/2010/main" val="309634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657225"/>
          </a:xfrm>
        </p:spPr>
        <p:txBody>
          <a:bodyPr/>
          <a:lstStyle/>
          <a:p>
            <a:r>
              <a:rPr lang="en-US" sz="3600" dirty="0">
                <a:latin typeface="Georgia" panose="02040502050405020303" pitchFamily="18" charset="0"/>
              </a:rPr>
              <a:t>Assignment 1: Task 1</a:t>
            </a:r>
          </a:p>
        </p:txBody>
      </p:sp>
      <p:sp>
        <p:nvSpPr>
          <p:cNvPr id="3" name="Text Placeholder 2"/>
          <p:cNvSpPr>
            <a:spLocks noGrp="1"/>
          </p:cNvSpPr>
          <p:nvPr>
            <p:ph type="body" idx="1"/>
          </p:nvPr>
        </p:nvSpPr>
        <p:spPr>
          <a:xfrm>
            <a:off x="914400" y="800100"/>
            <a:ext cx="10363200" cy="4898335"/>
          </a:xfrm>
        </p:spPr>
        <p:txBody>
          <a:bodyPr/>
          <a:lstStyle/>
          <a:p>
            <a:r>
              <a:rPr lang="en-GB" sz="2000" dirty="0"/>
              <a:t>The purpose of the assignment is for you to conduct an in-depth investigation into information security, security risks, security control, and the application of risk control and risk measures etc. From your research, you will produce a Case Study that includes any relevant recommendations of your findings as to how you see the cyber security threats and risk landscape evolving over the next few years. (</a:t>
            </a:r>
            <a:r>
              <a:rPr lang="en-GB" sz="2000" b="1" dirty="0"/>
              <a:t>4,000</a:t>
            </a:r>
            <a:r>
              <a:rPr lang="en-GB" sz="2000" dirty="0"/>
              <a:t> words).</a:t>
            </a:r>
          </a:p>
          <a:p>
            <a:pPr marL="0" indent="0">
              <a:buNone/>
            </a:pPr>
            <a:endParaRPr lang="en-GB" sz="2000" dirty="0"/>
          </a:p>
          <a:p>
            <a:r>
              <a:rPr lang="en-GB" sz="2000" dirty="0"/>
              <a:t>This case study allows you the opportunity to explore key concepts and theories relating to security and risk management whilst developing an appreciation of ‘real-life’ issues and situations</a:t>
            </a:r>
            <a:r>
              <a:rPr lang="en-GB" sz="2000" b="1" dirty="0"/>
              <a:t>.  </a:t>
            </a:r>
            <a:r>
              <a:rPr lang="en-GB" sz="2000" dirty="0"/>
              <a:t>You might compare, contrast, and evaluate the Internet Security Threat Report (ISTR), Volume 24, February 2019, and the ISTR, Volume 22, April 2017 to inform your case study as well as any current supporting information that you might find during your research.  You are free to speculate and offer your own opinions but there must be </a:t>
            </a:r>
            <a:r>
              <a:rPr lang="en-GB" sz="2000" i="1" dirty="0"/>
              <a:t>some</a:t>
            </a:r>
            <a:r>
              <a:rPr lang="en-GB" sz="2000" dirty="0"/>
              <a:t> reasonable grounding or justification to support them.  The case study should also discuss any relevant legal, ethical, and professional issues in security and risk management.</a:t>
            </a:r>
          </a:p>
        </p:txBody>
      </p:sp>
    </p:spTree>
    <p:extLst>
      <p:ext uri="{BB962C8B-B14F-4D97-AF65-F5344CB8AC3E}">
        <p14:creationId xmlns:p14="http://schemas.microsoft.com/office/powerpoint/2010/main" val="354644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654984"/>
          </a:xfrm>
        </p:spPr>
        <p:txBody>
          <a:bodyPr/>
          <a:lstStyle/>
          <a:p>
            <a:r>
              <a:rPr lang="en-GB" sz="3600" dirty="0"/>
              <a:t>Debate </a:t>
            </a:r>
          </a:p>
        </p:txBody>
      </p:sp>
      <p:sp>
        <p:nvSpPr>
          <p:cNvPr id="3" name="Text Placeholder 2"/>
          <p:cNvSpPr>
            <a:spLocks noGrp="1"/>
          </p:cNvSpPr>
          <p:nvPr>
            <p:ph type="body" idx="1"/>
          </p:nvPr>
        </p:nvSpPr>
        <p:spPr/>
        <p:txBody>
          <a:bodyPr/>
          <a:lstStyle/>
          <a:p>
            <a:r>
              <a:rPr lang="en-GB" dirty="0"/>
              <a:t>With security challenges emerging on multiple fronts – are cybersecurity measures evolving fast enough for the future?</a:t>
            </a:r>
          </a:p>
          <a:p>
            <a:endParaRPr lang="en-GB" dirty="0"/>
          </a:p>
          <a:p>
            <a:r>
              <a:rPr lang="en-GB" dirty="0"/>
              <a:t>Will AI be the answer to all our problems?</a:t>
            </a:r>
          </a:p>
          <a:p>
            <a:endParaRPr lang="en-GB" dirty="0"/>
          </a:p>
        </p:txBody>
      </p:sp>
    </p:spTree>
    <p:extLst>
      <p:ext uri="{BB962C8B-B14F-4D97-AF65-F5344CB8AC3E}">
        <p14:creationId xmlns:p14="http://schemas.microsoft.com/office/powerpoint/2010/main" val="596765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561975"/>
          </a:xfrm>
        </p:spPr>
        <p:txBody>
          <a:bodyPr/>
          <a:lstStyle/>
          <a:p>
            <a:r>
              <a:rPr lang="en-GB" dirty="0"/>
              <a:t>Threats </a:t>
            </a:r>
          </a:p>
        </p:txBody>
      </p:sp>
      <p:sp>
        <p:nvSpPr>
          <p:cNvPr id="3" name="Text Placeholder 2"/>
          <p:cNvSpPr>
            <a:spLocks noGrp="1"/>
          </p:cNvSpPr>
          <p:nvPr>
            <p:ph type="body" idx="1"/>
          </p:nvPr>
        </p:nvSpPr>
        <p:spPr/>
        <p:txBody>
          <a:bodyPr/>
          <a:lstStyle/>
          <a:p>
            <a:pPr marL="0" indent="0">
              <a:buNone/>
            </a:pPr>
            <a:r>
              <a:rPr lang="en-GB" dirty="0"/>
              <a:t>2017 Report</a:t>
            </a:r>
          </a:p>
          <a:p>
            <a:pPr marL="0" indent="0">
              <a:buNone/>
            </a:pPr>
            <a:r>
              <a:rPr lang="en-GB" dirty="0"/>
              <a:t>State sponsored groups – American electoral process</a:t>
            </a:r>
          </a:p>
          <a:p>
            <a:r>
              <a:rPr lang="en-GB" dirty="0"/>
              <a:t>Biggest distributed denial of service (DDoS) attacks on record powered by a botnet of </a:t>
            </a:r>
            <a:r>
              <a:rPr lang="en-GB" dirty="0" err="1"/>
              <a:t>IoT</a:t>
            </a:r>
            <a:r>
              <a:rPr lang="en-GB" dirty="0"/>
              <a:t> devices.</a:t>
            </a:r>
          </a:p>
          <a:p>
            <a:r>
              <a:rPr lang="en-GB" dirty="0"/>
              <a:t>Attackers used simple tools and tactics to make a big impact</a:t>
            </a:r>
          </a:p>
          <a:p>
            <a:pPr lvl="1"/>
            <a:r>
              <a:rPr lang="en-GB" dirty="0"/>
              <a:t>Spear-phishing emails</a:t>
            </a:r>
          </a:p>
          <a:p>
            <a:pPr lvl="1"/>
            <a:r>
              <a:rPr lang="en-GB" dirty="0"/>
              <a:t>Living off the land ( operating system features, legitimate network admin software</a:t>
            </a:r>
          </a:p>
        </p:txBody>
      </p:sp>
    </p:spTree>
    <p:extLst>
      <p:ext uri="{BB962C8B-B14F-4D97-AF65-F5344CB8AC3E}">
        <p14:creationId xmlns:p14="http://schemas.microsoft.com/office/powerpoint/2010/main" val="73546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4946"/>
            <a:ext cx="10363200" cy="834278"/>
          </a:xfrm>
        </p:spPr>
        <p:txBody>
          <a:bodyPr/>
          <a:lstStyle/>
          <a:p>
            <a:r>
              <a:rPr lang="en-GB" sz="3600" dirty="0"/>
              <a:t>Threats</a:t>
            </a:r>
          </a:p>
        </p:txBody>
      </p:sp>
      <p:sp>
        <p:nvSpPr>
          <p:cNvPr id="3" name="Text Placeholder 2"/>
          <p:cNvSpPr>
            <a:spLocks noGrp="1"/>
          </p:cNvSpPr>
          <p:nvPr>
            <p:ph type="body" idx="1"/>
          </p:nvPr>
        </p:nvSpPr>
        <p:spPr/>
        <p:txBody>
          <a:bodyPr/>
          <a:lstStyle/>
          <a:p>
            <a:r>
              <a:rPr lang="en-GB" dirty="0" err="1"/>
              <a:t>Mirai</a:t>
            </a:r>
            <a:r>
              <a:rPr lang="en-GB" dirty="0"/>
              <a:t> – botnet – infected routers and security cameras, low-powered and poorly secured devices.</a:t>
            </a:r>
          </a:p>
          <a:p>
            <a:r>
              <a:rPr lang="en-GB" dirty="0"/>
              <a:t>Disk wiping malware</a:t>
            </a:r>
          </a:p>
          <a:p>
            <a:r>
              <a:rPr lang="en-GB" dirty="0"/>
              <a:t>Use and abuse of cloud apps and services</a:t>
            </a:r>
          </a:p>
          <a:p>
            <a:r>
              <a:rPr lang="en-GB" dirty="0" err="1"/>
              <a:t>Ransomeware</a:t>
            </a:r>
            <a:endParaRPr lang="en-GB" dirty="0"/>
          </a:p>
          <a:p>
            <a:r>
              <a:rPr lang="en-GB" dirty="0" err="1"/>
              <a:t>IoT</a:t>
            </a:r>
            <a:r>
              <a:rPr lang="en-GB" dirty="0"/>
              <a:t> and cloud – potential partners in cyber crime</a:t>
            </a:r>
          </a:p>
          <a:p>
            <a:r>
              <a:rPr lang="en-GB" dirty="0" err="1"/>
              <a:t>IoT</a:t>
            </a:r>
            <a:r>
              <a:rPr lang="en-GB" dirty="0"/>
              <a:t> devices facing attack from many fronts</a:t>
            </a:r>
          </a:p>
        </p:txBody>
      </p:sp>
    </p:spTree>
    <p:extLst>
      <p:ext uri="{BB962C8B-B14F-4D97-AF65-F5344CB8AC3E}">
        <p14:creationId xmlns:p14="http://schemas.microsoft.com/office/powerpoint/2010/main" val="3873741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798419"/>
          </a:xfrm>
        </p:spPr>
        <p:txBody>
          <a:bodyPr/>
          <a:lstStyle/>
          <a:p>
            <a:r>
              <a:rPr lang="en-GB" sz="3600" dirty="0" err="1"/>
              <a:t>IoT</a:t>
            </a:r>
            <a:r>
              <a:rPr lang="en-GB" sz="3600" dirty="0"/>
              <a:t> Attacks</a:t>
            </a:r>
          </a:p>
        </p:txBody>
      </p:sp>
      <p:sp>
        <p:nvSpPr>
          <p:cNvPr id="3" name="Text Placeholder 2"/>
          <p:cNvSpPr>
            <a:spLocks noGrp="1"/>
          </p:cNvSpPr>
          <p:nvPr>
            <p:ph type="body" idx="1"/>
          </p:nvPr>
        </p:nvSpPr>
        <p:spPr>
          <a:xfrm>
            <a:off x="914400" y="1004047"/>
            <a:ext cx="10363200" cy="4468066"/>
          </a:xfrm>
        </p:spPr>
        <p:txBody>
          <a:bodyPr/>
          <a:lstStyle/>
          <a:p>
            <a:r>
              <a:rPr lang="en-GB" dirty="0"/>
              <a:t>While worms and bots continued to account for the vast</a:t>
            </a:r>
          </a:p>
          <a:p>
            <a:pPr marL="0" indent="0">
              <a:buNone/>
            </a:pPr>
            <a:r>
              <a:rPr lang="en-GB" dirty="0"/>
              <a:t>majority of Internet of Things (</a:t>
            </a:r>
            <a:r>
              <a:rPr lang="en-GB" dirty="0" err="1"/>
              <a:t>IoT</a:t>
            </a:r>
            <a:r>
              <a:rPr lang="en-GB" dirty="0"/>
              <a:t>) attacks, in 2018</a:t>
            </a:r>
          </a:p>
          <a:p>
            <a:pPr marL="0" indent="0">
              <a:buNone/>
            </a:pPr>
            <a:r>
              <a:rPr lang="en-GB" dirty="0"/>
              <a:t>a new breed of threat emerge as targeted attack actors</a:t>
            </a:r>
          </a:p>
          <a:p>
            <a:pPr marL="0" indent="0">
              <a:buNone/>
            </a:pPr>
            <a:r>
              <a:rPr lang="en-GB" dirty="0"/>
              <a:t>displayed an interest in </a:t>
            </a:r>
            <a:r>
              <a:rPr lang="en-GB" dirty="0" err="1"/>
              <a:t>IoT</a:t>
            </a:r>
            <a:r>
              <a:rPr lang="en-GB" dirty="0"/>
              <a:t> as an infection vector.</a:t>
            </a:r>
          </a:p>
          <a:p>
            <a:r>
              <a:rPr lang="en-GB" dirty="0"/>
              <a:t>Routers and cameras the most infected devices (75% &amp; 15% respectively) </a:t>
            </a:r>
          </a:p>
          <a:p>
            <a:pPr lvl="1"/>
            <a:r>
              <a:rPr lang="en-GB" dirty="0"/>
              <a:t>Attractive as they provide an effective jumping-off point</a:t>
            </a:r>
          </a:p>
          <a:p>
            <a:pPr lvl="1"/>
            <a:r>
              <a:rPr lang="en-GB" dirty="0" err="1"/>
              <a:t>Mirai</a:t>
            </a:r>
            <a:r>
              <a:rPr lang="en-GB" dirty="0"/>
              <a:t> </a:t>
            </a:r>
          </a:p>
        </p:txBody>
      </p:sp>
    </p:spTree>
    <p:extLst>
      <p:ext uri="{BB962C8B-B14F-4D97-AF65-F5344CB8AC3E}">
        <p14:creationId xmlns:p14="http://schemas.microsoft.com/office/powerpoint/2010/main" val="4172172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Threats</a:t>
            </a:r>
          </a:p>
        </p:txBody>
      </p:sp>
      <p:sp>
        <p:nvSpPr>
          <p:cNvPr id="3" name="Text Placeholder 2"/>
          <p:cNvSpPr>
            <a:spLocks noGrp="1"/>
          </p:cNvSpPr>
          <p:nvPr>
            <p:ph type="body" idx="1"/>
          </p:nvPr>
        </p:nvSpPr>
        <p:spPr/>
        <p:txBody>
          <a:bodyPr/>
          <a:lstStyle/>
          <a:p>
            <a:r>
              <a:rPr lang="en-GB" dirty="0"/>
              <a:t>Emerging trends in attacks, malicious code activity, phishing and spam </a:t>
            </a:r>
          </a:p>
          <a:p>
            <a:r>
              <a:rPr lang="en-GB" dirty="0"/>
              <a:t>ISTR reports -Is this information sufficient to secure systems effectively now and into the future?</a:t>
            </a:r>
          </a:p>
        </p:txBody>
      </p:sp>
    </p:spTree>
    <p:extLst>
      <p:ext uri="{BB962C8B-B14F-4D97-AF65-F5344CB8AC3E}">
        <p14:creationId xmlns:p14="http://schemas.microsoft.com/office/powerpoint/2010/main" val="542631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70329"/>
            <a:ext cx="10363200" cy="708213"/>
          </a:xfrm>
        </p:spPr>
        <p:txBody>
          <a:bodyPr/>
          <a:lstStyle/>
          <a:p>
            <a:br>
              <a:rPr lang="en-GB" sz="3600" dirty="0"/>
            </a:br>
            <a:r>
              <a:rPr lang="en-GB" sz="3600" dirty="0"/>
              <a:t>2019 Report</a:t>
            </a:r>
            <a:br>
              <a:rPr lang="en-GB" sz="3600" dirty="0"/>
            </a:br>
            <a:endParaRPr lang="en-GB" sz="3600" dirty="0"/>
          </a:p>
        </p:txBody>
      </p:sp>
      <p:sp>
        <p:nvSpPr>
          <p:cNvPr id="3" name="Text Placeholder 2"/>
          <p:cNvSpPr>
            <a:spLocks noGrp="1"/>
          </p:cNvSpPr>
          <p:nvPr>
            <p:ph type="body" idx="1"/>
          </p:nvPr>
        </p:nvSpPr>
        <p:spPr/>
        <p:txBody>
          <a:bodyPr/>
          <a:lstStyle/>
          <a:p>
            <a:pPr marL="0" indent="0">
              <a:buNone/>
            </a:pPr>
            <a:r>
              <a:rPr lang="en-GB" dirty="0"/>
              <a:t>Supply chain attacks 78% up</a:t>
            </a:r>
          </a:p>
          <a:p>
            <a:pPr marL="0" indent="0">
              <a:buNone/>
            </a:pPr>
            <a:r>
              <a:rPr lang="en-GB" dirty="0" err="1"/>
              <a:t>Cryptojacking</a:t>
            </a:r>
            <a:r>
              <a:rPr lang="en-GB" dirty="0"/>
              <a:t> down </a:t>
            </a:r>
          </a:p>
          <a:p>
            <a:pPr marL="0" indent="0">
              <a:buNone/>
            </a:pPr>
            <a:r>
              <a:rPr lang="en-GB" dirty="0"/>
              <a:t>Messaging</a:t>
            </a:r>
          </a:p>
          <a:p>
            <a:pPr marL="0" indent="0">
              <a:buNone/>
            </a:pPr>
            <a:r>
              <a:rPr lang="en-GB" dirty="0"/>
              <a:t>State-sponsored espionage</a:t>
            </a:r>
          </a:p>
          <a:p>
            <a:pPr marL="0" indent="0">
              <a:buNone/>
            </a:pPr>
            <a:endParaRPr lang="en-GB" dirty="0"/>
          </a:p>
        </p:txBody>
      </p:sp>
    </p:spTree>
    <p:extLst>
      <p:ext uri="{BB962C8B-B14F-4D97-AF65-F5344CB8AC3E}">
        <p14:creationId xmlns:p14="http://schemas.microsoft.com/office/powerpoint/2010/main" val="4259215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412937"/>
          </a:xfrm>
        </p:spPr>
        <p:txBody>
          <a:bodyPr/>
          <a:lstStyle/>
          <a:p>
            <a:br>
              <a:rPr lang="en-GB" b="1" dirty="0"/>
            </a:br>
            <a:r>
              <a:rPr lang="en-GB" sz="3600" b="1" dirty="0"/>
              <a:t>Best practices</a:t>
            </a:r>
            <a:br>
              <a:rPr lang="en-GB" b="1" dirty="0"/>
            </a:br>
            <a:endParaRPr lang="en-GB" dirty="0"/>
          </a:p>
        </p:txBody>
      </p:sp>
      <p:sp>
        <p:nvSpPr>
          <p:cNvPr id="3" name="Text Placeholder 2"/>
          <p:cNvSpPr>
            <a:spLocks noGrp="1"/>
          </p:cNvSpPr>
          <p:nvPr>
            <p:ph type="body" idx="1"/>
          </p:nvPr>
        </p:nvSpPr>
        <p:spPr>
          <a:xfrm>
            <a:off x="914400" y="654424"/>
            <a:ext cx="10363200" cy="4817689"/>
          </a:xfrm>
        </p:spPr>
        <p:txBody>
          <a:bodyPr/>
          <a:lstStyle/>
          <a:p>
            <a:r>
              <a:rPr lang="en-GB" sz="2000" dirty="0"/>
              <a:t>Delete any suspicious-looking emails you receive, especially if they contain links or attachments.</a:t>
            </a:r>
          </a:p>
          <a:p>
            <a:r>
              <a:rPr lang="en-GB" sz="2000" dirty="0"/>
              <a:t>Be extremely wary of any Microsoft Office email attachment that advises you to enable macros to view its content. Unless you are absolutely sure that this is a genuine email from a trusted source, do not enable macros and instead immediately delete the email.</a:t>
            </a:r>
          </a:p>
          <a:p>
            <a:r>
              <a:rPr lang="en-GB" sz="2000" dirty="0"/>
              <a:t>Watch out for any updates or patches issued for any open source software you use. Software updates will frequently include patches for newly discovered security vulnerabilities that could be exploited by attackers.</a:t>
            </a:r>
          </a:p>
          <a:p>
            <a:r>
              <a:rPr lang="en-GB" sz="2000" dirty="0"/>
              <a:t>Ensure that the cloud service you use regularly backs up your files to ensure you can replace them should you become a victim of ransomware.</a:t>
            </a:r>
          </a:p>
          <a:p>
            <a:r>
              <a:rPr lang="en-GB" sz="2000" dirty="0"/>
              <a:t>Implement smart data governance practices in your business so that you know what business data is being stored on cloud services.</a:t>
            </a:r>
          </a:p>
        </p:txBody>
      </p:sp>
    </p:spTree>
    <p:extLst>
      <p:ext uri="{BB962C8B-B14F-4D97-AF65-F5344CB8AC3E}">
        <p14:creationId xmlns:p14="http://schemas.microsoft.com/office/powerpoint/2010/main" val="1896453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42875"/>
            <a:ext cx="10363200" cy="719570"/>
          </a:xfrm>
        </p:spPr>
        <p:txBody>
          <a:bodyPr/>
          <a:lstStyle/>
          <a:p>
            <a:r>
              <a:rPr lang="en-GB" sz="3600" dirty="0"/>
              <a:t>References</a:t>
            </a:r>
          </a:p>
        </p:txBody>
      </p:sp>
      <p:sp>
        <p:nvSpPr>
          <p:cNvPr id="3" name="Content Placeholder 2"/>
          <p:cNvSpPr>
            <a:spLocks noGrp="1"/>
          </p:cNvSpPr>
          <p:nvPr>
            <p:ph idx="1"/>
          </p:nvPr>
        </p:nvSpPr>
        <p:spPr/>
        <p:txBody>
          <a:bodyPr/>
          <a:lstStyle/>
          <a:p>
            <a:pPr marL="0" indent="0">
              <a:buNone/>
            </a:pPr>
            <a:r>
              <a:rPr lang="en-GB" sz="1600" dirty="0"/>
              <a:t>Notes taken from:</a:t>
            </a:r>
          </a:p>
          <a:p>
            <a:r>
              <a:rPr lang="en-GB" sz="1600" dirty="0"/>
              <a:t>Internet Security Threat Report (ISTR), Volume 24, February 2019, </a:t>
            </a:r>
          </a:p>
          <a:p>
            <a:r>
              <a:rPr lang="en-GB" sz="1600" dirty="0"/>
              <a:t>ISTR, Volume 22, April 2017 </a:t>
            </a:r>
          </a:p>
        </p:txBody>
      </p:sp>
    </p:spTree>
    <p:extLst>
      <p:ext uri="{BB962C8B-B14F-4D97-AF65-F5344CB8AC3E}">
        <p14:creationId xmlns:p14="http://schemas.microsoft.com/office/powerpoint/2010/main" val="3481267669"/>
      </p:ext>
    </p:extLst>
  </p:cSld>
  <p:clrMapOvr>
    <a:masterClrMapping/>
  </p:clrMapOvr>
  <p:transition advTm="5000">
    <p:dissolv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381</TotalTime>
  <Words>654</Words>
  <Application>Microsoft Office PowerPoint</Application>
  <PresentationFormat>Widescreen</PresentationFormat>
  <Paragraphs>59</Paragraphs>
  <Slides>10</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Calibri</vt:lpstr>
      <vt:lpstr>Courier New</vt:lpstr>
      <vt:lpstr>Georgia</vt:lpstr>
      <vt:lpstr>Times New Roman</vt:lpstr>
      <vt:lpstr>Default Design</vt:lpstr>
      <vt:lpstr>1_Default Design</vt:lpstr>
      <vt:lpstr>Debate</vt:lpstr>
      <vt:lpstr>Assignment 1: Task 1</vt:lpstr>
      <vt:lpstr>Debate </vt:lpstr>
      <vt:lpstr>Threats </vt:lpstr>
      <vt:lpstr>Threats</vt:lpstr>
      <vt:lpstr>IoT Attacks</vt:lpstr>
      <vt:lpstr>Threats</vt:lpstr>
      <vt:lpstr> 2019 Report </vt:lpstr>
      <vt:lpstr> Best practices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Governance</dc:title>
  <dc:creator>Nigel Houlden</dc:creator>
  <cp:lastModifiedBy>Nigel Houlden</cp:lastModifiedBy>
  <cp:revision>58</cp:revision>
  <cp:lastPrinted>2019-11-11T15:22:50Z</cp:lastPrinted>
  <dcterms:created xsi:type="dcterms:W3CDTF">2019-01-03T16:39:29Z</dcterms:created>
  <dcterms:modified xsi:type="dcterms:W3CDTF">2020-10-06T10:39:44Z</dcterms:modified>
</cp:coreProperties>
</file>