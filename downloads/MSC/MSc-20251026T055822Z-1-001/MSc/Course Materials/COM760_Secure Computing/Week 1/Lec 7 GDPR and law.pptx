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4" r:id="rId1"/>
    <p:sldMasterId id="2147483720" r:id="rId2"/>
  </p:sldMasterIdLst>
  <p:notesMasterIdLst>
    <p:notesMasterId r:id="rId49"/>
  </p:notesMasterIdLst>
  <p:sldIdLst>
    <p:sldId id="298" r:id="rId3"/>
    <p:sldId id="295" r:id="rId4"/>
    <p:sldId id="274" r:id="rId5"/>
    <p:sldId id="296" r:id="rId6"/>
    <p:sldId id="279" r:id="rId7"/>
    <p:sldId id="280" r:id="rId8"/>
    <p:sldId id="275" r:id="rId9"/>
    <p:sldId id="349" r:id="rId10"/>
    <p:sldId id="350" r:id="rId11"/>
    <p:sldId id="276" r:id="rId12"/>
    <p:sldId id="342" r:id="rId13"/>
    <p:sldId id="343" r:id="rId14"/>
    <p:sldId id="344" r:id="rId15"/>
    <p:sldId id="345" r:id="rId16"/>
    <p:sldId id="346" r:id="rId17"/>
    <p:sldId id="347" r:id="rId18"/>
    <p:sldId id="348" r:id="rId19"/>
    <p:sldId id="278" r:id="rId20"/>
    <p:sldId id="277" r:id="rId21"/>
    <p:sldId id="259" r:id="rId22"/>
    <p:sldId id="260" r:id="rId23"/>
    <p:sldId id="261" r:id="rId24"/>
    <p:sldId id="262" r:id="rId25"/>
    <p:sldId id="263" r:id="rId26"/>
    <p:sldId id="266" r:id="rId27"/>
    <p:sldId id="282" r:id="rId28"/>
    <p:sldId id="283" r:id="rId29"/>
    <p:sldId id="284" r:id="rId30"/>
    <p:sldId id="285" r:id="rId31"/>
    <p:sldId id="286" r:id="rId32"/>
    <p:sldId id="287" r:id="rId33"/>
    <p:sldId id="288" r:id="rId34"/>
    <p:sldId id="289" r:id="rId35"/>
    <p:sldId id="290" r:id="rId36"/>
    <p:sldId id="267" r:id="rId37"/>
    <p:sldId id="268" r:id="rId38"/>
    <p:sldId id="291" r:id="rId39"/>
    <p:sldId id="269" r:id="rId40"/>
    <p:sldId id="270" r:id="rId41"/>
    <p:sldId id="271" r:id="rId42"/>
    <p:sldId id="272" r:id="rId43"/>
    <p:sldId id="273" r:id="rId44"/>
    <p:sldId id="293" r:id="rId45"/>
    <p:sldId id="292" r:id="rId46"/>
    <p:sldId id="294" r:id="rId47"/>
    <p:sldId id="351" r:id="rId48"/>
  </p:sldIdLst>
  <p:sldSz cx="12192000" cy="6858000"/>
  <p:notesSz cx="6858000" cy="9144000"/>
  <p:embeddedFontLst>
    <p:embeddedFont>
      <p:font typeface="Calibri" panose="020F0502020204030204" pitchFamily="34" charset="0"/>
      <p:regular r:id="rId50"/>
      <p:bold r:id="rId51"/>
      <p:italic r:id="rId52"/>
      <p:boldItalic r:id="rId53"/>
    </p:embeddedFont>
    <p:embeddedFont>
      <p:font typeface="Georgia" panose="02040502050405020303" pitchFamily="18" charset="0"/>
      <p:regular r:id="rId54"/>
      <p:bold r:id="rId55"/>
      <p:italic r:id="rId56"/>
      <p:boldItalic r:id="rId57"/>
    </p:embeddedFont>
    <p:embeddedFont>
      <p:font typeface="Tahoma" panose="020B0604030504040204" pitchFamily="34" charset="0"/>
      <p:regular r:id="rId58"/>
      <p:bold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font" Target="fonts/font5.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57" Type="http://schemas.openxmlformats.org/officeDocument/2006/relationships/font" Target="fonts/font8.fntdata"/><Relationship Id="rId61"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3.fntdata"/><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7.fntdata"/><Relationship Id="rId8" Type="http://schemas.openxmlformats.org/officeDocument/2006/relationships/slide" Target="slides/slide6.xml"/><Relationship Id="rId51" Type="http://schemas.openxmlformats.org/officeDocument/2006/relationships/font" Target="fonts/font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578BD-B2EF-49A1-88AA-E13C1CA17477}" type="datetimeFigureOut">
              <a:rPr lang="en-GB" smtClean="0"/>
              <a:t>30/11/2020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E68148-0D08-46F4-AE5F-549CEB771532}" type="slidenum">
              <a:rPr lang="en-GB" smtClean="0"/>
              <a:t>‹#›</a:t>
            </a:fld>
            <a:endParaRPr lang="en-GB"/>
          </a:p>
        </p:txBody>
      </p:sp>
    </p:spTree>
    <p:extLst>
      <p:ext uri="{BB962C8B-B14F-4D97-AF65-F5344CB8AC3E}">
        <p14:creationId xmlns:p14="http://schemas.microsoft.com/office/powerpoint/2010/main" val="348166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71E9B611-79A5-4063-8624-6013F60C0F92}" type="slidenum">
              <a:rPr kumimoji="0" lang="en-GB"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GB"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48329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02CE1D-46A8-FF46-998F-E2ED903FCAED}" type="slidenum">
              <a:rPr lang="en-GB" smtClean="0">
                <a:solidFill>
                  <a:prstClr val="black"/>
                </a:solidFill>
              </a:rPr>
              <a:pPr/>
              <a:t>20</a:t>
            </a:fld>
            <a:endParaRPr lang="en-GB">
              <a:solidFill>
                <a:prstClr val="black"/>
              </a:solidFill>
            </a:endParaRPr>
          </a:p>
        </p:txBody>
      </p:sp>
    </p:spTree>
    <p:extLst>
      <p:ext uri="{BB962C8B-B14F-4D97-AF65-F5344CB8AC3E}">
        <p14:creationId xmlns:p14="http://schemas.microsoft.com/office/powerpoint/2010/main" val="3472914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F02CE1D-46A8-FF46-998F-E2ED903FCAED}" type="slidenum">
              <a:rPr lang="en-GB" smtClean="0">
                <a:solidFill>
                  <a:prstClr val="black"/>
                </a:solidFill>
              </a:rPr>
              <a:pPr/>
              <a:t>21</a:t>
            </a:fld>
            <a:endParaRPr lang="en-GB">
              <a:solidFill>
                <a:prstClr val="black"/>
              </a:solidFill>
            </a:endParaRPr>
          </a:p>
        </p:txBody>
      </p:sp>
    </p:spTree>
    <p:extLst>
      <p:ext uri="{BB962C8B-B14F-4D97-AF65-F5344CB8AC3E}">
        <p14:creationId xmlns:p14="http://schemas.microsoft.com/office/powerpoint/2010/main" val="980609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F02CE1D-46A8-FF46-998F-E2ED903FCAED}" type="slidenum">
              <a:rPr lang="en-GB" smtClean="0">
                <a:solidFill>
                  <a:prstClr val="black"/>
                </a:solidFill>
              </a:rPr>
              <a:pPr/>
              <a:t>22</a:t>
            </a:fld>
            <a:endParaRPr lang="en-GB">
              <a:solidFill>
                <a:prstClr val="black"/>
              </a:solidFill>
            </a:endParaRPr>
          </a:p>
        </p:txBody>
      </p:sp>
    </p:spTree>
    <p:extLst>
      <p:ext uri="{BB962C8B-B14F-4D97-AF65-F5344CB8AC3E}">
        <p14:creationId xmlns:p14="http://schemas.microsoft.com/office/powerpoint/2010/main" val="3245563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02CE1D-46A8-FF46-998F-E2ED903FCAED}" type="slidenum">
              <a:rPr lang="en-GB" smtClean="0">
                <a:solidFill>
                  <a:prstClr val="black"/>
                </a:solidFill>
              </a:rPr>
              <a:pPr/>
              <a:t>23</a:t>
            </a:fld>
            <a:endParaRPr lang="en-GB">
              <a:solidFill>
                <a:prstClr val="black"/>
              </a:solidFill>
            </a:endParaRPr>
          </a:p>
        </p:txBody>
      </p:sp>
    </p:spTree>
    <p:extLst>
      <p:ext uri="{BB962C8B-B14F-4D97-AF65-F5344CB8AC3E}">
        <p14:creationId xmlns:p14="http://schemas.microsoft.com/office/powerpoint/2010/main" val="2076341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F02CE1D-46A8-FF46-998F-E2ED903FCAED}" type="slidenum">
              <a:rPr lang="en-GB" smtClean="0">
                <a:solidFill>
                  <a:prstClr val="black"/>
                </a:solidFill>
              </a:rPr>
              <a:pPr/>
              <a:t>24</a:t>
            </a:fld>
            <a:endParaRPr lang="en-GB">
              <a:solidFill>
                <a:prstClr val="black"/>
              </a:solidFill>
            </a:endParaRPr>
          </a:p>
        </p:txBody>
      </p:sp>
    </p:spTree>
    <p:extLst>
      <p:ext uri="{BB962C8B-B14F-4D97-AF65-F5344CB8AC3E}">
        <p14:creationId xmlns:p14="http://schemas.microsoft.com/office/powerpoint/2010/main" val="2169121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F02CE1D-46A8-FF46-998F-E2ED903FCAED}"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09574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3951530792"/>
      </p:ext>
    </p:extLst>
  </p:cSld>
  <p:clrMapOvr>
    <a:masterClrMapping/>
  </p:clrMapOvr>
  <p:transition advTm="5000">
    <p:dissolv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c</a:t>
            </a:r>
            <a:r>
              <a:rPr kumimoji="0" lang="en-GB" sz="4000" b="0" i="0" u="none" strike="noStrike" kern="1200" cap="none" spc="0" normalizeH="0" baseline="0" noProof="0">
                <a:ln>
                  <a:noFill/>
                </a:ln>
                <a:solidFill>
                  <a:srgbClr val="FFFFFF"/>
                </a:solidFill>
                <a:effectLst/>
                <a:uLnTx/>
                <a:uFillTx/>
                <a:latin typeface="Georgia" pitchFamily="18" charset="0"/>
                <a:ea typeface="+mn-ea"/>
                <a:cs typeface="+mn-cs"/>
              </a:rPr>
              <a:t>@</a:t>
            </a: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g</a:t>
            </a:r>
          </a:p>
        </p:txBody>
      </p:sp>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p:txBody>
          <a:bodyPr/>
          <a:lstStyle>
            <a:lvl1pPr>
              <a:defRPr/>
            </a:lvl1pPr>
          </a:lstStyle>
          <a:p>
            <a:pPr>
              <a:defRPr/>
            </a:pPr>
            <a:endParaRPr lang="en-GB"/>
          </a:p>
        </p:txBody>
      </p:sp>
      <p:sp>
        <p:nvSpPr>
          <p:cNvPr id="6" name="Rectangle 5"/>
          <p:cNvSpPr>
            <a:spLocks noGrp="1" noChangeArrowheads="1"/>
          </p:cNvSpPr>
          <p:nvPr>
            <p:ph type="ftr" sz="quarter" idx="11"/>
          </p:nvPr>
        </p:nvSpPr>
        <p:spPr/>
        <p:txBody>
          <a:bodyPr/>
          <a:lstStyle>
            <a:lvl1pPr>
              <a:defRPr/>
            </a:lvl1pPr>
          </a:lstStyle>
          <a:p>
            <a:pPr>
              <a:defRPr/>
            </a:pPr>
            <a:endParaRPr lang="en-GB"/>
          </a:p>
        </p:txBody>
      </p:sp>
      <p:sp>
        <p:nvSpPr>
          <p:cNvPr id="7" name="Rectangle 6"/>
          <p:cNvSpPr>
            <a:spLocks noGrp="1" noChangeArrowheads="1"/>
          </p:cNvSpPr>
          <p:nvPr>
            <p:ph type="sldNum" sz="quarter" idx="12"/>
          </p:nvPr>
        </p:nvSpPr>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1452811231"/>
      </p:ext>
    </p:extLst>
  </p:cSld>
  <p:clrMapOvr>
    <a:masterClrMapping/>
  </p:clrMapOvr>
  <p:transition advTm="5000">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818976815"/>
      </p:ext>
    </p:extLst>
  </p:cSld>
  <p:clrMapOvr>
    <a:masterClrMapping/>
  </p:clrMapOvr>
  <p:transition advTm="5000">
    <p:dissolv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3403491903"/>
      </p:ext>
    </p:extLst>
  </p:cSld>
  <p:clrMapOvr>
    <a:masterClrMapping/>
  </p:clrMapOvr>
  <p:transition advTm="5000">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691710320"/>
      </p:ext>
    </p:extLst>
  </p:cSld>
  <p:clrMapOvr>
    <a:masterClrMapping/>
  </p:clrMapOvr>
  <p:transition advTm="5000">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3225557709"/>
      </p:ext>
    </p:extLst>
  </p:cSld>
  <p:clrMapOvr>
    <a:masterClrMapping/>
  </p:clrMapOvr>
  <p:transition advTm="5000">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defTabSz="548640"/>
            <a:fld id="{9145F30F-AA59-E647-A320-2B99714D7AA9}" type="datetime1">
              <a:rPr lang="en-GB" smtClean="0">
                <a:solidFill>
                  <a:srgbClr val="003768"/>
                </a:solidFill>
              </a:rPr>
              <a:pPr defTabSz="548640"/>
              <a:t>30/11/2020</a:t>
            </a:fld>
            <a:endParaRPr lang="en-GB">
              <a:solidFill>
                <a:srgbClr val="003768"/>
              </a:solidFill>
            </a:endParaRPr>
          </a:p>
        </p:txBody>
      </p:sp>
      <p:sp>
        <p:nvSpPr>
          <p:cNvPr id="3" name="Rectangle 5"/>
          <p:cNvSpPr>
            <a:spLocks noGrp="1" noChangeArrowheads="1"/>
          </p:cNvSpPr>
          <p:nvPr>
            <p:ph type="ftr" sz="quarter" idx="11"/>
          </p:nvPr>
        </p:nvSpPr>
        <p:spPr>
          <a:ln/>
        </p:spPr>
        <p:txBody>
          <a:bodyPr/>
          <a:lstStyle>
            <a:lvl1pPr>
              <a:defRPr/>
            </a:lvl1pPr>
          </a:lstStyle>
          <a:p>
            <a:pPr defTabSz="548640"/>
            <a:endParaRPr lang="en-GB">
              <a:solidFill>
                <a:srgbClr val="003768"/>
              </a:solidFill>
            </a:endParaRPr>
          </a:p>
        </p:txBody>
      </p:sp>
      <p:sp>
        <p:nvSpPr>
          <p:cNvPr id="4"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1329081274"/>
      </p:ext>
    </p:extLst>
  </p:cSld>
  <p:clrMapOvr>
    <a:masterClrMapping/>
  </p:clrMapOvr>
  <p:transition advTm="5000">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defTabSz="548640"/>
            <a:fld id="{868B668F-3D1D-B64C-AC98-054D88E61E34}" type="datetime1">
              <a:rPr lang="en-GB" smtClean="0">
                <a:solidFill>
                  <a:srgbClr val="003768"/>
                </a:solidFill>
              </a:rPr>
              <a:pPr defTabSz="548640"/>
              <a:t>30/11/2020</a:t>
            </a:fld>
            <a:endParaRPr lang="en-GB">
              <a:solidFill>
                <a:srgbClr val="003768"/>
              </a:solidFill>
            </a:endParaRPr>
          </a:p>
        </p:txBody>
      </p:sp>
      <p:sp>
        <p:nvSpPr>
          <p:cNvPr id="6" name="Rectangle 5"/>
          <p:cNvSpPr>
            <a:spLocks noGrp="1" noChangeArrowheads="1"/>
          </p:cNvSpPr>
          <p:nvPr>
            <p:ph type="ftr" sz="quarter" idx="11"/>
          </p:nvPr>
        </p:nvSpPr>
        <p:spPr>
          <a:ln/>
        </p:spPr>
        <p:txBody>
          <a:bodyPr/>
          <a:lstStyle>
            <a:lvl1pPr>
              <a:defRPr/>
            </a:lvl1pPr>
          </a:lstStyle>
          <a:p>
            <a:pPr defTabSz="548640"/>
            <a:endParaRPr lang="en-GB">
              <a:solidFill>
                <a:srgbClr val="003768"/>
              </a:solidFill>
            </a:endParaRPr>
          </a:p>
        </p:txBody>
      </p:sp>
      <p:sp>
        <p:nvSpPr>
          <p:cNvPr id="7"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3235415485"/>
      </p:ext>
    </p:extLst>
  </p:cSld>
  <p:clrMapOvr>
    <a:masterClrMapping/>
  </p:clrMapOvr>
  <p:transition advTm="5000">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defTabSz="548640"/>
            <a:fld id="{530A8B59-05F5-7249-87FE-BE132BAADC4B}" type="datetime1">
              <a:rPr lang="en-GB" smtClean="0">
                <a:solidFill>
                  <a:srgbClr val="003768"/>
                </a:solidFill>
              </a:rPr>
              <a:pPr defTabSz="548640"/>
              <a:t>30/11/2020</a:t>
            </a:fld>
            <a:endParaRPr lang="en-GB">
              <a:solidFill>
                <a:srgbClr val="003768"/>
              </a:solidFill>
            </a:endParaRPr>
          </a:p>
        </p:txBody>
      </p:sp>
      <p:sp>
        <p:nvSpPr>
          <p:cNvPr id="6" name="Rectangle 5"/>
          <p:cNvSpPr>
            <a:spLocks noGrp="1" noChangeArrowheads="1"/>
          </p:cNvSpPr>
          <p:nvPr>
            <p:ph type="ftr" sz="quarter" idx="11"/>
          </p:nvPr>
        </p:nvSpPr>
        <p:spPr>
          <a:ln/>
        </p:spPr>
        <p:txBody>
          <a:bodyPr/>
          <a:lstStyle>
            <a:lvl1pPr>
              <a:defRPr/>
            </a:lvl1pPr>
          </a:lstStyle>
          <a:p>
            <a:pPr defTabSz="548640"/>
            <a:endParaRPr lang="en-GB">
              <a:solidFill>
                <a:srgbClr val="003768"/>
              </a:solidFill>
            </a:endParaRPr>
          </a:p>
        </p:txBody>
      </p:sp>
      <p:sp>
        <p:nvSpPr>
          <p:cNvPr id="7" name="Rectangle 6"/>
          <p:cNvSpPr>
            <a:spLocks noGrp="1" noChangeArrowheads="1"/>
          </p:cNvSpPr>
          <p:nvPr>
            <p:ph type="sldNum" sz="quarter" idx="12"/>
          </p:nvPr>
        </p:nvSpPr>
        <p:spPr>
          <a:ln/>
        </p:spPr>
        <p:txBody>
          <a:bodyPr/>
          <a:lstStyle>
            <a:lvl1pPr>
              <a:defRPr/>
            </a:lvl1p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235155775"/>
      </p:ext>
    </p:extLst>
  </p:cSld>
  <p:clrMapOvr>
    <a:masterClrMapping/>
  </p:clrMapOvr>
  <p:transition advTm="5000">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694518652"/>
      </p:ext>
    </p:extLst>
  </p:cSld>
  <p:clrMapOvr>
    <a:masterClrMapping/>
  </p:clrMapOvr>
  <p:transition advTm="5000">
    <p:dissolve/>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767513758"/>
      </p:ext>
    </p:extLst>
  </p:cSld>
  <p:clrMapOvr>
    <a:masterClrMapping/>
  </p:clrMapOvr>
  <p:transition advTm="5000">
    <p:dissolve/>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2551760414"/>
      </p:ext>
    </p:extLst>
  </p:cSld>
  <p:clrMapOvr>
    <a:masterClrMapping/>
  </p:clrMapOvr>
  <p:transition advTm="5000">
    <p:dissolv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r>
              <a:rPr lang="en-US" noProof="0"/>
              <a:t>Click icon to add table</a:t>
            </a:r>
            <a:endParaRPr lang="en-GB" noProof="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defTabSz="548640"/>
            <a:fld id="{3EE37125-522B-4845-9813-9B08C50422D2}" type="slidenum">
              <a:rPr lang="en-GB" smtClean="0">
                <a:solidFill>
                  <a:srgbClr val="003768">
                    <a:tint val="75000"/>
                  </a:srgbClr>
                </a:solidFill>
              </a:rPr>
              <a:pPr defTabSz="548640"/>
              <a:t>‹#›</a:t>
            </a:fld>
            <a:endParaRPr lang="en-GB">
              <a:solidFill>
                <a:srgbClr val="003768">
                  <a:tint val="75000"/>
                </a:srgbClr>
              </a:solidFill>
            </a:endParaRPr>
          </a:p>
        </p:txBody>
      </p:sp>
    </p:spTree>
    <p:extLst>
      <p:ext uri="{BB962C8B-B14F-4D97-AF65-F5344CB8AC3E}">
        <p14:creationId xmlns:p14="http://schemas.microsoft.com/office/powerpoint/2010/main" val="2994326584"/>
      </p:ext>
    </p:extLst>
  </p:cSld>
  <p:clrMapOvr>
    <a:masterClrMapping/>
  </p:clrMapOvr>
  <p:transition advTm="5000">
    <p:dissolve/>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1507E9-85A2-422F-ACF1-F32DDE8CF460}" type="datetimeFigureOut">
              <a:rPr lang="en-GB" smtClean="0"/>
              <a:t>30/11/2020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161E7F4-7171-4057-BBD0-A012A4C6B29E}" type="slidenum">
              <a:rPr lang="en-GB" smtClean="0"/>
              <a:t>‹#›</a:t>
            </a:fld>
            <a:endParaRPr lang="en-GB"/>
          </a:p>
        </p:txBody>
      </p:sp>
    </p:spTree>
    <p:extLst>
      <p:ext uri="{BB962C8B-B14F-4D97-AF65-F5344CB8AC3E}">
        <p14:creationId xmlns:p14="http://schemas.microsoft.com/office/powerpoint/2010/main" val="1680281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411481"/>
            <a:ext cx="10363200" cy="1470025"/>
          </a:xfrm>
        </p:spPr>
        <p:txBody>
          <a:bodyPr/>
          <a:lstStyle>
            <a:lvl1pPr>
              <a:defRPr baseline="0">
                <a:solidFill>
                  <a:schemeClr val="tx1"/>
                </a:solidFill>
              </a:defRPr>
            </a:lvl1pPr>
          </a:lstStyle>
          <a:p>
            <a:r>
              <a:rPr lang="en-GB" dirty="0"/>
              <a:t>Click to edit section divider</a:t>
            </a:r>
          </a:p>
        </p:txBody>
      </p:sp>
      <p:sp>
        <p:nvSpPr>
          <p:cNvPr id="6" name="Slide Number Placeholder 5"/>
          <p:cNvSpPr>
            <a:spLocks noGrp="1"/>
          </p:cNvSpPr>
          <p:nvPr>
            <p:ph type="sldNum" sz="quarter" idx="12"/>
          </p:nvPr>
        </p:nvSpPr>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4167828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411481"/>
            <a:ext cx="10363200" cy="1470025"/>
          </a:xfrm>
        </p:spPr>
        <p:txBody>
          <a:bodyPr/>
          <a:lstStyle>
            <a:lvl1pPr>
              <a:defRPr baseline="0">
                <a:solidFill>
                  <a:schemeClr val="tx1"/>
                </a:solidFill>
              </a:defRPr>
            </a:lvl1pPr>
          </a:lstStyle>
          <a:p>
            <a:r>
              <a:rPr lang="en-GB" dirty="0"/>
              <a:t>Click to edit section divider</a:t>
            </a:r>
          </a:p>
        </p:txBody>
      </p:sp>
      <p:sp>
        <p:nvSpPr>
          <p:cNvPr id="7" name="Slide Number Placeholder 5"/>
          <p:cNvSpPr>
            <a:spLocks noGrp="1"/>
          </p:cNvSpPr>
          <p:nvPr>
            <p:ph type="sldNum" sz="quarter" idx="12"/>
          </p:nvPr>
        </p:nvSpPr>
        <p:spPr>
          <a:xfrm>
            <a:off x="9245600" y="6492876"/>
            <a:ext cx="2844800" cy="365125"/>
          </a:xfrm>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3604881619"/>
      </p:ext>
    </p:extLst>
  </p:cSld>
  <p:clrMapOvr>
    <a:masterClrMapping/>
  </p:clrMapOvr>
  <p:transition advTm="5000">
    <p:dissolv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88629C6-5806-7C40-915E-1EA47BEDA24C}"/>
              </a:ext>
            </a:extLst>
          </p:cNvPr>
          <p:cNvSpPr/>
          <p:nvPr userDrawn="1"/>
        </p:nvSpPr>
        <p:spPr>
          <a:xfrm>
            <a:off x="335361" y="267433"/>
            <a:ext cx="11492137" cy="6272314"/>
          </a:xfrm>
          <a:prstGeom prst="rect">
            <a:avLst/>
          </a:prstGeom>
          <a:solidFill>
            <a:schemeClr val="accent4">
              <a:lumMod val="20000"/>
              <a:lumOff val="80000"/>
            </a:schemeClr>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0">
              <a:solidFill>
                <a:srgbClr val="6E2982">
                  <a:lumMod val="20000"/>
                  <a:lumOff val="80000"/>
                </a:srgbClr>
              </a:solidFill>
            </a:endParaRPr>
          </a:p>
        </p:txBody>
      </p:sp>
      <p:sp>
        <p:nvSpPr>
          <p:cNvPr id="2" name="Title 1"/>
          <p:cNvSpPr>
            <a:spLocks noGrp="1"/>
          </p:cNvSpPr>
          <p:nvPr>
            <p:ph type="ctrTitle" hasCustomPrompt="1"/>
          </p:nvPr>
        </p:nvSpPr>
        <p:spPr>
          <a:xfrm>
            <a:off x="609600" y="411480"/>
            <a:ext cx="10363200" cy="2286000"/>
          </a:xfrm>
        </p:spPr>
        <p:txBody>
          <a:bodyPr>
            <a:normAutofit/>
          </a:bodyPr>
          <a:lstStyle>
            <a:lvl1pPr>
              <a:defRPr sz="4800" baseline="0">
                <a:solidFill>
                  <a:schemeClr val="tx1"/>
                </a:solidFill>
              </a:defRPr>
            </a:lvl1pPr>
          </a:lstStyle>
          <a:p>
            <a:r>
              <a:rPr lang="en-GB" dirty="0"/>
              <a:t>Click to edit title slide</a:t>
            </a:r>
          </a:p>
        </p:txBody>
      </p:sp>
    </p:spTree>
    <p:extLst>
      <p:ext uri="{BB962C8B-B14F-4D97-AF65-F5344CB8AC3E}">
        <p14:creationId xmlns:p14="http://schemas.microsoft.com/office/powerpoint/2010/main" val="3582536825"/>
      </p:ext>
    </p:extLst>
  </p:cSld>
  <p:clrMapOvr>
    <a:masterClrMapping/>
  </p:clrMapOvr>
  <p:transition advTm="5000">
    <p:dissolv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AAAB38-96CD-314F-8989-AB3E5CA6C380}"/>
              </a:ext>
            </a:extLst>
          </p:cNvPr>
          <p:cNvSpPr/>
          <p:nvPr userDrawn="1"/>
        </p:nvSpPr>
        <p:spPr>
          <a:xfrm>
            <a:off x="335361" y="267433"/>
            <a:ext cx="11492137" cy="6225443"/>
          </a:xfrm>
          <a:prstGeom prst="rect">
            <a:avLst/>
          </a:prstGeom>
          <a:solidFill>
            <a:schemeClr val="bg2"/>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0">
              <a:solidFill>
                <a:prstClr val="white"/>
              </a:solidFill>
            </a:endParaRPr>
          </a:p>
        </p:txBody>
      </p:sp>
      <p:sp>
        <p:nvSpPr>
          <p:cNvPr id="2" name="Title 1"/>
          <p:cNvSpPr>
            <a:spLocks noGrp="1"/>
          </p:cNvSpPr>
          <p:nvPr>
            <p:ph type="ctrTitle" hasCustomPrompt="1"/>
          </p:nvPr>
        </p:nvSpPr>
        <p:spPr>
          <a:xfrm>
            <a:off x="2159563" y="411481"/>
            <a:ext cx="10363200" cy="1470025"/>
          </a:xfrm>
        </p:spPr>
        <p:txBody>
          <a:bodyPr/>
          <a:lstStyle>
            <a:lvl1pPr>
              <a:defRPr baseline="0">
                <a:solidFill>
                  <a:schemeClr val="tx1"/>
                </a:solidFill>
              </a:defRPr>
            </a:lvl1pPr>
          </a:lstStyle>
          <a:p>
            <a:r>
              <a:rPr lang="en-GB" dirty="0"/>
              <a:t>Click to edit section divider</a:t>
            </a:r>
          </a:p>
        </p:txBody>
      </p:sp>
      <p:sp>
        <p:nvSpPr>
          <p:cNvPr id="7" name="Slide Number Placeholder 5"/>
          <p:cNvSpPr>
            <a:spLocks noGrp="1"/>
          </p:cNvSpPr>
          <p:nvPr>
            <p:ph type="sldNum" sz="quarter" idx="12"/>
          </p:nvPr>
        </p:nvSpPr>
        <p:spPr>
          <a:xfrm>
            <a:off x="9245600" y="6492876"/>
            <a:ext cx="2844800" cy="365125"/>
          </a:xfrm>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3573399109"/>
      </p:ext>
    </p:extLst>
  </p:cSld>
  <p:clrMapOvr>
    <a:masterClrMapping/>
  </p:clrMapOvr>
  <p:transition advTm="5000">
    <p:dissolv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8DA154-BB01-BC4C-9F89-8FAD352A898E}"/>
              </a:ext>
            </a:extLst>
          </p:cNvPr>
          <p:cNvSpPr/>
          <p:nvPr userDrawn="1"/>
        </p:nvSpPr>
        <p:spPr>
          <a:xfrm>
            <a:off x="335361" y="267433"/>
            <a:ext cx="11492137" cy="6225443"/>
          </a:xfrm>
          <a:prstGeom prst="rect">
            <a:avLst/>
          </a:prstGeom>
          <a:solidFill>
            <a:schemeClr val="accent1">
              <a:lumMod val="20000"/>
              <a:lumOff val="80000"/>
            </a:schemeClr>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0">
              <a:solidFill>
                <a:prstClr val="white"/>
              </a:solidFill>
            </a:endParaRPr>
          </a:p>
        </p:txBody>
      </p:sp>
      <p:sp>
        <p:nvSpPr>
          <p:cNvPr id="2" name="Title 1"/>
          <p:cNvSpPr>
            <a:spLocks noGrp="1"/>
          </p:cNvSpPr>
          <p:nvPr>
            <p:ph type="ctrTitle" hasCustomPrompt="1"/>
          </p:nvPr>
        </p:nvSpPr>
        <p:spPr>
          <a:xfrm>
            <a:off x="2639616" y="411481"/>
            <a:ext cx="10363200" cy="1470025"/>
          </a:xfrm>
        </p:spPr>
        <p:txBody>
          <a:bodyPr/>
          <a:lstStyle>
            <a:lvl1pPr>
              <a:defRPr baseline="0">
                <a:solidFill>
                  <a:schemeClr val="tx1"/>
                </a:solidFill>
              </a:defRPr>
            </a:lvl1pPr>
          </a:lstStyle>
          <a:p>
            <a:r>
              <a:rPr lang="en-GB" dirty="0"/>
              <a:t>Click to edit section divider</a:t>
            </a:r>
          </a:p>
        </p:txBody>
      </p:sp>
      <p:sp>
        <p:nvSpPr>
          <p:cNvPr id="6" name="Slide Number Placeholder 5"/>
          <p:cNvSpPr>
            <a:spLocks noGrp="1"/>
          </p:cNvSpPr>
          <p:nvPr>
            <p:ph type="sldNum" sz="quarter" idx="12"/>
          </p:nvPr>
        </p:nvSpPr>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1130879612"/>
      </p:ext>
    </p:extLst>
  </p:cSld>
  <p:clrMapOvr>
    <a:masterClrMapping/>
  </p:clrMapOvr>
  <p:transition advTm="5000">
    <p:dissolv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88629C6-5806-7C40-915E-1EA47BEDA24C}"/>
              </a:ext>
            </a:extLst>
          </p:cNvPr>
          <p:cNvSpPr/>
          <p:nvPr userDrawn="1"/>
        </p:nvSpPr>
        <p:spPr>
          <a:xfrm>
            <a:off x="335361" y="267433"/>
            <a:ext cx="11492137" cy="6272314"/>
          </a:xfrm>
          <a:prstGeom prst="rect">
            <a:avLst/>
          </a:prstGeom>
          <a:solidFill>
            <a:schemeClr val="accent4">
              <a:lumMod val="20000"/>
              <a:lumOff val="80000"/>
            </a:schemeClr>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548640"/>
            <a:endParaRPr lang="en-US" sz="2160">
              <a:solidFill>
                <a:srgbClr val="6E2982">
                  <a:lumMod val="20000"/>
                  <a:lumOff val="80000"/>
                </a:srgbClr>
              </a:solidFill>
            </a:endParaRPr>
          </a:p>
        </p:txBody>
      </p:sp>
      <p:sp>
        <p:nvSpPr>
          <p:cNvPr id="2" name="Title 1"/>
          <p:cNvSpPr>
            <a:spLocks noGrp="1"/>
          </p:cNvSpPr>
          <p:nvPr>
            <p:ph type="ctrTitle" hasCustomPrompt="1"/>
          </p:nvPr>
        </p:nvSpPr>
        <p:spPr>
          <a:xfrm>
            <a:off x="609600" y="411480"/>
            <a:ext cx="10363200" cy="2286000"/>
          </a:xfrm>
        </p:spPr>
        <p:txBody>
          <a:bodyPr>
            <a:normAutofit/>
          </a:bodyPr>
          <a:lstStyle>
            <a:lvl1pPr>
              <a:defRPr sz="4800" baseline="0">
                <a:solidFill>
                  <a:schemeClr val="tx1"/>
                </a:solidFill>
              </a:defRPr>
            </a:lvl1pPr>
          </a:lstStyle>
          <a:p>
            <a:r>
              <a:rPr lang="en-GB" dirty="0"/>
              <a:t>Click to edit title slide</a:t>
            </a:r>
          </a:p>
        </p:txBody>
      </p:sp>
    </p:spTree>
    <p:extLst>
      <p:ext uri="{BB962C8B-B14F-4D97-AF65-F5344CB8AC3E}">
        <p14:creationId xmlns:p14="http://schemas.microsoft.com/office/powerpoint/2010/main" val="2773952367"/>
      </p:ext>
    </p:extLst>
  </p:cSld>
  <p:clrMapOvr>
    <a:masterClrMapping/>
  </p:clrMapOvr>
  <p:transition advTm="5000">
    <p:dissolv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AAAB38-96CD-314F-8989-AB3E5CA6C380}"/>
              </a:ext>
            </a:extLst>
          </p:cNvPr>
          <p:cNvSpPr/>
          <p:nvPr userDrawn="1"/>
        </p:nvSpPr>
        <p:spPr>
          <a:xfrm>
            <a:off x="335361" y="267433"/>
            <a:ext cx="11492137" cy="6225443"/>
          </a:xfrm>
          <a:prstGeom prst="rect">
            <a:avLst/>
          </a:prstGeom>
          <a:solidFill>
            <a:schemeClr val="bg2"/>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548640"/>
            <a:endParaRPr lang="en-US" sz="2160">
              <a:solidFill>
                <a:prstClr val="white"/>
              </a:solidFill>
            </a:endParaRPr>
          </a:p>
        </p:txBody>
      </p:sp>
      <p:sp>
        <p:nvSpPr>
          <p:cNvPr id="2" name="Title 1"/>
          <p:cNvSpPr>
            <a:spLocks noGrp="1"/>
          </p:cNvSpPr>
          <p:nvPr>
            <p:ph type="ctrTitle" hasCustomPrompt="1"/>
          </p:nvPr>
        </p:nvSpPr>
        <p:spPr>
          <a:xfrm>
            <a:off x="2159563" y="411481"/>
            <a:ext cx="10363200" cy="1470025"/>
          </a:xfrm>
        </p:spPr>
        <p:txBody>
          <a:bodyPr/>
          <a:lstStyle>
            <a:lvl1pPr>
              <a:defRPr baseline="0">
                <a:solidFill>
                  <a:schemeClr val="tx1"/>
                </a:solidFill>
              </a:defRPr>
            </a:lvl1pPr>
          </a:lstStyle>
          <a:p>
            <a:r>
              <a:rPr lang="en-GB" dirty="0"/>
              <a:t>Click to edit section divider</a:t>
            </a:r>
          </a:p>
        </p:txBody>
      </p:sp>
      <p:sp>
        <p:nvSpPr>
          <p:cNvPr id="7" name="Slide Number Placeholder 5"/>
          <p:cNvSpPr>
            <a:spLocks noGrp="1"/>
          </p:cNvSpPr>
          <p:nvPr>
            <p:ph type="sldNum" sz="quarter" idx="12"/>
          </p:nvPr>
        </p:nvSpPr>
        <p:spPr>
          <a:xfrm>
            <a:off x="9245600" y="6492876"/>
            <a:ext cx="2844800" cy="365125"/>
          </a:xfrm>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581594562"/>
      </p:ext>
    </p:extLst>
  </p:cSld>
  <p:clrMapOvr>
    <a:masterClrMapping/>
  </p:clrMapOvr>
  <p:transition advTm="5000">
    <p:dissolv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8DA154-BB01-BC4C-9F89-8FAD352A898E}"/>
              </a:ext>
            </a:extLst>
          </p:cNvPr>
          <p:cNvSpPr/>
          <p:nvPr userDrawn="1"/>
        </p:nvSpPr>
        <p:spPr>
          <a:xfrm>
            <a:off x="335361" y="267433"/>
            <a:ext cx="11492137" cy="6225443"/>
          </a:xfrm>
          <a:prstGeom prst="rect">
            <a:avLst/>
          </a:prstGeom>
          <a:solidFill>
            <a:schemeClr val="accent1">
              <a:lumMod val="20000"/>
              <a:lumOff val="80000"/>
            </a:schemeClr>
          </a:solidFill>
          <a:ln w="254000" cmpd="sng">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548640"/>
            <a:endParaRPr lang="en-US" sz="2160">
              <a:solidFill>
                <a:prstClr val="white"/>
              </a:solidFill>
            </a:endParaRPr>
          </a:p>
        </p:txBody>
      </p:sp>
      <p:sp>
        <p:nvSpPr>
          <p:cNvPr id="2" name="Title 1"/>
          <p:cNvSpPr>
            <a:spLocks noGrp="1"/>
          </p:cNvSpPr>
          <p:nvPr>
            <p:ph type="ctrTitle" hasCustomPrompt="1"/>
          </p:nvPr>
        </p:nvSpPr>
        <p:spPr>
          <a:xfrm>
            <a:off x="2639616" y="411481"/>
            <a:ext cx="10363200" cy="1470025"/>
          </a:xfrm>
        </p:spPr>
        <p:txBody>
          <a:bodyPr/>
          <a:lstStyle>
            <a:lvl1pPr>
              <a:defRPr baseline="0">
                <a:solidFill>
                  <a:schemeClr val="tx1"/>
                </a:solidFill>
              </a:defRPr>
            </a:lvl1pPr>
          </a:lstStyle>
          <a:p>
            <a:r>
              <a:rPr lang="en-GB" dirty="0"/>
              <a:t>Click to edit section divider</a:t>
            </a:r>
          </a:p>
        </p:txBody>
      </p:sp>
      <p:sp>
        <p:nvSpPr>
          <p:cNvPr id="6" name="Slide Number Placeholder 5"/>
          <p:cNvSpPr>
            <a:spLocks noGrp="1"/>
          </p:cNvSpPr>
          <p:nvPr>
            <p:ph type="sldNum" sz="quarter" idx="12"/>
          </p:nvPr>
        </p:nvSpPr>
        <p:spPr/>
        <p:txBody>
          <a:bodyPr/>
          <a:lstStyle/>
          <a:p>
            <a:fld id="{3EE37125-522B-4845-9813-9B08C50422D2}" type="slidenum">
              <a:rPr lang="en-GB" smtClean="0">
                <a:solidFill>
                  <a:srgbClr val="003768">
                    <a:tint val="75000"/>
                  </a:srgbClr>
                </a:solidFill>
              </a:rPr>
              <a:pPr/>
              <a:t>‹#›</a:t>
            </a:fld>
            <a:endParaRPr lang="en-GB">
              <a:solidFill>
                <a:srgbClr val="003768">
                  <a:tint val="75000"/>
                </a:srgbClr>
              </a:solidFill>
            </a:endParaRPr>
          </a:p>
        </p:txBody>
      </p:sp>
    </p:spTree>
    <p:extLst>
      <p:ext uri="{BB962C8B-B14F-4D97-AF65-F5344CB8AC3E}">
        <p14:creationId xmlns:p14="http://schemas.microsoft.com/office/powerpoint/2010/main" val="1200291119"/>
      </p:ext>
    </p:extLst>
  </p:cSld>
  <p:clrMapOvr>
    <a:masterClrMapping/>
  </p:clrMapOvr>
  <p:transition advTm="5000">
    <p:dissolv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6EEE6291-FC66-4C7E-B805-791E609FC7B6}"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466953459"/>
      </p:ext>
    </p:extLst>
  </p:cSld>
  <p:clrMapOvr>
    <a:masterClrMapping/>
  </p:clrMapOvr>
  <p:transition advTm="5000">
    <p:dissolv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0" fontAlgn="base" hangingPunct="0">
              <a:spcBef>
                <a:spcPct val="0"/>
              </a:spcBef>
              <a:spcAft>
                <a:spcPct val="0"/>
              </a:spcAft>
              <a:defRPr/>
            </a:pPr>
            <a:r>
              <a:rPr lang="en-GB" sz="6000">
                <a:solidFill>
                  <a:srgbClr val="FFFFFF"/>
                </a:solidFill>
                <a:latin typeface="Georgia" pitchFamily="18" charset="0"/>
              </a:rPr>
              <a:t>c</a:t>
            </a:r>
            <a:r>
              <a:rPr lang="en-GB" sz="4000">
                <a:solidFill>
                  <a:srgbClr val="FFFFFF"/>
                </a:solidFill>
                <a:latin typeface="Georgia" pitchFamily="18" charset="0"/>
              </a:rPr>
              <a:t>@</a:t>
            </a:r>
            <a:r>
              <a:rPr lang="en-GB" sz="6000">
                <a:solidFill>
                  <a:srgbClr val="FFFFFF"/>
                </a:solidFill>
                <a:latin typeface="Georgia" pitchFamily="18" charset="0"/>
              </a:rPr>
              <a:t>g</a:t>
            </a:r>
          </a:p>
        </p:txBody>
      </p:sp>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eaLnBrk="0" fontAlgn="base" hangingPunct="0">
              <a:spcBef>
                <a:spcPct val="0"/>
              </a:spcBef>
              <a:spcAft>
                <a:spcPct val="0"/>
              </a:spcAft>
              <a:defRPr/>
            </a:pPr>
            <a:fld id="{1FCC69CA-3F23-44CA-945B-0FA4477283F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939467530"/>
      </p:ext>
    </p:extLst>
  </p:cSld>
  <p:clrMapOvr>
    <a:masterClrMapping/>
  </p:clrMapOvr>
  <p:transition advTm="5000">
    <p:dissolv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91377758-8C37-4DF1-97AB-37A77D625D27}"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360663244"/>
      </p:ext>
    </p:extLst>
  </p:cSld>
  <p:clrMapOvr>
    <a:masterClrMapping/>
  </p:clrMapOvr>
  <p:transition advTm="5000">
    <p:dissolv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AFDF3D6-0B4F-41BB-A2E9-5EE288C12E7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106538156"/>
      </p:ext>
    </p:extLst>
  </p:cSld>
  <p:clrMapOvr>
    <a:masterClrMapping/>
  </p:clrMapOvr>
  <p:transition advTm="5000">
    <p:dissolv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B4005AFC-2604-42A5-BE75-ACBC63D550FA}"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099457422"/>
      </p:ext>
    </p:extLst>
  </p:cSld>
  <p:clrMapOvr>
    <a:masterClrMapping/>
  </p:clrMapOvr>
  <p:transition advTm="5000">
    <p:dissolv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C1E6357F-E285-4B03-9226-48D613FBC57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547759199"/>
      </p:ext>
    </p:extLst>
  </p:cSld>
  <p:clrMapOvr>
    <a:masterClrMapping/>
  </p:clrMapOvr>
  <p:transition advTm="5000">
    <p:dissolv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3C15E10C-CC7A-417A-A2EE-23A0EFFC8E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808658502"/>
      </p:ext>
    </p:extLst>
  </p:cSld>
  <p:clrMapOvr>
    <a:masterClrMapping/>
  </p:clrMapOvr>
  <p:transition advTm="5000">
    <p:dissolv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509E4A2D-E46C-4766-8C2E-027EBC5B508C}"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793332036"/>
      </p:ext>
    </p:extLst>
  </p:cSld>
  <p:clrMapOvr>
    <a:masterClrMapping/>
  </p:clrMapOvr>
  <p:transition advTm="5000">
    <p:dissolv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137E9A74-7737-4008-93AE-82F7F5FA4879}"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257124267"/>
      </p:ext>
    </p:extLst>
  </p:cSld>
  <p:clrMapOvr>
    <a:masterClrMapping/>
  </p:clrMapOvr>
  <p:transition advTm="5000">
    <p:dissolv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8B50079-DBA3-4EC3-9B8C-5C8B3B58FB4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825377734"/>
      </p:ext>
    </p:extLst>
  </p:cSld>
  <p:clrMapOvr>
    <a:masterClrMapping/>
  </p:clrMapOvr>
  <p:transition advTm="5000">
    <p:dissolv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245E8AE7-88A0-4549-A1EA-61CBAAEBA1F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011988656"/>
      </p:ext>
    </p:extLst>
  </p:cSld>
  <p:clrMapOvr>
    <a:masterClrMapping/>
  </p:clrMapOvr>
  <p:transition advTm="5000">
    <p:dissolv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A3B7A2F1-7C63-4914-A25E-31B95FAF13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194079481"/>
      </p:ext>
    </p:extLst>
  </p:cSld>
  <p:clrMapOvr>
    <a:masterClrMapping/>
  </p:clrMapOvr>
  <p:transition advTm="5000">
    <p:dissolv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endParaRPr lang="en-GB" noProof="0"/>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58EA372-0C85-4E5C-A78F-2E1B1B18CAB2}"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194291071"/>
      </p:ext>
    </p:extLst>
  </p:cSld>
  <p:clrMapOvr>
    <a:masterClrMapping/>
  </p:clrMapOvr>
  <p:transition advTm="5000">
    <p:dissolv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eaLnBrk="0" fontAlgn="base" hangingPunct="0">
              <a:spcBef>
                <a:spcPct val="0"/>
              </a:spcBef>
              <a:spcAft>
                <a:spcPct val="0"/>
              </a:spcAft>
            </a:pPr>
            <a:fld id="{17DD356B-E5CD-44F2-850A-F898D624950E}" type="datetime1">
              <a:rPr lang="en-US" smtClean="0">
                <a:solidFill>
                  <a:srgbClr val="000000"/>
                </a:solidFill>
                <a:latin typeface="Arial"/>
              </a:rPr>
              <a:pPr eaLnBrk="0" fontAlgn="base" hangingPunct="0">
                <a:spcBef>
                  <a:spcPct val="0"/>
                </a:spcBef>
                <a:spcAft>
                  <a:spcPct val="0"/>
                </a:spcAft>
              </a:pPr>
              <a:t>11/30/2020</a:t>
            </a:fld>
            <a:endParaRPr lang="en-US">
              <a:solidFill>
                <a:srgbClr val="000000"/>
              </a:solidFill>
              <a:latin typeface="Arial"/>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pPr>
            <a:r>
              <a:rPr lang="en-US">
                <a:solidFill>
                  <a:srgbClr val="000000"/>
                </a:solidFill>
                <a:latin typeface="Arial"/>
              </a:rPr>
              <a:t>From Security in Computing, Fifth Edition, by Charles P. Pfleeger, et al. (ISBN: 9780134085043). Copyright 2015 by Pearson Education, Inc. All rights reserved.</a:t>
            </a:r>
            <a:endParaRPr lang="en-US" dirty="0">
              <a:solidFill>
                <a:srgbClr val="000000"/>
              </a:solidFill>
              <a:latin typeface="Arial"/>
            </a:endParaRPr>
          </a:p>
        </p:txBody>
      </p:sp>
      <p:sp>
        <p:nvSpPr>
          <p:cNvPr id="6" name="Slide Number Placeholder 5"/>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smtClean="0">
                <a:solidFill>
                  <a:srgbClr val="000000"/>
                </a:solidFill>
                <a:latin typeface="Arial"/>
              </a:rPr>
              <a:pPr eaLnBrk="0" fontAlgn="base" hangingPunct="0">
                <a:spcBef>
                  <a:spcPct val="0"/>
                </a:spcBef>
                <a:spcAft>
                  <a:spcPct val="0"/>
                </a:spcAft>
              </a:pPr>
              <a:t>‹#›</a:t>
            </a:fld>
            <a:endParaRPr lang="en-US">
              <a:solidFill>
                <a:srgbClr val="000000"/>
              </a:solidFill>
              <a:latin typeface="Arial"/>
            </a:endParaRPr>
          </a:p>
        </p:txBody>
      </p:sp>
    </p:spTree>
    <p:extLst>
      <p:ext uri="{BB962C8B-B14F-4D97-AF65-F5344CB8AC3E}">
        <p14:creationId xmlns:p14="http://schemas.microsoft.com/office/powerpoint/2010/main" val="980765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6" Type="http://schemas.openxmlformats.org/officeDocument/2006/relationships/image" Target="../media/image1.jpe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theme" Target="../theme/theme2.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fld id="{3D1507E9-85A2-422F-ACF1-F32DDE8CF460}" type="datetimeFigureOut">
              <a:rPr lang="en-GB" smtClean="0"/>
              <a:t>30/11/2020</a:t>
            </a:fld>
            <a:endParaRPr lang="en-GB"/>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endParaRPr lang="en-GB"/>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fld id="{A161E7F4-7171-4057-BBD0-A012A4C6B29E}" type="slidenum">
              <a:rPr lang="en-GB" smtClean="0"/>
              <a:t>‹#›</a:t>
            </a:fld>
            <a:endParaRPr lang="en-GB"/>
          </a:p>
        </p:txBody>
      </p:sp>
      <p:pic>
        <p:nvPicPr>
          <p:cNvPr id="1031" name="Picture 65" descr="Glyndwr PPT-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583191"/>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662" r:id="rId16"/>
    <p:sldLayoutId id="2147483689" r:id="rId17"/>
    <p:sldLayoutId id="2147483690" r:id="rId18"/>
    <p:sldLayoutId id="2147483691" r:id="rId19"/>
    <p:sldLayoutId id="2147483701" r:id="rId20"/>
    <p:sldLayoutId id="2147483702" r:id="rId21"/>
    <p:sldLayoutId id="2147483703" r:id="rId22"/>
  </p:sldLayoutIdLst>
  <p:transition advTm="5000">
    <p:dissolv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Times New Roman" pitchFamily="18" charset="0"/>
        </a:defRPr>
      </a:lvl2pPr>
      <a:lvl3pPr algn="ctr" rtl="0" eaLnBrk="1" fontAlgn="base" hangingPunct="1">
        <a:spcBef>
          <a:spcPct val="0"/>
        </a:spcBef>
        <a:spcAft>
          <a:spcPct val="0"/>
        </a:spcAft>
        <a:defRPr sz="4400">
          <a:solidFill>
            <a:schemeClr val="tx2"/>
          </a:solidFill>
          <a:latin typeface="Times New Roman" pitchFamily="18" charset="0"/>
        </a:defRPr>
      </a:lvl3pPr>
      <a:lvl4pPr algn="ctr" rtl="0" eaLnBrk="1" fontAlgn="base" hangingPunct="1">
        <a:spcBef>
          <a:spcPct val="0"/>
        </a:spcBef>
        <a:spcAft>
          <a:spcPct val="0"/>
        </a:spcAft>
        <a:defRPr sz="4400">
          <a:solidFill>
            <a:schemeClr val="tx2"/>
          </a:solidFill>
          <a:latin typeface="Times New Roman" pitchFamily="18" charset="0"/>
        </a:defRPr>
      </a:lvl4pPr>
      <a:lvl5pPr algn="ctr" rtl="0" eaLnBrk="1" fontAlgn="base" hangingPunct="1">
        <a:spcBef>
          <a:spcPct val="0"/>
        </a:spcBef>
        <a:spcAft>
          <a:spcPct val="0"/>
        </a:spcAft>
        <a:defRPr sz="4400">
          <a:solidFill>
            <a:schemeClr val="tx2"/>
          </a:solidFill>
          <a:latin typeface="Times New Roman" pitchFamily="18"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84154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Lst>
  <p:transition advTm="5000">
    <p:dissolve/>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304799" y="869950"/>
            <a:ext cx="11028947" cy="1728788"/>
          </a:xfrm>
        </p:spPr>
        <p:txBody>
          <a:bodyPr/>
          <a:lstStyle/>
          <a:p>
            <a:pPr algn="r"/>
            <a:r>
              <a:rPr lang="en-US" altLang="en-US">
                <a:latin typeface="Georgia" panose="02040502050405020303" pitchFamily="18" charset="0"/>
              </a:rPr>
              <a:t>Lecture 7 </a:t>
            </a:r>
            <a:r>
              <a:rPr lang="en-US" altLang="en-US" dirty="0">
                <a:latin typeface="Georgia" panose="02040502050405020303" pitchFamily="18" charset="0"/>
              </a:rPr>
              <a:t>– </a:t>
            </a:r>
            <a:r>
              <a:rPr lang="en-US" dirty="0"/>
              <a:t>Introduction to General Data Protection Regulation (GDPR)</a:t>
            </a:r>
            <a:br>
              <a:rPr lang="en-US" dirty="0"/>
            </a:br>
            <a:r>
              <a:rPr lang="en-US" dirty="0"/>
              <a:t>(and some other laws that we should know about)</a:t>
            </a:r>
            <a:endParaRPr lang="en-GB" altLang="en-US" dirty="0">
              <a:latin typeface="Georgia" panose="02040502050405020303" pitchFamily="18" charset="0"/>
            </a:endParaRPr>
          </a:p>
        </p:txBody>
      </p:sp>
      <p:sp>
        <p:nvSpPr>
          <p:cNvPr id="6147" name="TextBox 3"/>
          <p:cNvSpPr txBox="1">
            <a:spLocks noChangeArrowheads="1"/>
          </p:cNvSpPr>
          <p:nvPr/>
        </p:nvSpPr>
        <p:spPr bwMode="auto">
          <a:xfrm>
            <a:off x="1591845" y="2899110"/>
            <a:ext cx="892810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1900" b="0" i="0"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COM744: Security and Risk Management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1900" b="0" i="0"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Nigel Houlden / Jason Davies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altLang="en-US" sz="1200" b="0" i="0"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altLang="en-US" sz="2000" b="0" i="0"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altLang="en-US" sz="2000" b="0" i="0"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alt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altLang="en-US" sz="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17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n.houlden@glyndwr.ac.uk </a:t>
            </a:r>
            <a:r>
              <a:rPr kumimoji="0" lang="en-GB" altLang="en-US" sz="1700" b="0" i="0" u="none" strike="noStrike" kern="120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GB" altLang="en-US" sz="1600" b="0" i="0" u="none" strike="noStrike" kern="120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Jason.Davies@glyndwr.ac.uk</a:t>
            </a:r>
            <a:endParaRPr kumimoji="0" lang="en-GB" altLang="en-US" sz="17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p:txBody>
      </p:sp>
    </p:spTree>
    <p:extLst>
      <p:ext uri="{BB962C8B-B14F-4D97-AF65-F5344CB8AC3E}">
        <p14:creationId xmlns:p14="http://schemas.microsoft.com/office/powerpoint/2010/main" val="3222800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Separation of Powers</a:t>
            </a:r>
          </a:p>
        </p:txBody>
      </p:sp>
      <p:sp>
        <p:nvSpPr>
          <p:cNvPr id="3" name="Oval 2"/>
          <p:cNvSpPr/>
          <p:nvPr/>
        </p:nvSpPr>
        <p:spPr bwMode="auto">
          <a:xfrm>
            <a:off x="4679092" y="1881506"/>
            <a:ext cx="2310713" cy="140043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Tahoma" pitchFamily="34" charset="0"/>
              </a:rPr>
              <a:t>The Executive</a:t>
            </a:r>
            <a:endParaRPr kumimoji="0" lang="en-GB" sz="1600" b="0" i="0" u="none" strike="noStrike" cap="none" normalizeH="0" baseline="0" dirty="0">
              <a:ln>
                <a:noFill/>
              </a:ln>
              <a:solidFill>
                <a:schemeClr val="tx1"/>
              </a:solidFill>
              <a:effectLst/>
              <a:latin typeface="Tahoma" pitchFamily="34" charset="0"/>
            </a:endParaRPr>
          </a:p>
        </p:txBody>
      </p:sp>
      <p:sp>
        <p:nvSpPr>
          <p:cNvPr id="4" name="Rectangle 3"/>
          <p:cNvSpPr/>
          <p:nvPr/>
        </p:nvSpPr>
        <p:spPr bwMode="auto">
          <a:xfrm>
            <a:off x="7974227" y="3855308"/>
            <a:ext cx="2240692" cy="1466335"/>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600" b="0" i="0" u="none" strike="noStrike" cap="none" normalizeH="0" baseline="0" dirty="0">
              <a:ln>
                <a:noFill/>
              </a:ln>
              <a:solidFill>
                <a:schemeClr val="tx1"/>
              </a:solidFill>
              <a:effectLst/>
              <a:latin typeface="Tahoma"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Tahoma"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Tahoma" pitchFamily="34" charset="0"/>
              </a:rPr>
              <a:t>Parliament </a:t>
            </a:r>
            <a:endParaRPr kumimoji="0" lang="en-GB" sz="1600" b="0" i="0" u="none" strike="noStrike" cap="none" normalizeH="0" baseline="0" dirty="0">
              <a:ln>
                <a:noFill/>
              </a:ln>
              <a:solidFill>
                <a:schemeClr val="tx1"/>
              </a:solidFill>
              <a:effectLst/>
              <a:latin typeface="Tahoma" pitchFamily="34" charset="0"/>
            </a:endParaRPr>
          </a:p>
        </p:txBody>
      </p:sp>
      <p:sp>
        <p:nvSpPr>
          <p:cNvPr id="5" name="Isosceles Triangle 4"/>
          <p:cNvSpPr/>
          <p:nvPr/>
        </p:nvSpPr>
        <p:spPr bwMode="auto">
          <a:xfrm>
            <a:off x="1400433" y="3220996"/>
            <a:ext cx="2792626" cy="1993556"/>
          </a:xfrm>
          <a:prstGeom prst="triangl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Tahoma" pitchFamily="34" charset="0"/>
              </a:rPr>
              <a:t>Judiciary </a:t>
            </a:r>
            <a:endParaRPr kumimoji="0" lang="en-GB" sz="14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4226144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8444"/>
            <a:ext cx="10363200" cy="766530"/>
          </a:xfrm>
        </p:spPr>
        <p:txBody>
          <a:bodyPr/>
          <a:lstStyle/>
          <a:p>
            <a:r>
              <a:rPr lang="en-US" dirty="0"/>
              <a:t>Laws</a:t>
            </a:r>
            <a:endParaRPr lang="en-GB" dirty="0"/>
          </a:p>
        </p:txBody>
      </p:sp>
      <p:sp>
        <p:nvSpPr>
          <p:cNvPr id="3" name="Content Placeholder 2">
            <a:extLst>
              <a:ext uri="{FF2B5EF4-FFF2-40B4-BE49-F238E27FC236}">
                <a16:creationId xmlns:a16="http://schemas.microsoft.com/office/drawing/2014/main" id="{0DB4BD51-955F-8B43-9406-6E74D78D2460}"/>
              </a:ext>
            </a:extLst>
          </p:cNvPr>
          <p:cNvSpPr txBox="1">
            <a:spLocks/>
          </p:cNvSpPr>
          <p:nvPr/>
        </p:nvSpPr>
        <p:spPr>
          <a:xfrm>
            <a:off x="609600" y="1307880"/>
            <a:ext cx="11077322" cy="3407618"/>
          </a:xfrm>
          <a:prstGeom prst="rect">
            <a:avLst/>
          </a:prstGeom>
        </p:spPr>
        <p:txBody>
          <a:bodyPr numCol="1" spcCol="360000">
            <a:no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400" b="1" kern="0" dirty="0"/>
              <a:t>FOIA</a:t>
            </a:r>
          </a:p>
          <a:p>
            <a:r>
              <a:rPr lang="en-US" sz="2400" b="1" kern="0" dirty="0"/>
              <a:t>NIS</a:t>
            </a:r>
          </a:p>
          <a:p>
            <a:r>
              <a:rPr lang="en-US" sz="2400" b="1" kern="0" dirty="0"/>
              <a:t>Obscene Publications Act </a:t>
            </a:r>
          </a:p>
          <a:p>
            <a:r>
              <a:rPr lang="en-US" sz="2400" b="1" kern="0" dirty="0"/>
              <a:t>Computer Misuse Act</a:t>
            </a:r>
          </a:p>
          <a:p>
            <a:r>
              <a:rPr lang="en-US" sz="2400" b="1" kern="0" dirty="0"/>
              <a:t>PECR</a:t>
            </a:r>
          </a:p>
          <a:p>
            <a:r>
              <a:rPr lang="en-US" sz="2400" b="1" kern="0" dirty="0"/>
              <a:t>The GDPR</a:t>
            </a:r>
          </a:p>
          <a:p>
            <a:r>
              <a:rPr lang="en-US" sz="2400" b="1" kern="0" dirty="0"/>
              <a:t>DPA 98</a:t>
            </a:r>
          </a:p>
          <a:p>
            <a:r>
              <a:rPr lang="en-US" sz="2400" b="1" kern="0" dirty="0"/>
              <a:t>DPA 18</a:t>
            </a:r>
          </a:p>
          <a:p>
            <a:endParaRPr lang="en-US" sz="2400" kern="0" dirty="0"/>
          </a:p>
        </p:txBody>
      </p:sp>
    </p:spTree>
    <p:extLst>
      <p:ext uri="{BB962C8B-B14F-4D97-AF65-F5344CB8AC3E}">
        <p14:creationId xmlns:p14="http://schemas.microsoft.com/office/powerpoint/2010/main" val="4283506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Freedom of Information Act </a:t>
            </a:r>
          </a:p>
        </p:txBody>
      </p:sp>
      <p:sp>
        <p:nvSpPr>
          <p:cNvPr id="3" name="TextBox 2"/>
          <p:cNvSpPr txBox="1"/>
          <p:nvPr/>
        </p:nvSpPr>
        <p:spPr>
          <a:xfrm>
            <a:off x="988541" y="1804087"/>
            <a:ext cx="10672155"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Freedom of Information Act ( FOIA ) gives you the right to access recorded </a:t>
            </a:r>
            <a:r>
              <a:rPr lang="en-US" sz="2400" b="1" dirty="0"/>
              <a:t>information </a:t>
            </a:r>
            <a:r>
              <a:rPr lang="en-US" sz="2400" dirty="0"/>
              <a:t>held by public sector organisations. </a:t>
            </a:r>
          </a:p>
          <a:p>
            <a:pPr marL="285750" indent="-285750">
              <a:buFont typeface="Arial" panose="020B0604020202020204" pitchFamily="34" charset="0"/>
              <a:buChar char="•"/>
            </a:pPr>
            <a:r>
              <a:rPr lang="en-US" sz="2400" dirty="0"/>
              <a:t>Anyone can request information – there are no restrictions on your age, nationality or where you live</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r>
              <a:rPr lang="en-GB" sz="2400" dirty="0">
                <a:solidFill>
                  <a:srgbClr val="FF0000"/>
                </a:solidFill>
              </a:rPr>
              <a:t>https://www.whatdotheyknow.com/</a:t>
            </a:r>
          </a:p>
          <a:p>
            <a:endParaRPr lang="en-GB" sz="2400" dirty="0"/>
          </a:p>
          <a:p>
            <a:endParaRPr lang="en-GB" sz="2400" dirty="0"/>
          </a:p>
        </p:txBody>
      </p:sp>
    </p:spTree>
    <p:extLst>
      <p:ext uri="{BB962C8B-B14F-4D97-AF65-F5344CB8AC3E}">
        <p14:creationId xmlns:p14="http://schemas.microsoft.com/office/powerpoint/2010/main" val="2454390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1395"/>
            <a:ext cx="12192000" cy="1137233"/>
          </a:xfrm>
        </p:spPr>
        <p:txBody>
          <a:bodyPr/>
          <a:lstStyle/>
          <a:p>
            <a:r>
              <a:rPr lang="en-GB" dirty="0"/>
              <a:t>Network and Information Systems Regulation 2018</a:t>
            </a:r>
            <a:br>
              <a:rPr lang="en-GB" b="1" dirty="0"/>
            </a:br>
            <a:endParaRPr lang="en-GB" dirty="0"/>
          </a:p>
        </p:txBody>
      </p:sp>
      <p:sp>
        <p:nvSpPr>
          <p:cNvPr id="3" name="TextBox 2"/>
          <p:cNvSpPr txBox="1"/>
          <p:nvPr/>
        </p:nvSpPr>
        <p:spPr>
          <a:xfrm>
            <a:off x="177113" y="1062681"/>
            <a:ext cx="11837773" cy="4893647"/>
          </a:xfrm>
          <a:prstGeom prst="rect">
            <a:avLst/>
          </a:prstGeom>
          <a:noFill/>
        </p:spPr>
        <p:txBody>
          <a:bodyPr wrap="square" rtlCol="0">
            <a:spAutoFit/>
          </a:bodyPr>
          <a:lstStyle/>
          <a:p>
            <a:pPr marL="457200" indent="-457200">
              <a:buFont typeface="Arial" panose="020B0604020202020204" pitchFamily="34" charset="0"/>
              <a:buChar char="•"/>
            </a:pPr>
            <a:r>
              <a:rPr lang="en-US" sz="2400" dirty="0"/>
              <a:t>NIS applies to two groups of </a:t>
            </a:r>
            <a:r>
              <a:rPr lang="en-US" sz="2400" dirty="0" err="1"/>
              <a:t>organisations</a:t>
            </a:r>
            <a:r>
              <a:rPr lang="en-US" sz="2400" dirty="0"/>
              <a:t>: ‘operators of essential services’ (OES) and ‘relevant digital service providers’ (RDSPs).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solidFill>
                  <a:srgbClr val="000000"/>
                </a:solidFill>
              </a:rPr>
              <a:t>The ICO is the ‘competent authority’ for RDSPs</a:t>
            </a:r>
          </a:p>
          <a:p>
            <a:pPr marL="457200" indent="-457200">
              <a:buFont typeface="Arial" panose="020B0604020202020204" pitchFamily="34" charset="0"/>
              <a:buChar char="•"/>
            </a:pPr>
            <a:endParaRPr lang="en-US" sz="2400" dirty="0">
              <a:solidFill>
                <a:srgbClr val="000000"/>
              </a:solidFill>
            </a:endParaRPr>
          </a:p>
          <a:p>
            <a:pPr marL="457200" indent="-457200">
              <a:buFont typeface="Arial" panose="020B0604020202020204" pitchFamily="34" charset="0"/>
              <a:buChar char="•"/>
            </a:pPr>
            <a:r>
              <a:rPr lang="en-US" sz="2400" dirty="0">
                <a:solidFill>
                  <a:srgbClr val="000000"/>
                </a:solidFill>
              </a:rPr>
              <a:t>ICO have powers that they can use to enforce NIS, including issuing fines of up to £17 million in the most serious cases.</a:t>
            </a:r>
          </a:p>
          <a:p>
            <a:pPr marL="457200" indent="-457200">
              <a:buFont typeface="Arial" panose="020B0604020202020204" pitchFamily="34" charset="0"/>
              <a:buChar char="•"/>
            </a:pPr>
            <a:endParaRPr lang="en-US" sz="2400" dirty="0">
              <a:solidFill>
                <a:srgbClr val="000000"/>
              </a:solidFill>
            </a:endParaRPr>
          </a:p>
          <a:p>
            <a:pPr marL="457200" indent="-457200">
              <a:buFont typeface="Arial" panose="020B0604020202020204" pitchFamily="34" charset="0"/>
              <a:buChar char="•"/>
            </a:pPr>
            <a:r>
              <a:rPr lang="en-US" sz="2400" dirty="0">
                <a:solidFill>
                  <a:srgbClr val="000000"/>
                </a:solidFill>
              </a:rPr>
              <a:t>NIS relates to any ‘incident’ that has an impact on a service, where that impact produces a significant disruptive effect. </a:t>
            </a:r>
          </a:p>
          <a:p>
            <a:pPr marL="914400" lvl="1" indent="-457200">
              <a:buFont typeface="Arial" panose="020B0604020202020204" pitchFamily="34" charset="0"/>
              <a:buChar char="•"/>
            </a:pPr>
            <a:r>
              <a:rPr lang="en-US" sz="2400" dirty="0">
                <a:solidFill>
                  <a:srgbClr val="000000"/>
                </a:solidFill>
              </a:rPr>
              <a:t>It is primarily aimed at improving cybersecurity, but is not in itself a cybersecurity law. </a:t>
            </a:r>
          </a:p>
          <a:p>
            <a:pPr marL="914400" lvl="1" indent="-457200">
              <a:buFont typeface="Arial" panose="020B0604020202020204" pitchFamily="34" charset="0"/>
              <a:buChar char="•"/>
            </a:pPr>
            <a:r>
              <a:rPr lang="en-US" sz="2400" dirty="0">
                <a:solidFill>
                  <a:srgbClr val="000000"/>
                </a:solidFill>
              </a:rPr>
              <a:t>It also includes impacts that have ‘non-cyber’ causes, for example interruptions to power supplies or natural disasters such as flooding.</a:t>
            </a:r>
          </a:p>
        </p:txBody>
      </p:sp>
    </p:spTree>
    <p:extLst>
      <p:ext uri="{BB962C8B-B14F-4D97-AF65-F5344CB8AC3E}">
        <p14:creationId xmlns:p14="http://schemas.microsoft.com/office/powerpoint/2010/main" val="3883080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7838" y="0"/>
            <a:ext cx="10363200" cy="1470025"/>
          </a:xfrm>
        </p:spPr>
        <p:txBody>
          <a:bodyPr/>
          <a:lstStyle/>
          <a:p>
            <a:r>
              <a:rPr lang="en-GB" dirty="0"/>
              <a:t>What defines a Relevant digital service?</a:t>
            </a:r>
          </a:p>
        </p:txBody>
      </p:sp>
      <p:sp>
        <p:nvSpPr>
          <p:cNvPr id="3" name="TextBox 2"/>
          <p:cNvSpPr txBox="1"/>
          <p:nvPr/>
        </p:nvSpPr>
        <p:spPr>
          <a:xfrm>
            <a:off x="691978" y="1359244"/>
            <a:ext cx="10692714"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t>provide one or more of the following digital services: </a:t>
            </a:r>
          </a:p>
          <a:p>
            <a:pPr marL="914400" lvl="1" indent="-457200">
              <a:buFont typeface="Arial" panose="020B0604020202020204" pitchFamily="34" charset="0"/>
              <a:buChar char="•"/>
            </a:pPr>
            <a:r>
              <a:rPr lang="en-US" sz="2800" dirty="0"/>
              <a:t>an online search engine</a:t>
            </a:r>
          </a:p>
          <a:p>
            <a:pPr marL="914400" lvl="1" indent="-457200">
              <a:buFont typeface="Arial" panose="020B0604020202020204" pitchFamily="34" charset="0"/>
              <a:buChar char="•"/>
            </a:pPr>
            <a:r>
              <a:rPr lang="en-US" sz="2800" dirty="0"/>
              <a:t>an online marketplace</a:t>
            </a:r>
          </a:p>
          <a:p>
            <a:pPr marL="914400" lvl="1" indent="-457200">
              <a:buFont typeface="Arial" panose="020B0604020202020204" pitchFamily="34" charset="0"/>
              <a:buChar char="•"/>
            </a:pPr>
            <a:r>
              <a:rPr lang="en-US" sz="2800" dirty="0"/>
              <a:t>a cloud computing service</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Have your head office in the UK, or have nominated a UK representative; </a:t>
            </a:r>
            <a:r>
              <a:rPr lang="en-US" sz="2800" b="1" u="sng" dirty="0"/>
              <a:t>and</a:t>
            </a:r>
          </a:p>
          <a:p>
            <a:pPr marL="457200" indent="-457200">
              <a:buFont typeface="Arial" panose="020B0604020202020204" pitchFamily="34" charset="0"/>
              <a:buChar char="•"/>
            </a:pPr>
            <a:r>
              <a:rPr lang="en-US" sz="2800" dirty="0"/>
              <a:t>Have more than 50 staff and a turnover or balance sheet of more than €10 million</a:t>
            </a:r>
            <a:endParaRPr lang="en-GB" sz="2800" dirty="0"/>
          </a:p>
        </p:txBody>
      </p:sp>
    </p:spTree>
    <p:extLst>
      <p:ext uri="{BB962C8B-B14F-4D97-AF65-F5344CB8AC3E}">
        <p14:creationId xmlns:p14="http://schemas.microsoft.com/office/powerpoint/2010/main" val="540003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71438"/>
            <a:ext cx="10363200" cy="840670"/>
          </a:xfrm>
        </p:spPr>
        <p:txBody>
          <a:bodyPr/>
          <a:lstStyle/>
          <a:p>
            <a:r>
              <a:rPr lang="en-GB" b="1" dirty="0"/>
              <a:t>Obscene Publications Act 1964</a:t>
            </a:r>
            <a:br>
              <a:rPr lang="en-GB" b="1" dirty="0"/>
            </a:br>
            <a:endParaRPr lang="en-GB" dirty="0"/>
          </a:p>
        </p:txBody>
      </p:sp>
      <p:sp>
        <p:nvSpPr>
          <p:cNvPr id="3" name="Content Placeholder 2">
            <a:extLst>
              <a:ext uri="{FF2B5EF4-FFF2-40B4-BE49-F238E27FC236}">
                <a16:creationId xmlns:a16="http://schemas.microsoft.com/office/drawing/2014/main" id="{0DB4BD51-955F-8B43-9406-6E74D78D2460}"/>
              </a:ext>
            </a:extLst>
          </p:cNvPr>
          <p:cNvSpPr txBox="1">
            <a:spLocks/>
          </p:cNvSpPr>
          <p:nvPr/>
        </p:nvSpPr>
        <p:spPr>
          <a:xfrm>
            <a:off x="785996" y="1469433"/>
            <a:ext cx="9691853" cy="3707459"/>
          </a:xfrm>
          <a:prstGeom prst="rect">
            <a:avLst/>
          </a:prstGeom>
        </p:spPr>
        <p:txBody>
          <a:bodyPr numCol="1" spcCol="360000">
            <a:no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000" dirty="0"/>
              <a:t>An Act to strengthen the law for preventing the publication for gain of obscene matter and the publication of things intended for the production of obscene matter.</a:t>
            </a:r>
          </a:p>
          <a:p>
            <a:pPr marL="0" indent="0">
              <a:buFontTx/>
              <a:buNone/>
            </a:pPr>
            <a:endParaRPr lang="en-US" sz="2000" kern="0" dirty="0"/>
          </a:p>
          <a:p>
            <a:pPr marL="0" indent="0">
              <a:buFontTx/>
              <a:buNone/>
            </a:pPr>
            <a:endParaRPr lang="en-US" sz="2000" kern="0" dirty="0"/>
          </a:p>
        </p:txBody>
      </p:sp>
    </p:spTree>
    <p:extLst>
      <p:ext uri="{BB962C8B-B14F-4D97-AF65-F5344CB8AC3E}">
        <p14:creationId xmlns:p14="http://schemas.microsoft.com/office/powerpoint/2010/main" val="1281523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71438"/>
            <a:ext cx="10363200" cy="840670"/>
          </a:xfrm>
        </p:spPr>
        <p:txBody>
          <a:bodyPr/>
          <a:lstStyle/>
          <a:p>
            <a:r>
              <a:rPr lang="en-GB" b="1" dirty="0"/>
              <a:t>Obscene Publications Act 1964</a:t>
            </a:r>
            <a:br>
              <a:rPr lang="en-GB" b="1" dirty="0"/>
            </a:br>
            <a:endParaRPr lang="en-GB" dirty="0"/>
          </a:p>
        </p:txBody>
      </p:sp>
      <p:sp>
        <p:nvSpPr>
          <p:cNvPr id="3" name="Content Placeholder 2">
            <a:extLst>
              <a:ext uri="{FF2B5EF4-FFF2-40B4-BE49-F238E27FC236}">
                <a16:creationId xmlns:a16="http://schemas.microsoft.com/office/drawing/2014/main" id="{0DB4BD51-955F-8B43-9406-6E74D78D2460}"/>
              </a:ext>
            </a:extLst>
          </p:cNvPr>
          <p:cNvSpPr txBox="1">
            <a:spLocks/>
          </p:cNvSpPr>
          <p:nvPr/>
        </p:nvSpPr>
        <p:spPr>
          <a:xfrm>
            <a:off x="536895" y="1112108"/>
            <a:ext cx="10741763" cy="3707459"/>
          </a:xfrm>
          <a:prstGeom prst="rect">
            <a:avLst/>
          </a:prstGeom>
        </p:spPr>
        <p:txBody>
          <a:bodyPr numCol="1" spcCol="360000">
            <a:no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FontTx/>
              <a:buNone/>
            </a:pPr>
            <a:endParaRPr lang="en-US" sz="2000" kern="0" dirty="0"/>
          </a:p>
          <a:p>
            <a:pPr marL="457200" indent="-457200">
              <a:buFont typeface="+mj-lt"/>
              <a:buAutoNum type="arabicParenR"/>
            </a:pPr>
            <a:r>
              <a:rPr lang="en-US" sz="2000" kern="0" dirty="0"/>
              <a:t>For the purposes of this Act an article shall be deemed to be obscene if its effect or (where the article comprises two or more distinct items) the effect of any one of its items is, if taken as a whole, such as to tend to deprave and corrupt persons who are likely, having regard to all relevant circumstances, to read, see or hear the matter contained or embodied in it</a:t>
            </a:r>
          </a:p>
          <a:p>
            <a:pPr marL="457200" indent="-457200">
              <a:buFont typeface="+mj-lt"/>
              <a:buAutoNum type="arabicParenR"/>
            </a:pPr>
            <a:r>
              <a:rPr lang="en-US" sz="2000" dirty="0"/>
              <a:t>In this Act “article” means any description of article containing or embodying matter to be read or looked at or both, any sound record, and any film or other record of a picture or picture</a:t>
            </a:r>
          </a:p>
          <a:p>
            <a:pPr marL="457200" indent="-457200">
              <a:buFont typeface="+mj-lt"/>
              <a:buAutoNum type="arabicParenR"/>
            </a:pPr>
            <a:r>
              <a:rPr lang="en-US" sz="2000" dirty="0"/>
              <a:t>For the purposes of this Act a person publishes an article who—</a:t>
            </a:r>
          </a:p>
          <a:p>
            <a:pPr marL="0" indent="0">
              <a:buNone/>
            </a:pPr>
            <a:r>
              <a:rPr lang="en-US" sz="2000" dirty="0"/>
              <a:t>	(a)distributes, circulates, sells, lets on hire, gives, or lends it, or who offers it for sale or for letting on hire; 	or</a:t>
            </a:r>
          </a:p>
          <a:p>
            <a:pPr marL="0" indent="0">
              <a:buNone/>
            </a:pPr>
            <a:r>
              <a:rPr lang="en-US" sz="2000" dirty="0"/>
              <a:t>	(b)in the case of an article containing or embodying matter to be looked at or a record, shows, plays or 	projects it or, where the matter is data stored electronically, transmits that data</a:t>
            </a:r>
          </a:p>
          <a:p>
            <a:pPr marL="0" indent="0">
              <a:buFontTx/>
              <a:buNone/>
            </a:pPr>
            <a:endParaRPr lang="en-US" sz="2000" kern="0" dirty="0"/>
          </a:p>
        </p:txBody>
      </p:sp>
    </p:spTree>
    <p:extLst>
      <p:ext uri="{BB962C8B-B14F-4D97-AF65-F5344CB8AC3E}">
        <p14:creationId xmlns:p14="http://schemas.microsoft.com/office/powerpoint/2010/main" val="680525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71438"/>
            <a:ext cx="10363200" cy="840670"/>
          </a:xfrm>
        </p:spPr>
        <p:txBody>
          <a:bodyPr/>
          <a:lstStyle/>
          <a:p>
            <a:r>
              <a:rPr lang="en-GB" b="1" dirty="0"/>
              <a:t>Obscene Publications Act 1964</a:t>
            </a:r>
            <a:br>
              <a:rPr lang="en-GB" b="1" dirty="0"/>
            </a:br>
            <a:endParaRPr lang="en-GB" dirty="0"/>
          </a:p>
        </p:txBody>
      </p:sp>
      <p:sp>
        <p:nvSpPr>
          <p:cNvPr id="3" name="Content Placeholder 2">
            <a:extLst>
              <a:ext uri="{FF2B5EF4-FFF2-40B4-BE49-F238E27FC236}">
                <a16:creationId xmlns:a16="http://schemas.microsoft.com/office/drawing/2014/main" id="{0DB4BD51-955F-8B43-9406-6E74D78D2460}"/>
              </a:ext>
            </a:extLst>
          </p:cNvPr>
          <p:cNvSpPr txBox="1">
            <a:spLocks/>
          </p:cNvSpPr>
          <p:nvPr/>
        </p:nvSpPr>
        <p:spPr>
          <a:xfrm>
            <a:off x="785996" y="1469433"/>
            <a:ext cx="9691853" cy="3707459"/>
          </a:xfrm>
          <a:prstGeom prst="rect">
            <a:avLst/>
          </a:prstGeom>
        </p:spPr>
        <p:txBody>
          <a:bodyPr numCol="1" spcCol="360000">
            <a:no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endParaRPr lang="en-US" sz="2000" dirty="0"/>
          </a:p>
          <a:p>
            <a:pPr marL="0" indent="0">
              <a:buFontTx/>
              <a:buNone/>
            </a:pPr>
            <a:endParaRPr lang="en-US" sz="2000" kern="0" dirty="0"/>
          </a:p>
          <a:p>
            <a:pPr marL="0" indent="0">
              <a:buFontTx/>
              <a:buNone/>
            </a:pPr>
            <a:endParaRPr lang="en-US" sz="2000" kern="0" dirty="0"/>
          </a:p>
        </p:txBody>
      </p:sp>
      <p:sp>
        <p:nvSpPr>
          <p:cNvPr id="5" name="TextBox 4">
            <a:extLst>
              <a:ext uri="{FF2B5EF4-FFF2-40B4-BE49-F238E27FC236}">
                <a16:creationId xmlns:a16="http://schemas.microsoft.com/office/drawing/2014/main" id="{3461FD80-8619-4934-829A-77DC9B11F15B}"/>
              </a:ext>
            </a:extLst>
          </p:cNvPr>
          <p:cNvSpPr txBox="1"/>
          <p:nvPr/>
        </p:nvSpPr>
        <p:spPr>
          <a:xfrm>
            <a:off x="609599" y="1317072"/>
            <a:ext cx="9574635" cy="1384995"/>
          </a:xfrm>
          <a:prstGeom prst="rect">
            <a:avLst/>
          </a:prstGeom>
          <a:noFill/>
        </p:spPr>
        <p:txBody>
          <a:bodyPr wrap="square" rtlCol="0">
            <a:spAutoFit/>
          </a:bodyPr>
          <a:lstStyle/>
          <a:p>
            <a:pPr marL="285750" indent="-285750">
              <a:buFont typeface="Arial" panose="020B0604020202020204" pitchFamily="34" charset="0"/>
              <a:buChar char="•"/>
            </a:pPr>
            <a:r>
              <a:rPr lang="en-GB" sz="2800" dirty="0"/>
              <a:t>The maximum sentence is five years’ imprisonment and/or an unlimited fine.</a:t>
            </a:r>
          </a:p>
          <a:p>
            <a:endParaRPr lang="en-GB" sz="2800" dirty="0"/>
          </a:p>
        </p:txBody>
      </p:sp>
    </p:spTree>
    <p:extLst>
      <p:ext uri="{BB962C8B-B14F-4D97-AF65-F5344CB8AC3E}">
        <p14:creationId xmlns:p14="http://schemas.microsoft.com/office/powerpoint/2010/main" val="443949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00763"/>
            <a:ext cx="10363200" cy="1137233"/>
          </a:xfrm>
        </p:spPr>
        <p:txBody>
          <a:bodyPr/>
          <a:lstStyle/>
          <a:p>
            <a:r>
              <a:rPr lang="en-GB" dirty="0"/>
              <a:t>Computer Misuse Act 1990</a:t>
            </a:r>
          </a:p>
        </p:txBody>
      </p:sp>
      <p:sp>
        <p:nvSpPr>
          <p:cNvPr id="3" name="TextBox 2"/>
          <p:cNvSpPr txBox="1"/>
          <p:nvPr/>
        </p:nvSpPr>
        <p:spPr>
          <a:xfrm>
            <a:off x="444843" y="1548714"/>
            <a:ext cx="10692714" cy="4401205"/>
          </a:xfrm>
          <a:prstGeom prst="rect">
            <a:avLst/>
          </a:prstGeom>
          <a:noFill/>
        </p:spPr>
        <p:txBody>
          <a:bodyPr wrap="square" rtlCol="0">
            <a:spAutoFit/>
          </a:bodyPr>
          <a:lstStyle/>
          <a:p>
            <a:pPr marL="457200" indent="-457200">
              <a:buFont typeface="Arial" panose="020B0604020202020204" pitchFamily="34" charset="0"/>
              <a:buChar char="•"/>
            </a:pPr>
            <a:r>
              <a:rPr lang="en-GB" sz="2800" dirty="0"/>
              <a:t>The offences are: </a:t>
            </a:r>
          </a:p>
          <a:p>
            <a:pPr marL="914400" lvl="1" indent="-457200">
              <a:buFont typeface="Arial" panose="020B0604020202020204" pitchFamily="34" charset="0"/>
              <a:buChar char="•"/>
            </a:pPr>
            <a:r>
              <a:rPr lang="en-US" sz="2800" dirty="0" err="1"/>
              <a:t>Unauthorised</a:t>
            </a:r>
            <a:r>
              <a:rPr lang="en-US" sz="2800" dirty="0"/>
              <a:t> access to computer material.</a:t>
            </a:r>
          </a:p>
          <a:p>
            <a:pPr marL="457200" indent="-457200">
              <a:buFont typeface="Arial" panose="020B0604020202020204" pitchFamily="34" charset="0"/>
              <a:buChar char="•"/>
            </a:pPr>
            <a:endParaRPr lang="en-US" sz="2800" dirty="0"/>
          </a:p>
          <a:p>
            <a:pPr marL="914400" lvl="1" indent="-457200">
              <a:buFont typeface="Arial" panose="020B0604020202020204" pitchFamily="34" charset="0"/>
              <a:buChar char="•"/>
            </a:pPr>
            <a:r>
              <a:rPr lang="en-US" sz="2800" dirty="0"/>
              <a:t>Unauthorised access with intent to commit or facilitate a crime.</a:t>
            </a:r>
          </a:p>
          <a:p>
            <a:pPr marL="457200" indent="-457200">
              <a:buFont typeface="Arial" panose="020B0604020202020204" pitchFamily="34" charset="0"/>
              <a:buChar char="•"/>
            </a:pPr>
            <a:endParaRPr lang="en-US" sz="2800" dirty="0"/>
          </a:p>
          <a:p>
            <a:pPr marL="914400" lvl="1" indent="-457200">
              <a:buFont typeface="Arial" panose="020B0604020202020204" pitchFamily="34" charset="0"/>
              <a:buChar char="•"/>
            </a:pPr>
            <a:r>
              <a:rPr lang="en-US" sz="2800" dirty="0"/>
              <a:t>Unauthorised modification of computer material.</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GB" sz="2800" dirty="0"/>
              <a:t>The Act also makes it an offence to make, adapt, supply or obtain articles for use in unlawfully gaining access to computer material or impairing the operation of a computer.</a:t>
            </a:r>
            <a:endParaRPr lang="en-US" sz="2800" dirty="0"/>
          </a:p>
        </p:txBody>
      </p:sp>
    </p:spTree>
    <p:extLst>
      <p:ext uri="{BB962C8B-B14F-4D97-AF65-F5344CB8AC3E}">
        <p14:creationId xmlns:p14="http://schemas.microsoft.com/office/powerpoint/2010/main" val="3180695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0"/>
            <a:ext cx="10363200" cy="1137233"/>
          </a:xfrm>
        </p:spPr>
        <p:txBody>
          <a:bodyPr/>
          <a:lstStyle/>
          <a:p>
            <a:r>
              <a:rPr lang="en-GB" dirty="0"/>
              <a:t>Computer Misuse Act 1990</a:t>
            </a:r>
          </a:p>
        </p:txBody>
      </p:sp>
      <p:sp>
        <p:nvSpPr>
          <p:cNvPr id="3" name="TextBox 2"/>
          <p:cNvSpPr txBox="1"/>
          <p:nvPr/>
        </p:nvSpPr>
        <p:spPr>
          <a:xfrm>
            <a:off x="444843" y="1137233"/>
            <a:ext cx="10692714" cy="4401205"/>
          </a:xfrm>
          <a:prstGeom prst="rect">
            <a:avLst/>
          </a:prstGeom>
          <a:noFill/>
        </p:spPr>
        <p:txBody>
          <a:bodyPr wrap="square" rtlCol="0">
            <a:spAutoFit/>
          </a:bodyPr>
          <a:lstStyle/>
          <a:p>
            <a:pPr marL="457200" indent="-457200">
              <a:buFont typeface="Arial" panose="020B0604020202020204" pitchFamily="34" charset="0"/>
              <a:buChar char="•"/>
            </a:pPr>
            <a:r>
              <a:rPr lang="en-GB" sz="2800" dirty="0"/>
              <a:t>Access is defined in the Act as:</a:t>
            </a:r>
          </a:p>
          <a:p>
            <a:pPr marL="914400" lvl="1" indent="-457200">
              <a:buFont typeface="Arial" panose="020B0604020202020204" pitchFamily="34" charset="0"/>
              <a:buChar char="•"/>
            </a:pPr>
            <a:r>
              <a:rPr lang="en-GB" sz="2800" dirty="0"/>
              <a:t>Altering or erasing the computer programme or data</a:t>
            </a:r>
          </a:p>
          <a:p>
            <a:pPr marL="914400" lvl="1" indent="-457200">
              <a:buFont typeface="Arial" panose="020B0604020202020204" pitchFamily="34" charset="0"/>
              <a:buChar char="•"/>
            </a:pPr>
            <a:r>
              <a:rPr lang="en-GB" sz="2800" dirty="0"/>
              <a:t>Copying or moving the programme or data</a:t>
            </a:r>
          </a:p>
          <a:p>
            <a:pPr marL="914400" lvl="1" indent="-457200">
              <a:buFont typeface="Arial" panose="020B0604020202020204" pitchFamily="34" charset="0"/>
              <a:buChar char="•"/>
            </a:pPr>
            <a:r>
              <a:rPr lang="en-GB" sz="2800" dirty="0"/>
              <a:t>Using the programme or data</a:t>
            </a:r>
          </a:p>
          <a:p>
            <a:pPr marL="914400" lvl="1" indent="-457200">
              <a:buFont typeface="Arial" panose="020B0604020202020204" pitchFamily="34" charset="0"/>
              <a:buChar char="•"/>
            </a:pPr>
            <a:r>
              <a:rPr lang="en-GB" sz="2800" dirty="0"/>
              <a:t>Outputting the programme or data from the computer in which it is held (whether by having it displayed or in any other manner)</a:t>
            </a:r>
          </a:p>
          <a:p>
            <a:pPr marL="914400" lvl="1" indent="-457200">
              <a:buFont typeface="Arial" panose="020B0604020202020204" pitchFamily="34" charset="0"/>
              <a:buChar char="•"/>
            </a:pPr>
            <a:endParaRPr lang="en-GB" sz="2800" dirty="0"/>
          </a:p>
          <a:p>
            <a:pPr marL="457200" indent="-457200">
              <a:buFont typeface="Arial" panose="020B0604020202020204" pitchFamily="34" charset="0"/>
              <a:buChar char="•"/>
            </a:pPr>
            <a:r>
              <a:rPr lang="en-GB" sz="2800" dirty="0"/>
              <a:t>Unlawful access is committed if the individual intentionally gains access; knowing they are not entitled to do so; and aware they do not have consent to gain access.</a:t>
            </a:r>
            <a:endParaRPr lang="en-US" sz="2800" dirty="0"/>
          </a:p>
        </p:txBody>
      </p:sp>
    </p:spTree>
    <p:extLst>
      <p:ext uri="{BB962C8B-B14F-4D97-AF65-F5344CB8AC3E}">
        <p14:creationId xmlns:p14="http://schemas.microsoft.com/office/powerpoint/2010/main" val="4113669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2AA2E-EBF3-419E-B8EB-BF99BA43C5C2}"/>
              </a:ext>
            </a:extLst>
          </p:cNvPr>
          <p:cNvSpPr>
            <a:spLocks noGrp="1"/>
          </p:cNvSpPr>
          <p:nvPr>
            <p:ph type="ctrTitle"/>
          </p:nvPr>
        </p:nvSpPr>
        <p:spPr>
          <a:xfrm>
            <a:off x="636233" y="1"/>
            <a:ext cx="10363200" cy="701336"/>
          </a:xfrm>
        </p:spPr>
        <p:txBody>
          <a:bodyPr/>
          <a:lstStyle/>
          <a:p>
            <a:r>
              <a:rPr lang="en-GB" dirty="0"/>
              <a:t>Computer Misuse Act 1990</a:t>
            </a:r>
          </a:p>
        </p:txBody>
      </p:sp>
      <p:sp>
        <p:nvSpPr>
          <p:cNvPr id="4" name="TextBox 3">
            <a:extLst>
              <a:ext uri="{FF2B5EF4-FFF2-40B4-BE49-F238E27FC236}">
                <a16:creationId xmlns:a16="http://schemas.microsoft.com/office/drawing/2014/main" id="{8483BD61-A1AB-4F2A-B40B-CD91C3490F1B}"/>
              </a:ext>
            </a:extLst>
          </p:cNvPr>
          <p:cNvSpPr txBox="1"/>
          <p:nvPr/>
        </p:nvSpPr>
        <p:spPr>
          <a:xfrm>
            <a:off x="399495" y="1411550"/>
            <a:ext cx="10599938" cy="1846659"/>
          </a:xfrm>
          <a:prstGeom prst="rect">
            <a:avLst/>
          </a:prstGeom>
          <a:noFill/>
        </p:spPr>
        <p:txBody>
          <a:bodyPr wrap="square" rtlCol="0">
            <a:spAutoFit/>
          </a:bodyPr>
          <a:lstStyle/>
          <a:p>
            <a:pPr marL="285750" indent="-285750">
              <a:buFont typeface="Arial" panose="020B0604020202020204" pitchFamily="34" charset="0"/>
              <a:buChar char="•"/>
            </a:pPr>
            <a:r>
              <a:rPr lang="en-GB" sz="3200" dirty="0"/>
              <a:t>Section 1: Unauthorised access to computer material</a:t>
            </a:r>
          </a:p>
          <a:p>
            <a:pPr marL="285750" indent="-285750">
              <a:buFont typeface="Arial" panose="020B0604020202020204" pitchFamily="34" charset="0"/>
              <a:buChar char="•"/>
            </a:pPr>
            <a:r>
              <a:rPr lang="en-GB" sz="3200" dirty="0"/>
              <a:t>The maximum penalty on indictment is 2 years imprisonment.</a:t>
            </a:r>
          </a:p>
          <a:p>
            <a:pPr marL="285750" indent="-285750">
              <a:buFont typeface="Arial" panose="020B0604020202020204" pitchFamily="34" charset="0"/>
              <a:buChar char="•"/>
            </a:pPr>
            <a:endParaRPr lang="en-GB" sz="3200" dirty="0"/>
          </a:p>
          <a:p>
            <a:endParaRPr lang="en-GB" dirty="0"/>
          </a:p>
        </p:txBody>
      </p:sp>
    </p:spTree>
    <p:extLst>
      <p:ext uri="{BB962C8B-B14F-4D97-AF65-F5344CB8AC3E}">
        <p14:creationId xmlns:p14="http://schemas.microsoft.com/office/powerpoint/2010/main" val="255219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2AA2E-EBF3-419E-B8EB-BF99BA43C5C2}"/>
              </a:ext>
            </a:extLst>
          </p:cNvPr>
          <p:cNvSpPr>
            <a:spLocks noGrp="1"/>
          </p:cNvSpPr>
          <p:nvPr>
            <p:ph type="ctrTitle"/>
          </p:nvPr>
        </p:nvSpPr>
        <p:spPr>
          <a:xfrm>
            <a:off x="636233" y="301841"/>
            <a:ext cx="10363200" cy="701336"/>
          </a:xfrm>
        </p:spPr>
        <p:txBody>
          <a:bodyPr/>
          <a:lstStyle/>
          <a:p>
            <a:r>
              <a:rPr lang="en-GB" dirty="0"/>
              <a:t>Computer Misuse Act 1990</a:t>
            </a:r>
          </a:p>
        </p:txBody>
      </p:sp>
      <p:sp>
        <p:nvSpPr>
          <p:cNvPr id="3" name="TextBox 2">
            <a:extLst>
              <a:ext uri="{FF2B5EF4-FFF2-40B4-BE49-F238E27FC236}">
                <a16:creationId xmlns:a16="http://schemas.microsoft.com/office/drawing/2014/main" id="{F651ED73-13D3-46A6-BA3E-4397F2E0AEBE}"/>
              </a:ext>
            </a:extLst>
          </p:cNvPr>
          <p:cNvSpPr txBox="1"/>
          <p:nvPr/>
        </p:nvSpPr>
        <p:spPr>
          <a:xfrm>
            <a:off x="222421" y="1473978"/>
            <a:ext cx="11969579" cy="2277547"/>
          </a:xfrm>
          <a:prstGeom prst="rect">
            <a:avLst/>
          </a:prstGeom>
          <a:noFill/>
        </p:spPr>
        <p:txBody>
          <a:bodyPr wrap="square" rtlCol="0">
            <a:spAutoFit/>
          </a:bodyPr>
          <a:lstStyle/>
          <a:p>
            <a:pPr marL="457200" indent="-457200">
              <a:buFont typeface="Arial" panose="020B0604020202020204" pitchFamily="34" charset="0"/>
              <a:buChar char="•"/>
            </a:pPr>
            <a:r>
              <a:rPr lang="en-GB" sz="3200" dirty="0"/>
              <a:t>Section 2</a:t>
            </a:r>
          </a:p>
          <a:p>
            <a:pPr marL="457200" indent="-457200">
              <a:buFont typeface="Arial" panose="020B0604020202020204" pitchFamily="34" charset="0"/>
              <a:buChar char="•"/>
            </a:pPr>
            <a:r>
              <a:rPr lang="en-GB" sz="3200" dirty="0"/>
              <a:t>Unauthorised access with intent to commit or facilitate commission of further offences</a:t>
            </a:r>
          </a:p>
          <a:p>
            <a:pPr marL="457200" indent="-457200">
              <a:buFont typeface="Arial" panose="020B0604020202020204" pitchFamily="34" charset="0"/>
              <a:buChar char="•"/>
            </a:pPr>
            <a:r>
              <a:rPr lang="en-GB" sz="3200" dirty="0"/>
              <a:t>The maximum penalty on indictment is 5 years imprisonment.</a:t>
            </a:r>
          </a:p>
          <a:p>
            <a:pPr marL="457200" indent="-457200">
              <a:buFont typeface="Arial" panose="020B0604020202020204" pitchFamily="34" charset="0"/>
              <a:buChar char="•"/>
            </a:pPr>
            <a:endParaRPr lang="en-US" sz="1400" dirty="0"/>
          </a:p>
        </p:txBody>
      </p:sp>
    </p:spTree>
    <p:extLst>
      <p:ext uri="{BB962C8B-B14F-4D97-AF65-F5344CB8AC3E}">
        <p14:creationId xmlns:p14="http://schemas.microsoft.com/office/powerpoint/2010/main" val="3193224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73A4D-77CB-4329-AC8E-9C3FAC5DE311}"/>
              </a:ext>
            </a:extLst>
          </p:cNvPr>
          <p:cNvSpPr>
            <a:spLocks noGrp="1"/>
          </p:cNvSpPr>
          <p:nvPr>
            <p:ph type="ctrTitle"/>
          </p:nvPr>
        </p:nvSpPr>
        <p:spPr>
          <a:xfrm>
            <a:off x="609600" y="242806"/>
            <a:ext cx="10363200" cy="1470025"/>
          </a:xfrm>
        </p:spPr>
        <p:txBody>
          <a:bodyPr/>
          <a:lstStyle/>
          <a:p>
            <a:r>
              <a:rPr lang="en-GB" dirty="0"/>
              <a:t>Computer Misuse Act 1990</a:t>
            </a:r>
          </a:p>
        </p:txBody>
      </p:sp>
      <p:sp>
        <p:nvSpPr>
          <p:cNvPr id="3" name="TextBox 2">
            <a:extLst>
              <a:ext uri="{FF2B5EF4-FFF2-40B4-BE49-F238E27FC236}">
                <a16:creationId xmlns:a16="http://schemas.microsoft.com/office/drawing/2014/main" id="{5ECF88C8-5A1C-4EF0-90CF-6367E22CD4C8}"/>
              </a:ext>
            </a:extLst>
          </p:cNvPr>
          <p:cNvSpPr txBox="1"/>
          <p:nvPr/>
        </p:nvSpPr>
        <p:spPr>
          <a:xfrm>
            <a:off x="609599" y="2059619"/>
            <a:ext cx="10443099" cy="2062103"/>
          </a:xfrm>
          <a:prstGeom prst="rect">
            <a:avLst/>
          </a:prstGeom>
          <a:noFill/>
        </p:spPr>
        <p:txBody>
          <a:bodyPr wrap="square" rtlCol="0">
            <a:spAutoFit/>
          </a:bodyPr>
          <a:lstStyle/>
          <a:p>
            <a:pPr marL="457200" indent="-457200">
              <a:buFont typeface="Arial" panose="020B0604020202020204" pitchFamily="34" charset="0"/>
              <a:buChar char="•"/>
            </a:pPr>
            <a:r>
              <a:rPr lang="en-GB" sz="3200" dirty="0"/>
              <a:t>Section 3: Unauthorised Acts with intent to impair, or with recklessness as to impairing the operation of a computer</a:t>
            </a:r>
          </a:p>
          <a:p>
            <a:pPr marL="457200" indent="-457200">
              <a:buFont typeface="Arial" panose="020B0604020202020204" pitchFamily="34" charset="0"/>
              <a:buChar char="•"/>
            </a:pPr>
            <a:r>
              <a:rPr lang="en-GB" sz="3200" dirty="0"/>
              <a:t>The maximum sentence on indictment is 10 years' imprisonment.</a:t>
            </a:r>
          </a:p>
        </p:txBody>
      </p:sp>
    </p:spTree>
    <p:extLst>
      <p:ext uri="{BB962C8B-B14F-4D97-AF65-F5344CB8AC3E}">
        <p14:creationId xmlns:p14="http://schemas.microsoft.com/office/powerpoint/2010/main" val="1906609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C1F4B-7D10-4031-9889-493ED14F0FCF}"/>
              </a:ext>
            </a:extLst>
          </p:cNvPr>
          <p:cNvSpPr>
            <a:spLocks noGrp="1"/>
          </p:cNvSpPr>
          <p:nvPr>
            <p:ph type="ctrTitle"/>
          </p:nvPr>
        </p:nvSpPr>
        <p:spPr>
          <a:xfrm>
            <a:off x="609600" y="180662"/>
            <a:ext cx="10363200" cy="1470025"/>
          </a:xfrm>
        </p:spPr>
        <p:txBody>
          <a:bodyPr/>
          <a:lstStyle/>
          <a:p>
            <a:r>
              <a:rPr lang="en-GB" dirty="0"/>
              <a:t>Computer Misuse Act 1990</a:t>
            </a:r>
          </a:p>
        </p:txBody>
      </p:sp>
      <p:sp>
        <p:nvSpPr>
          <p:cNvPr id="3" name="TextBox 2">
            <a:extLst>
              <a:ext uri="{FF2B5EF4-FFF2-40B4-BE49-F238E27FC236}">
                <a16:creationId xmlns:a16="http://schemas.microsoft.com/office/drawing/2014/main" id="{4A420BB5-792C-4FD5-BDA9-B017E9C7C088}"/>
              </a:ext>
            </a:extLst>
          </p:cNvPr>
          <p:cNvSpPr txBox="1"/>
          <p:nvPr/>
        </p:nvSpPr>
        <p:spPr>
          <a:xfrm>
            <a:off x="609600" y="1376039"/>
            <a:ext cx="10256668" cy="4154984"/>
          </a:xfrm>
          <a:prstGeom prst="rect">
            <a:avLst/>
          </a:prstGeom>
          <a:noFill/>
        </p:spPr>
        <p:txBody>
          <a:bodyPr wrap="square" rtlCol="0">
            <a:spAutoFit/>
          </a:bodyPr>
          <a:lstStyle/>
          <a:p>
            <a:pPr marL="457200" indent="-457200">
              <a:buFont typeface="Arial" panose="020B0604020202020204" pitchFamily="34" charset="0"/>
              <a:buChar char="•"/>
            </a:pPr>
            <a:r>
              <a:rPr lang="en-GB" sz="2800" dirty="0"/>
              <a:t>Section 3ZA: Unauthorised acts causing, or creating risk of, serious damage</a:t>
            </a:r>
          </a:p>
          <a:p>
            <a:pPr marL="914400" lvl="1" indent="-457200">
              <a:buFont typeface="Arial" panose="020B0604020202020204" pitchFamily="34" charset="0"/>
              <a:buChar char="•"/>
            </a:pPr>
            <a:r>
              <a:rPr lang="en-GB" sz="2000" dirty="0"/>
              <a:t>Section 41(2) of the Serious Crime Act 2015 inserted section 3ZA, with effect from 3 May 2015.</a:t>
            </a:r>
          </a:p>
          <a:p>
            <a:pPr marL="457200" indent="-457200">
              <a:buFont typeface="Arial" panose="020B0604020202020204" pitchFamily="34" charset="0"/>
              <a:buChar char="•"/>
            </a:pPr>
            <a:endParaRPr lang="en-GB" sz="2800" dirty="0"/>
          </a:p>
          <a:p>
            <a:pPr marL="457200" indent="-457200">
              <a:buFont typeface="Arial" panose="020B0604020202020204" pitchFamily="34" charset="0"/>
              <a:buChar char="•"/>
            </a:pPr>
            <a:r>
              <a:rPr lang="en-GB" sz="2800" dirty="0"/>
              <a:t>The maximum sentence on indictment is 14 years, unless the offence caused or created a significant risk of serious damage to human welfare or national security, as defined in Section 3 (a) and (b), in which case a person guilty of the offence is liable to imprisonment for life.</a:t>
            </a:r>
          </a:p>
        </p:txBody>
      </p:sp>
    </p:spTree>
    <p:extLst>
      <p:ext uri="{BB962C8B-B14F-4D97-AF65-F5344CB8AC3E}">
        <p14:creationId xmlns:p14="http://schemas.microsoft.com/office/powerpoint/2010/main" val="2094021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C1F4B-7D10-4031-9889-493ED14F0FCF}"/>
              </a:ext>
            </a:extLst>
          </p:cNvPr>
          <p:cNvSpPr>
            <a:spLocks noGrp="1"/>
          </p:cNvSpPr>
          <p:nvPr>
            <p:ph type="ctrTitle"/>
          </p:nvPr>
        </p:nvSpPr>
        <p:spPr>
          <a:xfrm>
            <a:off x="609600" y="180662"/>
            <a:ext cx="10363200" cy="1470025"/>
          </a:xfrm>
        </p:spPr>
        <p:txBody>
          <a:bodyPr/>
          <a:lstStyle/>
          <a:p>
            <a:r>
              <a:rPr lang="en-GB" dirty="0"/>
              <a:t>Computer Misuse Act 1990</a:t>
            </a:r>
          </a:p>
        </p:txBody>
      </p:sp>
      <p:sp>
        <p:nvSpPr>
          <p:cNvPr id="3" name="TextBox 2">
            <a:extLst>
              <a:ext uri="{FF2B5EF4-FFF2-40B4-BE49-F238E27FC236}">
                <a16:creationId xmlns:a16="http://schemas.microsoft.com/office/drawing/2014/main" id="{4A420BB5-792C-4FD5-BDA9-B017E9C7C088}"/>
              </a:ext>
            </a:extLst>
          </p:cNvPr>
          <p:cNvSpPr txBox="1"/>
          <p:nvPr/>
        </p:nvSpPr>
        <p:spPr>
          <a:xfrm>
            <a:off x="609600" y="1571348"/>
            <a:ext cx="10256668" cy="1384995"/>
          </a:xfrm>
          <a:prstGeom prst="rect">
            <a:avLst/>
          </a:prstGeom>
          <a:noFill/>
        </p:spPr>
        <p:txBody>
          <a:bodyPr wrap="square" rtlCol="0">
            <a:spAutoFit/>
          </a:bodyPr>
          <a:lstStyle/>
          <a:p>
            <a:pPr marL="457200" indent="-457200">
              <a:buFont typeface="Arial" panose="020B0604020202020204" pitchFamily="34" charset="0"/>
              <a:buChar char="•"/>
            </a:pPr>
            <a:r>
              <a:rPr lang="en-GB" sz="2800" dirty="0"/>
              <a:t>Section 3A: Making, supplying or obtaining articles for use in offence under Section 1, 3 or 3ZA</a:t>
            </a:r>
          </a:p>
          <a:p>
            <a:pPr marL="457200" indent="-457200">
              <a:buFont typeface="Arial" panose="020B0604020202020204" pitchFamily="34" charset="0"/>
              <a:buChar char="•"/>
            </a:pPr>
            <a:r>
              <a:rPr lang="en-GB" sz="2800" dirty="0"/>
              <a:t>The maximum sentence on indictment is two years' imprisonment.</a:t>
            </a:r>
          </a:p>
        </p:txBody>
      </p:sp>
    </p:spTree>
    <p:extLst>
      <p:ext uri="{BB962C8B-B14F-4D97-AF65-F5344CB8AC3E}">
        <p14:creationId xmlns:p14="http://schemas.microsoft.com/office/powerpoint/2010/main" val="196229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C1F4B-7D10-4031-9889-493ED14F0FCF}"/>
              </a:ext>
            </a:extLst>
          </p:cNvPr>
          <p:cNvSpPr>
            <a:spLocks noGrp="1"/>
          </p:cNvSpPr>
          <p:nvPr>
            <p:ph type="ctrTitle"/>
          </p:nvPr>
        </p:nvSpPr>
        <p:spPr>
          <a:xfrm>
            <a:off x="609600" y="180662"/>
            <a:ext cx="10363200" cy="1470025"/>
          </a:xfrm>
        </p:spPr>
        <p:txBody>
          <a:bodyPr/>
          <a:lstStyle/>
          <a:p>
            <a:r>
              <a:rPr lang="en-GB" dirty="0"/>
              <a:t>Computer Misuse Act 1990</a:t>
            </a:r>
          </a:p>
        </p:txBody>
      </p:sp>
      <p:sp>
        <p:nvSpPr>
          <p:cNvPr id="3" name="TextBox 2">
            <a:extLst>
              <a:ext uri="{FF2B5EF4-FFF2-40B4-BE49-F238E27FC236}">
                <a16:creationId xmlns:a16="http://schemas.microsoft.com/office/drawing/2014/main" id="{4A420BB5-792C-4FD5-BDA9-B017E9C7C088}"/>
              </a:ext>
            </a:extLst>
          </p:cNvPr>
          <p:cNvSpPr txBox="1"/>
          <p:nvPr/>
        </p:nvSpPr>
        <p:spPr>
          <a:xfrm>
            <a:off x="609600" y="1571348"/>
            <a:ext cx="10256668" cy="1446550"/>
          </a:xfrm>
          <a:prstGeom prst="rect">
            <a:avLst/>
          </a:prstGeom>
          <a:noFill/>
        </p:spPr>
        <p:txBody>
          <a:bodyPr wrap="square" rtlCol="0">
            <a:spAutoFit/>
          </a:bodyPr>
          <a:lstStyle/>
          <a:p>
            <a:pPr marL="457200" indent="-457200">
              <a:buFont typeface="Arial" panose="020B0604020202020204" pitchFamily="34" charset="0"/>
              <a:buChar char="•"/>
            </a:pPr>
            <a:r>
              <a:rPr lang="en-GB" sz="2800" dirty="0"/>
              <a:t>Possible other offences:</a:t>
            </a:r>
          </a:p>
          <a:p>
            <a:pPr marL="914400" lvl="1" indent="-457200">
              <a:buFont typeface="Arial" panose="020B0604020202020204" pitchFamily="34" charset="0"/>
              <a:buChar char="•"/>
            </a:pPr>
            <a:r>
              <a:rPr lang="en-GB" sz="2000" dirty="0"/>
              <a:t>Fraud Act 2006</a:t>
            </a:r>
          </a:p>
          <a:p>
            <a:pPr marL="914400" lvl="1" indent="-457200">
              <a:buFont typeface="Arial" panose="020B0604020202020204" pitchFamily="34" charset="0"/>
              <a:buChar char="•"/>
            </a:pPr>
            <a:r>
              <a:rPr lang="en-GB" sz="2000" dirty="0"/>
              <a:t>Investigatory Powers Act 2016</a:t>
            </a:r>
          </a:p>
          <a:p>
            <a:pPr marL="914400" lvl="1" indent="-457200">
              <a:buFont typeface="Arial" panose="020B0604020202020204" pitchFamily="34" charset="0"/>
              <a:buChar char="•"/>
            </a:pPr>
            <a:r>
              <a:rPr lang="en-GB" sz="2000" dirty="0"/>
              <a:t>Misconduct in a Public Office</a:t>
            </a:r>
          </a:p>
        </p:txBody>
      </p:sp>
    </p:spTree>
    <p:extLst>
      <p:ext uri="{BB962C8B-B14F-4D97-AF65-F5344CB8AC3E}">
        <p14:creationId xmlns:p14="http://schemas.microsoft.com/office/powerpoint/2010/main" val="4190856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3124" y="90206"/>
            <a:ext cx="10363200" cy="1096044"/>
          </a:xfrm>
        </p:spPr>
        <p:txBody>
          <a:bodyPr/>
          <a:lstStyle/>
          <a:p>
            <a:r>
              <a:rPr lang="en-GB" dirty="0"/>
              <a:t>PECR</a:t>
            </a:r>
          </a:p>
        </p:txBody>
      </p:sp>
      <p:sp>
        <p:nvSpPr>
          <p:cNvPr id="3" name="Content Placeholder 2"/>
          <p:cNvSpPr txBox="1">
            <a:spLocks/>
          </p:cNvSpPr>
          <p:nvPr/>
        </p:nvSpPr>
        <p:spPr>
          <a:xfrm>
            <a:off x="593124" y="1186250"/>
            <a:ext cx="10972800" cy="4525963"/>
          </a:xfrm>
          <a:prstGeom prst="rect">
            <a:avLst/>
          </a:prstGeom>
        </p:spPr>
        <p:txBody>
          <a:bodyPr vert="horz" lIns="0" tIns="0" rIns="0" bIns="0" rtlCol="0">
            <a:normAutofit fontScale="85000" lnSpcReduction="10000"/>
          </a:bodyPr>
          <a:lstStyle>
            <a:lvl1pPr marL="217170" indent="-217170" algn="l" defTabSz="548640" rtl="0" eaLnBrk="1" latinLnBrk="0" hangingPunct="1">
              <a:lnSpc>
                <a:spcPct val="150000"/>
              </a:lnSpc>
              <a:spcBef>
                <a:spcPts val="0"/>
              </a:spcBef>
              <a:spcAft>
                <a:spcPts val="720"/>
              </a:spcAft>
              <a:buClr>
                <a:schemeClr val="accent3"/>
              </a:buClr>
              <a:buSzPct val="130000"/>
              <a:buFont typeface="Arial"/>
              <a:buChar char="•"/>
              <a:defRPr sz="1680" kern="1200" spc="-60" baseline="0">
                <a:solidFill>
                  <a:schemeClr val="tx2"/>
                </a:solidFill>
                <a:latin typeface="Verdana"/>
                <a:ea typeface="+mn-ea"/>
                <a:cs typeface="+mn-cs"/>
              </a:defRPr>
            </a:lvl1pPr>
            <a:lvl2pPr marL="426720" indent="-217170" algn="l" defTabSz="426720" rtl="0" eaLnBrk="1" latinLnBrk="0" hangingPunct="1">
              <a:lnSpc>
                <a:spcPct val="150000"/>
              </a:lnSpc>
              <a:spcBef>
                <a:spcPts val="0"/>
              </a:spcBef>
              <a:spcAft>
                <a:spcPts val="720"/>
              </a:spcAft>
              <a:buClr>
                <a:schemeClr val="accent3"/>
              </a:buClr>
              <a:buSzPct val="130000"/>
              <a:buFont typeface="Arial"/>
              <a:buChar char="•"/>
              <a:defRPr sz="1440" kern="1200" baseline="0">
                <a:solidFill>
                  <a:schemeClr val="tx2"/>
                </a:solidFill>
                <a:latin typeface="Verdana"/>
                <a:ea typeface="+mn-ea"/>
                <a:cs typeface="+mn-cs"/>
              </a:defRPr>
            </a:lvl2pPr>
            <a:lvl3pPr marL="1371600" indent="-274320" algn="l" defTabSz="548640" rtl="0" eaLnBrk="1" latinLnBrk="0" hangingPunct="1">
              <a:spcBef>
                <a:spcPct val="20000"/>
              </a:spcBef>
              <a:buFont typeface="Arial"/>
              <a:buChar char="•"/>
              <a:defRPr sz="2880" kern="1200">
                <a:solidFill>
                  <a:schemeClr val="tx1"/>
                </a:solidFill>
                <a:latin typeface="+mn-lt"/>
                <a:ea typeface="+mn-ea"/>
                <a:cs typeface="+mn-cs"/>
              </a:defRPr>
            </a:lvl3pPr>
            <a:lvl4pPr marL="1920240" indent="-274320" algn="l" defTabSz="548640" rtl="0" eaLnBrk="1" latinLnBrk="0" hangingPunct="1">
              <a:spcBef>
                <a:spcPct val="20000"/>
              </a:spcBef>
              <a:buFont typeface="Arial"/>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a:buChar char="•"/>
              <a:defRPr sz="2400" kern="1200">
                <a:solidFill>
                  <a:schemeClr val="tx1"/>
                </a:solidFill>
                <a:latin typeface="+mn-lt"/>
                <a:ea typeface="+mn-ea"/>
                <a:cs typeface="+mn-cs"/>
              </a:defRPr>
            </a:lvl9pPr>
          </a:lstStyle>
          <a:p>
            <a:pPr marL="217170" marR="0" lvl="0" indent="-217170" defTabSz="548640" fontAlgn="base" latinLnBrk="0">
              <a:lnSpc>
                <a:spcPct val="150000"/>
              </a:lnSpc>
              <a:spcBef>
                <a:spcPct val="20000"/>
              </a:spcBef>
              <a:spcAft>
                <a:spcPct val="0"/>
              </a:spcAft>
              <a:buClr>
                <a:schemeClr val="tx1"/>
              </a:buClr>
              <a:buSzPct val="130000"/>
              <a:buFont typeface="Arial"/>
              <a:buChar char="•"/>
              <a:tabLst/>
              <a:defRPr/>
            </a:pPr>
            <a:r>
              <a:rPr lang="en-US" sz="2800" dirty="0">
                <a:solidFill>
                  <a:srgbClr val="000000"/>
                </a:solidFill>
                <a:latin typeface="+mn-lt"/>
              </a:rPr>
              <a:t>PECR are the Privacy and Electronic Communications Regulations. Their full title is The Privacy and Electronic Communications (EC Directive) Regulations 2003.</a:t>
            </a:r>
          </a:p>
          <a:p>
            <a:pPr marL="217170" marR="0" lvl="0" indent="-217170" defTabSz="548640" fontAlgn="base" latinLnBrk="0">
              <a:lnSpc>
                <a:spcPct val="150000"/>
              </a:lnSpc>
              <a:spcBef>
                <a:spcPct val="20000"/>
              </a:spcBef>
              <a:spcAft>
                <a:spcPct val="0"/>
              </a:spcAft>
              <a:buClr>
                <a:schemeClr val="tx1"/>
              </a:buClr>
              <a:buSzPct val="130000"/>
              <a:buFont typeface="Arial"/>
              <a:buChar char="•"/>
              <a:tabLst/>
              <a:defRPr/>
            </a:pPr>
            <a:r>
              <a:rPr lang="en-US" sz="2800" dirty="0">
                <a:solidFill>
                  <a:srgbClr val="000000"/>
                </a:solidFill>
                <a:latin typeface="+mn-lt"/>
              </a:rPr>
              <a:t>They are derived from European law. They implement European Directive 2002/58/EC, also known as ‘the e-privacy Directive’.</a:t>
            </a:r>
          </a:p>
          <a:p>
            <a:pPr marL="217170" marR="0" lvl="0" indent="-217170" defTabSz="548640" fontAlgn="base" latinLnBrk="0">
              <a:lnSpc>
                <a:spcPct val="150000"/>
              </a:lnSpc>
              <a:spcBef>
                <a:spcPct val="20000"/>
              </a:spcBef>
              <a:spcAft>
                <a:spcPct val="0"/>
              </a:spcAft>
              <a:buClr>
                <a:schemeClr val="tx1"/>
              </a:buClr>
              <a:buSzPct val="130000"/>
              <a:buFont typeface="Arial"/>
              <a:buChar char="•"/>
              <a:tabLst/>
              <a:defRPr/>
            </a:pPr>
            <a:r>
              <a:rPr lang="en-US" sz="2800" dirty="0">
                <a:solidFill>
                  <a:srgbClr val="000000"/>
                </a:solidFill>
                <a:latin typeface="+mn-lt"/>
              </a:rPr>
              <a:t>The e-privacy Directive complements the general data protection regime and sets out more-specific privacy rights on electronic communications. </a:t>
            </a:r>
          </a:p>
          <a:p>
            <a:pPr marL="217170" marR="0" lvl="0" indent="-217170" defTabSz="548640" fontAlgn="base" latinLnBrk="0">
              <a:lnSpc>
                <a:spcPct val="150000"/>
              </a:lnSpc>
              <a:spcBef>
                <a:spcPct val="20000"/>
              </a:spcBef>
              <a:spcAft>
                <a:spcPct val="0"/>
              </a:spcAft>
              <a:buClr>
                <a:schemeClr val="tx1"/>
              </a:buClr>
              <a:buSzPct val="130000"/>
              <a:buFont typeface="Arial"/>
              <a:buChar char="•"/>
              <a:tabLst/>
              <a:defRPr/>
            </a:pPr>
            <a:r>
              <a:rPr lang="en-US" sz="2800" dirty="0">
                <a:solidFill>
                  <a:srgbClr val="000000"/>
                </a:solidFill>
                <a:latin typeface="+mn-lt"/>
              </a:rPr>
              <a:t>It </a:t>
            </a:r>
            <a:r>
              <a:rPr lang="en-US" sz="2800" dirty="0" err="1">
                <a:solidFill>
                  <a:srgbClr val="000000"/>
                </a:solidFill>
                <a:latin typeface="+mn-lt"/>
              </a:rPr>
              <a:t>recognises</a:t>
            </a:r>
            <a:r>
              <a:rPr lang="en-US" sz="2800" dirty="0">
                <a:solidFill>
                  <a:srgbClr val="000000"/>
                </a:solidFill>
                <a:latin typeface="+mn-lt"/>
              </a:rPr>
              <a:t> that widespread public access to digital mobile networks and the internet opens up new possibilities for businesses and users, but also new risks to their privacy.</a:t>
            </a:r>
            <a:endParaRPr lang="en-GB" sz="2800" dirty="0">
              <a:solidFill>
                <a:srgbClr val="000000"/>
              </a:solidFill>
              <a:latin typeface="+mn-lt"/>
            </a:endParaRPr>
          </a:p>
        </p:txBody>
      </p:sp>
    </p:spTree>
    <p:extLst>
      <p:ext uri="{BB962C8B-B14F-4D97-AF65-F5344CB8AC3E}">
        <p14:creationId xmlns:p14="http://schemas.microsoft.com/office/powerpoint/2010/main" val="3430678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837428"/>
          </a:xfrm>
        </p:spPr>
        <p:txBody>
          <a:bodyPr/>
          <a:lstStyle/>
          <a:p>
            <a:r>
              <a:rPr lang="en-GB" dirty="0">
                <a:solidFill>
                  <a:srgbClr val="000000"/>
                </a:solidFill>
              </a:rPr>
              <a:t>PECR</a:t>
            </a:r>
          </a:p>
        </p:txBody>
      </p:sp>
      <p:sp>
        <p:nvSpPr>
          <p:cNvPr id="5" name="Content Placeholder 4"/>
          <p:cNvSpPr>
            <a:spLocks noGrp="1"/>
          </p:cNvSpPr>
          <p:nvPr>
            <p:ph idx="1"/>
          </p:nvPr>
        </p:nvSpPr>
        <p:spPr>
          <a:xfrm>
            <a:off x="107091" y="739475"/>
            <a:ext cx="12019006" cy="4114800"/>
          </a:xfrm>
        </p:spPr>
        <p:txBody>
          <a:bodyPr/>
          <a:lstStyle/>
          <a:p>
            <a:r>
              <a:rPr lang="en-US" sz="2800" dirty="0">
                <a:solidFill>
                  <a:srgbClr val="000000"/>
                </a:solidFill>
              </a:rPr>
              <a:t>The Privacy and Electronic Communications Regulations (PECR) sit alongside the Data Protection Act. They give people specific privacy rights in relation to electronic communications.</a:t>
            </a:r>
          </a:p>
          <a:p>
            <a:r>
              <a:rPr lang="en-US" sz="2800" dirty="0">
                <a:solidFill>
                  <a:srgbClr val="000000"/>
                </a:solidFill>
              </a:rPr>
              <a:t>There are specific rules on:</a:t>
            </a:r>
          </a:p>
          <a:p>
            <a:pPr lvl="1"/>
            <a:r>
              <a:rPr lang="en-US" sz="2400" dirty="0">
                <a:solidFill>
                  <a:srgbClr val="000000"/>
                </a:solidFill>
              </a:rPr>
              <a:t>marketing calls, emails, texts and faxes;</a:t>
            </a:r>
          </a:p>
          <a:p>
            <a:pPr lvl="1"/>
            <a:r>
              <a:rPr lang="en-US" sz="2400" dirty="0">
                <a:solidFill>
                  <a:srgbClr val="000000"/>
                </a:solidFill>
              </a:rPr>
              <a:t>cookies (and similar technologies);</a:t>
            </a:r>
          </a:p>
          <a:p>
            <a:pPr lvl="1"/>
            <a:r>
              <a:rPr lang="en-US" sz="2400" dirty="0">
                <a:solidFill>
                  <a:srgbClr val="000000"/>
                </a:solidFill>
              </a:rPr>
              <a:t>keeping communications services secure; and</a:t>
            </a:r>
          </a:p>
          <a:p>
            <a:pPr lvl="1"/>
            <a:r>
              <a:rPr lang="en-US" sz="2400" dirty="0">
                <a:solidFill>
                  <a:srgbClr val="000000"/>
                </a:solidFill>
              </a:rPr>
              <a:t>customer privacy as regards traffic and location data, </a:t>
            </a:r>
            <a:r>
              <a:rPr lang="en-US" sz="2400" dirty="0" err="1">
                <a:solidFill>
                  <a:srgbClr val="000000"/>
                </a:solidFill>
              </a:rPr>
              <a:t>itemised</a:t>
            </a:r>
            <a:r>
              <a:rPr lang="en-US" sz="2400" dirty="0">
                <a:solidFill>
                  <a:srgbClr val="000000"/>
                </a:solidFill>
              </a:rPr>
              <a:t> billing, line identification, and directory listings.</a:t>
            </a:r>
          </a:p>
          <a:p>
            <a:r>
              <a:rPr lang="en-US" sz="2800" dirty="0">
                <a:solidFill>
                  <a:srgbClr val="000000"/>
                </a:solidFill>
              </a:rPr>
              <a:t>The ICO will take enforcement action against </a:t>
            </a:r>
            <a:r>
              <a:rPr lang="en-US" sz="2800" dirty="0" err="1">
                <a:solidFill>
                  <a:srgbClr val="000000"/>
                </a:solidFill>
              </a:rPr>
              <a:t>organisations</a:t>
            </a:r>
            <a:r>
              <a:rPr lang="en-US" sz="2800" dirty="0">
                <a:solidFill>
                  <a:srgbClr val="000000"/>
                </a:solidFill>
              </a:rPr>
              <a:t> that persistently ignore their obligations, starting with those that generate the most complaints.</a:t>
            </a:r>
          </a:p>
          <a:p>
            <a:endParaRPr lang="en-GB" sz="2800" dirty="0"/>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19</a:t>
            </a:fld>
            <a:endParaRPr lang="en-GB">
              <a:solidFill>
                <a:srgbClr val="003768">
                  <a:tint val="75000"/>
                </a:srgbClr>
              </a:solidFill>
            </a:endParaRPr>
          </a:p>
        </p:txBody>
      </p:sp>
    </p:spTree>
    <p:extLst>
      <p:ext uri="{BB962C8B-B14F-4D97-AF65-F5344CB8AC3E}">
        <p14:creationId xmlns:p14="http://schemas.microsoft.com/office/powerpoint/2010/main" val="2604035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DA975-A87E-2D47-9B99-7BFF1B9D9E13}"/>
              </a:ext>
            </a:extLst>
          </p:cNvPr>
          <p:cNvSpPr>
            <a:spLocks noGrp="1"/>
          </p:cNvSpPr>
          <p:nvPr>
            <p:ph type="title"/>
          </p:nvPr>
        </p:nvSpPr>
        <p:spPr>
          <a:xfrm>
            <a:off x="0" y="142875"/>
            <a:ext cx="12192000" cy="788001"/>
          </a:xfrm>
        </p:spPr>
        <p:txBody>
          <a:bodyPr/>
          <a:lstStyle/>
          <a:p>
            <a:r>
              <a:rPr lang="en-US" dirty="0"/>
              <a:t>Data Protection Laws</a:t>
            </a:r>
          </a:p>
        </p:txBody>
      </p:sp>
      <p:sp>
        <p:nvSpPr>
          <p:cNvPr id="3" name="Content Placeholder 2">
            <a:extLst>
              <a:ext uri="{FF2B5EF4-FFF2-40B4-BE49-F238E27FC236}">
                <a16:creationId xmlns:a16="http://schemas.microsoft.com/office/drawing/2014/main" id="{15FA8392-1A0B-CA40-A153-7D98E10FE663}"/>
              </a:ext>
            </a:extLst>
          </p:cNvPr>
          <p:cNvSpPr>
            <a:spLocks noGrp="1"/>
          </p:cNvSpPr>
          <p:nvPr>
            <p:ph idx="1"/>
          </p:nvPr>
        </p:nvSpPr>
        <p:spPr>
          <a:xfrm>
            <a:off x="98854" y="1009383"/>
            <a:ext cx="12027243" cy="5675650"/>
          </a:xfrm>
        </p:spPr>
        <p:txBody>
          <a:bodyPr numCol="1">
            <a:noAutofit/>
          </a:bodyPr>
          <a:lstStyle/>
          <a:p>
            <a:pPr marL="0" indent="0">
              <a:buNone/>
            </a:pPr>
            <a:r>
              <a:rPr lang="en-US" sz="2800" b="1" dirty="0">
                <a:solidFill>
                  <a:schemeClr val="accent1"/>
                </a:solidFill>
              </a:rPr>
              <a:t>Data Protection Act – 1998</a:t>
            </a:r>
          </a:p>
          <a:p>
            <a:pPr marL="209550" lvl="1" indent="0">
              <a:buNone/>
            </a:pPr>
            <a:r>
              <a:rPr lang="en-US" dirty="0"/>
              <a:t>Designed to protect personal data stored on computers or in </a:t>
            </a:r>
            <a:r>
              <a:rPr lang="en-US" dirty="0" err="1"/>
              <a:t>organised</a:t>
            </a:r>
            <a:r>
              <a:rPr lang="en-US" dirty="0"/>
              <a:t> paper filing systems. Followed the EU Data Protection Directive 1995</a:t>
            </a:r>
          </a:p>
          <a:p>
            <a:pPr marL="0" indent="0">
              <a:buNone/>
            </a:pPr>
            <a:r>
              <a:rPr lang="en-US" sz="2800" b="1" dirty="0"/>
              <a:t>UK Data Protection Act – enacted 23 May 2018</a:t>
            </a:r>
          </a:p>
          <a:p>
            <a:pPr marL="0" indent="0">
              <a:buNone/>
            </a:pPr>
            <a:r>
              <a:rPr lang="en-US" sz="2800" b="1" dirty="0">
                <a:solidFill>
                  <a:schemeClr val="tx1"/>
                </a:solidFill>
              </a:rPr>
              <a:t>General Data Protection Regulation (GDPR) – </a:t>
            </a:r>
            <a:r>
              <a:rPr lang="en-US" sz="2800" b="1" u="sng" dirty="0">
                <a:solidFill>
                  <a:schemeClr val="tx1"/>
                </a:solidFill>
              </a:rPr>
              <a:t>enforced</a:t>
            </a:r>
            <a:r>
              <a:rPr lang="en-US" sz="2800" b="1" dirty="0">
                <a:solidFill>
                  <a:schemeClr val="tx1"/>
                </a:solidFill>
              </a:rPr>
              <a:t> in May 2018</a:t>
            </a:r>
          </a:p>
          <a:p>
            <a:pPr marL="0" indent="0">
              <a:spcAft>
                <a:spcPts val="0"/>
              </a:spcAft>
              <a:buNone/>
            </a:pPr>
            <a:r>
              <a:rPr lang="en-US" sz="2800" dirty="0"/>
              <a:t>Privacy and Electronic Communications Regulations</a:t>
            </a:r>
          </a:p>
          <a:p>
            <a:pPr marL="209550" lvl="1" indent="0">
              <a:spcAft>
                <a:spcPts val="0"/>
              </a:spcAft>
              <a:buNone/>
            </a:pPr>
            <a:r>
              <a:rPr lang="en-US" dirty="0"/>
              <a:t>Sit alongside GDPR and give people specific rights related to electronic communications such as email and telemarketing.</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3684EC7-39D3-084E-A107-B101C3922C30}"/>
              </a:ext>
            </a:extLst>
          </p:cNvPr>
          <p:cNvSpPr>
            <a:spLocks noGrp="1"/>
          </p:cNvSpPr>
          <p:nvPr>
            <p:ph type="sldNum" sz="quarter" idx="12"/>
          </p:nvPr>
        </p:nvSpPr>
        <p:spPr/>
        <p:txBody>
          <a:bodyPr/>
          <a:lstStyle/>
          <a:p>
            <a:fld id="{3EE37125-522B-4845-9813-9B08C50422D2}" type="slidenum">
              <a:rPr lang="en-GB" smtClean="0">
                <a:solidFill>
                  <a:srgbClr val="003768">
                    <a:tint val="75000"/>
                  </a:srgbClr>
                </a:solidFill>
              </a:rPr>
              <a:pPr/>
              <a:t>20</a:t>
            </a:fld>
            <a:endParaRPr lang="en-GB">
              <a:solidFill>
                <a:srgbClr val="003768">
                  <a:tint val="75000"/>
                </a:srgbClr>
              </a:solidFill>
            </a:endParaRPr>
          </a:p>
        </p:txBody>
      </p:sp>
    </p:spTree>
    <p:extLst>
      <p:ext uri="{BB962C8B-B14F-4D97-AF65-F5344CB8AC3E}">
        <p14:creationId xmlns:p14="http://schemas.microsoft.com/office/powerpoint/2010/main" val="20031284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2F87A-6950-E34B-80E8-422AD9966B48}"/>
              </a:ext>
            </a:extLst>
          </p:cNvPr>
          <p:cNvSpPr>
            <a:spLocks noGrp="1"/>
          </p:cNvSpPr>
          <p:nvPr>
            <p:ph type="title"/>
          </p:nvPr>
        </p:nvSpPr>
        <p:spPr/>
        <p:txBody>
          <a:bodyPr/>
          <a:lstStyle/>
          <a:p>
            <a:r>
              <a:rPr lang="en-US" dirty="0"/>
              <a:t>What is the GDPR?</a:t>
            </a:r>
          </a:p>
        </p:txBody>
      </p:sp>
      <p:sp>
        <p:nvSpPr>
          <p:cNvPr id="3" name="Content Placeholder 2">
            <a:extLst>
              <a:ext uri="{FF2B5EF4-FFF2-40B4-BE49-F238E27FC236}">
                <a16:creationId xmlns:a16="http://schemas.microsoft.com/office/drawing/2014/main" id="{0DB4BD51-955F-8B43-9406-6E74D78D2460}"/>
              </a:ext>
            </a:extLst>
          </p:cNvPr>
          <p:cNvSpPr>
            <a:spLocks noGrp="1"/>
          </p:cNvSpPr>
          <p:nvPr>
            <p:ph idx="1"/>
          </p:nvPr>
        </p:nvSpPr>
        <p:spPr>
          <a:xfrm>
            <a:off x="123568" y="1573426"/>
            <a:ext cx="11994291" cy="4462061"/>
          </a:xfrm>
        </p:spPr>
        <p:txBody>
          <a:bodyPr numCol="1" spcCol="360000">
            <a:noAutofit/>
          </a:bodyPr>
          <a:lstStyle/>
          <a:p>
            <a:pPr marL="0" indent="0">
              <a:buNone/>
            </a:pPr>
            <a:r>
              <a:rPr lang="en-US" sz="2400" b="1" dirty="0"/>
              <a:t>The GDPR replaced the 1998 Data Protection Act and came into force on 25 May 2018. Regulated by the ICO, the new law gives people more control about how their data is used, shared and stored and requires </a:t>
            </a:r>
            <a:r>
              <a:rPr lang="en-US" sz="2400" b="1" dirty="0" err="1"/>
              <a:t>organisations</a:t>
            </a:r>
            <a:r>
              <a:rPr lang="en-US" sz="2400" b="1" dirty="0"/>
              <a:t> to be more accountable and transparent about how they use it.</a:t>
            </a:r>
          </a:p>
          <a:p>
            <a:pPr marL="0" indent="0">
              <a:buNone/>
            </a:pPr>
            <a:endParaRPr lang="en-US" sz="2400" dirty="0"/>
          </a:p>
        </p:txBody>
      </p:sp>
      <p:sp>
        <p:nvSpPr>
          <p:cNvPr id="4" name="Slide Number Placeholder 3">
            <a:extLst>
              <a:ext uri="{FF2B5EF4-FFF2-40B4-BE49-F238E27FC236}">
                <a16:creationId xmlns:a16="http://schemas.microsoft.com/office/drawing/2014/main" id="{639D09DA-579C-C64F-9929-74BB6208EC24}"/>
              </a:ext>
            </a:extLst>
          </p:cNvPr>
          <p:cNvSpPr>
            <a:spLocks noGrp="1"/>
          </p:cNvSpPr>
          <p:nvPr>
            <p:ph type="sldNum" sz="quarter" idx="12"/>
          </p:nvPr>
        </p:nvSpPr>
        <p:spPr/>
        <p:txBody>
          <a:bodyPr/>
          <a:lstStyle/>
          <a:p>
            <a:fld id="{3EE37125-522B-4845-9813-9B08C50422D2}" type="slidenum">
              <a:rPr lang="en-GB" smtClean="0">
                <a:solidFill>
                  <a:srgbClr val="003768">
                    <a:tint val="75000"/>
                  </a:srgbClr>
                </a:solidFill>
              </a:rPr>
              <a:pPr/>
              <a:t>21</a:t>
            </a:fld>
            <a:endParaRPr lang="en-GB" dirty="0">
              <a:solidFill>
                <a:srgbClr val="003768">
                  <a:tint val="75000"/>
                </a:srgbClr>
              </a:solidFill>
            </a:endParaRPr>
          </a:p>
        </p:txBody>
      </p:sp>
    </p:spTree>
    <p:extLst>
      <p:ext uri="{BB962C8B-B14F-4D97-AF65-F5344CB8AC3E}">
        <p14:creationId xmlns:p14="http://schemas.microsoft.com/office/powerpoint/2010/main" val="13146101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2F87A-6950-E34B-80E8-422AD9966B48}"/>
              </a:ext>
            </a:extLst>
          </p:cNvPr>
          <p:cNvSpPr>
            <a:spLocks noGrp="1"/>
          </p:cNvSpPr>
          <p:nvPr>
            <p:ph type="title"/>
          </p:nvPr>
        </p:nvSpPr>
        <p:spPr/>
        <p:txBody>
          <a:bodyPr/>
          <a:lstStyle/>
          <a:p>
            <a:r>
              <a:rPr lang="en-US" dirty="0"/>
              <a:t>What is the GDPR? </a:t>
            </a:r>
            <a:r>
              <a:rPr lang="en-US" sz="2880" dirty="0"/>
              <a:t>continued</a:t>
            </a:r>
          </a:p>
        </p:txBody>
      </p:sp>
      <p:sp>
        <p:nvSpPr>
          <p:cNvPr id="3" name="Content Placeholder 2">
            <a:extLst>
              <a:ext uri="{FF2B5EF4-FFF2-40B4-BE49-F238E27FC236}">
                <a16:creationId xmlns:a16="http://schemas.microsoft.com/office/drawing/2014/main" id="{0DB4BD51-955F-8B43-9406-6E74D78D2460}"/>
              </a:ext>
            </a:extLst>
          </p:cNvPr>
          <p:cNvSpPr>
            <a:spLocks noGrp="1"/>
          </p:cNvSpPr>
          <p:nvPr>
            <p:ph idx="1"/>
          </p:nvPr>
        </p:nvSpPr>
        <p:spPr>
          <a:xfrm>
            <a:off x="90615" y="1196545"/>
            <a:ext cx="11878963" cy="4892675"/>
          </a:xfrm>
        </p:spPr>
        <p:txBody>
          <a:bodyPr numCol="1">
            <a:noAutofit/>
          </a:bodyPr>
          <a:lstStyle/>
          <a:p>
            <a:r>
              <a:rPr lang="en-US" b="1" dirty="0"/>
              <a:t>Organisations</a:t>
            </a:r>
            <a:r>
              <a:rPr lang="en-US" dirty="0"/>
              <a:t> must also be able to demonstrate compliance with these principles.  They not only need to integrate the requirements in to their procedures but also be able to prove that they are implementing them.</a:t>
            </a:r>
          </a:p>
          <a:p>
            <a:r>
              <a:rPr lang="en-US" b="1" dirty="0"/>
              <a:t>Accountability </a:t>
            </a:r>
            <a:r>
              <a:rPr lang="en-US" dirty="0"/>
              <a:t>is also one of the data protection principles - it makes an organisation responsible for complying with the GDPR. Appropriate technical and </a:t>
            </a:r>
            <a:r>
              <a:rPr lang="en-US" dirty="0" err="1"/>
              <a:t>organisational</a:t>
            </a:r>
            <a:r>
              <a:rPr lang="en-US" dirty="0"/>
              <a:t> measures need to be put in place to meet the requirements of accountability</a:t>
            </a:r>
          </a:p>
          <a:p>
            <a:pPr marL="0" indent="0">
              <a:buNone/>
            </a:pPr>
            <a:endParaRPr lang="en-US" dirty="0"/>
          </a:p>
        </p:txBody>
      </p:sp>
      <p:sp>
        <p:nvSpPr>
          <p:cNvPr id="4" name="Slide Number Placeholder 3">
            <a:extLst>
              <a:ext uri="{FF2B5EF4-FFF2-40B4-BE49-F238E27FC236}">
                <a16:creationId xmlns:a16="http://schemas.microsoft.com/office/drawing/2014/main" id="{639D09DA-579C-C64F-9929-74BB6208EC24}"/>
              </a:ext>
            </a:extLst>
          </p:cNvPr>
          <p:cNvSpPr>
            <a:spLocks noGrp="1"/>
          </p:cNvSpPr>
          <p:nvPr>
            <p:ph type="sldNum" sz="quarter" idx="12"/>
          </p:nvPr>
        </p:nvSpPr>
        <p:spPr/>
        <p:txBody>
          <a:bodyPr/>
          <a:lstStyle/>
          <a:p>
            <a:fld id="{3EE37125-522B-4845-9813-9B08C50422D2}" type="slidenum">
              <a:rPr lang="en-GB" smtClean="0">
                <a:solidFill>
                  <a:srgbClr val="003768">
                    <a:tint val="75000"/>
                  </a:srgbClr>
                </a:solidFill>
              </a:rPr>
              <a:pPr/>
              <a:t>22</a:t>
            </a:fld>
            <a:endParaRPr lang="en-GB">
              <a:solidFill>
                <a:srgbClr val="003768">
                  <a:tint val="75000"/>
                </a:srgbClr>
              </a:solidFill>
            </a:endParaRPr>
          </a:p>
        </p:txBody>
      </p:sp>
    </p:spTree>
    <p:extLst>
      <p:ext uri="{BB962C8B-B14F-4D97-AF65-F5344CB8AC3E}">
        <p14:creationId xmlns:p14="http://schemas.microsoft.com/office/powerpoint/2010/main" val="33828044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ED547-52FA-3F41-8A8B-6808DADB3155}"/>
              </a:ext>
            </a:extLst>
          </p:cNvPr>
          <p:cNvSpPr>
            <a:spLocks noGrp="1"/>
          </p:cNvSpPr>
          <p:nvPr>
            <p:ph type="title"/>
          </p:nvPr>
        </p:nvSpPr>
        <p:spPr>
          <a:xfrm>
            <a:off x="914400" y="142875"/>
            <a:ext cx="10363200" cy="804476"/>
          </a:xfrm>
        </p:spPr>
        <p:txBody>
          <a:bodyPr/>
          <a:lstStyle/>
          <a:p>
            <a:r>
              <a:rPr lang="en-US" dirty="0"/>
              <a:t>Data Controllers</a:t>
            </a:r>
          </a:p>
        </p:txBody>
      </p:sp>
      <p:sp>
        <p:nvSpPr>
          <p:cNvPr id="3" name="Content Placeholder 2">
            <a:extLst>
              <a:ext uri="{FF2B5EF4-FFF2-40B4-BE49-F238E27FC236}">
                <a16:creationId xmlns:a16="http://schemas.microsoft.com/office/drawing/2014/main" id="{8FF8CA3D-3BCF-BE43-976E-45EC7706C19C}"/>
              </a:ext>
            </a:extLst>
          </p:cNvPr>
          <p:cNvSpPr>
            <a:spLocks noGrp="1"/>
          </p:cNvSpPr>
          <p:nvPr>
            <p:ph idx="1"/>
          </p:nvPr>
        </p:nvSpPr>
        <p:spPr>
          <a:xfrm>
            <a:off x="45308" y="1210961"/>
            <a:ext cx="12101384" cy="4507498"/>
          </a:xfrm>
        </p:spPr>
        <p:txBody>
          <a:bodyPr>
            <a:noAutofit/>
          </a:bodyPr>
          <a:lstStyle/>
          <a:p>
            <a:r>
              <a:rPr lang="en-US" sz="2800" dirty="0"/>
              <a:t>Usually a company who collects information about customers, suppliers, employees etc..</a:t>
            </a:r>
          </a:p>
          <a:p>
            <a:r>
              <a:rPr lang="en-US" sz="2800" dirty="0"/>
              <a:t>Universities are data controllers - they collect and control data on their students.</a:t>
            </a:r>
          </a:p>
          <a:p>
            <a:endParaRPr lang="en-US" sz="2800" dirty="0"/>
          </a:p>
          <a:p>
            <a:r>
              <a:rPr lang="en-US" sz="2800" dirty="0"/>
              <a:t>Data Controller, in relation to personal data, means a person who (either alone or jointly or in common with other persons) determines the purposes for which and the manner in which any personal data are, or are to be processed</a:t>
            </a:r>
          </a:p>
          <a:p>
            <a:endParaRPr lang="en-US" sz="2800" dirty="0"/>
          </a:p>
          <a:p>
            <a:endParaRPr lang="en-US" dirty="0"/>
          </a:p>
        </p:txBody>
      </p:sp>
      <p:sp>
        <p:nvSpPr>
          <p:cNvPr id="4" name="Slide Number Placeholder 3">
            <a:extLst>
              <a:ext uri="{FF2B5EF4-FFF2-40B4-BE49-F238E27FC236}">
                <a16:creationId xmlns:a16="http://schemas.microsoft.com/office/drawing/2014/main" id="{42E94D52-19AA-BC47-9789-4D738E241E45}"/>
              </a:ext>
            </a:extLst>
          </p:cNvPr>
          <p:cNvSpPr>
            <a:spLocks noGrp="1"/>
          </p:cNvSpPr>
          <p:nvPr>
            <p:ph type="sldNum" sz="quarter" idx="12"/>
          </p:nvPr>
        </p:nvSpPr>
        <p:spPr/>
        <p:txBody>
          <a:bodyPr/>
          <a:lstStyle/>
          <a:p>
            <a:fld id="{3EE37125-522B-4845-9813-9B08C50422D2}" type="slidenum">
              <a:rPr lang="en-GB" smtClean="0">
                <a:solidFill>
                  <a:srgbClr val="003768">
                    <a:tint val="75000"/>
                  </a:srgbClr>
                </a:solidFill>
              </a:rPr>
              <a:pPr/>
              <a:t>23</a:t>
            </a:fld>
            <a:endParaRPr lang="en-GB">
              <a:solidFill>
                <a:srgbClr val="003768">
                  <a:tint val="75000"/>
                </a:srgbClr>
              </a:solidFill>
            </a:endParaRPr>
          </a:p>
        </p:txBody>
      </p:sp>
    </p:spTree>
    <p:extLst>
      <p:ext uri="{BB962C8B-B14F-4D97-AF65-F5344CB8AC3E}">
        <p14:creationId xmlns:p14="http://schemas.microsoft.com/office/powerpoint/2010/main" val="21102772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8AB46-D0C3-2A47-9DBF-40A79A0A0366}"/>
              </a:ext>
            </a:extLst>
          </p:cNvPr>
          <p:cNvSpPr>
            <a:spLocks noGrp="1"/>
          </p:cNvSpPr>
          <p:nvPr>
            <p:ph type="title"/>
          </p:nvPr>
        </p:nvSpPr>
        <p:spPr/>
        <p:txBody>
          <a:bodyPr/>
          <a:lstStyle/>
          <a:p>
            <a:r>
              <a:rPr lang="en-US" dirty="0"/>
              <a:t>Data processors</a:t>
            </a:r>
          </a:p>
        </p:txBody>
      </p:sp>
      <p:sp>
        <p:nvSpPr>
          <p:cNvPr id="3" name="Content Placeholder 2">
            <a:extLst>
              <a:ext uri="{FF2B5EF4-FFF2-40B4-BE49-F238E27FC236}">
                <a16:creationId xmlns:a16="http://schemas.microsoft.com/office/drawing/2014/main" id="{1745AF2F-5E81-4345-9B81-9F3B23F03929}"/>
              </a:ext>
            </a:extLst>
          </p:cNvPr>
          <p:cNvSpPr>
            <a:spLocks noGrp="1"/>
          </p:cNvSpPr>
          <p:nvPr>
            <p:ph idx="1"/>
          </p:nvPr>
        </p:nvSpPr>
        <p:spPr>
          <a:xfrm>
            <a:off x="90615" y="1600200"/>
            <a:ext cx="11862487" cy="4507498"/>
          </a:xfrm>
        </p:spPr>
        <p:txBody>
          <a:bodyPr/>
          <a:lstStyle/>
          <a:p>
            <a:r>
              <a:rPr lang="en-US" dirty="0"/>
              <a:t>An organisation which processes data for other entities but they do not determine the purpose for their processing, what is collected, how it is processed or how long it is retained. </a:t>
            </a:r>
          </a:p>
          <a:p>
            <a:r>
              <a:rPr lang="en-US" dirty="0"/>
              <a:t>Data Processor in relation to personal data, means any person (other than an employee of the data controller) who processes the data on behalf of the data controller.</a:t>
            </a:r>
          </a:p>
          <a:p>
            <a:endParaRPr lang="en-US" dirty="0"/>
          </a:p>
          <a:p>
            <a:endParaRPr lang="en-US" dirty="0"/>
          </a:p>
        </p:txBody>
      </p:sp>
      <p:sp>
        <p:nvSpPr>
          <p:cNvPr id="4" name="Slide Number Placeholder 3">
            <a:extLst>
              <a:ext uri="{FF2B5EF4-FFF2-40B4-BE49-F238E27FC236}">
                <a16:creationId xmlns:a16="http://schemas.microsoft.com/office/drawing/2014/main" id="{46CB0276-0A6C-0C4F-8F37-3E4740881107}"/>
              </a:ext>
            </a:extLst>
          </p:cNvPr>
          <p:cNvSpPr>
            <a:spLocks noGrp="1"/>
          </p:cNvSpPr>
          <p:nvPr>
            <p:ph type="sldNum" sz="quarter" idx="12"/>
          </p:nvPr>
        </p:nvSpPr>
        <p:spPr/>
        <p:txBody>
          <a:bodyPr/>
          <a:lstStyle/>
          <a:p>
            <a:fld id="{3EE37125-522B-4845-9813-9B08C50422D2}" type="slidenum">
              <a:rPr lang="en-GB" smtClean="0">
                <a:solidFill>
                  <a:srgbClr val="003768">
                    <a:tint val="75000"/>
                  </a:srgbClr>
                </a:solidFill>
              </a:rPr>
              <a:pPr/>
              <a:t>24</a:t>
            </a:fld>
            <a:endParaRPr lang="en-GB">
              <a:solidFill>
                <a:srgbClr val="003768">
                  <a:tint val="75000"/>
                </a:srgbClr>
              </a:solidFill>
            </a:endParaRPr>
          </a:p>
        </p:txBody>
      </p:sp>
    </p:spTree>
    <p:extLst>
      <p:ext uri="{BB962C8B-B14F-4D97-AF65-F5344CB8AC3E}">
        <p14:creationId xmlns:p14="http://schemas.microsoft.com/office/powerpoint/2010/main" val="13625651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9CA01-1306-4E4F-9F6B-BCDA0908F9B5}"/>
              </a:ext>
            </a:extLst>
          </p:cNvPr>
          <p:cNvSpPr>
            <a:spLocks noGrp="1"/>
          </p:cNvSpPr>
          <p:nvPr>
            <p:ph type="title"/>
          </p:nvPr>
        </p:nvSpPr>
        <p:spPr>
          <a:xfrm>
            <a:off x="914400" y="142875"/>
            <a:ext cx="10363200" cy="886855"/>
          </a:xfrm>
        </p:spPr>
        <p:txBody>
          <a:bodyPr/>
          <a:lstStyle/>
          <a:p>
            <a:r>
              <a:rPr lang="en-US" dirty="0"/>
              <a:t>Your rights as a Data Subject</a:t>
            </a:r>
          </a:p>
        </p:txBody>
      </p:sp>
      <p:sp>
        <p:nvSpPr>
          <p:cNvPr id="3" name="Content Placeholder 2">
            <a:extLst>
              <a:ext uri="{FF2B5EF4-FFF2-40B4-BE49-F238E27FC236}">
                <a16:creationId xmlns:a16="http://schemas.microsoft.com/office/drawing/2014/main" id="{BA7C724C-BAF6-7B4B-A64B-C4CA23E5F55D}"/>
              </a:ext>
            </a:extLst>
          </p:cNvPr>
          <p:cNvSpPr>
            <a:spLocks noGrp="1"/>
          </p:cNvSpPr>
          <p:nvPr>
            <p:ph idx="1"/>
          </p:nvPr>
        </p:nvSpPr>
        <p:spPr>
          <a:xfrm>
            <a:off x="164758" y="1029730"/>
            <a:ext cx="11780108" cy="4114800"/>
          </a:xfrm>
        </p:spPr>
        <p:txBody>
          <a:bodyPr>
            <a:noAutofit/>
          </a:bodyPr>
          <a:lstStyle/>
          <a:p>
            <a:r>
              <a:rPr lang="en-US" dirty="0"/>
              <a:t>The right to be informed</a:t>
            </a:r>
          </a:p>
          <a:p>
            <a:r>
              <a:rPr lang="en-US" dirty="0"/>
              <a:t>The right of access</a:t>
            </a:r>
          </a:p>
          <a:p>
            <a:r>
              <a:rPr lang="en-US" dirty="0"/>
              <a:t>The right to rectification</a:t>
            </a:r>
          </a:p>
          <a:p>
            <a:r>
              <a:rPr lang="en-US" dirty="0"/>
              <a:t>The right to erasure (also known as the right to be forgotten)</a:t>
            </a:r>
          </a:p>
          <a:p>
            <a:r>
              <a:rPr lang="en-US" dirty="0"/>
              <a:t>The right to restrict processing</a:t>
            </a:r>
          </a:p>
          <a:p>
            <a:r>
              <a:rPr lang="en-US" dirty="0"/>
              <a:t>The right to data portability</a:t>
            </a:r>
          </a:p>
          <a:p>
            <a:r>
              <a:rPr lang="en-US" dirty="0"/>
              <a:t>The right to object</a:t>
            </a:r>
          </a:p>
          <a:p>
            <a:r>
              <a:rPr lang="en-US" dirty="0"/>
              <a:t>Rights in relation to automated decision making and profiling.</a:t>
            </a:r>
          </a:p>
          <a:p>
            <a:endParaRPr lang="en-US" dirty="0"/>
          </a:p>
          <a:p>
            <a:endParaRPr lang="en-US" dirty="0"/>
          </a:p>
        </p:txBody>
      </p:sp>
      <p:sp>
        <p:nvSpPr>
          <p:cNvPr id="4" name="Slide Number Placeholder 3">
            <a:extLst>
              <a:ext uri="{FF2B5EF4-FFF2-40B4-BE49-F238E27FC236}">
                <a16:creationId xmlns:a16="http://schemas.microsoft.com/office/drawing/2014/main" id="{F2C4DDD1-86BA-0046-85B2-995D4053FB46}"/>
              </a:ext>
            </a:extLst>
          </p:cNvPr>
          <p:cNvSpPr>
            <a:spLocks noGrp="1"/>
          </p:cNvSpPr>
          <p:nvPr>
            <p:ph type="sldNum" sz="quarter" idx="12"/>
          </p:nvPr>
        </p:nvSpPr>
        <p:spPr/>
        <p:txBody>
          <a:bodyPr/>
          <a:lstStyle/>
          <a:p>
            <a:pPr marL="0" marR="0" lvl="0" indent="0" algn="r" defTabSz="548640" rtl="0" eaLnBrk="1" fontAlgn="auto" latinLnBrk="0" hangingPunct="1">
              <a:lnSpc>
                <a:spcPct val="100000"/>
              </a:lnSpc>
              <a:spcBef>
                <a:spcPts val="0"/>
              </a:spcBef>
              <a:spcAft>
                <a:spcPts val="0"/>
              </a:spcAft>
              <a:buClrTx/>
              <a:buSzTx/>
              <a:buFontTx/>
              <a:buNone/>
              <a:tabLst/>
              <a:defRPr/>
            </a:pPr>
            <a:fld id="{3EE37125-522B-4845-9813-9B08C50422D2}" type="slidenum">
              <a:rPr kumimoji="0" lang="en-GB" sz="1440" b="0" i="0" u="none" strike="noStrike" kern="1200" cap="none" spc="0" normalizeH="0" baseline="0" noProof="0">
                <a:ln>
                  <a:noFill/>
                </a:ln>
                <a:solidFill>
                  <a:srgbClr val="003768">
                    <a:tint val="75000"/>
                  </a:srgbClr>
                </a:solidFill>
                <a:effectLst/>
                <a:uLnTx/>
                <a:uFillTx/>
                <a:latin typeface="Calibri"/>
                <a:ea typeface="+mn-ea"/>
                <a:cs typeface="+mn-cs"/>
              </a:rPr>
              <a:pPr marL="0" marR="0" lvl="0" indent="0" algn="r" defTabSz="548640" rtl="0" eaLnBrk="1" fontAlgn="auto" latinLnBrk="0" hangingPunct="1">
                <a:lnSpc>
                  <a:spcPct val="100000"/>
                </a:lnSpc>
                <a:spcBef>
                  <a:spcPts val="0"/>
                </a:spcBef>
                <a:spcAft>
                  <a:spcPts val="0"/>
                </a:spcAft>
                <a:buClrTx/>
                <a:buSzTx/>
                <a:buFontTx/>
                <a:buNone/>
                <a:tabLst/>
                <a:defRPr/>
              </a:pPr>
              <a:t>25</a:t>
            </a:fld>
            <a:endParaRPr kumimoji="0" lang="en-GB" sz="1440" b="0" i="0" u="none" strike="noStrike" kern="1200" cap="none" spc="0" normalizeH="0" baseline="0" noProof="0">
              <a:ln>
                <a:noFill/>
              </a:ln>
              <a:solidFill>
                <a:srgbClr val="003768">
                  <a:tint val="75000"/>
                </a:srgbClr>
              </a:solidFill>
              <a:effectLst/>
              <a:uLnTx/>
              <a:uFillTx/>
              <a:latin typeface="Calibri"/>
              <a:ea typeface="+mn-ea"/>
              <a:cs typeface="+mn-cs"/>
            </a:endParaRPr>
          </a:p>
        </p:txBody>
      </p:sp>
    </p:spTree>
    <p:extLst>
      <p:ext uri="{BB962C8B-B14F-4D97-AF65-F5344CB8AC3E}">
        <p14:creationId xmlns:p14="http://schemas.microsoft.com/office/powerpoint/2010/main" val="3117255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969233"/>
          </a:xfrm>
        </p:spPr>
        <p:txBody>
          <a:bodyPr/>
          <a:lstStyle/>
          <a:p>
            <a:r>
              <a:rPr lang="en-GB" dirty="0">
                <a:solidFill>
                  <a:srgbClr val="000000"/>
                </a:solidFill>
              </a:rPr>
              <a:t>Right to be informed</a:t>
            </a:r>
          </a:p>
        </p:txBody>
      </p:sp>
      <p:sp>
        <p:nvSpPr>
          <p:cNvPr id="3" name="Content Placeholder 2"/>
          <p:cNvSpPr>
            <a:spLocks noGrp="1"/>
          </p:cNvSpPr>
          <p:nvPr>
            <p:ph idx="1"/>
          </p:nvPr>
        </p:nvSpPr>
        <p:spPr>
          <a:xfrm>
            <a:off x="90616" y="895994"/>
            <a:ext cx="12010768" cy="4114800"/>
          </a:xfrm>
        </p:spPr>
        <p:txBody>
          <a:bodyPr/>
          <a:lstStyle/>
          <a:p>
            <a:r>
              <a:rPr lang="en-US" sz="2800" dirty="0">
                <a:solidFill>
                  <a:srgbClr val="000000"/>
                </a:solidFill>
              </a:rPr>
              <a:t>Individuals have the right to be informed about the collection and use of their personal data. This is a key transparency requirement under the GDPR.</a:t>
            </a:r>
          </a:p>
          <a:p>
            <a:r>
              <a:rPr lang="en-US" sz="2800" dirty="0">
                <a:solidFill>
                  <a:srgbClr val="000000"/>
                </a:solidFill>
              </a:rPr>
              <a:t>You must provide individuals with information including: your purposes for processing their personal data, your retention periods for that personal data, and who it will be shared with. We call this ‘privacy information’.</a:t>
            </a:r>
          </a:p>
          <a:p>
            <a:r>
              <a:rPr lang="en-US" sz="2800" dirty="0">
                <a:solidFill>
                  <a:srgbClr val="000000"/>
                </a:solidFill>
              </a:rPr>
              <a:t>You must provide privacy information to individuals at the time you collect their personal data from them.</a:t>
            </a:r>
          </a:p>
          <a:p>
            <a:r>
              <a:rPr lang="en-US" sz="2800" dirty="0">
                <a:solidFill>
                  <a:srgbClr val="000000"/>
                </a:solidFill>
              </a:rPr>
              <a:t>You must regularly review, and where necessary, update your privacy information. You must bring any new uses of an individual’s personal data to their attention before you start the processing.</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26</a:t>
            </a:fld>
            <a:endParaRPr lang="en-GB">
              <a:solidFill>
                <a:srgbClr val="003768">
                  <a:tint val="75000"/>
                </a:srgbClr>
              </a:solidFill>
            </a:endParaRPr>
          </a:p>
        </p:txBody>
      </p:sp>
    </p:spTree>
    <p:extLst>
      <p:ext uri="{BB962C8B-B14F-4D97-AF65-F5344CB8AC3E}">
        <p14:creationId xmlns:p14="http://schemas.microsoft.com/office/powerpoint/2010/main" val="41432827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000000"/>
                </a:solidFill>
              </a:rPr>
              <a:t>Right of access</a:t>
            </a:r>
          </a:p>
        </p:txBody>
      </p:sp>
      <p:sp>
        <p:nvSpPr>
          <p:cNvPr id="3" name="Content Placeholder 2"/>
          <p:cNvSpPr>
            <a:spLocks noGrp="1"/>
          </p:cNvSpPr>
          <p:nvPr>
            <p:ph idx="1"/>
          </p:nvPr>
        </p:nvSpPr>
        <p:spPr>
          <a:xfrm>
            <a:off x="189470" y="1285875"/>
            <a:ext cx="11088130" cy="4114800"/>
          </a:xfrm>
        </p:spPr>
        <p:txBody>
          <a:bodyPr/>
          <a:lstStyle/>
          <a:p>
            <a:r>
              <a:rPr lang="en-US" sz="2800" dirty="0">
                <a:solidFill>
                  <a:srgbClr val="000000"/>
                </a:solidFill>
              </a:rPr>
              <a:t>Individuals have the right to be informed about the collection and use of their personal data. This is a key transparency requirement under the GDPR.</a:t>
            </a:r>
          </a:p>
          <a:p>
            <a:r>
              <a:rPr lang="en-US" sz="2800" dirty="0">
                <a:solidFill>
                  <a:srgbClr val="000000"/>
                </a:solidFill>
              </a:rPr>
              <a:t>You must provide individuals with information including: your purposes for processing their personal data, your retention periods for that personal data, and who it will be shared with. We call this ‘privacy information’.</a:t>
            </a:r>
          </a:p>
          <a:p>
            <a:r>
              <a:rPr lang="en-US" sz="2800" dirty="0">
                <a:solidFill>
                  <a:srgbClr val="000000"/>
                </a:solidFill>
              </a:rPr>
              <a:t>You must provide privacy information to individuals at the time you collect their personal data from them.</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27</a:t>
            </a:fld>
            <a:endParaRPr lang="en-GB">
              <a:solidFill>
                <a:srgbClr val="003768">
                  <a:tint val="75000"/>
                </a:srgbClr>
              </a:solidFill>
            </a:endParaRPr>
          </a:p>
        </p:txBody>
      </p:sp>
    </p:spTree>
    <p:extLst>
      <p:ext uri="{BB962C8B-B14F-4D97-AF65-F5344CB8AC3E}">
        <p14:creationId xmlns:p14="http://schemas.microsoft.com/office/powerpoint/2010/main" val="1088220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rPr>
              <a:t>Right to rectification</a:t>
            </a:r>
            <a:br>
              <a:rPr lang="en-US" dirty="0"/>
            </a:br>
            <a:endParaRPr lang="en-GB" dirty="0"/>
          </a:p>
        </p:txBody>
      </p:sp>
      <p:sp>
        <p:nvSpPr>
          <p:cNvPr id="3" name="Content Placeholder 2"/>
          <p:cNvSpPr>
            <a:spLocks noGrp="1"/>
          </p:cNvSpPr>
          <p:nvPr>
            <p:ph idx="1"/>
          </p:nvPr>
        </p:nvSpPr>
        <p:spPr>
          <a:xfrm>
            <a:off x="156519" y="980303"/>
            <a:ext cx="11121081" cy="4491810"/>
          </a:xfrm>
        </p:spPr>
        <p:txBody>
          <a:bodyPr/>
          <a:lstStyle/>
          <a:p>
            <a:r>
              <a:rPr lang="en-US" sz="2800" dirty="0">
                <a:solidFill>
                  <a:srgbClr val="000000"/>
                </a:solidFill>
              </a:rPr>
              <a:t>The GDPR includes a right for individuals to have inaccurate personal data rectified, or completed if it is incomplete.</a:t>
            </a:r>
          </a:p>
          <a:p>
            <a:r>
              <a:rPr lang="en-US" sz="2800" dirty="0">
                <a:solidFill>
                  <a:srgbClr val="000000"/>
                </a:solidFill>
              </a:rPr>
              <a:t>An individual can make a request for rectification verbally or in writing.</a:t>
            </a:r>
          </a:p>
          <a:p>
            <a:r>
              <a:rPr lang="en-US" sz="2800" dirty="0">
                <a:solidFill>
                  <a:srgbClr val="000000"/>
                </a:solidFill>
              </a:rPr>
              <a:t>You have one calendar month to respond to a request.</a:t>
            </a:r>
          </a:p>
          <a:p>
            <a:r>
              <a:rPr lang="en-US" sz="2800" dirty="0">
                <a:solidFill>
                  <a:srgbClr val="000000"/>
                </a:solidFill>
              </a:rPr>
              <a:t>In certain circumstances you can refuse a request for rectification.</a:t>
            </a:r>
          </a:p>
          <a:p>
            <a:r>
              <a:rPr lang="en-US" sz="2800" dirty="0">
                <a:solidFill>
                  <a:srgbClr val="000000"/>
                </a:solidFill>
              </a:rPr>
              <a:t>This right is closely linked to the controller’s obligations under the accuracy principle of the GDPR (Article (5)(1)(d)).</a:t>
            </a:r>
          </a:p>
          <a:p>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28</a:t>
            </a:fld>
            <a:endParaRPr lang="en-GB">
              <a:solidFill>
                <a:srgbClr val="003768">
                  <a:tint val="75000"/>
                </a:srgbClr>
              </a:solidFill>
            </a:endParaRPr>
          </a:p>
        </p:txBody>
      </p:sp>
    </p:spTree>
    <p:extLst>
      <p:ext uri="{BB962C8B-B14F-4D97-AF65-F5344CB8AC3E}">
        <p14:creationId xmlns:p14="http://schemas.microsoft.com/office/powerpoint/2010/main" val="4090021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rPr>
              <a:t>Right to erasure</a:t>
            </a:r>
            <a:r>
              <a:rPr lang="en-US" dirty="0"/>
              <a:t> </a:t>
            </a:r>
            <a:br>
              <a:rPr lang="en-US" dirty="0"/>
            </a:br>
            <a:endParaRPr lang="en-GB" dirty="0"/>
          </a:p>
        </p:txBody>
      </p:sp>
      <p:sp>
        <p:nvSpPr>
          <p:cNvPr id="3" name="Content Placeholder 2"/>
          <p:cNvSpPr>
            <a:spLocks noGrp="1"/>
          </p:cNvSpPr>
          <p:nvPr>
            <p:ph idx="1"/>
          </p:nvPr>
        </p:nvSpPr>
        <p:spPr>
          <a:xfrm>
            <a:off x="181232" y="978372"/>
            <a:ext cx="11829535" cy="4114800"/>
          </a:xfrm>
        </p:spPr>
        <p:txBody>
          <a:bodyPr/>
          <a:lstStyle/>
          <a:p>
            <a:r>
              <a:rPr lang="en-US" sz="2800" dirty="0">
                <a:solidFill>
                  <a:srgbClr val="000000"/>
                </a:solidFill>
              </a:rPr>
              <a:t>The GDPR introduces a right for individuals to have personal data erased.</a:t>
            </a:r>
          </a:p>
          <a:p>
            <a:r>
              <a:rPr lang="en-US" sz="2800" dirty="0">
                <a:solidFill>
                  <a:srgbClr val="000000"/>
                </a:solidFill>
              </a:rPr>
              <a:t>The right to erasure is also known as ‘the right to be forgotten’.</a:t>
            </a:r>
          </a:p>
          <a:p>
            <a:r>
              <a:rPr lang="en-US" sz="2800" dirty="0">
                <a:solidFill>
                  <a:srgbClr val="000000"/>
                </a:solidFill>
              </a:rPr>
              <a:t>Individuals can make a request for erasure verbally or in writing.</a:t>
            </a:r>
          </a:p>
          <a:p>
            <a:r>
              <a:rPr lang="en-US" sz="2800" dirty="0">
                <a:solidFill>
                  <a:srgbClr val="000000"/>
                </a:solidFill>
              </a:rPr>
              <a:t>You have one month to respond to a request.</a:t>
            </a:r>
          </a:p>
          <a:p>
            <a:r>
              <a:rPr lang="en-US" sz="2800" dirty="0">
                <a:solidFill>
                  <a:srgbClr val="000000"/>
                </a:solidFill>
              </a:rPr>
              <a:t>The right is not absolute and only applies in certain circumstances.</a:t>
            </a:r>
          </a:p>
          <a:p>
            <a:r>
              <a:rPr lang="en-US" sz="2800" dirty="0">
                <a:solidFill>
                  <a:srgbClr val="000000"/>
                </a:solidFill>
              </a:rPr>
              <a:t>This right is not the only way in which the GDPR places an obligation on you to consider whether to delete personal data</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29</a:t>
            </a:fld>
            <a:endParaRPr lang="en-GB">
              <a:solidFill>
                <a:srgbClr val="003768">
                  <a:tint val="75000"/>
                </a:srgbClr>
              </a:solidFill>
            </a:endParaRPr>
          </a:p>
        </p:txBody>
      </p:sp>
    </p:spTree>
    <p:extLst>
      <p:ext uri="{BB962C8B-B14F-4D97-AF65-F5344CB8AC3E}">
        <p14:creationId xmlns:p14="http://schemas.microsoft.com/office/powerpoint/2010/main" val="715558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rPr>
              <a:t>Right to restrict processing</a:t>
            </a:r>
            <a:br>
              <a:rPr lang="en-US" dirty="0"/>
            </a:br>
            <a:endParaRPr lang="en-GB" dirty="0"/>
          </a:p>
        </p:txBody>
      </p:sp>
      <p:sp>
        <p:nvSpPr>
          <p:cNvPr id="3" name="Content Placeholder 2"/>
          <p:cNvSpPr>
            <a:spLocks noGrp="1"/>
          </p:cNvSpPr>
          <p:nvPr>
            <p:ph idx="1"/>
          </p:nvPr>
        </p:nvSpPr>
        <p:spPr>
          <a:xfrm>
            <a:off x="313038" y="799070"/>
            <a:ext cx="11788346" cy="4673043"/>
          </a:xfrm>
        </p:spPr>
        <p:txBody>
          <a:bodyPr/>
          <a:lstStyle/>
          <a:p>
            <a:r>
              <a:rPr lang="en-US" sz="2800" dirty="0">
                <a:solidFill>
                  <a:srgbClr val="000000"/>
                </a:solidFill>
              </a:rPr>
              <a:t>Individuals have the right to request the restriction or suppression of their personal data.</a:t>
            </a:r>
          </a:p>
          <a:p>
            <a:r>
              <a:rPr lang="en-US" sz="2800" dirty="0">
                <a:solidFill>
                  <a:srgbClr val="000000"/>
                </a:solidFill>
              </a:rPr>
              <a:t>This is not an absolute right and only applies in certain circumstances.</a:t>
            </a:r>
          </a:p>
          <a:p>
            <a:r>
              <a:rPr lang="en-US" sz="2800" dirty="0">
                <a:solidFill>
                  <a:srgbClr val="000000"/>
                </a:solidFill>
              </a:rPr>
              <a:t>When processing is restricted, you are permitted to store the personal data, but not use it.</a:t>
            </a:r>
          </a:p>
          <a:p>
            <a:r>
              <a:rPr lang="en-US" sz="2800" dirty="0">
                <a:solidFill>
                  <a:srgbClr val="000000"/>
                </a:solidFill>
              </a:rPr>
              <a:t>An individual can make a request for restriction verbally or in writing.</a:t>
            </a:r>
          </a:p>
          <a:p>
            <a:r>
              <a:rPr lang="en-US" sz="2800" dirty="0">
                <a:solidFill>
                  <a:srgbClr val="000000"/>
                </a:solidFill>
              </a:rPr>
              <a:t>You have one calendar month to respond to a request.</a:t>
            </a:r>
          </a:p>
          <a:p>
            <a:r>
              <a:rPr lang="en-US" sz="2800" dirty="0">
                <a:solidFill>
                  <a:srgbClr val="000000"/>
                </a:solidFill>
              </a:rPr>
              <a:t>This right has close links to the right to rectification (Article 16) and the right to object (Article 21).</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30</a:t>
            </a:fld>
            <a:endParaRPr lang="en-GB">
              <a:solidFill>
                <a:srgbClr val="003768">
                  <a:tint val="75000"/>
                </a:srgbClr>
              </a:solidFill>
            </a:endParaRPr>
          </a:p>
        </p:txBody>
      </p:sp>
    </p:spTree>
    <p:extLst>
      <p:ext uri="{BB962C8B-B14F-4D97-AF65-F5344CB8AC3E}">
        <p14:creationId xmlns:p14="http://schemas.microsoft.com/office/powerpoint/2010/main" val="4050191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normAutofit fontScale="90000"/>
          </a:bodyPr>
          <a:lstStyle/>
          <a:p>
            <a:r>
              <a:rPr lang="en-US" dirty="0">
                <a:solidFill>
                  <a:srgbClr val="000000"/>
                </a:solidFill>
              </a:rPr>
              <a:t>Right to data portability</a:t>
            </a:r>
            <a:br>
              <a:rPr lang="en-US" dirty="0"/>
            </a:br>
            <a:endParaRPr lang="en-GB" dirty="0"/>
          </a:p>
        </p:txBody>
      </p:sp>
      <p:sp>
        <p:nvSpPr>
          <p:cNvPr id="3" name="Content Placeholder 2"/>
          <p:cNvSpPr>
            <a:spLocks noGrp="1"/>
          </p:cNvSpPr>
          <p:nvPr>
            <p:ph idx="1"/>
          </p:nvPr>
        </p:nvSpPr>
        <p:spPr>
          <a:xfrm>
            <a:off x="205946" y="673572"/>
            <a:ext cx="11986054" cy="4114800"/>
          </a:xfrm>
        </p:spPr>
        <p:txBody>
          <a:bodyPr/>
          <a:lstStyle/>
          <a:p>
            <a:r>
              <a:rPr lang="en-US" sz="2800" dirty="0">
                <a:solidFill>
                  <a:srgbClr val="000000"/>
                </a:solidFill>
              </a:rPr>
              <a:t>The right to data portability allows individuals to obtain and reuse their personal data for their own purposes across different services.</a:t>
            </a:r>
          </a:p>
          <a:p>
            <a:r>
              <a:rPr lang="en-US" sz="2800" dirty="0">
                <a:solidFill>
                  <a:srgbClr val="000000"/>
                </a:solidFill>
              </a:rPr>
              <a:t>It allows them to move, copy or transfer personal data easily from one IT environment to another in a safe and secure way, without affecting its usability.</a:t>
            </a:r>
          </a:p>
          <a:p>
            <a:r>
              <a:rPr lang="en-US" sz="2800" dirty="0">
                <a:solidFill>
                  <a:srgbClr val="000000"/>
                </a:solidFill>
              </a:rPr>
              <a:t>Doing this enables individuals to take advantage of applications and services that can use this data to find them a better deal or help them understand their spending habits.</a:t>
            </a:r>
          </a:p>
          <a:p>
            <a:r>
              <a:rPr lang="en-US" sz="2800" dirty="0">
                <a:solidFill>
                  <a:srgbClr val="000000"/>
                </a:solidFill>
              </a:rPr>
              <a:t>The right only applies to information an individual has provided to a controller.</a:t>
            </a:r>
          </a:p>
          <a:p>
            <a:r>
              <a:rPr lang="en-US" sz="2800" dirty="0">
                <a:solidFill>
                  <a:srgbClr val="000000"/>
                </a:solidFill>
              </a:rPr>
              <a:t>Some </a:t>
            </a:r>
            <a:r>
              <a:rPr lang="en-US" sz="2800" dirty="0" err="1">
                <a:solidFill>
                  <a:srgbClr val="000000"/>
                </a:solidFill>
              </a:rPr>
              <a:t>organisations</a:t>
            </a:r>
            <a:r>
              <a:rPr lang="en-US" sz="2800" dirty="0">
                <a:solidFill>
                  <a:srgbClr val="000000"/>
                </a:solidFill>
              </a:rPr>
              <a:t> in the UK already offer data portability through </a:t>
            </a:r>
            <a:r>
              <a:rPr lang="en-US" sz="2800" dirty="0" err="1">
                <a:solidFill>
                  <a:srgbClr val="000000"/>
                </a:solidFill>
              </a:rPr>
              <a:t>midata</a:t>
            </a:r>
            <a:r>
              <a:rPr lang="en-US" sz="2800" dirty="0">
                <a:solidFill>
                  <a:srgbClr val="000000"/>
                </a:solidFill>
              </a:rPr>
              <a:t> and similar initiatives which allow individuals to view, access and use their personal consumption and transaction data in a way that is portable and safe</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31</a:t>
            </a:fld>
            <a:endParaRPr lang="en-GB">
              <a:solidFill>
                <a:srgbClr val="003768">
                  <a:tint val="75000"/>
                </a:srgbClr>
              </a:solidFill>
            </a:endParaRPr>
          </a:p>
        </p:txBody>
      </p:sp>
    </p:spTree>
    <p:extLst>
      <p:ext uri="{BB962C8B-B14F-4D97-AF65-F5344CB8AC3E}">
        <p14:creationId xmlns:p14="http://schemas.microsoft.com/office/powerpoint/2010/main" val="27146932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rPr>
              <a:t>Right to object</a:t>
            </a:r>
            <a:br>
              <a:rPr lang="en-US" dirty="0"/>
            </a:br>
            <a:endParaRPr lang="en-GB" dirty="0"/>
          </a:p>
        </p:txBody>
      </p:sp>
      <p:sp>
        <p:nvSpPr>
          <p:cNvPr id="3" name="Content Placeholder 2"/>
          <p:cNvSpPr>
            <a:spLocks noGrp="1"/>
          </p:cNvSpPr>
          <p:nvPr>
            <p:ph idx="1"/>
          </p:nvPr>
        </p:nvSpPr>
        <p:spPr>
          <a:xfrm>
            <a:off x="205946" y="873211"/>
            <a:ext cx="11780108" cy="4598902"/>
          </a:xfrm>
        </p:spPr>
        <p:txBody>
          <a:bodyPr/>
          <a:lstStyle/>
          <a:p>
            <a:r>
              <a:rPr lang="en-US" sz="2800" dirty="0">
                <a:solidFill>
                  <a:srgbClr val="000000"/>
                </a:solidFill>
              </a:rPr>
              <a:t>The GDPR gives individuals the right to object to the processing of their personal data in certain circumstances.</a:t>
            </a:r>
          </a:p>
          <a:p>
            <a:r>
              <a:rPr lang="en-US" sz="2800" dirty="0">
                <a:solidFill>
                  <a:srgbClr val="000000"/>
                </a:solidFill>
              </a:rPr>
              <a:t>Individuals have an absolute right to stop their data being used for direct marketing.</a:t>
            </a:r>
          </a:p>
          <a:p>
            <a:r>
              <a:rPr lang="en-US" sz="2800" dirty="0">
                <a:solidFill>
                  <a:srgbClr val="000000"/>
                </a:solidFill>
              </a:rPr>
              <a:t>In other cases where the right to object applies you may be able to continue processing if you can show that you have a compelling reason for doing so.</a:t>
            </a:r>
          </a:p>
          <a:p>
            <a:r>
              <a:rPr lang="en-US" sz="2800" dirty="0">
                <a:solidFill>
                  <a:srgbClr val="000000"/>
                </a:solidFill>
              </a:rPr>
              <a:t>You must tell individuals about their right to object.</a:t>
            </a:r>
          </a:p>
          <a:p>
            <a:r>
              <a:rPr lang="en-US" sz="2800" dirty="0">
                <a:solidFill>
                  <a:srgbClr val="000000"/>
                </a:solidFill>
              </a:rPr>
              <a:t>An individual can make an objection verbally or in writing.</a:t>
            </a:r>
          </a:p>
          <a:p>
            <a:r>
              <a:rPr lang="en-US" sz="2800" dirty="0">
                <a:solidFill>
                  <a:srgbClr val="000000"/>
                </a:solidFill>
              </a:rPr>
              <a:t>You have one calendar month to respond to an objection</a:t>
            </a:r>
            <a:endParaRPr lang="en-GB" sz="28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32</a:t>
            </a:fld>
            <a:endParaRPr lang="en-GB">
              <a:solidFill>
                <a:srgbClr val="003768">
                  <a:tint val="75000"/>
                </a:srgbClr>
              </a:solidFill>
            </a:endParaRPr>
          </a:p>
        </p:txBody>
      </p:sp>
    </p:spTree>
    <p:extLst>
      <p:ext uri="{BB962C8B-B14F-4D97-AF65-F5344CB8AC3E}">
        <p14:creationId xmlns:p14="http://schemas.microsoft.com/office/powerpoint/2010/main" val="1254877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19253"/>
            <a:ext cx="12150811" cy="985709"/>
          </a:xfrm>
        </p:spPr>
        <p:txBody>
          <a:bodyPr>
            <a:normAutofit fontScale="90000"/>
          </a:bodyPr>
          <a:lstStyle/>
          <a:p>
            <a:r>
              <a:rPr lang="en-US" dirty="0">
                <a:solidFill>
                  <a:srgbClr val="000000"/>
                </a:solidFill>
              </a:rPr>
              <a:t>Rights in relation to automated decision making &amp; profiling.</a:t>
            </a:r>
            <a:br>
              <a:rPr lang="en-US" dirty="0"/>
            </a:br>
            <a:endParaRPr lang="en-GB" dirty="0"/>
          </a:p>
        </p:txBody>
      </p:sp>
      <p:sp>
        <p:nvSpPr>
          <p:cNvPr id="3" name="Content Placeholder 2"/>
          <p:cNvSpPr>
            <a:spLocks noGrp="1"/>
          </p:cNvSpPr>
          <p:nvPr>
            <p:ph idx="1"/>
          </p:nvPr>
        </p:nvSpPr>
        <p:spPr>
          <a:xfrm>
            <a:off x="61783" y="1631092"/>
            <a:ext cx="12109622" cy="4114800"/>
          </a:xfrm>
        </p:spPr>
        <p:txBody>
          <a:bodyPr/>
          <a:lstStyle/>
          <a:p>
            <a:r>
              <a:rPr lang="en-GB" sz="2400" dirty="0">
                <a:solidFill>
                  <a:srgbClr val="000000"/>
                </a:solidFill>
              </a:rPr>
              <a:t>The GDPR </a:t>
            </a:r>
            <a:r>
              <a:rPr lang="en-US" sz="2400" dirty="0">
                <a:solidFill>
                  <a:srgbClr val="000000"/>
                </a:solidFill>
              </a:rPr>
              <a:t>provides safeguards for individuals against the risk that a potentially damaging decision is taken by solely automated means, </a:t>
            </a:r>
            <a:r>
              <a:rPr lang="en-US" sz="2400" dirty="0" err="1">
                <a:solidFill>
                  <a:srgbClr val="000000"/>
                </a:solidFill>
              </a:rPr>
              <a:t>ie</a:t>
            </a:r>
            <a:r>
              <a:rPr lang="en-US" sz="2400" dirty="0">
                <a:solidFill>
                  <a:srgbClr val="000000"/>
                </a:solidFill>
              </a:rPr>
              <a:t> without human intervention.</a:t>
            </a:r>
          </a:p>
          <a:p>
            <a:r>
              <a:rPr lang="en-US" sz="2400" dirty="0">
                <a:solidFill>
                  <a:srgbClr val="000000"/>
                </a:solidFill>
              </a:rPr>
              <a:t>You may not take a significant decision based solely on automated processing unless that decision is required or </a:t>
            </a:r>
            <a:r>
              <a:rPr lang="en-US" sz="2400" dirty="0" err="1">
                <a:solidFill>
                  <a:srgbClr val="000000"/>
                </a:solidFill>
              </a:rPr>
              <a:t>authorised</a:t>
            </a:r>
            <a:r>
              <a:rPr lang="en-US" sz="2400" dirty="0">
                <a:solidFill>
                  <a:srgbClr val="000000"/>
                </a:solidFill>
              </a:rPr>
              <a:t> by law. </a:t>
            </a:r>
          </a:p>
          <a:p>
            <a:r>
              <a:rPr lang="en-US" sz="2400" dirty="0">
                <a:solidFill>
                  <a:srgbClr val="000000"/>
                </a:solidFill>
              </a:rPr>
              <a:t>A ‘qualifying significant decision’ is defined as a decision which significantly affects or produces an adverse legal effect on an individual and is </a:t>
            </a:r>
            <a:r>
              <a:rPr lang="en-US" sz="2400" dirty="0" err="1">
                <a:solidFill>
                  <a:srgbClr val="000000"/>
                </a:solidFill>
              </a:rPr>
              <a:t>authorised</a:t>
            </a:r>
            <a:r>
              <a:rPr lang="en-US" sz="2400" dirty="0">
                <a:solidFill>
                  <a:srgbClr val="000000"/>
                </a:solidFill>
              </a:rPr>
              <a:t> by law.</a:t>
            </a:r>
          </a:p>
          <a:p>
            <a:r>
              <a:rPr lang="en-US" sz="2400" dirty="0">
                <a:solidFill>
                  <a:srgbClr val="000000"/>
                </a:solidFill>
              </a:rPr>
              <a:t>Currently, solely automated decision-making that leads to an adverse outcome is rarely used in the law enforcement context and is unlikely to have many operational implications.</a:t>
            </a:r>
            <a:endParaRPr lang="en-GB" sz="24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33</a:t>
            </a:fld>
            <a:endParaRPr lang="en-GB">
              <a:solidFill>
                <a:srgbClr val="003768">
                  <a:tint val="75000"/>
                </a:srgbClr>
              </a:solidFill>
            </a:endParaRPr>
          </a:p>
        </p:txBody>
      </p:sp>
    </p:spTree>
    <p:extLst>
      <p:ext uri="{BB962C8B-B14F-4D97-AF65-F5344CB8AC3E}">
        <p14:creationId xmlns:p14="http://schemas.microsoft.com/office/powerpoint/2010/main" val="19788292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378" y="142875"/>
            <a:ext cx="12109622" cy="1143000"/>
          </a:xfrm>
        </p:spPr>
        <p:txBody>
          <a:bodyPr>
            <a:normAutofit fontScale="90000"/>
          </a:bodyPr>
          <a:lstStyle/>
          <a:p>
            <a:r>
              <a:rPr lang="en-US" dirty="0">
                <a:solidFill>
                  <a:srgbClr val="000000"/>
                </a:solidFill>
              </a:rPr>
              <a:t>Rights in relation to automated decision making &amp; profiling.</a:t>
            </a:r>
            <a:endParaRPr lang="en-GB" dirty="0"/>
          </a:p>
        </p:txBody>
      </p:sp>
      <p:sp>
        <p:nvSpPr>
          <p:cNvPr id="3" name="Content Placeholder 2"/>
          <p:cNvSpPr>
            <a:spLocks noGrp="1"/>
          </p:cNvSpPr>
          <p:nvPr>
            <p:ph idx="1"/>
          </p:nvPr>
        </p:nvSpPr>
        <p:spPr>
          <a:xfrm>
            <a:off x="82378" y="1464405"/>
            <a:ext cx="12109622" cy="4114800"/>
          </a:xfrm>
        </p:spPr>
        <p:txBody>
          <a:bodyPr/>
          <a:lstStyle/>
          <a:p>
            <a:r>
              <a:rPr lang="en-US" sz="2800" dirty="0">
                <a:solidFill>
                  <a:srgbClr val="000000"/>
                </a:solidFill>
              </a:rPr>
              <a:t>Individuals have the right not to be subject to a decision when:</a:t>
            </a:r>
          </a:p>
          <a:p>
            <a:r>
              <a:rPr lang="en-US" sz="2800" dirty="0">
                <a:solidFill>
                  <a:srgbClr val="000000"/>
                </a:solidFill>
              </a:rPr>
              <a:t>it is based on automated processing; and</a:t>
            </a:r>
          </a:p>
          <a:p>
            <a:r>
              <a:rPr lang="en-US" sz="2800" dirty="0">
                <a:solidFill>
                  <a:srgbClr val="000000"/>
                </a:solidFill>
              </a:rPr>
              <a:t>it produces an adverse legal effect or a significantly affects the individual.</a:t>
            </a:r>
          </a:p>
          <a:p>
            <a:r>
              <a:rPr lang="en-US" sz="2800" dirty="0">
                <a:solidFill>
                  <a:srgbClr val="000000"/>
                </a:solidFill>
              </a:rPr>
              <a:t>You must ensure that individuals are able to:</a:t>
            </a:r>
          </a:p>
          <a:p>
            <a:pPr lvl="1"/>
            <a:r>
              <a:rPr lang="en-US" sz="2400" dirty="0">
                <a:solidFill>
                  <a:srgbClr val="000000"/>
                </a:solidFill>
              </a:rPr>
              <a:t>obtain human intervention;</a:t>
            </a:r>
          </a:p>
          <a:p>
            <a:pPr lvl="1"/>
            <a:r>
              <a:rPr lang="en-US" sz="2400" dirty="0">
                <a:solidFill>
                  <a:srgbClr val="000000"/>
                </a:solidFill>
              </a:rPr>
              <a:t>express their point of view; and</a:t>
            </a:r>
          </a:p>
          <a:p>
            <a:pPr lvl="1"/>
            <a:r>
              <a:rPr lang="en-US" sz="2400" dirty="0">
                <a:solidFill>
                  <a:srgbClr val="000000"/>
                </a:solidFill>
              </a:rPr>
              <a:t>obtain an explanation of the decision and challenge it.</a:t>
            </a:r>
            <a:endParaRPr lang="en-GB" sz="2400" dirty="0">
              <a:solidFill>
                <a:srgbClr val="000000"/>
              </a:solidFill>
            </a:endParaRPr>
          </a:p>
        </p:txBody>
      </p:sp>
      <p:sp>
        <p:nvSpPr>
          <p:cNvPr id="4" name="Slide Number Placeholder 3"/>
          <p:cNvSpPr>
            <a:spLocks noGrp="1"/>
          </p:cNvSpPr>
          <p:nvPr>
            <p:ph type="sldNum" sz="quarter" idx="12"/>
          </p:nvPr>
        </p:nvSpPr>
        <p:spPr/>
        <p:txBody>
          <a:bodyPr/>
          <a:lstStyle/>
          <a:p>
            <a:fld id="{3EE37125-522B-4845-9813-9B08C50422D2}" type="slidenum">
              <a:rPr lang="en-GB" smtClean="0">
                <a:solidFill>
                  <a:srgbClr val="003768">
                    <a:tint val="75000"/>
                  </a:srgbClr>
                </a:solidFill>
              </a:rPr>
              <a:pPr/>
              <a:t>34</a:t>
            </a:fld>
            <a:endParaRPr lang="en-GB">
              <a:solidFill>
                <a:srgbClr val="003768">
                  <a:tint val="75000"/>
                </a:srgbClr>
              </a:solidFill>
            </a:endParaRPr>
          </a:p>
        </p:txBody>
      </p:sp>
    </p:spTree>
    <p:extLst>
      <p:ext uri="{BB962C8B-B14F-4D97-AF65-F5344CB8AC3E}">
        <p14:creationId xmlns:p14="http://schemas.microsoft.com/office/powerpoint/2010/main" val="2752788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BF13D-DFA4-1249-9F35-732FE6B36782}"/>
              </a:ext>
            </a:extLst>
          </p:cNvPr>
          <p:cNvSpPr>
            <a:spLocks noGrp="1"/>
          </p:cNvSpPr>
          <p:nvPr>
            <p:ph type="title"/>
          </p:nvPr>
        </p:nvSpPr>
        <p:spPr/>
        <p:txBody>
          <a:bodyPr/>
          <a:lstStyle/>
          <a:p>
            <a:r>
              <a:rPr lang="en-GB" dirty="0">
                <a:solidFill>
                  <a:srgbClr val="002060"/>
                </a:solidFill>
              </a:rPr>
              <a:t>Data Protection Principles</a:t>
            </a:r>
            <a:endParaRPr lang="en-US" dirty="0"/>
          </a:p>
        </p:txBody>
      </p:sp>
      <p:sp>
        <p:nvSpPr>
          <p:cNvPr id="3" name="Content Placeholder 2">
            <a:extLst>
              <a:ext uri="{FF2B5EF4-FFF2-40B4-BE49-F238E27FC236}">
                <a16:creationId xmlns:a16="http://schemas.microsoft.com/office/drawing/2014/main" id="{D1F57C13-4EE7-A849-ACD1-20DA8DDCF2C8}"/>
              </a:ext>
            </a:extLst>
          </p:cNvPr>
          <p:cNvSpPr>
            <a:spLocks noGrp="1"/>
          </p:cNvSpPr>
          <p:nvPr>
            <p:ph idx="1"/>
          </p:nvPr>
        </p:nvSpPr>
        <p:spPr>
          <a:xfrm>
            <a:off x="354227" y="1254211"/>
            <a:ext cx="10972800" cy="4525963"/>
          </a:xfrm>
        </p:spPr>
        <p:txBody>
          <a:bodyPr numCol="1" spcCol="360000">
            <a:noAutofit/>
          </a:bodyPr>
          <a:lstStyle/>
          <a:p>
            <a:r>
              <a:rPr lang="en-US" sz="2000" dirty="0">
                <a:solidFill>
                  <a:srgbClr val="000000"/>
                </a:solidFill>
                <a:latin typeface="Times New Roman" panose="02020603050405020304" pitchFamily="18" charset="0"/>
                <a:cs typeface="Times New Roman" panose="02020603050405020304" pitchFamily="18" charset="0"/>
              </a:rPr>
              <a:t>Article 5 of the GDPR sets out specific requirements about how data controllers should collect, process and manage data.</a:t>
            </a:r>
          </a:p>
          <a:p>
            <a:endParaRPr lang="en-US" sz="2000" dirty="0">
              <a:solidFill>
                <a:srgbClr val="000000"/>
              </a:solidFill>
              <a:latin typeface="Times New Roman" panose="02020603050405020304" pitchFamily="18" charset="0"/>
              <a:cs typeface="Times New Roman" panose="02020603050405020304" pitchFamily="18" charset="0"/>
            </a:endParaRPr>
          </a:p>
          <a:p>
            <a:r>
              <a:rPr lang="en-US" sz="2000" dirty="0">
                <a:solidFill>
                  <a:srgbClr val="000000"/>
                </a:solidFill>
                <a:latin typeface="Times New Roman" panose="02020603050405020304" pitchFamily="18" charset="0"/>
                <a:cs typeface="Times New Roman" panose="02020603050405020304" pitchFamily="18" charset="0"/>
              </a:rPr>
              <a:t>a) Processed lawfully, fairly and in a transparent manner</a:t>
            </a:r>
          </a:p>
          <a:p>
            <a:r>
              <a:rPr lang="en-US" sz="2000" dirty="0">
                <a:solidFill>
                  <a:srgbClr val="000000"/>
                </a:solidFill>
                <a:latin typeface="Times New Roman" panose="02020603050405020304" pitchFamily="18" charset="0"/>
                <a:cs typeface="Times New Roman" panose="02020603050405020304" pitchFamily="18" charset="0"/>
              </a:rPr>
              <a:t>b) Collected for specified, explicit and legitimate purposes</a:t>
            </a:r>
          </a:p>
          <a:p>
            <a:r>
              <a:rPr lang="en-US" sz="2000" dirty="0">
                <a:solidFill>
                  <a:srgbClr val="000000"/>
                </a:solidFill>
                <a:latin typeface="Times New Roman" panose="02020603050405020304" pitchFamily="18" charset="0"/>
                <a:cs typeface="Times New Roman" panose="02020603050405020304" pitchFamily="18" charset="0"/>
              </a:rPr>
              <a:t>c) Adequate, relevant and limited to what is necessary for the processing purposes</a:t>
            </a:r>
          </a:p>
          <a:p>
            <a:r>
              <a:rPr lang="en-US" sz="2000" dirty="0">
                <a:solidFill>
                  <a:srgbClr val="000000"/>
                </a:solidFill>
                <a:latin typeface="Times New Roman" panose="02020603050405020304" pitchFamily="18" charset="0"/>
                <a:cs typeface="Times New Roman" panose="02020603050405020304" pitchFamily="18" charset="0"/>
              </a:rPr>
              <a:t>d) Accurate and, where necessary, kept up to date</a:t>
            </a:r>
          </a:p>
          <a:p>
            <a:r>
              <a:rPr lang="en-US" sz="2000" dirty="0">
                <a:solidFill>
                  <a:srgbClr val="000000"/>
                </a:solidFill>
                <a:latin typeface="Times New Roman" panose="02020603050405020304" pitchFamily="18" charset="0"/>
                <a:cs typeface="Times New Roman" panose="02020603050405020304" pitchFamily="18" charset="0"/>
              </a:rPr>
              <a:t>e) Kept to permit identification of data subjects for no longer than is necessary for processing purposes</a:t>
            </a:r>
          </a:p>
          <a:p>
            <a:r>
              <a:rPr lang="en-US" sz="2000" dirty="0">
                <a:solidFill>
                  <a:srgbClr val="000000"/>
                </a:solidFill>
                <a:latin typeface="Times New Roman" panose="02020603050405020304" pitchFamily="18" charset="0"/>
                <a:cs typeface="Times New Roman" panose="02020603050405020304" pitchFamily="18" charset="0"/>
              </a:rPr>
              <a:t>f) Processed in a manner that ensures appropriate security of the personal data</a:t>
            </a:r>
          </a:p>
          <a:p>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B13BE6A-E135-464C-83B4-EE71AC55FD35}"/>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35</a:t>
            </a:fld>
            <a:endParaRPr lang="en-GB">
              <a:solidFill>
                <a:srgbClr val="003768">
                  <a:tint val="75000"/>
                </a:srgbClr>
              </a:solidFill>
            </a:endParaRPr>
          </a:p>
        </p:txBody>
      </p:sp>
    </p:spTree>
    <p:extLst>
      <p:ext uri="{BB962C8B-B14F-4D97-AF65-F5344CB8AC3E}">
        <p14:creationId xmlns:p14="http://schemas.microsoft.com/office/powerpoint/2010/main" val="3686214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43AC3-C71D-8D42-93A1-52B6492727A9}"/>
              </a:ext>
            </a:extLst>
          </p:cNvPr>
          <p:cNvSpPr>
            <a:spLocks noGrp="1"/>
          </p:cNvSpPr>
          <p:nvPr>
            <p:ph type="title"/>
          </p:nvPr>
        </p:nvSpPr>
        <p:spPr>
          <a:xfrm>
            <a:off x="1775520" y="274638"/>
            <a:ext cx="9875520" cy="1143000"/>
          </a:xfrm>
        </p:spPr>
        <p:txBody>
          <a:bodyPr/>
          <a:lstStyle/>
          <a:p>
            <a:r>
              <a:rPr lang="en-GB" dirty="0">
                <a:solidFill>
                  <a:srgbClr val="000000"/>
                </a:solidFill>
              </a:rPr>
              <a:t>Fair and Lawful</a:t>
            </a:r>
            <a:endParaRPr lang="en-US" dirty="0">
              <a:solidFill>
                <a:srgbClr val="000000"/>
              </a:solidFill>
            </a:endParaRPr>
          </a:p>
        </p:txBody>
      </p:sp>
      <p:sp>
        <p:nvSpPr>
          <p:cNvPr id="3" name="Content Placeholder 2">
            <a:extLst>
              <a:ext uri="{FF2B5EF4-FFF2-40B4-BE49-F238E27FC236}">
                <a16:creationId xmlns:a16="http://schemas.microsoft.com/office/drawing/2014/main" id="{C2A64C33-4059-EF43-A18C-5E4DAE48E9CC}"/>
              </a:ext>
            </a:extLst>
          </p:cNvPr>
          <p:cNvSpPr>
            <a:spLocks noGrp="1"/>
          </p:cNvSpPr>
          <p:nvPr>
            <p:ph idx="1"/>
          </p:nvPr>
        </p:nvSpPr>
        <p:spPr>
          <a:xfrm>
            <a:off x="198408" y="1484870"/>
            <a:ext cx="11516264" cy="3556992"/>
          </a:xfrm>
        </p:spPr>
        <p:txBody>
          <a:bodyPr numCol="1">
            <a:noAutofit/>
          </a:bodyPr>
          <a:lstStyle/>
          <a:p>
            <a:pPr marL="0" indent="0">
              <a:buNone/>
            </a:pPr>
            <a:r>
              <a:rPr lang="en-US" sz="2400" b="1" dirty="0">
                <a:solidFill>
                  <a:srgbClr val="000000"/>
                </a:solidFill>
                <a:latin typeface="Times New Roman" panose="02020603050405020304" pitchFamily="18" charset="0"/>
                <a:cs typeface="Times New Roman" panose="02020603050405020304" pitchFamily="18" charset="0"/>
              </a:rPr>
              <a:t>Personal data shall be processed lawfully, fairly and in a transparent manner in relation to individuals;</a:t>
            </a:r>
          </a:p>
          <a:p>
            <a:r>
              <a:rPr lang="en-US" sz="2800" dirty="0">
                <a:solidFill>
                  <a:srgbClr val="000000"/>
                </a:solidFill>
              </a:rPr>
              <a:t>This means that data controllers should:</a:t>
            </a:r>
          </a:p>
          <a:p>
            <a:pPr lvl="1"/>
            <a:r>
              <a:rPr lang="en-US" sz="2400" dirty="0">
                <a:solidFill>
                  <a:srgbClr val="000000"/>
                </a:solidFill>
              </a:rPr>
              <a:t>have legitimate grounds for collecting and using the personal data;</a:t>
            </a:r>
          </a:p>
          <a:p>
            <a:pPr lvl="1"/>
            <a:r>
              <a:rPr lang="en-US" sz="2400" dirty="0">
                <a:solidFill>
                  <a:srgbClr val="000000"/>
                </a:solidFill>
              </a:rPr>
              <a:t>not use the data in ways that have unjustified adverse effects on the individuals concerned;</a:t>
            </a:r>
          </a:p>
          <a:p>
            <a:pPr lvl="1"/>
            <a:r>
              <a:rPr lang="en-US" sz="2400" dirty="0">
                <a:solidFill>
                  <a:srgbClr val="000000"/>
                </a:solidFill>
              </a:rPr>
              <a:t>be transparent about how they intend to use the data, and give individuals appropriate privacy notices when collecting their personal data;</a:t>
            </a:r>
          </a:p>
          <a:p>
            <a:pPr lvl="1"/>
            <a:r>
              <a:rPr lang="en-US" sz="2400" dirty="0">
                <a:solidFill>
                  <a:srgbClr val="000000"/>
                </a:solidFill>
              </a:rPr>
              <a:t>handle people’s personal data only in ways they would reasonably expect; and</a:t>
            </a:r>
          </a:p>
          <a:p>
            <a:pPr lvl="1"/>
            <a:r>
              <a:rPr lang="en-US" sz="2400" dirty="0">
                <a:solidFill>
                  <a:srgbClr val="000000"/>
                </a:solidFill>
              </a:rPr>
              <a:t>make sure they do not do anything unlawful with the data.</a:t>
            </a:r>
          </a:p>
          <a:p>
            <a:endParaRPr lang="en-US" dirty="0"/>
          </a:p>
          <a:p>
            <a:endParaRPr lang="en-US" dirty="0"/>
          </a:p>
        </p:txBody>
      </p:sp>
      <p:sp>
        <p:nvSpPr>
          <p:cNvPr id="4" name="Slide Number Placeholder 3">
            <a:extLst>
              <a:ext uri="{FF2B5EF4-FFF2-40B4-BE49-F238E27FC236}">
                <a16:creationId xmlns:a16="http://schemas.microsoft.com/office/drawing/2014/main" id="{2354610A-CCA1-FC4B-A07B-C0DDBE0E1059}"/>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36</a:t>
            </a:fld>
            <a:endParaRPr lang="en-GB">
              <a:solidFill>
                <a:srgbClr val="003768">
                  <a:tint val="75000"/>
                </a:srgbClr>
              </a:solidFill>
            </a:endParaRPr>
          </a:p>
        </p:txBody>
      </p:sp>
      <p:sp>
        <p:nvSpPr>
          <p:cNvPr id="7" name="Oval 6">
            <a:extLst>
              <a:ext uri="{FF2B5EF4-FFF2-40B4-BE49-F238E27FC236}">
                <a16:creationId xmlns:a16="http://schemas.microsoft.com/office/drawing/2014/main" id="{C4BD3C03-0AA5-4640-8A1C-8FC04ED462B3}"/>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A</a:t>
            </a:r>
          </a:p>
        </p:txBody>
      </p:sp>
    </p:spTree>
    <p:extLst>
      <p:ext uri="{BB962C8B-B14F-4D97-AF65-F5344CB8AC3E}">
        <p14:creationId xmlns:p14="http://schemas.microsoft.com/office/powerpoint/2010/main" val="1228525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740BB-FAF1-434A-B788-55DB578C2A3A}"/>
              </a:ext>
            </a:extLst>
          </p:cNvPr>
          <p:cNvSpPr>
            <a:spLocks noGrp="1"/>
          </p:cNvSpPr>
          <p:nvPr>
            <p:ph type="title"/>
          </p:nvPr>
        </p:nvSpPr>
        <p:spPr>
          <a:xfrm>
            <a:off x="703520" y="208736"/>
            <a:ext cx="9875520" cy="1143000"/>
          </a:xfrm>
        </p:spPr>
        <p:txBody>
          <a:bodyPr/>
          <a:lstStyle/>
          <a:p>
            <a:r>
              <a:rPr lang="en-US" dirty="0"/>
              <a:t>Purposes</a:t>
            </a:r>
          </a:p>
        </p:txBody>
      </p:sp>
      <p:sp>
        <p:nvSpPr>
          <p:cNvPr id="3" name="Content Placeholder 2">
            <a:extLst>
              <a:ext uri="{FF2B5EF4-FFF2-40B4-BE49-F238E27FC236}">
                <a16:creationId xmlns:a16="http://schemas.microsoft.com/office/drawing/2014/main" id="{69F9429B-7C22-BC41-8692-FC780ED4C72A}"/>
              </a:ext>
            </a:extLst>
          </p:cNvPr>
          <p:cNvSpPr>
            <a:spLocks noGrp="1"/>
          </p:cNvSpPr>
          <p:nvPr>
            <p:ph idx="1"/>
          </p:nvPr>
        </p:nvSpPr>
        <p:spPr>
          <a:xfrm>
            <a:off x="243560" y="1484723"/>
            <a:ext cx="11272703" cy="5223131"/>
          </a:xfrm>
        </p:spPr>
        <p:txBody>
          <a:bodyPr numCol="1" spcCol="360000">
            <a:noAutofit/>
          </a:bodyPr>
          <a:lstStyle/>
          <a:p>
            <a:r>
              <a:rPr lang="en-US" dirty="0">
                <a:solidFill>
                  <a:srgbClr val="000000"/>
                </a:solidFill>
              </a:rPr>
              <a:t>Personal data shall be collected for specified, explicit and legitimate purposes and not further processed in a manner that is incompatible with those purposes; further processing for archiving purposes in the public interest, scientific or historical research purposes or statistical purposes shall not be considered to be incompatible with the initial purposes;</a:t>
            </a:r>
            <a:br>
              <a:rPr lang="en-US" b="1" dirty="0">
                <a:solidFill>
                  <a:srgbClr val="000000"/>
                </a:solidFill>
              </a:rPr>
            </a:br>
            <a:endParaRPr lang="en-US" dirty="0"/>
          </a:p>
          <a:p>
            <a:endParaRPr lang="en-US" dirty="0"/>
          </a:p>
        </p:txBody>
      </p:sp>
      <p:sp>
        <p:nvSpPr>
          <p:cNvPr id="4" name="Slide Number Placeholder 3">
            <a:extLst>
              <a:ext uri="{FF2B5EF4-FFF2-40B4-BE49-F238E27FC236}">
                <a16:creationId xmlns:a16="http://schemas.microsoft.com/office/drawing/2014/main" id="{17147900-A03D-354A-98CC-D1D335F1C4B4}"/>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37</a:t>
            </a:fld>
            <a:endParaRPr lang="en-GB">
              <a:solidFill>
                <a:srgbClr val="003768">
                  <a:tint val="75000"/>
                </a:srgbClr>
              </a:solidFill>
            </a:endParaRPr>
          </a:p>
        </p:txBody>
      </p:sp>
      <p:sp>
        <p:nvSpPr>
          <p:cNvPr id="6" name="Oval 5">
            <a:extLst>
              <a:ext uri="{FF2B5EF4-FFF2-40B4-BE49-F238E27FC236}">
                <a16:creationId xmlns:a16="http://schemas.microsoft.com/office/drawing/2014/main" id="{BF788986-18FC-5447-BE82-0CA5C76B0B09}"/>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B</a:t>
            </a:r>
          </a:p>
        </p:txBody>
      </p:sp>
    </p:spTree>
    <p:extLst>
      <p:ext uri="{BB962C8B-B14F-4D97-AF65-F5344CB8AC3E}">
        <p14:creationId xmlns:p14="http://schemas.microsoft.com/office/powerpoint/2010/main" val="5449754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740BB-FAF1-434A-B788-55DB578C2A3A}"/>
              </a:ext>
            </a:extLst>
          </p:cNvPr>
          <p:cNvSpPr>
            <a:spLocks noGrp="1"/>
          </p:cNvSpPr>
          <p:nvPr>
            <p:ph type="title"/>
          </p:nvPr>
        </p:nvSpPr>
        <p:spPr>
          <a:xfrm>
            <a:off x="612903" y="274638"/>
            <a:ext cx="9875520" cy="1143000"/>
          </a:xfrm>
        </p:spPr>
        <p:txBody>
          <a:bodyPr/>
          <a:lstStyle/>
          <a:p>
            <a:r>
              <a:rPr lang="en-US" dirty="0"/>
              <a:t>Purposes</a:t>
            </a:r>
          </a:p>
        </p:txBody>
      </p:sp>
      <p:sp>
        <p:nvSpPr>
          <p:cNvPr id="3" name="Content Placeholder 2">
            <a:extLst>
              <a:ext uri="{FF2B5EF4-FFF2-40B4-BE49-F238E27FC236}">
                <a16:creationId xmlns:a16="http://schemas.microsoft.com/office/drawing/2014/main" id="{69F9429B-7C22-BC41-8692-FC780ED4C72A}"/>
              </a:ext>
            </a:extLst>
          </p:cNvPr>
          <p:cNvSpPr>
            <a:spLocks noGrp="1"/>
          </p:cNvSpPr>
          <p:nvPr>
            <p:ph idx="1"/>
          </p:nvPr>
        </p:nvSpPr>
        <p:spPr>
          <a:xfrm>
            <a:off x="243560" y="1198890"/>
            <a:ext cx="11272703" cy="5223131"/>
          </a:xfrm>
        </p:spPr>
        <p:txBody>
          <a:bodyPr numCol="1" spcCol="360000">
            <a:noAutofit/>
          </a:bodyPr>
          <a:lstStyle/>
          <a:p>
            <a:endParaRPr lang="en-US" sz="2800" dirty="0">
              <a:solidFill>
                <a:srgbClr val="000000"/>
              </a:solidFill>
            </a:endParaRPr>
          </a:p>
          <a:p>
            <a:r>
              <a:rPr lang="en-US" sz="2800" b="1" dirty="0">
                <a:solidFill>
                  <a:srgbClr val="000000"/>
                </a:solidFill>
              </a:rPr>
              <a:t>Data controllers must:</a:t>
            </a:r>
          </a:p>
          <a:p>
            <a:r>
              <a:rPr lang="en-US" sz="2800" dirty="0">
                <a:solidFill>
                  <a:srgbClr val="000000"/>
                </a:solidFill>
              </a:rPr>
              <a:t>be clear from the outset about why they are collecting personal data and what they intend to do with it;</a:t>
            </a:r>
          </a:p>
          <a:p>
            <a:r>
              <a:rPr lang="en-US" sz="2800" dirty="0">
                <a:solidFill>
                  <a:srgbClr val="000000"/>
                </a:solidFill>
              </a:rPr>
              <a:t>comply with the Act’s fair processing requirements – including the duty to give privacy notices to individuals when collecting their personal data;</a:t>
            </a:r>
          </a:p>
          <a:p>
            <a:r>
              <a:rPr lang="en-US" sz="2800" dirty="0">
                <a:solidFill>
                  <a:srgbClr val="000000"/>
                </a:solidFill>
              </a:rPr>
              <a:t>ensure that if they wish to use or disclose the personal data for any purpose that is additional to or different from the originally specified purpose, the new use or disclosure is fair.</a:t>
            </a:r>
          </a:p>
          <a:p>
            <a:endParaRPr lang="en-US" dirty="0"/>
          </a:p>
          <a:p>
            <a:endParaRPr lang="en-US" dirty="0"/>
          </a:p>
        </p:txBody>
      </p:sp>
      <p:sp>
        <p:nvSpPr>
          <p:cNvPr id="4" name="Slide Number Placeholder 3">
            <a:extLst>
              <a:ext uri="{FF2B5EF4-FFF2-40B4-BE49-F238E27FC236}">
                <a16:creationId xmlns:a16="http://schemas.microsoft.com/office/drawing/2014/main" id="{17147900-A03D-354A-98CC-D1D335F1C4B4}"/>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38</a:t>
            </a:fld>
            <a:endParaRPr lang="en-GB">
              <a:solidFill>
                <a:srgbClr val="003768">
                  <a:tint val="75000"/>
                </a:srgbClr>
              </a:solidFill>
            </a:endParaRPr>
          </a:p>
        </p:txBody>
      </p:sp>
      <p:sp>
        <p:nvSpPr>
          <p:cNvPr id="6" name="Oval 5">
            <a:extLst>
              <a:ext uri="{FF2B5EF4-FFF2-40B4-BE49-F238E27FC236}">
                <a16:creationId xmlns:a16="http://schemas.microsoft.com/office/drawing/2014/main" id="{BF788986-18FC-5447-BE82-0CA5C76B0B09}"/>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B</a:t>
            </a:r>
          </a:p>
        </p:txBody>
      </p:sp>
    </p:spTree>
    <p:extLst>
      <p:ext uri="{BB962C8B-B14F-4D97-AF65-F5344CB8AC3E}">
        <p14:creationId xmlns:p14="http://schemas.microsoft.com/office/powerpoint/2010/main" val="20942719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1D1BD-5E5D-E54A-AC5A-03AE9C1FCB3B}"/>
              </a:ext>
            </a:extLst>
          </p:cNvPr>
          <p:cNvSpPr>
            <a:spLocks noGrp="1"/>
          </p:cNvSpPr>
          <p:nvPr>
            <p:ph type="title"/>
          </p:nvPr>
        </p:nvSpPr>
        <p:spPr>
          <a:xfrm>
            <a:off x="1158240" y="209033"/>
            <a:ext cx="9875520" cy="1143000"/>
          </a:xfrm>
        </p:spPr>
        <p:txBody>
          <a:bodyPr/>
          <a:lstStyle/>
          <a:p>
            <a:r>
              <a:rPr lang="en-GB" dirty="0">
                <a:solidFill>
                  <a:srgbClr val="000000"/>
                </a:solidFill>
              </a:rPr>
              <a:t>Adequacy</a:t>
            </a:r>
            <a:endParaRPr lang="en-US" dirty="0">
              <a:solidFill>
                <a:srgbClr val="000000"/>
              </a:solidFill>
            </a:endParaRPr>
          </a:p>
        </p:txBody>
      </p:sp>
      <p:sp>
        <p:nvSpPr>
          <p:cNvPr id="3" name="Content Placeholder 2">
            <a:extLst>
              <a:ext uri="{FF2B5EF4-FFF2-40B4-BE49-F238E27FC236}">
                <a16:creationId xmlns:a16="http://schemas.microsoft.com/office/drawing/2014/main" id="{B6173D5C-56A5-C942-B0CE-22F6929A8BED}"/>
              </a:ext>
            </a:extLst>
          </p:cNvPr>
          <p:cNvSpPr>
            <a:spLocks noGrp="1"/>
          </p:cNvSpPr>
          <p:nvPr>
            <p:ph idx="1"/>
          </p:nvPr>
        </p:nvSpPr>
        <p:spPr/>
        <p:txBody>
          <a:bodyPr numCol="1"/>
          <a:lstStyle/>
          <a:p>
            <a:pPr marL="0" indent="0">
              <a:buNone/>
            </a:pPr>
            <a:r>
              <a:rPr lang="en-US" b="1" dirty="0">
                <a:solidFill>
                  <a:srgbClr val="000000"/>
                </a:solidFill>
              </a:rPr>
              <a:t>Personal data shall be adequate, relevant and limited to what is necessary in relation to the purposes for which they are processed;</a:t>
            </a:r>
            <a:endParaRPr lang="en-US" dirty="0">
              <a:solidFill>
                <a:srgbClr val="000000"/>
              </a:solidFill>
            </a:endParaRPr>
          </a:p>
          <a:p>
            <a:r>
              <a:rPr lang="en-US" dirty="0">
                <a:solidFill>
                  <a:srgbClr val="000000"/>
                </a:solidFill>
              </a:rPr>
              <a:t>Data controllers must only hold personal data about an individual that is sufficient for the purpose they are holding it for in relation to that individual and must not hold more information than they need for that purpose.</a:t>
            </a:r>
          </a:p>
          <a:p>
            <a:endParaRPr lang="en-US" dirty="0"/>
          </a:p>
          <a:p>
            <a:endParaRPr lang="en-US" dirty="0"/>
          </a:p>
        </p:txBody>
      </p:sp>
      <p:sp>
        <p:nvSpPr>
          <p:cNvPr id="4" name="Slide Number Placeholder 3">
            <a:extLst>
              <a:ext uri="{FF2B5EF4-FFF2-40B4-BE49-F238E27FC236}">
                <a16:creationId xmlns:a16="http://schemas.microsoft.com/office/drawing/2014/main" id="{0A9E45DB-8ABC-B646-9487-3E79E7219DA4}"/>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39</a:t>
            </a:fld>
            <a:endParaRPr lang="en-GB">
              <a:solidFill>
                <a:srgbClr val="003768">
                  <a:tint val="75000"/>
                </a:srgbClr>
              </a:solidFill>
            </a:endParaRPr>
          </a:p>
        </p:txBody>
      </p:sp>
      <p:sp>
        <p:nvSpPr>
          <p:cNvPr id="5" name="Oval 4">
            <a:extLst>
              <a:ext uri="{FF2B5EF4-FFF2-40B4-BE49-F238E27FC236}">
                <a16:creationId xmlns:a16="http://schemas.microsoft.com/office/drawing/2014/main" id="{3C71E30E-4BF7-2E4D-B195-CEA4471CC5A8}"/>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C</a:t>
            </a:r>
          </a:p>
        </p:txBody>
      </p:sp>
    </p:spTree>
    <p:extLst>
      <p:ext uri="{BB962C8B-B14F-4D97-AF65-F5344CB8AC3E}">
        <p14:creationId xmlns:p14="http://schemas.microsoft.com/office/powerpoint/2010/main" val="12794429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DA839-A3D2-C449-8341-EDA4FFD9E74F}"/>
              </a:ext>
            </a:extLst>
          </p:cNvPr>
          <p:cNvSpPr>
            <a:spLocks noGrp="1"/>
          </p:cNvSpPr>
          <p:nvPr>
            <p:ph type="title"/>
          </p:nvPr>
        </p:nvSpPr>
        <p:spPr>
          <a:xfrm>
            <a:off x="734395" y="115318"/>
            <a:ext cx="9875520" cy="1143000"/>
          </a:xfrm>
        </p:spPr>
        <p:txBody>
          <a:bodyPr/>
          <a:lstStyle/>
          <a:p>
            <a:r>
              <a:rPr lang="en-US" dirty="0"/>
              <a:t>Accuracy</a:t>
            </a:r>
          </a:p>
        </p:txBody>
      </p:sp>
      <p:sp>
        <p:nvSpPr>
          <p:cNvPr id="3" name="Content Placeholder 2">
            <a:extLst>
              <a:ext uri="{FF2B5EF4-FFF2-40B4-BE49-F238E27FC236}">
                <a16:creationId xmlns:a16="http://schemas.microsoft.com/office/drawing/2014/main" id="{FCBAEA21-E8FC-2D49-84F8-0E809C1A4385}"/>
              </a:ext>
            </a:extLst>
          </p:cNvPr>
          <p:cNvSpPr>
            <a:spLocks noGrp="1"/>
          </p:cNvSpPr>
          <p:nvPr>
            <p:ph idx="1"/>
          </p:nvPr>
        </p:nvSpPr>
        <p:spPr>
          <a:xfrm>
            <a:off x="301924" y="1125972"/>
            <a:ext cx="10740462" cy="4680317"/>
          </a:xfrm>
        </p:spPr>
        <p:txBody>
          <a:bodyPr numCol="1" spcCol="360000">
            <a:noAutofit/>
          </a:bodyPr>
          <a:lstStyle/>
          <a:p>
            <a:pPr marL="0" indent="0">
              <a:buNone/>
            </a:pPr>
            <a:r>
              <a:rPr lang="en-US" sz="2800" b="1" dirty="0">
                <a:solidFill>
                  <a:srgbClr val="000000"/>
                </a:solidFill>
              </a:rPr>
              <a:t>Personal data shall be accurate and, where necessary, kept up to date; every reasonable step must be taken to ensure that personal data that are inaccurate, having regard to the purposes for which they are processed, are erased or rectified without delay;</a:t>
            </a:r>
          </a:p>
          <a:p>
            <a:r>
              <a:rPr lang="en-US" sz="2800" dirty="0">
                <a:solidFill>
                  <a:srgbClr val="000000"/>
                </a:solidFill>
              </a:rPr>
              <a:t>To comply with these provisions data controllers should:</a:t>
            </a:r>
          </a:p>
          <a:p>
            <a:r>
              <a:rPr lang="en-US" sz="2800" dirty="0">
                <a:solidFill>
                  <a:srgbClr val="000000"/>
                </a:solidFill>
              </a:rPr>
              <a:t>take reasonable steps to ensure the accuracy of any personal data they obtain;</a:t>
            </a:r>
          </a:p>
          <a:p>
            <a:r>
              <a:rPr lang="en-US" sz="2800" dirty="0">
                <a:solidFill>
                  <a:srgbClr val="000000"/>
                </a:solidFill>
              </a:rPr>
              <a:t>ensure that the source of any personal data is clear;</a:t>
            </a:r>
          </a:p>
          <a:p>
            <a:r>
              <a:rPr lang="en-US" sz="2800" dirty="0">
                <a:solidFill>
                  <a:srgbClr val="000000"/>
                </a:solidFill>
              </a:rPr>
              <a:t>carefully consider any challenges to the accuracy of information; and</a:t>
            </a:r>
          </a:p>
          <a:p>
            <a:r>
              <a:rPr lang="en-US" sz="2800" dirty="0">
                <a:solidFill>
                  <a:srgbClr val="000000"/>
                </a:solidFill>
              </a:rPr>
              <a:t>consider whether it is necessary to update the information.</a:t>
            </a:r>
          </a:p>
          <a:p>
            <a:endParaRPr lang="en-US" sz="2800" dirty="0"/>
          </a:p>
          <a:p>
            <a:endParaRPr lang="en-US" sz="2800" dirty="0"/>
          </a:p>
          <a:p>
            <a:endParaRPr lang="en-US" sz="2800" dirty="0"/>
          </a:p>
          <a:p>
            <a:endParaRPr lang="en-US" sz="2800" dirty="0"/>
          </a:p>
        </p:txBody>
      </p:sp>
      <p:sp>
        <p:nvSpPr>
          <p:cNvPr id="4" name="Slide Number Placeholder 3">
            <a:extLst>
              <a:ext uri="{FF2B5EF4-FFF2-40B4-BE49-F238E27FC236}">
                <a16:creationId xmlns:a16="http://schemas.microsoft.com/office/drawing/2014/main" id="{31594DC2-8918-0844-AA9B-71E759A1BF37}"/>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40</a:t>
            </a:fld>
            <a:endParaRPr lang="en-GB">
              <a:solidFill>
                <a:srgbClr val="003768">
                  <a:tint val="75000"/>
                </a:srgbClr>
              </a:solidFill>
            </a:endParaRPr>
          </a:p>
        </p:txBody>
      </p:sp>
      <p:sp>
        <p:nvSpPr>
          <p:cNvPr id="5" name="Oval 4">
            <a:extLst>
              <a:ext uri="{FF2B5EF4-FFF2-40B4-BE49-F238E27FC236}">
                <a16:creationId xmlns:a16="http://schemas.microsoft.com/office/drawing/2014/main" id="{CDEEA491-A455-784E-AE42-D36C3B2EC953}"/>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D</a:t>
            </a:r>
          </a:p>
        </p:txBody>
      </p:sp>
    </p:spTree>
    <p:extLst>
      <p:ext uri="{BB962C8B-B14F-4D97-AF65-F5344CB8AC3E}">
        <p14:creationId xmlns:p14="http://schemas.microsoft.com/office/powerpoint/2010/main" val="831379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58968-EDD0-6D4F-BDEA-07047B43862C}"/>
              </a:ext>
            </a:extLst>
          </p:cNvPr>
          <p:cNvSpPr>
            <a:spLocks noGrp="1"/>
          </p:cNvSpPr>
          <p:nvPr>
            <p:ph type="title"/>
          </p:nvPr>
        </p:nvSpPr>
        <p:spPr>
          <a:xfrm>
            <a:off x="908016" y="192259"/>
            <a:ext cx="9875520" cy="1143000"/>
          </a:xfrm>
        </p:spPr>
        <p:txBody>
          <a:bodyPr/>
          <a:lstStyle/>
          <a:p>
            <a:r>
              <a:rPr lang="en-GB" dirty="0">
                <a:solidFill>
                  <a:srgbClr val="000000"/>
                </a:solidFill>
              </a:rPr>
              <a:t>Retention</a:t>
            </a:r>
            <a:endParaRPr lang="en-US" dirty="0">
              <a:solidFill>
                <a:srgbClr val="000000"/>
              </a:solidFill>
            </a:endParaRPr>
          </a:p>
        </p:txBody>
      </p:sp>
      <p:sp>
        <p:nvSpPr>
          <p:cNvPr id="3" name="Content Placeholder 2">
            <a:extLst>
              <a:ext uri="{FF2B5EF4-FFF2-40B4-BE49-F238E27FC236}">
                <a16:creationId xmlns:a16="http://schemas.microsoft.com/office/drawing/2014/main" id="{837BC4E2-D7BC-1C47-8AB7-A85BEAD78E72}"/>
              </a:ext>
            </a:extLst>
          </p:cNvPr>
          <p:cNvSpPr>
            <a:spLocks noGrp="1"/>
          </p:cNvSpPr>
          <p:nvPr>
            <p:ph idx="1"/>
          </p:nvPr>
        </p:nvSpPr>
        <p:spPr>
          <a:xfrm>
            <a:off x="454550" y="1216325"/>
            <a:ext cx="10782453" cy="5276550"/>
          </a:xfrm>
        </p:spPr>
        <p:txBody>
          <a:bodyPr numCol="1" spcCol="360000">
            <a:normAutofit fontScale="70000" lnSpcReduction="20000"/>
          </a:bodyPr>
          <a:lstStyle/>
          <a:p>
            <a:pPr marL="0" indent="0">
              <a:buNone/>
            </a:pPr>
            <a:r>
              <a:rPr lang="en-US" b="1" dirty="0">
                <a:solidFill>
                  <a:srgbClr val="000000"/>
                </a:solidFill>
              </a:rPr>
              <a:t>Kept in a form which permits identification of data subjects for no longer than is necessary for the purposes for which the personal data are processed; personal data may be stored for longer periods insofar as the personal data will be processed solely for archiving purposes in the public interest, scientific or historical research purposes or statistical purposes subject to implementation of the appropriate technical and </a:t>
            </a:r>
            <a:r>
              <a:rPr lang="en-US" b="1" dirty="0" err="1">
                <a:solidFill>
                  <a:srgbClr val="000000"/>
                </a:solidFill>
              </a:rPr>
              <a:t>organisational</a:t>
            </a:r>
            <a:r>
              <a:rPr lang="en-US" b="1" dirty="0">
                <a:solidFill>
                  <a:srgbClr val="000000"/>
                </a:solidFill>
              </a:rPr>
              <a:t> measures required by the GDPR in order to safeguard the rights and freedoms of individuals; </a:t>
            </a:r>
          </a:p>
          <a:p>
            <a:pPr marL="0" indent="0">
              <a:buNone/>
            </a:pPr>
            <a:endParaRPr lang="en-US" b="1" dirty="0">
              <a:solidFill>
                <a:srgbClr val="000000"/>
              </a:solidFill>
            </a:endParaRPr>
          </a:p>
          <a:p>
            <a:pPr marL="0" indent="0">
              <a:buNone/>
            </a:pPr>
            <a:r>
              <a:rPr lang="en-US" b="1" dirty="0">
                <a:solidFill>
                  <a:srgbClr val="000000"/>
                </a:solidFill>
              </a:rPr>
              <a:t>Data controllers need to:</a:t>
            </a:r>
          </a:p>
          <a:p>
            <a:r>
              <a:rPr lang="en-US" dirty="0">
                <a:solidFill>
                  <a:srgbClr val="000000"/>
                </a:solidFill>
              </a:rPr>
              <a:t>review the length of time they keep personal data;</a:t>
            </a:r>
          </a:p>
          <a:p>
            <a:r>
              <a:rPr lang="en-US" dirty="0">
                <a:solidFill>
                  <a:srgbClr val="000000"/>
                </a:solidFill>
              </a:rPr>
              <a:t>consider the purpose or purposes which they hold the information for in deciding whether (and for how long) to retain it;</a:t>
            </a:r>
          </a:p>
          <a:p>
            <a:r>
              <a:rPr lang="en-US" dirty="0">
                <a:solidFill>
                  <a:srgbClr val="000000"/>
                </a:solidFill>
              </a:rPr>
              <a:t>securely delete information that is no longer needed for this purpose or these purposes; and</a:t>
            </a:r>
          </a:p>
          <a:p>
            <a:r>
              <a:rPr lang="en-US" dirty="0">
                <a:solidFill>
                  <a:srgbClr val="000000"/>
                </a:solidFill>
              </a:rPr>
              <a:t>update, archive or securely delete information if it goes out of date.</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C57D1303-8E48-D140-A2BC-BB90DF0FEEEF}"/>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41</a:t>
            </a:fld>
            <a:endParaRPr lang="en-GB">
              <a:solidFill>
                <a:srgbClr val="003768">
                  <a:tint val="75000"/>
                </a:srgbClr>
              </a:solidFill>
            </a:endParaRPr>
          </a:p>
        </p:txBody>
      </p:sp>
      <p:sp>
        <p:nvSpPr>
          <p:cNvPr id="6" name="Oval 5">
            <a:extLst>
              <a:ext uri="{FF2B5EF4-FFF2-40B4-BE49-F238E27FC236}">
                <a16:creationId xmlns:a16="http://schemas.microsoft.com/office/drawing/2014/main" id="{00257206-05DA-DD49-93E7-941E43335133}"/>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E</a:t>
            </a:r>
          </a:p>
        </p:txBody>
      </p:sp>
    </p:spTree>
    <p:extLst>
      <p:ext uri="{BB962C8B-B14F-4D97-AF65-F5344CB8AC3E}">
        <p14:creationId xmlns:p14="http://schemas.microsoft.com/office/powerpoint/2010/main" val="17190715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84322-4A81-7141-9A2C-69B54211533A}"/>
              </a:ext>
            </a:extLst>
          </p:cNvPr>
          <p:cNvSpPr>
            <a:spLocks noGrp="1"/>
          </p:cNvSpPr>
          <p:nvPr>
            <p:ph type="title"/>
          </p:nvPr>
        </p:nvSpPr>
        <p:spPr>
          <a:xfrm>
            <a:off x="622047" y="253850"/>
            <a:ext cx="9875520" cy="1143000"/>
          </a:xfrm>
        </p:spPr>
        <p:txBody>
          <a:bodyPr/>
          <a:lstStyle/>
          <a:p>
            <a:r>
              <a:rPr lang="en-US" dirty="0"/>
              <a:t>Security</a:t>
            </a:r>
          </a:p>
        </p:txBody>
      </p:sp>
      <p:sp>
        <p:nvSpPr>
          <p:cNvPr id="3" name="Content Placeholder 2">
            <a:extLst>
              <a:ext uri="{FF2B5EF4-FFF2-40B4-BE49-F238E27FC236}">
                <a16:creationId xmlns:a16="http://schemas.microsoft.com/office/drawing/2014/main" id="{D1E61B4D-FC5D-1D43-AFFE-6427D39B3E09}"/>
              </a:ext>
            </a:extLst>
          </p:cNvPr>
          <p:cNvSpPr>
            <a:spLocks noGrp="1"/>
          </p:cNvSpPr>
          <p:nvPr>
            <p:ph idx="1"/>
          </p:nvPr>
        </p:nvSpPr>
        <p:spPr>
          <a:xfrm>
            <a:off x="258315" y="1227856"/>
            <a:ext cx="11661836" cy="5075238"/>
          </a:xfrm>
        </p:spPr>
        <p:txBody>
          <a:bodyPr numCol="1" spcCol="360000">
            <a:noAutofit/>
          </a:bodyPr>
          <a:lstStyle/>
          <a:p>
            <a:pPr marL="0" indent="0">
              <a:buNone/>
            </a:pPr>
            <a:r>
              <a:rPr lang="en-US" sz="1800" b="1" dirty="0">
                <a:solidFill>
                  <a:srgbClr val="000000"/>
                </a:solidFill>
              </a:rPr>
              <a:t>Processed in a manner that ensures appropriate security of the personal data, including protection against unauthorised or unlawful processing and against accidental loss, destruction or damage, using appropriate technical or </a:t>
            </a:r>
            <a:r>
              <a:rPr lang="en-US" sz="1800" b="1" dirty="0" err="1">
                <a:solidFill>
                  <a:srgbClr val="000000"/>
                </a:solidFill>
              </a:rPr>
              <a:t>organisational</a:t>
            </a:r>
            <a:r>
              <a:rPr lang="en-US" sz="1800" b="1" dirty="0">
                <a:solidFill>
                  <a:srgbClr val="000000"/>
                </a:solidFill>
              </a:rPr>
              <a:t> measures.</a:t>
            </a:r>
          </a:p>
          <a:p>
            <a:pPr marL="0" indent="0">
              <a:buNone/>
            </a:pPr>
            <a:endParaRPr lang="en-US" sz="1800" b="1" dirty="0">
              <a:solidFill>
                <a:srgbClr val="000000"/>
              </a:solidFill>
            </a:endParaRPr>
          </a:p>
          <a:p>
            <a:r>
              <a:rPr lang="en-US" sz="1800" dirty="0">
                <a:solidFill>
                  <a:srgbClr val="000000"/>
                </a:solidFill>
              </a:rPr>
              <a:t>Data controllers must have appropriate security to prevent the personal data they hold from being accidentally or deliberately compromised. In particular, they will need to:</a:t>
            </a:r>
          </a:p>
          <a:p>
            <a:r>
              <a:rPr lang="en-US" sz="1800" dirty="0">
                <a:solidFill>
                  <a:srgbClr val="000000"/>
                </a:solidFill>
              </a:rPr>
              <a:t>design and </a:t>
            </a:r>
            <a:r>
              <a:rPr lang="en-US" sz="1800" dirty="0" err="1">
                <a:solidFill>
                  <a:srgbClr val="000000"/>
                </a:solidFill>
              </a:rPr>
              <a:t>organise</a:t>
            </a:r>
            <a:r>
              <a:rPr lang="en-US" sz="1800" dirty="0">
                <a:solidFill>
                  <a:srgbClr val="000000"/>
                </a:solidFill>
              </a:rPr>
              <a:t> their security to fit the nature of the personal data they hold and the harm that may result from a security breach;</a:t>
            </a:r>
          </a:p>
          <a:p>
            <a:r>
              <a:rPr lang="en-US" sz="1800" dirty="0">
                <a:solidFill>
                  <a:srgbClr val="000000"/>
                </a:solidFill>
              </a:rPr>
              <a:t>be clear about who in the </a:t>
            </a:r>
            <a:r>
              <a:rPr lang="en-US" sz="1800" dirty="0" err="1">
                <a:solidFill>
                  <a:srgbClr val="000000"/>
                </a:solidFill>
              </a:rPr>
              <a:t>organisation</a:t>
            </a:r>
            <a:r>
              <a:rPr lang="en-US" sz="1800" dirty="0">
                <a:solidFill>
                  <a:srgbClr val="000000"/>
                </a:solidFill>
              </a:rPr>
              <a:t> is responsible for ensuring information security;</a:t>
            </a:r>
          </a:p>
          <a:p>
            <a:r>
              <a:rPr lang="en-US" sz="1800" dirty="0">
                <a:solidFill>
                  <a:srgbClr val="000000"/>
                </a:solidFill>
              </a:rPr>
              <a:t>make sure they have the right physical and technical security, backed up by robust policies and procedures and reliable, well-trained staff; and</a:t>
            </a:r>
          </a:p>
          <a:p>
            <a:r>
              <a:rPr lang="en-US" sz="1800" dirty="0">
                <a:solidFill>
                  <a:srgbClr val="000000"/>
                </a:solidFill>
              </a:rPr>
              <a:t>be ready to respond to any breach of security swiftly and effectively.</a:t>
            </a:r>
          </a:p>
          <a:p>
            <a:endParaRPr lang="en-US" sz="1800" dirty="0"/>
          </a:p>
          <a:p>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A9CC1FA3-F538-C843-B522-C2CA7676F7E6}"/>
              </a:ext>
            </a:extLst>
          </p:cNvPr>
          <p:cNvSpPr>
            <a:spLocks noGrp="1"/>
          </p:cNvSpPr>
          <p:nvPr>
            <p:ph type="sldNum" sz="quarter" idx="12"/>
          </p:nvPr>
        </p:nvSpPr>
        <p:spPr/>
        <p:txBody>
          <a:bodyPr/>
          <a:lstStyle/>
          <a:p>
            <a:pPr defTabSz="548640"/>
            <a:fld id="{3EE37125-522B-4845-9813-9B08C50422D2}" type="slidenum">
              <a:rPr lang="en-GB">
                <a:solidFill>
                  <a:srgbClr val="003768">
                    <a:tint val="75000"/>
                  </a:srgbClr>
                </a:solidFill>
              </a:rPr>
              <a:pPr defTabSz="548640"/>
              <a:t>42</a:t>
            </a:fld>
            <a:endParaRPr lang="en-GB">
              <a:solidFill>
                <a:srgbClr val="003768">
                  <a:tint val="75000"/>
                </a:srgbClr>
              </a:solidFill>
            </a:endParaRPr>
          </a:p>
        </p:txBody>
      </p:sp>
      <p:sp>
        <p:nvSpPr>
          <p:cNvPr id="7" name="Oval 6">
            <a:extLst>
              <a:ext uri="{FF2B5EF4-FFF2-40B4-BE49-F238E27FC236}">
                <a16:creationId xmlns:a16="http://schemas.microsoft.com/office/drawing/2014/main" id="{9F0DAFF6-B386-0C4D-B71B-6321AFBC5BDD}"/>
              </a:ext>
            </a:extLst>
          </p:cNvPr>
          <p:cNvSpPr/>
          <p:nvPr/>
        </p:nvSpPr>
        <p:spPr>
          <a:xfrm>
            <a:off x="855069" y="274638"/>
            <a:ext cx="692014" cy="692014"/>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86400" tIns="172800" rtlCol="0" anchor="ctr"/>
          <a:lstStyle/>
          <a:p>
            <a:pPr algn="ctr" defTabSz="548640">
              <a:lnSpc>
                <a:spcPts val="3984"/>
              </a:lnSpc>
            </a:pPr>
            <a:r>
              <a:rPr lang="en-US" sz="4800" b="1" dirty="0">
                <a:solidFill>
                  <a:prstClr val="white"/>
                </a:solidFill>
              </a:rPr>
              <a:t>F</a:t>
            </a:r>
          </a:p>
        </p:txBody>
      </p:sp>
    </p:spTree>
    <p:extLst>
      <p:ext uri="{BB962C8B-B14F-4D97-AF65-F5344CB8AC3E}">
        <p14:creationId xmlns:p14="http://schemas.microsoft.com/office/powerpoint/2010/main" val="27597015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Lawful basis for processing</a:t>
            </a:r>
          </a:p>
        </p:txBody>
      </p:sp>
      <p:sp>
        <p:nvSpPr>
          <p:cNvPr id="3" name="Content Placeholder 2"/>
          <p:cNvSpPr>
            <a:spLocks noGrp="1"/>
          </p:cNvSpPr>
          <p:nvPr>
            <p:ph idx="1"/>
          </p:nvPr>
        </p:nvSpPr>
        <p:spPr>
          <a:xfrm>
            <a:off x="329513" y="1357313"/>
            <a:ext cx="11310551" cy="4114800"/>
          </a:xfrm>
        </p:spPr>
        <p:txBody>
          <a:bodyPr/>
          <a:lstStyle/>
          <a:p>
            <a:pPr marL="0" indent="0">
              <a:buNone/>
            </a:pPr>
            <a:r>
              <a:rPr lang="en-US" b="1" dirty="0"/>
              <a:t>Processing shall be lawful only if and to the extent that at least one of the following applies:</a:t>
            </a:r>
          </a:p>
          <a:p>
            <a:r>
              <a:rPr lang="en-US" dirty="0"/>
              <a:t>the data subject has given consent to the processing of his or her personal data for one or more specific purposes;</a:t>
            </a:r>
          </a:p>
          <a:p>
            <a:r>
              <a:rPr lang="en-US" dirty="0"/>
              <a:t>processing is necessary for the performance of a contract to which the data subject is party or in order to take steps at the request of the data subject prior to entering into a contract;</a:t>
            </a:r>
          </a:p>
          <a:p>
            <a:endParaRPr lang="en-GB" dirty="0"/>
          </a:p>
        </p:txBody>
      </p:sp>
    </p:spTree>
    <p:extLst>
      <p:ext uri="{BB962C8B-B14F-4D97-AF65-F5344CB8AC3E}">
        <p14:creationId xmlns:p14="http://schemas.microsoft.com/office/powerpoint/2010/main" val="2478255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Lawful basis for processing</a:t>
            </a:r>
          </a:p>
        </p:txBody>
      </p:sp>
      <p:sp>
        <p:nvSpPr>
          <p:cNvPr id="3" name="Content Placeholder 2"/>
          <p:cNvSpPr>
            <a:spLocks noGrp="1"/>
          </p:cNvSpPr>
          <p:nvPr>
            <p:ph idx="1"/>
          </p:nvPr>
        </p:nvSpPr>
        <p:spPr/>
        <p:txBody>
          <a:bodyPr/>
          <a:lstStyle/>
          <a:p>
            <a:r>
              <a:rPr lang="en-US" dirty="0"/>
              <a:t>processing is necessary for compliance with a legal obligation to which the controller is subject;</a:t>
            </a:r>
          </a:p>
          <a:p>
            <a:r>
              <a:rPr lang="en-US" dirty="0"/>
              <a:t>processing is necessary in order to protect the vital interests of the data subject or of another natural person;</a:t>
            </a:r>
          </a:p>
          <a:p>
            <a:r>
              <a:rPr lang="en-US" dirty="0"/>
              <a:t>processing is necessary for the performance of a task carried out in the public interest or in the exercise of official authority vested in the controller;</a:t>
            </a:r>
          </a:p>
        </p:txBody>
      </p:sp>
    </p:spTree>
    <p:extLst>
      <p:ext uri="{BB962C8B-B14F-4D97-AF65-F5344CB8AC3E}">
        <p14:creationId xmlns:p14="http://schemas.microsoft.com/office/powerpoint/2010/main" val="29513192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Lawful basis for processing</a:t>
            </a:r>
          </a:p>
        </p:txBody>
      </p:sp>
      <p:sp>
        <p:nvSpPr>
          <p:cNvPr id="3" name="Content Placeholder 2"/>
          <p:cNvSpPr>
            <a:spLocks noGrp="1"/>
          </p:cNvSpPr>
          <p:nvPr>
            <p:ph idx="1"/>
          </p:nvPr>
        </p:nvSpPr>
        <p:spPr/>
        <p:txBody>
          <a:bodyPr/>
          <a:lstStyle/>
          <a:p>
            <a:endParaRPr lang="en-US" dirty="0"/>
          </a:p>
          <a:p>
            <a:r>
              <a:rPr lang="en-US" dirty="0"/>
              <a:t>processing is necessary for the purposes of the legitimate interests pursued by the controller or by a third party, except where such interests are overridden by the interests or fundamental rights and freedoms of the data subject which require protection of personal data, in particular where the data subject is a child.</a:t>
            </a:r>
            <a:endParaRPr lang="en-GB" dirty="0"/>
          </a:p>
        </p:txBody>
      </p:sp>
    </p:spTree>
    <p:extLst>
      <p:ext uri="{BB962C8B-B14F-4D97-AF65-F5344CB8AC3E}">
        <p14:creationId xmlns:p14="http://schemas.microsoft.com/office/powerpoint/2010/main" val="17974686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0F6F4-9B36-4EC2-AFD5-6843BCA09C63}"/>
              </a:ext>
            </a:extLst>
          </p:cNvPr>
          <p:cNvSpPr>
            <a:spLocks noGrp="1"/>
          </p:cNvSpPr>
          <p:nvPr>
            <p:ph type="title"/>
          </p:nvPr>
        </p:nvSpPr>
        <p:spPr/>
        <p:txBody>
          <a:bodyPr/>
          <a:lstStyle/>
          <a:p>
            <a:r>
              <a:rPr lang="en-GB" dirty="0"/>
              <a:t>Special Category data</a:t>
            </a:r>
          </a:p>
        </p:txBody>
      </p:sp>
      <p:sp>
        <p:nvSpPr>
          <p:cNvPr id="3" name="Content Placeholder 2">
            <a:extLst>
              <a:ext uri="{FF2B5EF4-FFF2-40B4-BE49-F238E27FC236}">
                <a16:creationId xmlns:a16="http://schemas.microsoft.com/office/drawing/2014/main" id="{3FF31DB3-40F3-4D1F-9B26-22968FE37842}"/>
              </a:ext>
            </a:extLst>
          </p:cNvPr>
          <p:cNvSpPr>
            <a:spLocks noGrp="1"/>
          </p:cNvSpPr>
          <p:nvPr>
            <p:ph idx="1"/>
          </p:nvPr>
        </p:nvSpPr>
        <p:spPr/>
        <p:txBody>
          <a:bodyPr/>
          <a:lstStyle/>
          <a:p>
            <a:r>
              <a:rPr lang="en-GB" sz="2000" dirty="0"/>
              <a:t>The GDPR defines special category data as:</a:t>
            </a:r>
          </a:p>
          <a:p>
            <a:pPr lvl="1"/>
            <a:r>
              <a:rPr lang="en-GB" sz="1600" dirty="0"/>
              <a:t>personal data revealing racial or ethnic origin;</a:t>
            </a:r>
          </a:p>
          <a:p>
            <a:pPr lvl="1"/>
            <a:r>
              <a:rPr lang="en-GB" sz="1600" dirty="0"/>
              <a:t>personal data revealing political opinions;</a:t>
            </a:r>
          </a:p>
          <a:p>
            <a:pPr lvl="1"/>
            <a:r>
              <a:rPr lang="en-GB" sz="1600" dirty="0"/>
              <a:t>personal data revealing religious or philosophical beliefs;</a:t>
            </a:r>
          </a:p>
          <a:p>
            <a:pPr lvl="1"/>
            <a:r>
              <a:rPr lang="en-GB" sz="1600" dirty="0"/>
              <a:t>personal data revealing trade union membership;</a:t>
            </a:r>
          </a:p>
          <a:p>
            <a:pPr lvl="1"/>
            <a:r>
              <a:rPr lang="en-GB" sz="1600" dirty="0"/>
              <a:t>genetic data;</a:t>
            </a:r>
          </a:p>
          <a:p>
            <a:pPr lvl="1"/>
            <a:r>
              <a:rPr lang="en-GB" sz="1600" dirty="0"/>
              <a:t>biometric data (where used for identification purposes);</a:t>
            </a:r>
          </a:p>
          <a:p>
            <a:pPr lvl="1"/>
            <a:r>
              <a:rPr lang="en-GB" sz="1600" dirty="0"/>
              <a:t>data concerning health;</a:t>
            </a:r>
          </a:p>
          <a:p>
            <a:pPr lvl="1"/>
            <a:r>
              <a:rPr lang="en-GB" sz="1600" dirty="0"/>
              <a:t>data concerning a person’s sex life; and</a:t>
            </a:r>
          </a:p>
          <a:p>
            <a:pPr lvl="1"/>
            <a:r>
              <a:rPr lang="en-GB" sz="1600" dirty="0"/>
              <a:t>data concerning a person’s sexual orientation.</a:t>
            </a:r>
          </a:p>
          <a:p>
            <a:endParaRPr lang="en-GB" sz="2000" dirty="0"/>
          </a:p>
          <a:p>
            <a:r>
              <a:rPr lang="en-GB" sz="2000" dirty="0"/>
              <a:t>This does not include personal data about criminal allegations, proceedings or convictions, as separate rules apply.</a:t>
            </a:r>
          </a:p>
        </p:txBody>
      </p:sp>
    </p:spTree>
    <p:extLst>
      <p:ext uri="{BB962C8B-B14F-4D97-AF65-F5344CB8AC3E}">
        <p14:creationId xmlns:p14="http://schemas.microsoft.com/office/powerpoint/2010/main" val="29683684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Lecture 10 Attacks and Threats">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1136</TotalTime>
  <Words>3644</Words>
  <Application>Microsoft Office PowerPoint</Application>
  <PresentationFormat>Widescreen</PresentationFormat>
  <Paragraphs>318</Paragraphs>
  <Slides>46</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46</vt:i4>
      </vt:variant>
    </vt:vector>
  </HeadingPairs>
  <TitlesOfParts>
    <vt:vector size="54" baseType="lpstr">
      <vt:lpstr>Arial</vt:lpstr>
      <vt:lpstr>Calibri</vt:lpstr>
      <vt:lpstr>Times New Roman</vt:lpstr>
      <vt:lpstr>Tahoma</vt:lpstr>
      <vt:lpstr>Georgia</vt:lpstr>
      <vt:lpstr>Courier New</vt:lpstr>
      <vt:lpstr>Lecture 10 Attacks and Threats</vt:lpstr>
      <vt:lpstr>Default Design</vt:lpstr>
      <vt:lpstr>Lecture 7 – Introduction to General Data Protection Regulation (GDPR) (and some other laws that we should know about)</vt:lpstr>
      <vt:lpstr>Separation of Powers</vt:lpstr>
      <vt:lpstr>Laws</vt:lpstr>
      <vt:lpstr>Freedom of Information Act </vt:lpstr>
      <vt:lpstr>Network and Information Systems Regulation 2018 </vt:lpstr>
      <vt:lpstr>What defines a Relevant digital service?</vt:lpstr>
      <vt:lpstr>Obscene Publications Act 1964 </vt:lpstr>
      <vt:lpstr>Obscene Publications Act 1964 </vt:lpstr>
      <vt:lpstr>Obscene Publications Act 1964 </vt:lpstr>
      <vt:lpstr>Computer Misuse Act 1990</vt:lpstr>
      <vt:lpstr>Computer Misuse Act 1990</vt:lpstr>
      <vt:lpstr>Computer Misuse Act 1990</vt:lpstr>
      <vt:lpstr>Computer Misuse Act 1990</vt:lpstr>
      <vt:lpstr>Computer Misuse Act 1990</vt:lpstr>
      <vt:lpstr>Computer Misuse Act 1990</vt:lpstr>
      <vt:lpstr>Computer Misuse Act 1990</vt:lpstr>
      <vt:lpstr>Computer Misuse Act 1990</vt:lpstr>
      <vt:lpstr>PECR</vt:lpstr>
      <vt:lpstr>PECR</vt:lpstr>
      <vt:lpstr>Data Protection Laws</vt:lpstr>
      <vt:lpstr>What is the GDPR?</vt:lpstr>
      <vt:lpstr>What is the GDPR? continued</vt:lpstr>
      <vt:lpstr>Data Controllers</vt:lpstr>
      <vt:lpstr>Data processors</vt:lpstr>
      <vt:lpstr>Your rights as a Data Subject</vt:lpstr>
      <vt:lpstr>Right to be informed</vt:lpstr>
      <vt:lpstr>Right of access</vt:lpstr>
      <vt:lpstr>Right to rectification </vt:lpstr>
      <vt:lpstr>Right to erasure  </vt:lpstr>
      <vt:lpstr>Right to restrict processing </vt:lpstr>
      <vt:lpstr>Right to data portability </vt:lpstr>
      <vt:lpstr>Right to object </vt:lpstr>
      <vt:lpstr>Rights in relation to automated decision making &amp; profiling. </vt:lpstr>
      <vt:lpstr>Rights in relation to automated decision making &amp; profiling.</vt:lpstr>
      <vt:lpstr>Data Protection Principles</vt:lpstr>
      <vt:lpstr>Fair and Lawful</vt:lpstr>
      <vt:lpstr>Purposes</vt:lpstr>
      <vt:lpstr>Purposes</vt:lpstr>
      <vt:lpstr>Adequacy</vt:lpstr>
      <vt:lpstr>Accuracy</vt:lpstr>
      <vt:lpstr>Retention</vt:lpstr>
      <vt:lpstr>Security</vt:lpstr>
      <vt:lpstr>Lawful basis for processing</vt:lpstr>
      <vt:lpstr>Lawful basis for processing</vt:lpstr>
      <vt:lpstr>Lawful basis for processing</vt:lpstr>
      <vt:lpstr>Special Category data</vt:lpstr>
    </vt:vector>
  </TitlesOfParts>
  <Company>GU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Data and GDPR  What is The GDPR  Nigel Houlden</dc:title>
  <dc:creator>Nigel Houlden</dc:creator>
  <cp:lastModifiedBy>Nigel Houlden</cp:lastModifiedBy>
  <cp:revision>63</cp:revision>
  <dcterms:created xsi:type="dcterms:W3CDTF">2018-11-27T14:10:40Z</dcterms:created>
  <dcterms:modified xsi:type="dcterms:W3CDTF">2020-11-30T10:29:06Z</dcterms:modified>
</cp:coreProperties>
</file>