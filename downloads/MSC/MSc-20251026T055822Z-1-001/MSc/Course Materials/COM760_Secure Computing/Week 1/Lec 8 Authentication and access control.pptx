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648" r:id="rId1"/>
  </p:sldMasterIdLst>
  <p:notesMasterIdLst>
    <p:notesMasterId r:id="rId62"/>
  </p:notesMasterIdLst>
  <p:sldIdLst>
    <p:sldId id="356" r:id="rId2"/>
    <p:sldId id="437" r:id="rId3"/>
    <p:sldId id="417" r:id="rId4"/>
    <p:sldId id="484" r:id="rId5"/>
    <p:sldId id="418" r:id="rId6"/>
    <p:sldId id="419" r:id="rId7"/>
    <p:sldId id="420" r:id="rId8"/>
    <p:sldId id="539" r:id="rId9"/>
    <p:sldId id="553" r:id="rId10"/>
    <p:sldId id="543" r:id="rId11"/>
    <p:sldId id="544" r:id="rId12"/>
    <p:sldId id="554" r:id="rId13"/>
    <p:sldId id="451" r:id="rId14"/>
    <p:sldId id="480" r:id="rId15"/>
    <p:sldId id="545" r:id="rId16"/>
    <p:sldId id="541" r:id="rId17"/>
    <p:sldId id="555" r:id="rId18"/>
    <p:sldId id="542" r:id="rId19"/>
    <p:sldId id="421" r:id="rId20"/>
    <p:sldId id="422" r:id="rId21"/>
    <p:sldId id="466" r:id="rId22"/>
    <p:sldId id="481" r:id="rId23"/>
    <p:sldId id="482" r:id="rId24"/>
    <p:sldId id="483" r:id="rId25"/>
    <p:sldId id="423" r:id="rId26"/>
    <p:sldId id="457" r:id="rId27"/>
    <p:sldId id="458" r:id="rId28"/>
    <p:sldId id="486" r:id="rId29"/>
    <p:sldId id="546" r:id="rId30"/>
    <p:sldId id="547" r:id="rId31"/>
    <p:sldId id="556" r:id="rId32"/>
    <p:sldId id="443" r:id="rId33"/>
    <p:sldId id="444" r:id="rId34"/>
    <p:sldId id="472" r:id="rId35"/>
    <p:sldId id="548" r:id="rId36"/>
    <p:sldId id="557" r:id="rId37"/>
    <p:sldId id="485" r:id="rId38"/>
    <p:sldId id="549" r:id="rId39"/>
    <p:sldId id="434" r:id="rId40"/>
    <p:sldId id="413" r:id="rId41"/>
    <p:sldId id="537" r:id="rId42"/>
    <p:sldId id="489" r:id="rId43"/>
    <p:sldId id="426" r:id="rId44"/>
    <p:sldId id="427" r:id="rId45"/>
    <p:sldId id="428" r:id="rId46"/>
    <p:sldId id="532" r:id="rId47"/>
    <p:sldId id="558" r:id="rId48"/>
    <p:sldId id="493" r:id="rId49"/>
    <p:sldId id="430" r:id="rId50"/>
    <p:sldId id="431" r:id="rId51"/>
    <p:sldId id="432" r:id="rId52"/>
    <p:sldId id="535" r:id="rId53"/>
    <p:sldId id="550" r:id="rId54"/>
    <p:sldId id="559" r:id="rId55"/>
    <p:sldId id="551" r:id="rId56"/>
    <p:sldId id="534" r:id="rId57"/>
    <p:sldId id="503" r:id="rId58"/>
    <p:sldId id="552" r:id="rId59"/>
    <p:sldId id="538" r:id="rId60"/>
    <p:sldId id="536" r:id="rId61"/>
  </p:sldIdLst>
  <p:sldSz cx="9144000" cy="6858000" type="screen4x3"/>
  <p:notesSz cx="6662738" cy="9832975"/>
  <p:embeddedFontLst>
    <p:embeddedFont>
      <p:font typeface="Georgia" panose="02040502050405020303" pitchFamily="18" charset="0"/>
      <p:regular r:id="rId63"/>
      <p:bold r:id="rId64"/>
      <p:italic r:id="rId65"/>
      <p:boldItalic r:id="rId66"/>
    </p:embeddedFont>
    <p:embeddedFont>
      <p:font typeface="Tahoma" panose="020B0604030504040204" pitchFamily="34" charset="0"/>
      <p:regular r:id="rId67"/>
      <p:bold r:id="rId68"/>
    </p:embeddedFont>
  </p:embeddedFont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7">
          <p15:clr>
            <a:srgbClr val="A4A3A4"/>
          </p15:clr>
        </p15:guide>
        <p15:guide id="2" pos="209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DC9C5"/>
    <a:srgbClr val="990000"/>
    <a:srgbClr val="CC9900"/>
    <a:srgbClr val="F7FBC7"/>
    <a:srgbClr val="86FA8C"/>
    <a:srgbClr val="6FF976"/>
    <a:srgbClr val="F1F89A"/>
    <a:srgbClr val="1C02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512" autoAdjust="0"/>
  </p:normalViewPr>
  <p:slideViewPr>
    <p:cSldViewPr>
      <p:cViewPr varScale="1">
        <p:scale>
          <a:sx n="98" d="100"/>
          <a:sy n="98" d="100"/>
        </p:scale>
        <p:origin x="19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136"/>
    </p:cViewPr>
  </p:sorterViewPr>
  <p:notesViewPr>
    <p:cSldViewPr>
      <p:cViewPr varScale="1">
        <p:scale>
          <a:sx n="77" d="100"/>
          <a:sy n="77" d="100"/>
        </p:scale>
        <p:origin x="-3294" y="-90"/>
      </p:cViewPr>
      <p:guideLst>
        <p:guide orient="horz" pos="3097"/>
        <p:guide pos="209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620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4876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62732EC-169F-474D-AA91-B18EB2293C9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74557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1E9B611-79A5-4063-8624-6013F60C0F92}" type="slidenum">
              <a:rPr lang="en-GB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306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DC452E-A0ED-BE41-B448-B29A356FBA95}" type="slidenum">
              <a:rPr lang="en-AU"/>
              <a:pPr/>
              <a:t>2</a:t>
            </a:fld>
            <a:endParaRPr lang="en-AU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455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81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58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6B4704-35C5-FE4A-8DDF-C541CD54E575}" type="slidenum">
              <a:rPr lang="en-AU" smtClean="0"/>
              <a:pPr>
                <a:defRPr/>
              </a:pPr>
              <a:t>13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1780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9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64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b="0" dirty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8E8A16-903B-6945-9B99-DC18A818EE9B}" type="slidenum">
              <a:rPr lang="en-AU" smtClean="0"/>
              <a:pPr/>
              <a:t>21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29819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28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F16768-244D-C24A-BB64-B996A8720A13}" type="slidenum">
              <a:rPr lang="en-AU"/>
              <a:pPr/>
              <a:t>26</a:t>
            </a:fld>
            <a:endParaRPr lang="en-AU" dirty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20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883B1A-6685-B346-9691-B9575FF86ECE}" type="slidenum">
              <a:rPr lang="en-AU"/>
              <a:pPr/>
              <a:t>27</a:t>
            </a:fld>
            <a:endParaRPr lang="en-AU" dirty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="0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897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6B4704-35C5-FE4A-8DDF-C541CD54E575}" type="slidenum">
              <a:rPr lang="en-AU" smtClean="0"/>
              <a:pPr>
                <a:defRPr/>
              </a:pPr>
              <a:t>32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0476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6B4704-35C5-FE4A-8DDF-C541CD54E575}" type="slidenum">
              <a:rPr lang="en-AU" smtClean="0"/>
              <a:pPr>
                <a:defRPr/>
              </a:pPr>
              <a:t>33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4071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04D27B-A5CF-924E-8467-86E25FC51EEC}" type="slidenum">
              <a:rPr lang="en-AU"/>
              <a:pPr/>
              <a:t>34</a:t>
            </a:fld>
            <a:endParaRPr lang="en-AU" dirty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370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96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1E9B611-79A5-4063-8624-6013F60C0F92}" type="slidenum">
              <a:rPr lang="en-GB" altLang="en-US" sz="1200" smtClean="0">
                <a:latin typeface="Times New Roman" panose="02020603050405020304" pitchFamily="18" charset="0"/>
              </a:rPr>
              <a:pPr/>
              <a:t>40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889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4C9979F-A140-434F-B477-E651A755082B}" type="slidenum">
              <a:rPr lang="en-GB" altLang="en-US" sz="1200" smtClean="0">
                <a:latin typeface="Times New Roman" panose="02020603050405020304" pitchFamily="18" charset="0"/>
              </a:rPr>
              <a:pPr/>
              <a:t>41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210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F4857B-3A9C-8643-9AF1-AC1CA37E0998}" type="slidenum">
              <a:rPr lang="en-AU"/>
              <a:pPr/>
              <a:t>42</a:t>
            </a:fld>
            <a:endParaRPr lang="en-AU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310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911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297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45BEE5-BE34-414C-8050-C0784EA8AB5A}" type="slidenum">
              <a:rPr lang="en-AU"/>
              <a:pPr/>
              <a:t>48</a:t>
            </a:fld>
            <a:endParaRPr lang="en-AU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b="0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0978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EA5FD4-1898-3349-A62A-CD189A43139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85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2B341-F034-C041-9DA5-4EC9B0867383}" type="slidenum">
              <a:rPr lang="en-AU"/>
              <a:pPr/>
              <a:t>57</a:t>
            </a:fld>
            <a:endParaRPr lang="en-AU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28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6291-FC66-4C7E-B805-791E609FC7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57042451"/>
      </p:ext>
    </p:extLst>
  </p:cSld>
  <p:clrMapOvr>
    <a:masterClrMapping/>
  </p:clrMapOvr>
  <p:transition advTm="5000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107950" y="5732463"/>
            <a:ext cx="14001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defRPr/>
            </a:pPr>
            <a:r>
              <a:rPr lang="en-GB" sz="600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en-GB" sz="4000">
                <a:solidFill>
                  <a:schemeClr val="bg1"/>
                </a:solidFill>
                <a:latin typeface="Georgia" pitchFamily="18" charset="0"/>
              </a:rPr>
              <a:t>@</a:t>
            </a:r>
            <a:r>
              <a:rPr lang="en-GB" sz="6000">
                <a:solidFill>
                  <a:schemeClr val="bg1"/>
                </a:solidFill>
                <a:latin typeface="Georgia" pitchFamily="18" charset="0"/>
              </a:rPr>
              <a:t>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C69CA-3F23-44CA-945B-0FA4477283F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4943811"/>
      </p:ext>
    </p:extLst>
  </p:cSld>
  <p:clrMapOvr>
    <a:masterClrMapping/>
  </p:clrMapOvr>
  <p:transition advTm="5000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77758-8C37-4DF1-97AB-37A77D625D2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3588868"/>
      </p:ext>
    </p:extLst>
  </p:cSld>
  <p:clrMapOvr>
    <a:masterClrMapping/>
  </p:clrMapOvr>
  <p:transition advTm="5000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DF3D6-0B4F-41BB-A2E9-5EE288C12E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6987066"/>
      </p:ext>
    </p:extLst>
  </p:cSld>
  <p:clrMapOvr>
    <a:masterClrMapping/>
  </p:clrMapOvr>
  <p:transition advTm="5000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05AFC-2604-42A5-BE75-ACBC63D550F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74163302"/>
      </p:ext>
    </p:extLst>
  </p:cSld>
  <p:clrMapOvr>
    <a:masterClrMapping/>
  </p:clrMapOvr>
  <p:transition advTm="5000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6357F-E285-4B03-9226-48D613FBC57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6378121"/>
      </p:ext>
    </p:extLst>
  </p:cSld>
  <p:clrMapOvr>
    <a:masterClrMapping/>
  </p:clrMapOvr>
  <p:transition advTm="5000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5E10C-CC7A-417A-A2EE-23A0EFFC8E4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81456526"/>
      </p:ext>
    </p:extLst>
  </p:cSld>
  <p:clrMapOvr>
    <a:masterClrMapping/>
  </p:clrMapOvr>
  <p:transition advTm="5000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E4A2D-E46C-4766-8C2E-027EBC5B50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47201859"/>
      </p:ext>
    </p:extLst>
  </p:cSld>
  <p:clrMapOvr>
    <a:masterClrMapping/>
  </p:clrMapOvr>
  <p:transition advTm="5000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E9A74-7737-4008-93AE-82F7F5FA487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9682712"/>
      </p:ext>
    </p:extLst>
  </p:cSld>
  <p:clrMapOvr>
    <a:masterClrMapping/>
  </p:clrMapOvr>
  <p:transition advTm="5000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50079-DBA3-4EC3-9B8C-5C8B3B58FB4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783851"/>
      </p:ext>
    </p:extLst>
  </p:cSld>
  <p:clrMapOvr>
    <a:masterClrMapping/>
  </p:clrMapOvr>
  <p:transition advTm="5000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E8AE7-88A0-4549-A1EA-61CBAAEBA1F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49041942"/>
      </p:ext>
    </p:extLst>
  </p:cSld>
  <p:clrMapOvr>
    <a:masterClrMapping/>
  </p:clrMapOvr>
  <p:transition advTm="5000"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7A2F1-7C63-4914-A25E-31B95FAF134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3097178"/>
      </p:ext>
    </p:extLst>
  </p:cSld>
  <p:clrMapOvr>
    <a:masterClrMapping/>
  </p:clrMapOvr>
  <p:transition advTm="5000"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357313"/>
            <a:ext cx="77724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EA372-0C85-4E5C-A78F-2E1B1B18CAB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8304167"/>
      </p:ext>
    </p:extLst>
  </p:cSld>
  <p:clrMapOvr>
    <a:masterClrMapping/>
  </p:clrMapOvr>
  <p:transition advTm="5000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F846-E1CB-4C46-B31F-A764912F1061}" type="datetime1">
              <a:rPr lang="en-US" smtClean="0">
                <a:latin typeface="Arial"/>
              </a:rPr>
              <a:t>12/7/2020</a:t>
            </a:fld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1F0F2-74A4-EF40-82B3-DFFDF0BA3880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31731"/>
            <a:ext cx="9144000" cy="329184"/>
          </a:xfrm>
        </p:spPr>
        <p:txBody>
          <a:bodyPr/>
          <a:lstStyle>
            <a:lvl1pPr>
              <a:defRPr sz="9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From </a:t>
            </a:r>
            <a:r>
              <a:rPr lang="en-US" i="1" dirty="0"/>
              <a:t>Security in Computing, Fifth Edition</a:t>
            </a:r>
            <a:r>
              <a:rPr lang="en-US" dirty="0"/>
              <a:t>, by Charles P. </a:t>
            </a:r>
            <a:r>
              <a:rPr lang="en-US" dirty="0" err="1"/>
              <a:t>Pfleeger</a:t>
            </a:r>
            <a:r>
              <a:rPr lang="en-US" dirty="0"/>
              <a:t>, et al. (ISBN: 9780134085043). Copyright 2015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712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428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573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4D1ED90-0827-4CB6-B597-69384EBF957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4868863"/>
            <a:ext cx="9145588" cy="198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33" r:id="rId2"/>
    <p:sldLayoutId id="2147484322" r:id="rId3"/>
    <p:sldLayoutId id="2147484323" r:id="rId4"/>
    <p:sldLayoutId id="2147484324" r:id="rId5"/>
    <p:sldLayoutId id="2147484325" r:id="rId6"/>
    <p:sldLayoutId id="2147484326" r:id="rId7"/>
    <p:sldLayoutId id="2147484327" r:id="rId8"/>
    <p:sldLayoutId id="2147484328" r:id="rId9"/>
    <p:sldLayoutId id="2147484329" r:id="rId10"/>
    <p:sldLayoutId id="2147484330" r:id="rId11"/>
    <p:sldLayoutId id="2147484331" r:id="rId12"/>
    <p:sldLayoutId id="2147484332" r:id="rId13"/>
    <p:sldLayoutId id="2147484334" r:id="rId14"/>
  </p:sldLayoutIdLst>
  <p:transition advTm="5000">
    <p:dissolv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07950" y="869950"/>
            <a:ext cx="8928100" cy="1728788"/>
          </a:xfrm>
        </p:spPr>
        <p:txBody>
          <a:bodyPr/>
          <a:lstStyle/>
          <a:p>
            <a:pPr algn="r"/>
            <a:r>
              <a:rPr lang="en-US" altLang="en-US" sz="5400" dirty="0">
                <a:latin typeface="Georgia" panose="02040502050405020303" pitchFamily="18" charset="0"/>
              </a:rPr>
              <a:t>Lecture 8 - Authentication and access control</a:t>
            </a:r>
            <a:endParaRPr lang="en-GB" altLang="en-US" sz="5400" dirty="0">
              <a:latin typeface="Georgia" panose="02040502050405020303" pitchFamily="18" charset="0"/>
            </a:endParaRPr>
          </a:p>
        </p:txBody>
      </p:sp>
      <p:sp>
        <p:nvSpPr>
          <p:cNvPr id="6147" name="TextBox 3"/>
          <p:cNvSpPr txBox="1">
            <a:spLocks noChangeArrowheads="1"/>
          </p:cNvSpPr>
          <p:nvPr/>
        </p:nvSpPr>
        <p:spPr bwMode="auto">
          <a:xfrm>
            <a:off x="107950" y="2714625"/>
            <a:ext cx="8928100" cy="213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GB" altLang="en-US" sz="1900" dirty="0">
                <a:solidFill>
                  <a:srgbClr val="000000"/>
                </a:solidFill>
                <a:latin typeface="Georgia" panose="02040502050405020303" pitchFamily="18" charset="0"/>
              </a:rPr>
              <a:t>COM744: Security and Risk Management</a:t>
            </a:r>
          </a:p>
          <a:p>
            <a:pPr>
              <a:spcBef>
                <a:spcPct val="0"/>
              </a:spcBef>
              <a:buNone/>
            </a:pPr>
            <a:r>
              <a:rPr lang="en-GB" altLang="en-US" sz="1900" dirty="0">
                <a:solidFill>
                  <a:srgbClr val="000000"/>
                </a:solidFill>
                <a:latin typeface="Georgia" panose="02040502050405020303" pitchFamily="18" charset="0"/>
              </a:rPr>
              <a:t>Nigel Houlden / </a:t>
            </a:r>
            <a:r>
              <a:rPr lang="en-GB" altLang="en-US" sz="1900">
                <a:solidFill>
                  <a:srgbClr val="000000"/>
                </a:solidFill>
                <a:latin typeface="Georgia" panose="02040502050405020303" pitchFamily="18" charset="0"/>
              </a:rPr>
              <a:t>Jason Davies</a:t>
            </a:r>
            <a:endParaRPr lang="en-GB" altLang="en-US" sz="19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12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2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1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17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n.houlden@glyndwr.ac.uk / </a:t>
            </a:r>
            <a:r>
              <a:rPr lang="en-GB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Jason.Davies@glyndwr.ac.uk</a:t>
            </a:r>
            <a:endParaRPr lang="en-GB" altLang="en-US" sz="17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26876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>
                <a:latin typeface="Georgia" panose="02040502050405020303" pitchFamily="18" charset="0"/>
              </a:rPr>
              <a:t>Authentication Definition</a:t>
            </a:r>
            <a:endParaRPr lang="en-AU" sz="3600" dirty="0">
              <a:latin typeface="Georgia" panose="02040502050405020303" pitchFamily="18" charset="0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84785"/>
            <a:ext cx="8229600" cy="208823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sz="3600" dirty="0">
                <a:latin typeface="Georgia" panose="02040502050405020303" pitchFamily="18" charset="0"/>
              </a:rPr>
              <a:t>	</a:t>
            </a:r>
            <a:r>
              <a:rPr lang="en-US" dirty="0">
                <a:latin typeface="Georgia" panose="02040502050405020303" pitchFamily="18" charset="0"/>
              </a:rPr>
              <a:t>RFC 4949 defines user authentication as:</a:t>
            </a:r>
          </a:p>
          <a:p>
            <a:pPr algn="ctr"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dirty="0">
                <a:latin typeface="Georgia" panose="02040502050405020303" pitchFamily="18" charset="0"/>
              </a:rPr>
              <a:t>“The process of verifying an identity claimed by or for a system entity.”</a:t>
            </a:r>
            <a:endParaRPr lang="en-A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37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Georgia" panose="02040502050405020303" pitchFamily="18" charset="0"/>
              </a:rPr>
              <a:t>The act of proving that a user is who they say they are</a:t>
            </a:r>
          </a:p>
          <a:p>
            <a:r>
              <a:rPr lang="en-US" sz="2800" dirty="0">
                <a:latin typeface="Georgia" panose="02040502050405020303" pitchFamily="18" charset="0"/>
              </a:rPr>
              <a:t>Methods: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Something the user </a:t>
            </a:r>
            <a:r>
              <a:rPr lang="en-US" sz="2400" i="1" dirty="0">
                <a:latin typeface="Georgia" panose="02040502050405020303" pitchFamily="18" charset="0"/>
              </a:rPr>
              <a:t>knows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Something the user </a:t>
            </a:r>
            <a:r>
              <a:rPr lang="en-US" sz="2400" i="1" dirty="0">
                <a:latin typeface="Georgia" panose="02040502050405020303" pitchFamily="18" charset="0"/>
              </a:rPr>
              <a:t>is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Something user </a:t>
            </a:r>
            <a:r>
              <a:rPr lang="en-US" sz="2400" i="1" dirty="0">
                <a:latin typeface="Georgia" panose="02040502050405020303" pitchFamily="18" charset="0"/>
              </a:rPr>
              <a:t>has</a:t>
            </a:r>
          </a:p>
        </p:txBody>
      </p:sp>
    </p:spTree>
    <p:extLst>
      <p:ext uri="{BB962C8B-B14F-4D97-AF65-F5344CB8AC3E}">
        <p14:creationId xmlns:p14="http://schemas.microsoft.com/office/powerpoint/2010/main" val="266603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Authentication Process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Basis for access control and user accountability</a:t>
            </a:r>
          </a:p>
          <a:p>
            <a:r>
              <a:rPr lang="en-US" sz="2800" dirty="0">
                <a:latin typeface="Georgia" panose="02040502050405020303" pitchFamily="18" charset="0"/>
              </a:rPr>
              <a:t>Identification step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Presenting an identifier to the security system</a:t>
            </a:r>
          </a:p>
          <a:p>
            <a:r>
              <a:rPr lang="en-US" sz="2800" dirty="0">
                <a:latin typeface="Georgia" panose="02040502050405020303" pitchFamily="18" charset="0"/>
              </a:rPr>
              <a:t>Verification step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Presenting or generating authentication information that corroborates the binding between the entity and the identifier</a:t>
            </a: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27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Something You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Georgia" panose="02040502050405020303" pitchFamily="18" charset="0"/>
              </a:rPr>
              <a:t>Passwords</a:t>
            </a:r>
          </a:p>
          <a:p>
            <a:r>
              <a:rPr lang="en-US" sz="2800" dirty="0">
                <a:latin typeface="Georgia" panose="02040502050405020303" pitchFamily="18" charset="0"/>
              </a:rPr>
              <a:t>Security questions</a:t>
            </a:r>
          </a:p>
          <a:p>
            <a:r>
              <a:rPr lang="en-US" sz="2800" dirty="0">
                <a:latin typeface="Georgia" panose="02040502050405020303" pitchFamily="18" charset="0"/>
              </a:rPr>
              <a:t>Attacks on “something you know”</a:t>
            </a:r>
          </a:p>
        </p:txBody>
      </p:sp>
    </p:spTree>
    <p:extLst>
      <p:ext uri="{BB962C8B-B14F-4D97-AF65-F5344CB8AC3E}">
        <p14:creationId xmlns:p14="http://schemas.microsoft.com/office/powerpoint/2010/main" val="97093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Password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5387E4-74B4-4735-A8C9-782D438A2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652587"/>
            <a:ext cx="771525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951E3-3FBC-49C0-AB70-0F3A7A9290F2}"/>
              </a:ext>
            </a:extLst>
          </p:cNvPr>
          <p:cNvSpPr txBox="1"/>
          <p:nvPr/>
        </p:nvSpPr>
        <p:spPr>
          <a:xfrm>
            <a:off x="827584" y="5445224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https://wpengine.com/resources/passwords-unmasked-infographic/</a:t>
            </a:r>
          </a:p>
        </p:txBody>
      </p:sp>
    </p:spTree>
    <p:extLst>
      <p:ext uri="{BB962C8B-B14F-4D97-AF65-F5344CB8AC3E}">
        <p14:creationId xmlns:p14="http://schemas.microsoft.com/office/powerpoint/2010/main" val="191548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Password Storage</a:t>
            </a:r>
          </a:p>
        </p:txBody>
      </p:sp>
      <p:pic>
        <p:nvPicPr>
          <p:cNvPr id="5" name="Picture 4" descr="Untitled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57"/>
          <a:stretch/>
        </p:blipFill>
        <p:spPr>
          <a:xfrm>
            <a:off x="267312" y="1937756"/>
            <a:ext cx="4291319" cy="2799684"/>
          </a:xfrm>
          <a:prstGeom prst="rect">
            <a:avLst/>
          </a:prstGeom>
        </p:spPr>
      </p:pic>
      <p:pic>
        <p:nvPicPr>
          <p:cNvPr id="6" name="Picture 5" descr="Untitled2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44"/>
          <a:stretch/>
        </p:blipFill>
        <p:spPr>
          <a:xfrm>
            <a:off x="4678892" y="1937756"/>
            <a:ext cx="4340546" cy="2799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71287" y="4385071"/>
            <a:ext cx="1648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92934"/>
                </a:solidFill>
                <a:latin typeface="Arial"/>
              </a:rPr>
              <a:t>Plaintext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3048" y="4385071"/>
            <a:ext cx="2057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92934"/>
                </a:solidFill>
                <a:latin typeface="Arial"/>
              </a:rPr>
              <a:t>Concealed</a:t>
            </a:r>
          </a:p>
        </p:txBody>
      </p:sp>
    </p:spTree>
    <p:extLst>
      <p:ext uri="{BB962C8B-B14F-4D97-AF65-F5344CB8AC3E}">
        <p14:creationId xmlns:p14="http://schemas.microsoft.com/office/powerpoint/2010/main" val="392569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Adding a new password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E811E-BA9C-41C8-88A0-7E038E874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459" y="1124744"/>
            <a:ext cx="6231081" cy="442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6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Verifying a password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628A7A-C0B0-4843-9FEB-58D831AC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636" y="1412776"/>
            <a:ext cx="6552728" cy="42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7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Vulnerabilities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Georgia" panose="02040502050405020303" pitchFamily="18" charset="0"/>
              </a:rPr>
              <a:t>Offline dictionary attack</a:t>
            </a:r>
          </a:p>
          <a:p>
            <a:r>
              <a:rPr lang="en-GB" sz="2800" dirty="0">
                <a:latin typeface="Georgia" panose="02040502050405020303" pitchFamily="18" charset="0"/>
              </a:rPr>
              <a:t>Specific account attack</a:t>
            </a:r>
          </a:p>
          <a:p>
            <a:r>
              <a:rPr lang="en-GB" sz="2800" dirty="0">
                <a:latin typeface="Georgia" panose="02040502050405020303" pitchFamily="18" charset="0"/>
              </a:rPr>
              <a:t>Popular password attack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Password guessing against single user</a:t>
            </a:r>
          </a:p>
          <a:p>
            <a:r>
              <a:rPr lang="en-GB" sz="2800" dirty="0">
                <a:latin typeface="Georgia" panose="02040502050405020303" pitchFamily="18" charset="0"/>
              </a:rPr>
              <a:t>Workstation hijacking</a:t>
            </a:r>
          </a:p>
          <a:p>
            <a:r>
              <a:rPr lang="en-GB" sz="2800" dirty="0">
                <a:latin typeface="Georgia" panose="02040502050405020303" pitchFamily="18" charset="0"/>
              </a:rPr>
              <a:t>Exploiting user mistakes</a:t>
            </a:r>
          </a:p>
          <a:p>
            <a:r>
              <a:rPr lang="en-GB" sz="2800" dirty="0">
                <a:latin typeface="Georgia" panose="02040502050405020303" pitchFamily="18" charset="0"/>
              </a:rPr>
              <a:t>Exploiting multiple password use</a:t>
            </a:r>
          </a:p>
          <a:p>
            <a:r>
              <a:rPr lang="en-GB" sz="2800" dirty="0">
                <a:latin typeface="Georgia" panose="02040502050405020303" pitchFamily="18" charset="0"/>
              </a:rPr>
              <a:t>Electronic monitoring</a:t>
            </a:r>
          </a:p>
          <a:p>
            <a:endParaRPr lang="en-GB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69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Cracking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>
                <a:latin typeface="Georgia" panose="02040502050405020303" pitchFamily="18" charset="0"/>
              </a:rPr>
              <a:t>Dictionary attacks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Develop a large dictionary of possible passwords and try each against the password file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Each password must be hashed using each salt value and then compared to stored hash values</a:t>
            </a:r>
          </a:p>
          <a:p>
            <a:pPr lvl="0"/>
            <a:r>
              <a:rPr lang="en-US" sz="2800" dirty="0">
                <a:latin typeface="Georgia" panose="02040502050405020303" pitchFamily="18" charset="0"/>
              </a:rPr>
              <a:t>Rainbow table attacks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Pre-compute tables of hash values for all salts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 mammoth table of hash values 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Can be countered by using a sufficiently large salt value and a sufficiently large hash length</a:t>
            </a:r>
          </a:p>
          <a:p>
            <a:endParaRPr lang="en-US" sz="28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51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Cracking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>
                <a:latin typeface="Georgia" panose="02040502050405020303" pitchFamily="18" charset="0"/>
              </a:rPr>
              <a:t>Password crackers exploit the fact that people choose easily guessable passwords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Shorter password lengths are also easier to crack</a:t>
            </a:r>
          </a:p>
          <a:p>
            <a:pPr lvl="0"/>
            <a:r>
              <a:rPr lang="en-US" sz="2800" dirty="0">
                <a:latin typeface="Georgia" panose="02040502050405020303" pitchFamily="18" charset="0"/>
              </a:rPr>
              <a:t>John the Ripper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Open-source password cracker first developed in in 1996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Uses a combination of brute-force and dictionary techniques</a:t>
            </a:r>
            <a:endParaRPr lang="en-US" sz="28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42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Modern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3993307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>
                <a:latin typeface="Georgia" panose="02040502050405020303" pitchFamily="18" charset="0"/>
              </a:rPr>
              <a:t>Complex password policy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Georgia" panose="02040502050405020303" pitchFamily="18" charset="0"/>
              </a:rPr>
              <a:t>Forcing users to pick stronger passwords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600" dirty="0">
                <a:latin typeface="Georgia" panose="02040502050405020303" pitchFamily="18" charset="0"/>
              </a:rPr>
              <a:t>However password-cracking techniques have also improved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The processing capacity available for password cracking has increased dramatically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Sophisticated algorithms to generate potential passwords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Studying examples and structures of actual passwords in use</a:t>
            </a:r>
          </a:p>
        </p:txBody>
      </p:sp>
    </p:spTree>
    <p:extLst>
      <p:ext uri="{BB962C8B-B14F-4D97-AF65-F5344CB8AC3E}">
        <p14:creationId xmlns:p14="http://schemas.microsoft.com/office/powerpoint/2010/main" val="66855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Correct Password Guesses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40" y="1052736"/>
            <a:ext cx="6766520" cy="48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8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File Access Control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Can block offline guessing attacks by denying access to encrypted passwords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Make available only to privileged users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Shadow password file</a:t>
            </a:r>
          </a:p>
          <a:p>
            <a:r>
              <a:rPr lang="en-US" sz="2800" dirty="0">
                <a:latin typeface="Georgia" panose="02040502050405020303" pitchFamily="18" charset="0"/>
              </a:rPr>
              <a:t>Vulnerabilities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Weakness in the OS that allows access to the file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Accident with permissions making it readable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Users with same password on other systems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Access from backup media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Sniff passwords in network traffic</a:t>
            </a: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26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Selection Strategies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>
                <a:ln/>
                <a:latin typeface="Georgia" panose="02040502050405020303" pitchFamily="18" charset="0"/>
              </a:rPr>
              <a:t>User education</a:t>
            </a:r>
          </a:p>
          <a:p>
            <a:pPr lvl="1"/>
            <a:r>
              <a:rPr lang="en-US" sz="3200" dirty="0">
                <a:ln/>
                <a:latin typeface="Georgia" panose="02040502050405020303" pitchFamily="18" charset="0"/>
              </a:rPr>
              <a:t>Users can be told the importance of using hard to guess passwords and can be provided with guidelines for selecting strong passwords</a:t>
            </a:r>
          </a:p>
          <a:p>
            <a:r>
              <a:rPr lang="en-US" sz="3600" dirty="0">
                <a:ln/>
                <a:latin typeface="Georgia" panose="02040502050405020303" pitchFamily="18" charset="0"/>
              </a:rPr>
              <a:t>Computer generated passwords</a:t>
            </a:r>
          </a:p>
          <a:p>
            <a:pPr lvl="1"/>
            <a:r>
              <a:rPr lang="en-US" sz="3200" dirty="0">
                <a:ln/>
                <a:latin typeface="Georgia" panose="02040502050405020303" pitchFamily="18" charset="0"/>
              </a:rPr>
              <a:t>Users have trouble remembering them</a:t>
            </a:r>
            <a:endParaRPr lang="en-US" sz="3200" dirty="0">
              <a:latin typeface="Georgia" panose="02040502050405020303" pitchFamily="18" charset="0"/>
            </a:endParaRPr>
          </a:p>
          <a:p>
            <a:pPr lvl="1"/>
            <a:endParaRPr lang="en-US" sz="3200" dirty="0">
              <a:latin typeface="Georgia" panose="02040502050405020303" pitchFamily="18" charset="0"/>
            </a:endParaRPr>
          </a:p>
          <a:p>
            <a:pPr lvl="1"/>
            <a:endParaRPr lang="en-US" sz="3200" dirty="0">
              <a:ln/>
              <a:latin typeface="Georgia" panose="02040502050405020303" pitchFamily="18" charset="0"/>
            </a:endParaRPr>
          </a:p>
          <a:p>
            <a:endParaRPr lang="en-US" sz="3600" dirty="0">
              <a:ln/>
              <a:latin typeface="Georgia" panose="02040502050405020303" pitchFamily="18" charset="0"/>
            </a:endParaRPr>
          </a:p>
          <a:p>
            <a:endParaRPr lang="en-US" sz="3600" dirty="0">
              <a:ln/>
              <a:latin typeface="Georgia" panose="02040502050405020303" pitchFamily="18" charset="0"/>
            </a:endParaRPr>
          </a:p>
          <a:p>
            <a:endParaRPr lang="en-US" sz="3600" dirty="0">
              <a:ln/>
              <a:latin typeface="Georgia" panose="02040502050405020303" pitchFamily="18" charset="0"/>
            </a:endParaRPr>
          </a:p>
          <a:p>
            <a:pPr lvl="0"/>
            <a:endParaRPr lang="en-US" sz="3600" dirty="0">
              <a:ln/>
              <a:latin typeface="Georgia" panose="02040502050405020303" pitchFamily="18" charset="0"/>
            </a:endParaRP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61969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Password Selection Strategies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n/>
                <a:latin typeface="Georgia" panose="02040502050405020303" pitchFamily="18" charset="0"/>
              </a:rPr>
              <a:t>Reactive password checking</a:t>
            </a:r>
          </a:p>
          <a:p>
            <a:pPr lvl="1"/>
            <a:r>
              <a:rPr lang="en-US" sz="2400" dirty="0">
                <a:ln/>
                <a:latin typeface="Georgia" panose="02040502050405020303" pitchFamily="18" charset="0"/>
              </a:rPr>
              <a:t>System periodically runs its own password cracker to find guessable passwords</a:t>
            </a:r>
          </a:p>
          <a:p>
            <a:r>
              <a:rPr lang="en-US" sz="2800" dirty="0">
                <a:ln/>
                <a:latin typeface="Georgia" panose="02040502050405020303" pitchFamily="18" charset="0"/>
              </a:rPr>
              <a:t>Complex password policy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User is allowed to select their own password, however the system checks to see if the password is allowable, and if  not, rejects it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Goal is to  eliminate guessable passwords while allowing the user to select a password that is memorable</a:t>
            </a: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n/>
              <a:latin typeface="Georgia" panose="02040502050405020303" pitchFamily="18" charset="0"/>
            </a:endParaRPr>
          </a:p>
          <a:p>
            <a:endParaRPr lang="en-US" sz="2800" dirty="0">
              <a:ln/>
              <a:latin typeface="Georgia" panose="02040502050405020303" pitchFamily="18" charset="0"/>
            </a:endParaRPr>
          </a:p>
          <a:p>
            <a:endParaRPr lang="en-US" sz="2800" dirty="0">
              <a:ln/>
              <a:latin typeface="Georgia" panose="02040502050405020303" pitchFamily="18" charset="0"/>
            </a:endParaRPr>
          </a:p>
          <a:p>
            <a:endParaRPr lang="en-US" sz="2800" dirty="0">
              <a:ln/>
              <a:latin typeface="Georgia" panose="02040502050405020303" pitchFamily="18" charset="0"/>
            </a:endParaRPr>
          </a:p>
          <a:p>
            <a:pPr lvl="0"/>
            <a:endParaRPr lang="en-US" sz="2800" dirty="0">
              <a:ln/>
              <a:latin typeface="Georgia" panose="02040502050405020303" pitchFamily="18" charset="0"/>
            </a:endParaRP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5048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Proactive Password Checking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Georgia" panose="02040502050405020303" pitchFamily="18" charset="0"/>
              </a:rPr>
              <a:t>Rule enforcement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Specific rules that passwords must adhere to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Password cracker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Compile a large dictionary of passwords not to use</a:t>
            </a:r>
          </a:p>
          <a:p>
            <a:r>
              <a:rPr lang="en-US" sz="2800" dirty="0">
                <a:latin typeface="Georgia" panose="02040502050405020303" pitchFamily="18" charset="0"/>
              </a:rPr>
              <a:t>Bloom filter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Used to build a table based on dictionary using hashes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Check desired password against this table</a:t>
            </a: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  <a:p>
            <a:endParaRPr lang="en-GB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67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Biometrics: Something You Are</a:t>
            </a:r>
          </a:p>
        </p:txBody>
      </p:sp>
      <p:pic>
        <p:nvPicPr>
          <p:cNvPr id="4" name="Picture 3" descr="fig02-02.t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700" y="1285875"/>
            <a:ext cx="5400600" cy="45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7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Problems with Biometrics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Intrusive</a:t>
            </a:r>
          </a:p>
          <a:p>
            <a:r>
              <a:rPr lang="en-US" dirty="0">
                <a:latin typeface="Georgia" panose="02040502050405020303" pitchFamily="18" charset="0"/>
              </a:rPr>
              <a:t>Expensive</a:t>
            </a:r>
          </a:p>
          <a:p>
            <a:r>
              <a:rPr lang="en-US" dirty="0">
                <a:latin typeface="Georgia" panose="02040502050405020303" pitchFamily="18" charset="0"/>
              </a:rPr>
              <a:t>Single point of failure</a:t>
            </a:r>
          </a:p>
          <a:p>
            <a:r>
              <a:rPr lang="en-US" dirty="0">
                <a:latin typeface="Georgia" panose="02040502050405020303" pitchFamily="18" charset="0"/>
              </a:rPr>
              <a:t>Sampling error</a:t>
            </a:r>
          </a:p>
          <a:p>
            <a:r>
              <a:rPr lang="en-US" dirty="0">
                <a:latin typeface="Georgia" panose="02040502050405020303" pitchFamily="18" charset="0"/>
              </a:rPr>
              <a:t>False readings</a:t>
            </a:r>
          </a:p>
          <a:p>
            <a:r>
              <a:rPr lang="en-US" dirty="0">
                <a:latin typeface="Georgia" panose="02040502050405020303" pitchFamily="18" charset="0"/>
              </a:rPr>
              <a:t>Speed</a:t>
            </a:r>
          </a:p>
          <a:p>
            <a:r>
              <a:rPr lang="en-US" dirty="0">
                <a:latin typeface="Georgia" panose="02040502050405020303" pitchFamily="18" charset="0"/>
              </a:rPr>
              <a:t>Forgery</a:t>
            </a:r>
          </a:p>
        </p:txBody>
      </p:sp>
    </p:spTree>
    <p:extLst>
      <p:ext uri="{BB962C8B-B14F-4D97-AF65-F5344CB8AC3E}">
        <p14:creationId xmlns:p14="http://schemas.microsoft.com/office/powerpoint/2010/main" val="412700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459432"/>
            <a:ext cx="8229600" cy="1600200"/>
          </a:xfrm>
        </p:spPr>
        <p:txBody>
          <a:bodyPr/>
          <a:lstStyle/>
          <a:p>
            <a:pPr>
              <a:defRPr/>
            </a:pPr>
            <a:br>
              <a:rPr lang="en-US" sz="3600" dirty="0">
                <a:latin typeface="Georgia" panose="02040502050405020303" pitchFamily="18" charset="0"/>
              </a:rPr>
            </a:br>
            <a:r>
              <a:rPr lang="en-US" sz="3600" dirty="0">
                <a:latin typeface="Georgia" panose="02040502050405020303" pitchFamily="18" charset="0"/>
              </a:rPr>
              <a:t>Biometric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445224"/>
          </a:xfrm>
        </p:spPr>
        <p:txBody>
          <a:bodyPr>
            <a:normAutofit/>
          </a:bodyPr>
          <a:lstStyle/>
          <a:p>
            <a:pPr marL="347472">
              <a:spcBef>
                <a:spcPts val="1200"/>
              </a:spcBef>
              <a:defRPr/>
            </a:pPr>
            <a:r>
              <a:rPr lang="en-US" sz="2400" dirty="0">
                <a:latin typeface="Georgia" panose="02040502050405020303" pitchFamily="18" charset="0"/>
              </a:rPr>
              <a:t>Attempts to authenticate an individual based on unique physical characteristics</a:t>
            </a:r>
          </a:p>
          <a:p>
            <a:pPr marL="347472">
              <a:spcBef>
                <a:spcPts val="1200"/>
              </a:spcBef>
              <a:defRPr/>
            </a:pPr>
            <a:r>
              <a:rPr lang="en-US" sz="2400" dirty="0">
                <a:latin typeface="Georgia" panose="02040502050405020303" pitchFamily="18" charset="0"/>
              </a:rPr>
              <a:t>Based on pattern recognition</a:t>
            </a:r>
          </a:p>
          <a:p>
            <a:pPr marL="347472">
              <a:spcBef>
                <a:spcPts val="1200"/>
              </a:spcBef>
              <a:defRPr/>
            </a:pPr>
            <a:r>
              <a:rPr lang="en-US" sz="2400" dirty="0">
                <a:latin typeface="Georgia" panose="02040502050405020303" pitchFamily="18" charset="0"/>
              </a:rPr>
              <a:t> Is technically complex and expensive when compared to passwords and tokens</a:t>
            </a:r>
          </a:p>
          <a:p>
            <a:pPr marL="347472">
              <a:spcBef>
                <a:spcPts val="1200"/>
              </a:spcBef>
              <a:defRPr/>
            </a:pPr>
            <a:r>
              <a:rPr lang="en-US" sz="2400" dirty="0">
                <a:latin typeface="Georgia" panose="02040502050405020303" pitchFamily="18" charset="0"/>
              </a:rPr>
              <a:t>Physical characteristics used include: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Facial characteristics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Fingerprints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Hand geometry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Retinal pattern 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Iris 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Signature </a:t>
            </a:r>
          </a:p>
          <a:p>
            <a:pPr lvl="2">
              <a:buFont typeface="Courier New"/>
              <a:buChar char="o"/>
              <a:defRPr/>
            </a:pPr>
            <a:r>
              <a:rPr lang="en-US" sz="1400" dirty="0">
                <a:latin typeface="Georgia" panose="02040502050405020303" pitchFamily="18" charset="0"/>
              </a:rPr>
              <a:t>Voice</a:t>
            </a:r>
          </a:p>
        </p:txBody>
      </p:sp>
    </p:spTree>
    <p:extLst>
      <p:ext uri="{BB962C8B-B14F-4D97-AF65-F5344CB8AC3E}">
        <p14:creationId xmlns:p14="http://schemas.microsoft.com/office/powerpoint/2010/main" val="378488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Biometrics – Cost vs. Accuracy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285875"/>
            <a:ext cx="7342584" cy="466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5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Authentication Process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124744"/>
            <a:ext cx="4320480" cy="479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4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Biometric Matching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644" y="1196752"/>
            <a:ext cx="6408712" cy="470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1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Tokens: Something You Have</a:t>
            </a:r>
          </a:p>
        </p:txBody>
      </p:sp>
      <p:pic>
        <p:nvPicPr>
          <p:cNvPr id="6" name="Content Placeholder 5" descr="fig02-06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4" r="-31"/>
          <a:stretch/>
        </p:blipFill>
        <p:spPr>
          <a:xfrm>
            <a:off x="995341" y="1556792"/>
            <a:ext cx="7153317" cy="3984773"/>
          </a:xfrm>
        </p:spPr>
      </p:pic>
    </p:spTree>
    <p:extLst>
      <p:ext uri="{BB962C8B-B14F-4D97-AF65-F5344CB8AC3E}">
        <p14:creationId xmlns:p14="http://schemas.microsoft.com/office/powerpoint/2010/main" val="216842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-171400"/>
            <a:ext cx="8229600" cy="1600200"/>
          </a:xfrm>
        </p:spPr>
        <p:txBody>
          <a:bodyPr>
            <a:normAutofit/>
          </a:bodyPr>
          <a:lstStyle/>
          <a:p>
            <a:pPr>
              <a:lnSpc>
                <a:spcPts val="5800"/>
              </a:lnSpc>
              <a:defRPr/>
            </a:pPr>
            <a:r>
              <a:rPr lang="en-US" sz="3600" dirty="0">
                <a:latin typeface="Georgia" panose="02040502050405020303" pitchFamily="18" charset="0"/>
              </a:rPr>
              <a:t>Types of Cards Used as Tokens </a:t>
            </a:r>
          </a:p>
        </p:txBody>
      </p:sp>
      <p:sp useBgFill="1">
        <p:nvSpPr>
          <p:cNvPr id="52228" name="TextBox 5"/>
          <p:cNvSpPr txBox="1">
            <a:spLocks noChangeArrowheads="1"/>
          </p:cNvSpPr>
          <p:nvPr/>
        </p:nvSpPr>
        <p:spPr bwMode="auto">
          <a:xfrm>
            <a:off x="0" y="5029200"/>
            <a:ext cx="9144000" cy="3698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060848"/>
            <a:ext cx="8815475" cy="301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0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3600" dirty="0">
                <a:latin typeface="Georgia" panose="02040502050405020303" pitchFamily="18" charset="0"/>
              </a:rPr>
              <a:t>Memory Cards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229600" cy="50292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Can store but do not process data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The most common is the magnetic stripe card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Can include an internal electronic memory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Can be used alone for physical access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Hotel room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ATM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Provides significantly greater security when combined with a password or PIN </a:t>
            </a:r>
          </a:p>
          <a:p>
            <a:pPr eaLnBrk="1" hangingPunct="1">
              <a:lnSpc>
                <a:spcPct val="110000"/>
              </a:lnSpc>
              <a:buSzPct val="120000"/>
            </a:pPr>
            <a:r>
              <a:rPr lang="en-US" sz="2000" dirty="0">
                <a:latin typeface="Georgia" panose="02040502050405020303" pitchFamily="18" charset="0"/>
              </a:rPr>
              <a:t>Drawbacks of memory cards include: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Requires a special reader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Loss of token</a:t>
            </a:r>
          </a:p>
          <a:p>
            <a:pPr lvl="1" eaLnBrk="1" hangingPunct="1">
              <a:lnSpc>
                <a:spcPct val="110000"/>
              </a:lnSpc>
              <a:buSzPct val="120000"/>
            </a:pPr>
            <a:r>
              <a:rPr lang="en-US" sz="1600" dirty="0">
                <a:latin typeface="Georgia" panose="02040502050405020303" pitchFamily="18" charset="0"/>
              </a:rPr>
              <a:t>User dissatisfaction</a:t>
            </a:r>
          </a:p>
        </p:txBody>
      </p:sp>
    </p:spTree>
    <p:extLst>
      <p:ext uri="{BB962C8B-B14F-4D97-AF65-F5344CB8AC3E}">
        <p14:creationId xmlns:p14="http://schemas.microsoft.com/office/powerpoint/2010/main" val="203502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Smart Tokens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Physical characteristics: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Include an embedded microprocessor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A smart token that looks like a bank card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Can look like calculators, keys, small portable objects</a:t>
            </a:r>
          </a:p>
          <a:p>
            <a:r>
              <a:rPr lang="en-US" sz="2800" dirty="0">
                <a:latin typeface="Georgia" panose="02040502050405020303" pitchFamily="18" charset="0"/>
              </a:rPr>
              <a:t>Interface: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Manual interfaces include a keypad and display for interaction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Electronic interfaces communicate with a compatible reader/writer</a:t>
            </a:r>
          </a:p>
        </p:txBody>
      </p:sp>
    </p:spTree>
    <p:extLst>
      <p:ext uri="{BB962C8B-B14F-4D97-AF65-F5344CB8AC3E}">
        <p14:creationId xmlns:p14="http://schemas.microsoft.com/office/powerpoint/2010/main" val="420443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Risk Assessment for User Authentication</a:t>
            </a:r>
            <a:endParaRPr lang="en-GB" sz="36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There are three separate concepts: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Assurance Level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Potential impact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Areas of risk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23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Assurance Level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>
                <a:latin typeface="Georgia" panose="02040502050405020303" pitchFamily="18" charset="0"/>
              </a:rPr>
              <a:t>Describes an </a:t>
            </a:r>
            <a:r>
              <a:rPr lang="en-US" sz="2800" dirty="0" err="1">
                <a:latin typeface="Georgia" panose="02040502050405020303" pitchFamily="18" charset="0"/>
              </a:rPr>
              <a:t>organisation’s</a:t>
            </a:r>
            <a:r>
              <a:rPr lang="en-US" sz="2800" dirty="0">
                <a:latin typeface="Georgia" panose="02040502050405020303" pitchFamily="18" charset="0"/>
              </a:rPr>
              <a:t> degree of certainty that a user has presented a credential that refers to his or her identity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The degree of confidence in the vetting process used to establish the identity of the individual to whom the credential was issued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The degree of confidence that the individual who uses the credential is the individual to whom the credential was issued</a:t>
            </a: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endParaRPr lang="en-US" sz="28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04007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Levels of Assurance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Georgia" panose="02040502050405020303" pitchFamily="18" charset="0"/>
              </a:rPr>
              <a:t>Four levels of assurance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Level 1 - Little or no confidence in the asserted identity's validity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Level 2 - Some confidence in the asserted identity’s validity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Level 3 - High confidence in the asserted identity's validity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Level 4 - Very high confidence in the asserted identity’s validity</a:t>
            </a: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0"/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pPr lvl="0"/>
            <a:endParaRPr lang="en-US" dirty="0">
              <a:latin typeface="Georgia" panose="02040502050405020303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059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68760"/>
          </a:xfrm>
        </p:spPr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Potential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25144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FIPS 199 defines three levels of potential impact on </a:t>
            </a:r>
            <a:r>
              <a:rPr lang="en-US" dirty="0" err="1">
                <a:latin typeface="Georgia" panose="02040502050405020303" pitchFamily="18" charset="0"/>
              </a:rPr>
              <a:t>organisations</a:t>
            </a:r>
            <a:r>
              <a:rPr lang="en-US" dirty="0">
                <a:latin typeface="Georgia" panose="02040502050405020303" pitchFamily="18" charset="0"/>
              </a:rPr>
              <a:t> or individuals should there be a breach of security: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Low: An authentication error could be expected to have a limited adverse effect on </a:t>
            </a:r>
            <a:r>
              <a:rPr lang="en-US" sz="2400" dirty="0" err="1">
                <a:latin typeface="Georgia" panose="02040502050405020303" pitchFamily="18" charset="0"/>
              </a:rPr>
              <a:t>organisational</a:t>
            </a:r>
            <a:r>
              <a:rPr lang="en-US" sz="2400" dirty="0">
                <a:latin typeface="Georgia" panose="02040502050405020303" pitchFamily="18" charset="0"/>
              </a:rPr>
              <a:t> operations, </a:t>
            </a:r>
            <a:r>
              <a:rPr lang="en-US" sz="2400" dirty="0" err="1">
                <a:latin typeface="Georgia" panose="02040502050405020303" pitchFamily="18" charset="0"/>
              </a:rPr>
              <a:t>organisational</a:t>
            </a:r>
            <a:r>
              <a:rPr lang="en-US" sz="2400" dirty="0">
                <a:latin typeface="Georgia" panose="02040502050405020303" pitchFamily="18" charset="0"/>
              </a:rPr>
              <a:t> assets, or individuals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Moderate: An authentication error could be expected to have a serious adverse effect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High: An authentication error could be expected to have a severe or catastrophic adverse effect</a:t>
            </a:r>
          </a:p>
        </p:txBody>
      </p:sp>
    </p:spTree>
    <p:extLst>
      <p:ext uri="{BB962C8B-B14F-4D97-AF65-F5344CB8AC3E}">
        <p14:creationId xmlns:p14="http://schemas.microsoft.com/office/powerpoint/2010/main" val="188069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39321" b="11326"/>
          <a:stretch/>
        </p:blipFill>
        <p:spPr>
          <a:xfrm>
            <a:off x="179513" y="2204864"/>
            <a:ext cx="5400600" cy="212545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-239" t="-8446" r="59806" b="7012"/>
          <a:stretch/>
        </p:blipFill>
        <p:spPr>
          <a:xfrm>
            <a:off x="5490407" y="1700808"/>
            <a:ext cx="3653594" cy="273630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47667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  <a:latin typeface="Georgia" panose="02040502050405020303" pitchFamily="18" charset="0"/>
                <a:ea typeface="+mj-ea"/>
                <a:cs typeface="+mj-cs"/>
              </a:rPr>
              <a:t>Potential Impacts for Each Assurance Level </a:t>
            </a:r>
          </a:p>
        </p:txBody>
      </p:sp>
    </p:spTree>
    <p:extLst>
      <p:ext uri="{BB962C8B-B14F-4D97-AF65-F5344CB8AC3E}">
        <p14:creationId xmlns:p14="http://schemas.microsoft.com/office/powerpoint/2010/main" val="6393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407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kern="1200" dirty="0">
                <a:latin typeface="Georgia" panose="02040502050405020303" pitchFamily="18" charset="0"/>
              </a:rPr>
              <a:t>Remote User Authentication</a:t>
            </a:r>
            <a:endParaRPr lang="en-US" sz="3600" kern="1200" dirty="0">
              <a:latin typeface="Georgia" panose="02040502050405020303" pitchFamily="18" charset="0"/>
            </a:endParaRP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>
          <a:xfrm>
            <a:off x="423337" y="1356409"/>
            <a:ext cx="8229600" cy="4928592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  <a:buSzPct val="120000"/>
            </a:pPr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Authentication over a network, the Internet, or a communications link is more complex</a:t>
            </a:r>
          </a:p>
          <a:p>
            <a:pPr marL="342900" lvl="1" indent="-342900">
              <a:lnSpc>
                <a:spcPct val="90000"/>
              </a:lnSpc>
              <a:buSzPct val="120000"/>
              <a:buFont typeface="Arial" pitchFamily="34" charset="0"/>
              <a:buChar char="•"/>
            </a:pPr>
            <a:r>
              <a:rPr lang="en-US" dirty="0">
                <a:latin typeface="Georgia" panose="02040502050405020303" pitchFamily="18" charset="0"/>
                <a:ea typeface="+mn-ea"/>
                <a:cs typeface="+mn-cs"/>
              </a:rPr>
              <a:t>Additional security threats such as:</a:t>
            </a:r>
          </a:p>
          <a:p>
            <a:pPr marL="1028700" lvl="3" indent="-342900" eaLnBrk="1" hangingPunct="1">
              <a:lnSpc>
                <a:spcPct val="90000"/>
              </a:lnSpc>
              <a:spcBef>
                <a:spcPts val="2000"/>
              </a:spcBef>
              <a:spcAft>
                <a:spcPts val="1800"/>
              </a:spcAft>
            </a:pPr>
            <a:r>
              <a:rPr lang="en-US" sz="2800" dirty="0">
                <a:latin typeface="Georgia" panose="02040502050405020303" pitchFamily="18" charset="0"/>
                <a:ea typeface="+mn-ea"/>
                <a:cs typeface="+mn-cs"/>
              </a:rPr>
              <a:t>Eavesdropping, capturing a password, replaying an authentication sequence that has been observed</a:t>
            </a:r>
          </a:p>
          <a:p>
            <a:pPr eaLnBrk="1" hangingPunct="1">
              <a:lnSpc>
                <a:spcPct val="90000"/>
              </a:lnSpc>
              <a:buSzPct val="120000"/>
            </a:pPr>
            <a:r>
              <a:rPr lang="en-US" sz="2800" dirty="0">
                <a:solidFill>
                  <a:schemeClr val="tx1"/>
                </a:solidFill>
                <a:latin typeface="Georgia" panose="02040502050405020303" pitchFamily="18" charset="0"/>
              </a:rPr>
              <a:t>Generally rely on some form of a challenge-response protocol to counter threats</a:t>
            </a:r>
          </a:p>
        </p:txBody>
      </p:sp>
    </p:spTree>
    <p:extLst>
      <p:ext uri="{BB962C8B-B14F-4D97-AF65-F5344CB8AC3E}">
        <p14:creationId xmlns:p14="http://schemas.microsoft.com/office/powerpoint/2010/main" val="208961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kern="1200" dirty="0">
                <a:latin typeface="Georgia" panose="02040502050405020303" pitchFamily="18" charset="0"/>
              </a:rPr>
              <a:t>Authentication Security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Georgia" panose="02040502050405020303" pitchFamily="18" charset="0"/>
              </a:rPr>
              <a:t>Denial-of-Service                  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Attempts to disable a user authentication service by flooding the service with numerous authentication attempts</a:t>
            </a:r>
          </a:p>
          <a:p>
            <a:r>
              <a:rPr lang="en-US" sz="2000" dirty="0">
                <a:latin typeface="Georgia" panose="02040502050405020303" pitchFamily="18" charset="0"/>
              </a:rPr>
              <a:t>Trojan Horse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An application or physical device masquerades as an authentic application or device for the purpose of capturing a user password, passcode, or biometric</a:t>
            </a:r>
          </a:p>
          <a:p>
            <a:pPr lvl="0"/>
            <a:r>
              <a:rPr lang="en-US" sz="2000" dirty="0">
                <a:latin typeface="Georgia" panose="02040502050405020303" pitchFamily="18" charset="0"/>
              </a:rPr>
              <a:t>Client Attacks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Adversary attempts to achieve user authentication without access to the remote host or the intervening communications path</a:t>
            </a:r>
          </a:p>
        </p:txBody>
      </p:sp>
    </p:spTree>
    <p:extLst>
      <p:ext uri="{BB962C8B-B14F-4D97-AF65-F5344CB8AC3E}">
        <p14:creationId xmlns:p14="http://schemas.microsoft.com/office/powerpoint/2010/main" val="60723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kern="1200" dirty="0">
                <a:latin typeface="Georgia" panose="02040502050405020303" pitchFamily="18" charset="0"/>
              </a:rPr>
              <a:t>Authentication Security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>
                <a:latin typeface="Georgia" panose="02040502050405020303" pitchFamily="18" charset="0"/>
              </a:rPr>
              <a:t>Replay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Adversary repeats a previously captured user response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Host Attacks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Directed at the user file at the host where passwords, token passcodes, or biometric templates are stored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Eavesdropping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Adversary attempts to learn the password by some sort of attack that involves the physical proximity of user and adversary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1708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kern="1200" dirty="0">
                <a:latin typeface="Georgia" panose="02040502050405020303" pitchFamily="18" charset="0"/>
              </a:rPr>
              <a:t>Authentication Attack Mitigation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24744"/>
            <a:ext cx="7198568" cy="4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0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kern="1200" dirty="0">
                <a:latin typeface="Georgia" panose="02040502050405020303" pitchFamily="18" charset="0"/>
              </a:rPr>
              <a:t>Authentication Attack Mitigation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96" y="1196752"/>
            <a:ext cx="7558608" cy="473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Authentication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Electronic user authentication principles</a:t>
            </a:r>
          </a:p>
          <a:p>
            <a:r>
              <a:rPr lang="en-US" dirty="0">
                <a:latin typeface="Georgia" panose="02040502050405020303" pitchFamily="18" charset="0"/>
              </a:rPr>
              <a:t>Password-based authentication </a:t>
            </a:r>
          </a:p>
          <a:p>
            <a:r>
              <a:rPr lang="en-US" dirty="0">
                <a:latin typeface="Georgia" panose="02040502050405020303" pitchFamily="18" charset="0"/>
              </a:rPr>
              <a:t>Token-based authentication</a:t>
            </a:r>
          </a:p>
          <a:p>
            <a:r>
              <a:rPr lang="en-US" dirty="0">
                <a:latin typeface="Georgia" panose="02040502050405020303" pitchFamily="18" charset="0"/>
              </a:rPr>
              <a:t>Biometric authentication</a:t>
            </a:r>
          </a:p>
          <a:p>
            <a:r>
              <a:rPr lang="en-US" dirty="0">
                <a:latin typeface="Georgia" panose="02040502050405020303" pitchFamily="18" charset="0"/>
              </a:rPr>
              <a:t>Remote user authentication</a:t>
            </a:r>
          </a:p>
          <a:p>
            <a:r>
              <a:rPr lang="en-US" dirty="0">
                <a:latin typeface="Georgia" panose="02040502050405020303" pitchFamily="18" charset="0"/>
              </a:rPr>
              <a:t>Security issues for user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45349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07950" y="869950"/>
            <a:ext cx="8928100" cy="1728788"/>
          </a:xfrm>
        </p:spPr>
        <p:txBody>
          <a:bodyPr/>
          <a:lstStyle/>
          <a:p>
            <a:pPr algn="r"/>
            <a:r>
              <a:rPr lang="en-US" altLang="en-US" sz="5400" dirty="0">
                <a:latin typeface="Georgia" panose="02040502050405020303" pitchFamily="18" charset="0"/>
              </a:rPr>
              <a:t>Part 2- Access control</a:t>
            </a:r>
            <a:endParaRPr lang="en-GB" altLang="en-US" sz="5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35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41438"/>
          </a:xfrm>
        </p:spPr>
        <p:txBody>
          <a:bodyPr/>
          <a:lstStyle/>
          <a:p>
            <a:r>
              <a:rPr lang="en-US" altLang="en-US" sz="3600" dirty="0">
                <a:latin typeface="Georgia" panose="02040502050405020303" pitchFamily="18" charset="0"/>
              </a:rPr>
              <a:t>What we will cover</a:t>
            </a:r>
          </a:p>
        </p:txBody>
      </p:sp>
      <p:sp>
        <p:nvSpPr>
          <p:cNvPr id="25603" name="TextBox 1"/>
          <p:cNvSpPr txBox="1">
            <a:spLocks noChangeArrowheads="1"/>
          </p:cNvSpPr>
          <p:nvPr/>
        </p:nvSpPr>
        <p:spPr bwMode="auto">
          <a:xfrm>
            <a:off x="539750" y="1700213"/>
            <a:ext cx="8064500" cy="294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dirty="0">
                <a:latin typeface="Georgia" panose="02040502050405020303" pitchFamily="18" charset="0"/>
              </a:rPr>
              <a:t>Access control principles</a:t>
            </a:r>
          </a:p>
          <a:p>
            <a:r>
              <a:rPr lang="en-US" dirty="0">
                <a:latin typeface="Georgia" panose="02040502050405020303" pitchFamily="18" charset="0"/>
              </a:rPr>
              <a:t>Discretionary access control</a:t>
            </a:r>
          </a:p>
          <a:p>
            <a:r>
              <a:rPr lang="en-US" dirty="0">
                <a:latin typeface="Georgia" panose="02040502050405020303" pitchFamily="18" charset="0"/>
              </a:rPr>
              <a:t>UNIX file access control</a:t>
            </a:r>
          </a:p>
          <a:p>
            <a:r>
              <a:rPr lang="en-US" dirty="0">
                <a:latin typeface="Georgia" panose="02040502050405020303" pitchFamily="18" charset="0"/>
              </a:rPr>
              <a:t>Access control lists in UNIX</a:t>
            </a:r>
          </a:p>
          <a:p>
            <a:r>
              <a:rPr lang="en-US" dirty="0">
                <a:latin typeface="Georgia" panose="02040502050405020303" pitchFamily="18" charset="0"/>
              </a:rPr>
              <a:t>Role-based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415966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407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kern="1200" dirty="0">
                <a:latin typeface="Georgia" panose="02040502050405020303" pitchFamily="18" charset="0"/>
              </a:rPr>
              <a:t>Access Control Principles</a:t>
            </a:r>
            <a:endParaRPr lang="en-AU" sz="3600" kern="1200" dirty="0">
              <a:latin typeface="Georgia" panose="02040502050405020303" pitchFamily="18" charset="0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988840"/>
            <a:ext cx="8153400" cy="4038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dirty="0">
                <a:latin typeface="Georgia" panose="02040502050405020303" pitchFamily="18" charset="0"/>
              </a:rPr>
              <a:t>	</a:t>
            </a:r>
            <a:r>
              <a:rPr lang="en-US" sz="2800" dirty="0">
                <a:latin typeface="Georgia" panose="02040502050405020303" pitchFamily="18" charset="0"/>
              </a:rPr>
              <a:t>RFC 4949 defines computer security as:</a:t>
            </a:r>
          </a:p>
          <a:p>
            <a:pPr eaLnBrk="1" fontAlgn="auto" hangingPunct="1">
              <a:spcBef>
                <a:spcPts val="200"/>
              </a:spcBef>
              <a:spcAft>
                <a:spcPts val="0"/>
              </a:spcAft>
              <a:buFont typeface="Wingdings" pitchFamily="-107" charset="2"/>
              <a:buNone/>
              <a:defRPr/>
            </a:pPr>
            <a:endParaRPr lang="en-US" sz="1500" dirty="0">
              <a:latin typeface="Georgia" panose="02040502050405020303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sz="2800" dirty="0">
                <a:latin typeface="Georgia" panose="02040502050405020303" pitchFamily="18" charset="0"/>
              </a:rPr>
              <a:t>“Measures that implement and assure security services in a computer system, particularly those that assure </a:t>
            </a:r>
            <a:r>
              <a:rPr lang="en-US" sz="2800" b="1" dirty="0">
                <a:latin typeface="Georgia" panose="02040502050405020303" pitchFamily="18" charset="0"/>
              </a:rPr>
              <a:t>access control </a:t>
            </a:r>
            <a:r>
              <a:rPr lang="en-US" sz="2800" dirty="0">
                <a:latin typeface="Georgia" panose="02040502050405020303" pitchFamily="18" charset="0"/>
              </a:rPr>
              <a:t>service.”</a:t>
            </a:r>
            <a:endParaRPr lang="en-AU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4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Control</a:t>
            </a:r>
          </a:p>
        </p:txBody>
      </p:sp>
      <p:pic>
        <p:nvPicPr>
          <p:cNvPr id="4" name="Content Placeholder 3" descr="Screen Shot 2015-09-08 at 6.32.21 AM.png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5" b="10623"/>
          <a:stretch/>
        </p:blipFill>
        <p:spPr>
          <a:xfrm>
            <a:off x="1041048" y="1196752"/>
            <a:ext cx="7414592" cy="4703378"/>
          </a:xfrm>
        </p:spPr>
      </p:pic>
    </p:spTree>
    <p:extLst>
      <p:ext uri="{BB962C8B-B14F-4D97-AF65-F5344CB8AC3E}">
        <p14:creationId xmlns:p14="http://schemas.microsoft.com/office/powerpoint/2010/main" val="61032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Goals: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Check every access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Enforce least privilege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Verify acceptable usage</a:t>
            </a:r>
          </a:p>
          <a:p>
            <a:r>
              <a:rPr lang="en-US" dirty="0">
                <a:latin typeface="Georgia" panose="02040502050405020303" pitchFamily="18" charset="0"/>
              </a:rPr>
              <a:t>Track users’ access</a:t>
            </a:r>
          </a:p>
          <a:p>
            <a:r>
              <a:rPr lang="en-US" dirty="0">
                <a:latin typeface="Georgia" panose="02040502050405020303" pitchFamily="18" charset="0"/>
              </a:rPr>
              <a:t>Enforce at appropriate granularity</a:t>
            </a:r>
          </a:p>
          <a:p>
            <a:r>
              <a:rPr lang="en-US" dirty="0">
                <a:latin typeface="Georgia" panose="02040502050405020303" pitchFamily="18" charset="0"/>
              </a:rPr>
              <a:t>Use audit logging to track accesses</a:t>
            </a:r>
          </a:p>
        </p:txBody>
      </p:sp>
    </p:spTree>
    <p:extLst>
      <p:ext uri="{BB962C8B-B14F-4D97-AF65-F5344CB8AC3E}">
        <p14:creationId xmlns:p14="http://schemas.microsoft.com/office/powerpoint/2010/main" val="347136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Implementing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Access control directory</a:t>
            </a:r>
          </a:p>
          <a:p>
            <a:r>
              <a:rPr lang="en-US" sz="2800" dirty="0">
                <a:latin typeface="Georgia" panose="02040502050405020303" pitchFamily="18" charset="0"/>
              </a:rPr>
              <a:t>Access control matrix</a:t>
            </a:r>
          </a:p>
          <a:p>
            <a:r>
              <a:rPr lang="en-US" sz="2800" dirty="0">
                <a:latin typeface="Georgia" panose="02040502050405020303" pitchFamily="18" charset="0"/>
              </a:rPr>
              <a:t>Access control list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Privilege list</a:t>
            </a:r>
          </a:p>
          <a:p>
            <a:r>
              <a:rPr lang="en-US" sz="2800" dirty="0">
                <a:latin typeface="Georgia" panose="02040502050405020303" pitchFamily="18" charset="0"/>
              </a:rPr>
              <a:t>Capability</a:t>
            </a:r>
          </a:p>
          <a:p>
            <a:r>
              <a:rPr lang="en-US" sz="2800" dirty="0">
                <a:latin typeface="Georgia" panose="02040502050405020303" pitchFamily="18" charset="0"/>
              </a:rPr>
              <a:t>Procedure-oriented access control</a:t>
            </a:r>
          </a:p>
          <a:p>
            <a:r>
              <a:rPr lang="en-US" sz="2800" dirty="0">
                <a:latin typeface="Georgia" panose="02040502050405020303" pitchFamily="18" charset="0"/>
              </a:rPr>
              <a:t>Role-based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8102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Access Control Policies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Discretionary access control (DAC)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Controls access based on the identity of the requestor and on access rules (</a:t>
            </a:r>
            <a:r>
              <a:rPr lang="en-US" dirty="0" err="1">
                <a:latin typeface="Georgia" panose="02040502050405020303" pitchFamily="18" charset="0"/>
              </a:rPr>
              <a:t>authorisations</a:t>
            </a:r>
            <a:r>
              <a:rPr lang="en-US" dirty="0">
                <a:latin typeface="Georgia" panose="02040502050405020303" pitchFamily="18" charset="0"/>
              </a:rPr>
              <a:t>) stating what requestors are (or are not) allowed to do</a:t>
            </a:r>
          </a:p>
          <a:p>
            <a:r>
              <a:rPr lang="en-US" sz="3600" dirty="0">
                <a:latin typeface="Georgia" panose="02040502050405020303" pitchFamily="18" charset="0"/>
              </a:rPr>
              <a:t>Mandatory access control (MAC)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Controls access based on comparing security labels with security clearances </a:t>
            </a:r>
          </a:p>
          <a:p>
            <a:endParaRPr lang="en-US" sz="3600" dirty="0">
              <a:latin typeface="Georgia" panose="02040502050405020303" pitchFamily="18" charset="0"/>
            </a:endParaRPr>
          </a:p>
          <a:p>
            <a:endParaRPr lang="en-US" sz="3600" dirty="0">
              <a:latin typeface="Georgia" panose="02040502050405020303" pitchFamily="18" charset="0"/>
            </a:endParaRPr>
          </a:p>
          <a:p>
            <a:endParaRPr lang="en-GB" sz="3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12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Access Control Policies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Role-based access control (RBAC)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Controls access based on the roles that users have within the system and on rules stating what accesses are allowed to users in given roles</a:t>
            </a:r>
          </a:p>
          <a:p>
            <a:r>
              <a:rPr lang="en-US" dirty="0">
                <a:latin typeface="Georgia" panose="02040502050405020303" pitchFamily="18" charset="0"/>
              </a:rPr>
              <a:t>Attribute-based access control (ABAC)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Controls access based on attributes of the user, the resource to be accessed, and current environmental conditions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GB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53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600200"/>
          </a:xfrm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latin typeface="Georgia" panose="02040502050405020303" pitchFamily="18" charset="0"/>
              </a:rPr>
              <a:t>Discretionary </a:t>
            </a:r>
            <a:r>
              <a:rPr lang="en-GB" dirty="0">
                <a:latin typeface="Georgia" panose="02040502050405020303" pitchFamily="18" charset="0"/>
              </a:rPr>
              <a:t>Access Control (DAC) 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057400"/>
            <a:ext cx="8229600" cy="3459832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SzPct val="120000"/>
              <a:defRPr/>
            </a:pPr>
            <a:r>
              <a:rPr lang="en-US" dirty="0">
                <a:latin typeface="Georgia" panose="02040502050405020303" pitchFamily="18" charset="0"/>
              </a:rPr>
              <a:t>Scheme in which an entity may enable another entity to access some resource</a:t>
            </a:r>
          </a:p>
          <a:p>
            <a:pPr marL="342900" lvl="1" indent="-342900">
              <a:buSzPct val="120000"/>
              <a:buFont typeface="Arial" pitchFamily="34" charset="0"/>
              <a:buChar char="•"/>
              <a:defRPr/>
            </a:pPr>
            <a:r>
              <a:rPr lang="en-US" sz="2400" dirty="0">
                <a:latin typeface="Georgia" panose="02040502050405020303" pitchFamily="18" charset="0"/>
              </a:rPr>
              <a:t>Often provided using an access matrix</a:t>
            </a:r>
          </a:p>
          <a:p>
            <a:pPr marL="1028700" lvl="3" indent="-342900" eaLnBrk="1" hangingPunct="1">
              <a:defRPr/>
            </a:pPr>
            <a:r>
              <a:rPr lang="en-US" sz="2000" dirty="0">
                <a:latin typeface="Georgia" panose="02040502050405020303" pitchFamily="18" charset="0"/>
              </a:rPr>
              <a:t>One dimension consists of identified subjects that may attempt data access to the resources</a:t>
            </a:r>
          </a:p>
          <a:p>
            <a:pPr marL="1028700" lvl="3" indent="-342900" eaLnBrk="1" hangingPunct="1">
              <a:defRPr/>
            </a:pPr>
            <a:r>
              <a:rPr lang="en-US" sz="2000" dirty="0">
                <a:latin typeface="Georgia" panose="02040502050405020303" pitchFamily="18" charset="0"/>
              </a:rPr>
              <a:t>The other dimension lists the objects that may be accessed</a:t>
            </a:r>
          </a:p>
          <a:p>
            <a:pPr marL="342900" lvl="1" indent="-342900">
              <a:buSzPct val="120000"/>
              <a:buFont typeface="Arial" pitchFamily="34" charset="0"/>
              <a:buChar char="•"/>
              <a:defRPr/>
            </a:pPr>
            <a:r>
              <a:rPr lang="en-US" sz="2400" dirty="0">
                <a:latin typeface="Georgia" panose="02040502050405020303" pitchFamily="18" charset="0"/>
              </a:rPr>
              <a:t>Each entry in the matrix indicates the access rights of a particular subject for a particular object</a:t>
            </a:r>
          </a:p>
        </p:txBody>
      </p:sp>
    </p:spTree>
    <p:extLst>
      <p:ext uri="{BB962C8B-B14F-4D97-AF65-F5344CB8AC3E}">
        <p14:creationId xmlns:p14="http://schemas.microsoft.com/office/powerpoint/2010/main" val="203755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Control Directory</a:t>
            </a:r>
          </a:p>
        </p:txBody>
      </p:sp>
      <p:pic>
        <p:nvPicPr>
          <p:cNvPr id="5" name="Picture 4" descr="fig02-09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311" y="1626954"/>
            <a:ext cx="6038479" cy="42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6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Control Matrix</a:t>
            </a:r>
          </a:p>
        </p:txBody>
      </p:sp>
      <p:pic>
        <p:nvPicPr>
          <p:cNvPr id="4" name="Picture 3" descr="Screen Shot 2015-09-08 at 12.33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97" y="1844824"/>
            <a:ext cx="8789406" cy="337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2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eorgia" panose="02040502050405020303" pitchFamily="18" charset="0"/>
              </a:rPr>
              <a:t>Access Control List</a:t>
            </a:r>
          </a:p>
        </p:txBody>
      </p:sp>
      <p:pic>
        <p:nvPicPr>
          <p:cNvPr id="5" name="Picture 4" descr="fig02-13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309977"/>
            <a:ext cx="4579919" cy="440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4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Georgia" panose="02040502050405020303" pitchFamily="18" charset="0"/>
              </a:rPr>
              <a:t>Access Control Relationships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285875"/>
            <a:ext cx="6408712" cy="466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12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Subjects and Objects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>
                <a:latin typeface="Georgia" panose="02040502050405020303" pitchFamily="18" charset="0"/>
              </a:rPr>
              <a:t>Subject</a:t>
            </a:r>
          </a:p>
          <a:p>
            <a:pPr lvl="1"/>
            <a:r>
              <a:rPr lang="en-US" sz="3200" dirty="0">
                <a:latin typeface="Georgia" panose="02040502050405020303" pitchFamily="18" charset="0"/>
              </a:rPr>
              <a:t>An entity capable of accessing </a:t>
            </a:r>
            <a:r>
              <a:rPr lang="en-US" dirty="0">
                <a:latin typeface="Georgia" panose="02040502050405020303" pitchFamily="18" charset="0"/>
              </a:rPr>
              <a:t>objects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Three classes: </a:t>
            </a:r>
            <a:r>
              <a:rPr lang="en-US" sz="2400" dirty="0">
                <a:latin typeface="Georgia" panose="02040502050405020303" pitchFamily="18" charset="0"/>
              </a:rPr>
              <a:t>Owner, Group, World </a:t>
            </a:r>
          </a:p>
          <a:p>
            <a:r>
              <a:rPr lang="en-US" sz="3600" dirty="0">
                <a:latin typeface="Georgia" panose="02040502050405020303" pitchFamily="18" charset="0"/>
              </a:rPr>
              <a:t>Object</a:t>
            </a:r>
          </a:p>
          <a:p>
            <a:pPr lvl="1"/>
            <a:r>
              <a:rPr lang="en-US" sz="3200" dirty="0">
                <a:latin typeface="Georgia" panose="02040502050405020303" pitchFamily="18" charset="0"/>
              </a:rPr>
              <a:t>A resource to which access is controlled</a:t>
            </a:r>
          </a:p>
          <a:p>
            <a:pPr lvl="1"/>
            <a:r>
              <a:rPr lang="en-US" sz="3200" dirty="0">
                <a:latin typeface="Georgia" panose="02040502050405020303" pitchFamily="18" charset="0"/>
              </a:rPr>
              <a:t>Entity used to contain and/or receive information</a:t>
            </a:r>
            <a:endParaRPr lang="en-US" dirty="0">
              <a:latin typeface="Georgia" panose="02040502050405020303" pitchFamily="18" charset="0"/>
            </a:endParaRPr>
          </a:p>
          <a:p>
            <a:pPr lvl="0"/>
            <a:endParaRPr lang="en-US" sz="3600" dirty="0">
              <a:latin typeface="Georgia" panose="02040502050405020303" pitchFamily="18" charset="0"/>
            </a:endParaRP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51509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Access Rights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>
                <a:latin typeface="Georgia" panose="02040502050405020303" pitchFamily="18" charset="0"/>
              </a:rPr>
              <a:t>Access right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Describes the way in which a subject may access an object</a:t>
            </a:r>
          </a:p>
          <a:p>
            <a:pPr lvl="0"/>
            <a:r>
              <a:rPr lang="en-US" sz="2800" dirty="0">
                <a:latin typeface="Georgia" panose="02040502050405020303" pitchFamily="18" charset="0"/>
                <a:cs typeface="Palatino Linotype (Body)"/>
              </a:rPr>
              <a:t>Could include: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Read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Write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Execute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Delete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  <a:cs typeface="Palatino Linotype (Body)"/>
              </a:rPr>
              <a:t>Create</a:t>
            </a:r>
          </a:p>
          <a:p>
            <a:pPr lvl="1"/>
            <a:r>
              <a:rPr lang="en-US" sz="2400" dirty="0">
                <a:latin typeface="Georgia" panose="02040502050405020303" pitchFamily="18" charset="0"/>
              </a:rPr>
              <a:t>Search </a:t>
            </a:r>
          </a:p>
          <a:p>
            <a:pPr lvl="1"/>
            <a:endParaRPr lang="en-US" sz="2400" dirty="0">
              <a:latin typeface="Georgia" panose="02040502050405020303" pitchFamily="18" charset="0"/>
              <a:cs typeface="Palatino Linotype (Body)"/>
            </a:endParaRPr>
          </a:p>
          <a:p>
            <a:endParaRPr lang="en-US" sz="2800" dirty="0">
              <a:latin typeface="Georgia" panose="02040502050405020303" pitchFamily="18" charset="0"/>
              <a:cs typeface="Palatino Linotype (Body)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000" dirty="0">
              <a:latin typeface="Georgia" panose="02040502050405020303" pitchFamily="18" charset="0"/>
            </a:endParaRPr>
          </a:p>
          <a:p>
            <a:pPr lvl="0"/>
            <a:endParaRPr lang="en-US" sz="2800" dirty="0">
              <a:latin typeface="Georgia" panose="02040502050405020303" pitchFamily="18" charset="0"/>
            </a:endParaRP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7533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UNIX File </a:t>
            </a:r>
            <a:r>
              <a:rPr lang="en-GB" dirty="0">
                <a:latin typeface="Georgia" panose="02040502050405020303" pitchFamily="18" charset="0"/>
              </a:rPr>
              <a:t>Access Control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>
                <a:latin typeface="Georgia" panose="02040502050405020303" pitchFamily="18" charset="0"/>
              </a:rPr>
              <a:t>UNIX files are administered using </a:t>
            </a:r>
            <a:r>
              <a:rPr lang="en-US" sz="2400" dirty="0" err="1">
                <a:latin typeface="Georgia" panose="02040502050405020303" pitchFamily="18" charset="0"/>
              </a:rPr>
              <a:t>inodes</a:t>
            </a:r>
            <a:r>
              <a:rPr lang="en-US" sz="2400" dirty="0">
                <a:latin typeface="Georgia" panose="02040502050405020303" pitchFamily="18" charset="0"/>
              </a:rPr>
              <a:t> (index nodes)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File attributes, permissions and control information are sorted in the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endParaRPr lang="en-US" sz="2000" dirty="0">
              <a:latin typeface="Georgia" panose="02040502050405020303" pitchFamily="18" charset="0"/>
            </a:endParaRP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On the disk there is an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r>
              <a:rPr lang="en-US" sz="2000" dirty="0">
                <a:latin typeface="Georgia" panose="02040502050405020303" pitchFamily="18" charset="0"/>
              </a:rPr>
              <a:t> table, or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r>
              <a:rPr lang="en-US" sz="2000" dirty="0">
                <a:latin typeface="Georgia" panose="02040502050405020303" pitchFamily="18" charset="0"/>
              </a:rPr>
              <a:t> list, that contains the </a:t>
            </a:r>
            <a:r>
              <a:rPr lang="en-US" sz="2000" dirty="0" err="1">
                <a:latin typeface="Georgia" panose="02040502050405020303" pitchFamily="18" charset="0"/>
              </a:rPr>
              <a:t>inodes</a:t>
            </a:r>
            <a:r>
              <a:rPr lang="en-US" sz="2000" dirty="0">
                <a:latin typeface="Georgia" panose="02040502050405020303" pitchFamily="18" charset="0"/>
              </a:rPr>
              <a:t> of all the files in the file system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When a file is opened its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r>
              <a:rPr lang="en-US" sz="2000" dirty="0">
                <a:latin typeface="Georgia" panose="02040502050405020303" pitchFamily="18" charset="0"/>
              </a:rPr>
              <a:t> is brought into main memory and stored in a memory resident </a:t>
            </a:r>
            <a:r>
              <a:rPr lang="en-US" sz="2000" dirty="0" err="1">
                <a:latin typeface="Georgia" panose="02040502050405020303" pitchFamily="18" charset="0"/>
              </a:rPr>
              <a:t>inode</a:t>
            </a:r>
            <a:r>
              <a:rPr lang="en-US" sz="2000" dirty="0">
                <a:latin typeface="Georgia" panose="02040502050405020303" pitchFamily="18" charset="0"/>
              </a:rPr>
              <a:t> table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Directories are structured in a hierarchical tree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May contain files and/or other directories</a:t>
            </a:r>
          </a:p>
          <a:p>
            <a:pPr lvl="0"/>
            <a:r>
              <a:rPr lang="en-US" sz="2400" dirty="0">
                <a:latin typeface="Georgia" panose="02040502050405020303" pitchFamily="18" charset="0"/>
              </a:rPr>
              <a:t>Contains file names plus pointers to associated </a:t>
            </a:r>
            <a:r>
              <a:rPr lang="en-US" sz="2400" dirty="0" err="1">
                <a:latin typeface="Georgia" panose="02040502050405020303" pitchFamily="18" charset="0"/>
              </a:rPr>
              <a:t>inodes</a:t>
            </a:r>
            <a:endParaRPr lang="en-US" sz="2400" dirty="0">
              <a:latin typeface="Georgia" panose="02040502050405020303" pitchFamily="18" charset="0"/>
            </a:endParaRPr>
          </a:p>
          <a:p>
            <a:pPr lvl="1"/>
            <a:endParaRPr lang="en-US" sz="2000" b="1" dirty="0">
              <a:latin typeface="Georgia" panose="02040502050405020303" pitchFamily="18" charset="0"/>
            </a:endParaRPr>
          </a:p>
          <a:p>
            <a:endParaRPr lang="en-US" sz="2400" dirty="0">
              <a:latin typeface="Georgia" panose="02040502050405020303" pitchFamily="18" charset="0"/>
            </a:endParaRPr>
          </a:p>
          <a:p>
            <a:pPr lvl="0"/>
            <a:endParaRPr lang="en-US" sz="2400" dirty="0">
              <a:latin typeface="Georgia" panose="02040502050405020303" pitchFamily="18" charset="0"/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4601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UNIX File </a:t>
            </a:r>
            <a:r>
              <a:rPr lang="en-GB" dirty="0">
                <a:latin typeface="Georgia" panose="02040502050405020303" pitchFamily="18" charset="0"/>
              </a:rPr>
              <a:t>Access Control</a:t>
            </a:r>
            <a:endParaRPr lang="en-GB" dirty="0"/>
          </a:p>
        </p:txBody>
      </p:sp>
      <p:pic>
        <p:nvPicPr>
          <p:cNvPr id="4" name="Picture 3" descr="f5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6" t="2503" r="3670" b="57956"/>
          <a:stretch/>
        </p:blipFill>
        <p:spPr>
          <a:xfrm>
            <a:off x="4067944" y="1803765"/>
            <a:ext cx="5004048" cy="36724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/>
          <p:cNvSpPr/>
          <p:nvPr/>
        </p:nvSpPr>
        <p:spPr>
          <a:xfrm>
            <a:off x="251520" y="1593255"/>
            <a:ext cx="3600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Unique user identification number (user ID)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Member of a primary group identified by a group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Belongs to a specific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12 protection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Georgia" panose="02040502050405020303" pitchFamily="18" charset="0"/>
              </a:rPr>
              <a:t>Specify read, write, and execute permission for the owner of the file, members of the group and all other users</a:t>
            </a:r>
          </a:p>
        </p:txBody>
      </p:sp>
    </p:spTree>
    <p:extLst>
      <p:ext uri="{BB962C8B-B14F-4D97-AF65-F5344CB8AC3E}">
        <p14:creationId xmlns:p14="http://schemas.microsoft.com/office/powerpoint/2010/main" val="93012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UNIX File </a:t>
            </a:r>
            <a:r>
              <a:rPr lang="en-GB" dirty="0">
                <a:latin typeface="Georgia" panose="02040502050405020303" pitchFamily="18" charset="0"/>
              </a:rPr>
              <a:t>Access Control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556792"/>
            <a:ext cx="8229600" cy="48768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2800" dirty="0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“Set user ID”(SetUID)</a:t>
            </a:r>
            <a:endParaRPr lang="en-US" sz="2000" dirty="0">
              <a:latin typeface="Georgia" panose="02040502050405020303" pitchFamily="18" charset="0"/>
              <a:ea typeface="ＭＳ Ｐゴシック" pitchFamily="-1" charset="-128"/>
              <a:cs typeface="ＭＳ Ｐゴシック" pitchFamily="-1" charset="-128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2800" dirty="0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 “Set group ID”(SetGID)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System temporarily uses rights of the file owner/group in addition to the real user’s rights when making access control decisions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Enables privileged programs to access files/resources not generally accessible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2800" dirty="0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Sticky bit 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When applied to a directory it specifies that only the owner of any file in the directory can rename, move, or delete that file</a:t>
            </a:r>
          </a:p>
          <a:p>
            <a:pPr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2800" dirty="0" err="1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Superuser</a:t>
            </a:r>
            <a:r>
              <a:rPr lang="en-US" sz="2800" dirty="0">
                <a:latin typeface="Georgia" panose="02040502050405020303" pitchFamily="18" charset="0"/>
                <a:ea typeface="ＭＳ Ｐゴシック" pitchFamily="-1" charset="-128"/>
                <a:cs typeface="ＭＳ Ｐゴシック" pitchFamily="-1" charset="-128"/>
              </a:rPr>
              <a:t> 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Is exempt from usual access control restrictions</a:t>
            </a:r>
          </a:p>
          <a:p>
            <a:pPr lvl="1" eaLnBrk="1" hangingPunct="1">
              <a:lnSpc>
                <a:spcPct val="90000"/>
              </a:lnSpc>
              <a:buSzPct val="70000"/>
              <a:buFont typeface="Wingdings" pitchFamily="-1" charset="2"/>
              <a:buChar char=""/>
              <a:defRPr/>
            </a:pPr>
            <a:r>
              <a:rPr lang="en-US" sz="1800" dirty="0">
                <a:latin typeface="Georgia" panose="02040502050405020303" pitchFamily="18" charset="0"/>
              </a:rPr>
              <a:t>Has system-wide access</a:t>
            </a:r>
          </a:p>
        </p:txBody>
      </p:sp>
    </p:spTree>
    <p:extLst>
      <p:ext uri="{BB962C8B-B14F-4D97-AF65-F5344CB8AC3E}">
        <p14:creationId xmlns:p14="http://schemas.microsoft.com/office/powerpoint/2010/main" val="18109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Unix Access Control Lists (ACLs)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>
                <a:latin typeface="Georgia" panose="02040502050405020303" pitchFamily="18" charset="0"/>
              </a:rPr>
              <a:t>Modern UNIX systems support ACLs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FreeBSD, </a:t>
            </a:r>
            <a:r>
              <a:rPr lang="en-US" sz="1800" dirty="0" err="1">
                <a:latin typeface="Georgia" panose="02040502050405020303" pitchFamily="18" charset="0"/>
              </a:rPr>
              <a:t>OpenBSD</a:t>
            </a:r>
            <a:r>
              <a:rPr lang="en-US" sz="1800" dirty="0">
                <a:latin typeface="Georgia" panose="02040502050405020303" pitchFamily="18" charset="0"/>
              </a:rPr>
              <a:t>, Linux, Solaris</a:t>
            </a:r>
          </a:p>
          <a:p>
            <a:pPr lvl="0"/>
            <a:r>
              <a:rPr lang="en-US" sz="2000" dirty="0">
                <a:latin typeface="Georgia" panose="02040502050405020303" pitchFamily="18" charset="0"/>
              </a:rPr>
              <a:t>FreeBSD</a:t>
            </a:r>
          </a:p>
          <a:p>
            <a:pPr lvl="1"/>
            <a:r>
              <a:rPr lang="en-US" sz="1800" dirty="0" err="1">
                <a:latin typeface="Georgia" panose="02040502050405020303" pitchFamily="18" charset="0"/>
              </a:rPr>
              <a:t>Setfacl</a:t>
            </a:r>
            <a:r>
              <a:rPr lang="en-US" sz="1800" dirty="0">
                <a:latin typeface="Georgia" panose="02040502050405020303" pitchFamily="18" charset="0"/>
              </a:rPr>
              <a:t> command assigns a list of UNIX user IDs and groups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Any number of users and groups can be associated with a file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Read, write, execute protection bits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A file does not need to have an ACL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Includes an additional protection bit that indicates whether the file has an extended ACL</a:t>
            </a:r>
          </a:p>
          <a:p>
            <a:pPr lvl="0"/>
            <a:r>
              <a:rPr lang="en-US" sz="2000" dirty="0">
                <a:latin typeface="Georgia" panose="02040502050405020303" pitchFamily="18" charset="0"/>
              </a:rPr>
              <a:t>When a process requests access to a file system object two steps are performed: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Step 1 selects the most appropriate ACL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Step 2 checks if the matching entry contains sufficient permissions</a:t>
            </a:r>
          </a:p>
          <a:p>
            <a:pPr lvl="0"/>
            <a:endParaRPr lang="en-US" sz="2000" dirty="0">
              <a:latin typeface="Georgia" panose="02040502050405020303" pitchFamily="18" charset="0"/>
            </a:endParaRPr>
          </a:p>
          <a:p>
            <a:endParaRPr lang="en-US" sz="2000" dirty="0">
              <a:latin typeface="Georgia" panose="02040502050405020303" pitchFamily="18" charset="0"/>
            </a:endParaRP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7050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Extended Access Control List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6768752" cy="425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Users, Roles and Resources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196752"/>
            <a:ext cx="4176464" cy="470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3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18478</TotalTime>
  <Words>1867</Words>
  <Application>Microsoft Office PowerPoint</Application>
  <PresentationFormat>On-screen Show (4:3)</PresentationFormat>
  <Paragraphs>368</Paragraphs>
  <Slides>60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Times New Roman</vt:lpstr>
      <vt:lpstr>Tahoma</vt:lpstr>
      <vt:lpstr>Courier New</vt:lpstr>
      <vt:lpstr>Wingdings</vt:lpstr>
      <vt:lpstr>Georgia</vt:lpstr>
      <vt:lpstr>Default Design</vt:lpstr>
      <vt:lpstr>Lecture 8 - Authentication and access control</vt:lpstr>
      <vt:lpstr>Authentication Definition</vt:lpstr>
      <vt:lpstr>Authentication</vt:lpstr>
      <vt:lpstr>Authentication Process</vt:lpstr>
      <vt:lpstr>Something You Know</vt:lpstr>
      <vt:lpstr>Password Types</vt:lpstr>
      <vt:lpstr>Password Storage</vt:lpstr>
      <vt:lpstr>Adding a new password</vt:lpstr>
      <vt:lpstr>Verifying a password</vt:lpstr>
      <vt:lpstr>Password Vulnerabilities</vt:lpstr>
      <vt:lpstr>Password Cracking</vt:lpstr>
      <vt:lpstr>Password Cracking</vt:lpstr>
      <vt:lpstr>Modern Approaches</vt:lpstr>
      <vt:lpstr>Correct Password Guesses</vt:lpstr>
      <vt:lpstr>Password File Access Control</vt:lpstr>
      <vt:lpstr>Password Selection Strategies</vt:lpstr>
      <vt:lpstr>Password Selection Strategies</vt:lpstr>
      <vt:lpstr>Proactive Password Checking</vt:lpstr>
      <vt:lpstr>Biometrics: Something You Are</vt:lpstr>
      <vt:lpstr>Problems with Biometrics</vt:lpstr>
      <vt:lpstr> Biometric Authentication</vt:lpstr>
      <vt:lpstr>Biometrics – Cost vs. Accuracy</vt:lpstr>
      <vt:lpstr>Authentication Process</vt:lpstr>
      <vt:lpstr>Biometric Matching</vt:lpstr>
      <vt:lpstr>Tokens: Something You Have</vt:lpstr>
      <vt:lpstr>Types of Cards Used as Tokens </vt:lpstr>
      <vt:lpstr>Memory Cards</vt:lpstr>
      <vt:lpstr>Smart Tokens</vt:lpstr>
      <vt:lpstr>Risk Assessment for User Authentication</vt:lpstr>
      <vt:lpstr>Assurance Level</vt:lpstr>
      <vt:lpstr>Levels of Assurance</vt:lpstr>
      <vt:lpstr>Potential Impact</vt:lpstr>
      <vt:lpstr>PowerPoint Presentation</vt:lpstr>
      <vt:lpstr>Remote User Authentication</vt:lpstr>
      <vt:lpstr>Authentication Security Issues</vt:lpstr>
      <vt:lpstr>Authentication Security Issues</vt:lpstr>
      <vt:lpstr>Authentication Attack Mitigation</vt:lpstr>
      <vt:lpstr>Authentication Attack Mitigation</vt:lpstr>
      <vt:lpstr>Authentication Summary</vt:lpstr>
      <vt:lpstr>Part 2- Access control</vt:lpstr>
      <vt:lpstr>What we will cover</vt:lpstr>
      <vt:lpstr>Access Control Principles</vt:lpstr>
      <vt:lpstr>Access Control</vt:lpstr>
      <vt:lpstr>Access Policies</vt:lpstr>
      <vt:lpstr>Implementing Access Control</vt:lpstr>
      <vt:lpstr>Access Control Policies</vt:lpstr>
      <vt:lpstr>Access Control Policies</vt:lpstr>
      <vt:lpstr>Discretionary Access Control (DAC) </vt:lpstr>
      <vt:lpstr>Access Control Directory</vt:lpstr>
      <vt:lpstr>Access Control Matrix</vt:lpstr>
      <vt:lpstr>Access Control List</vt:lpstr>
      <vt:lpstr>Access Control Relationships</vt:lpstr>
      <vt:lpstr>Subjects and Objects</vt:lpstr>
      <vt:lpstr>Access Rights</vt:lpstr>
      <vt:lpstr>UNIX File Access Control</vt:lpstr>
      <vt:lpstr>UNIX File Access Control</vt:lpstr>
      <vt:lpstr>UNIX File Access Control</vt:lpstr>
      <vt:lpstr>Unix Access Control Lists (ACLs)</vt:lpstr>
      <vt:lpstr>Extended Access Control List</vt:lpstr>
      <vt:lpstr>Users, Roles and Resources</vt:lpstr>
    </vt:vector>
  </TitlesOfParts>
  <Company>Private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John Poulton</dc:creator>
  <cp:lastModifiedBy>Nigel Houlden</cp:lastModifiedBy>
  <cp:revision>442</cp:revision>
  <cp:lastPrinted>2012-02-23T08:07:00Z</cp:lastPrinted>
  <dcterms:created xsi:type="dcterms:W3CDTF">2000-02-08T12:17:34Z</dcterms:created>
  <dcterms:modified xsi:type="dcterms:W3CDTF">2020-12-07T11:48:00Z</dcterms:modified>
</cp:coreProperties>
</file>