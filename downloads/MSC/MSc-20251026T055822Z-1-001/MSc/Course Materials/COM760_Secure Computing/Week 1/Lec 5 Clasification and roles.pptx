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7" r:id="rId3"/>
  </p:sldMasterIdLst>
  <p:notesMasterIdLst>
    <p:notesMasterId r:id="rId35"/>
  </p:notesMasterIdLst>
  <p:sldIdLst>
    <p:sldId id="287"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6" r:id="rId23"/>
    <p:sldId id="275" r:id="rId24"/>
    <p:sldId id="277" r:id="rId25"/>
    <p:sldId id="278" r:id="rId26"/>
    <p:sldId id="279" r:id="rId27"/>
    <p:sldId id="280" r:id="rId28"/>
    <p:sldId id="282" r:id="rId29"/>
    <p:sldId id="281" r:id="rId30"/>
    <p:sldId id="283" r:id="rId31"/>
    <p:sldId id="284" r:id="rId32"/>
    <p:sldId id="285" r:id="rId33"/>
    <p:sldId id="28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2F033D-EF93-4760-ADEA-A30DE2492952}" type="datetimeFigureOut">
              <a:rPr lang="en-GB" smtClean="0"/>
              <a:t>19/10/2020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EF72B2-1A71-4E26-B305-95B33C726451}" type="slidenum">
              <a:rPr lang="en-GB" smtClean="0"/>
              <a:t>‹#›</a:t>
            </a:fld>
            <a:endParaRPr lang="en-GB"/>
          </a:p>
        </p:txBody>
      </p:sp>
    </p:spTree>
    <p:extLst>
      <p:ext uri="{BB962C8B-B14F-4D97-AF65-F5344CB8AC3E}">
        <p14:creationId xmlns:p14="http://schemas.microsoft.com/office/powerpoint/2010/main" val="772046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0" fontAlgn="base" hangingPunct="0">
              <a:spcBef>
                <a:spcPct val="0"/>
              </a:spcBef>
              <a:spcAft>
                <a:spcPct val="0"/>
              </a:spcAft>
              <a:defRPr/>
            </a:pPr>
            <a:fld id="{71E9B611-79A5-4063-8624-6013F60C0F92}" type="slidenum">
              <a:rPr lang="en-GB" altLang="en-US" sz="1200" smtClean="0">
                <a:solidFill>
                  <a:srgbClr val="000000"/>
                </a:solidFill>
                <a:latin typeface="Times New Roman" panose="02020603050405020304" pitchFamily="18" charset="0"/>
              </a:rPr>
              <a:pPr eaLnBrk="0" fontAlgn="base" hangingPunct="0">
                <a:spcBef>
                  <a:spcPct val="0"/>
                </a:spcBef>
                <a:spcAft>
                  <a:spcPct val="0"/>
                </a:spcAft>
                <a:defRPr/>
              </a:pPr>
              <a:t>1</a:t>
            </a:fld>
            <a:endParaRPr lang="en-GB" altLang="en-US" sz="12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648564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3764734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1802040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2384778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3164106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4292022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30833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3217088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2783957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4151904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146189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1D0C211-B170-4A83-AE31-C2824BC90560}" type="datetimeFigureOut">
              <a:rPr lang="en-GB" smtClean="0"/>
              <a:t>19/10/2020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B60C789-B5D0-47CB-8612-70654A5367B8}" type="slidenum">
              <a:rPr lang="en-GB" smtClean="0"/>
              <a:t>‹#›</a:t>
            </a:fld>
            <a:endParaRPr lang="en-GB"/>
          </a:p>
        </p:txBody>
      </p:sp>
    </p:spTree>
    <p:extLst>
      <p:ext uri="{BB962C8B-B14F-4D97-AF65-F5344CB8AC3E}">
        <p14:creationId xmlns:p14="http://schemas.microsoft.com/office/powerpoint/2010/main" val="2936706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14940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c</a:t>
            </a:r>
            <a:r>
              <a:rPr kumimoji="0" lang="en-GB" sz="4000" b="0" i="0" u="none" strike="noStrike" kern="1200" cap="none" spc="0" normalizeH="0" baseline="0" noProof="0">
                <a:ln>
                  <a:noFill/>
                </a:ln>
                <a:solidFill>
                  <a:srgbClr val="FFFFFF"/>
                </a:solidFill>
                <a:effectLst/>
                <a:uLnTx/>
                <a:uFillTx/>
                <a:latin typeface="Georgia" pitchFamily="18" charset="0"/>
                <a:ea typeface="+mn-ea"/>
                <a:cs typeface="+mn-cs"/>
              </a:rPr>
              <a:t>@</a:t>
            </a: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g</a:t>
            </a:r>
          </a:p>
        </p:txBody>
      </p:sp>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1919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722767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828826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222997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56533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97083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135586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837900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433622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261182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874934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r>
              <a:rPr lang="en-US" noProof="0"/>
              <a:t>Click icon to add table</a:t>
            </a:r>
            <a:endParaRPr lang="en-GB" noProof="0"/>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59777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765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6EEE6291-FC66-4C7E-B805-791E609FC7B6}"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839843454"/>
      </p:ext>
    </p:extLst>
  </p:cSld>
  <p:clrMapOvr>
    <a:masterClrMapping/>
  </p:clrMapOvr>
  <p:transition advTm="5000">
    <p:dissolv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0" fontAlgn="base" hangingPunct="0">
              <a:spcBef>
                <a:spcPct val="0"/>
              </a:spcBef>
              <a:spcAft>
                <a:spcPct val="0"/>
              </a:spcAft>
              <a:defRPr/>
            </a:pPr>
            <a:r>
              <a:rPr lang="en-GB" sz="6000">
                <a:solidFill>
                  <a:srgbClr val="FFFFFF"/>
                </a:solidFill>
                <a:latin typeface="Georgia" pitchFamily="18" charset="0"/>
              </a:rPr>
              <a:t>c</a:t>
            </a:r>
            <a:r>
              <a:rPr lang="en-GB" sz="4000">
                <a:solidFill>
                  <a:srgbClr val="FFFFFF"/>
                </a:solidFill>
                <a:latin typeface="Georgia" pitchFamily="18" charset="0"/>
              </a:rPr>
              <a:t>@</a:t>
            </a:r>
            <a:r>
              <a:rPr lang="en-GB" sz="6000">
                <a:solidFill>
                  <a:srgbClr val="FFFFFF"/>
                </a:solidFill>
                <a:latin typeface="Georgia" pitchFamily="18" charset="0"/>
              </a:rPr>
              <a:t>g</a:t>
            </a:r>
          </a:p>
        </p:txBody>
      </p:sp>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defRPr/>
            </a:pPr>
            <a:fld id="{1FCC69CA-3F23-44CA-945B-0FA4477283F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468938812"/>
      </p:ext>
    </p:extLst>
  </p:cSld>
  <p:clrMapOvr>
    <a:masterClrMapping/>
  </p:clrMapOvr>
  <p:transition advTm="5000">
    <p:dissolv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91377758-8C37-4DF1-97AB-37A77D625D27}"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930400980"/>
      </p:ext>
    </p:extLst>
  </p:cSld>
  <p:clrMapOvr>
    <a:masterClrMapping/>
  </p:clrMapOvr>
  <p:transition advTm="5000">
    <p:dissolv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AFDF3D6-0B4F-41BB-A2E9-5EE288C12E7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364323506"/>
      </p:ext>
    </p:extLst>
  </p:cSld>
  <p:clrMapOvr>
    <a:masterClrMapping/>
  </p:clrMapOvr>
  <p:transition advTm="5000">
    <p:dissolv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B4005AFC-2604-42A5-BE75-ACBC63D550FA}"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913679900"/>
      </p:ext>
    </p:extLst>
  </p:cSld>
  <p:clrMapOvr>
    <a:masterClrMapping/>
  </p:clrMapOvr>
  <p:transition advTm="5000">
    <p:dissolv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C1E6357F-E285-4B03-9226-48D613FBC57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590078748"/>
      </p:ext>
    </p:extLst>
  </p:cSld>
  <p:clrMapOvr>
    <a:masterClrMapping/>
  </p:clrMapOvr>
  <p:transition advTm="5000">
    <p:dissolv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3C15E10C-CC7A-417A-A2EE-23A0EFFC8E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457009376"/>
      </p:ext>
    </p:extLst>
  </p:cSld>
  <p:clrMapOvr>
    <a:masterClrMapping/>
  </p:clrMapOvr>
  <p:transition advTm="5000">
    <p:dissolv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509E4A2D-E46C-4766-8C2E-027EBC5B508C}"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018010291"/>
      </p:ext>
    </p:extLst>
  </p:cSld>
  <p:clrMapOvr>
    <a:masterClrMapping/>
  </p:clrMapOvr>
  <p:transition advTm="5000">
    <p:dissolv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137E9A74-7737-4008-93AE-82F7F5FA4879}"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699524509"/>
      </p:ext>
    </p:extLst>
  </p:cSld>
  <p:clrMapOvr>
    <a:masterClrMapping/>
  </p:clrMapOvr>
  <p:transition advTm="5000">
    <p:dissolv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8B50079-DBA3-4EC3-9B8C-5C8B3B58FB4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52229096"/>
      </p:ext>
    </p:extLst>
  </p:cSld>
  <p:clrMapOvr>
    <a:masterClrMapping/>
  </p:clrMapOvr>
  <p:transition advTm="5000">
    <p:dissolv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245E8AE7-88A0-4549-A1EA-61CBAAEBA1F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980914381"/>
      </p:ext>
    </p:extLst>
  </p:cSld>
  <p:clrMapOvr>
    <a:masterClrMapping/>
  </p:clrMapOvr>
  <p:transition advTm="5000">
    <p:dissolv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A3B7A2F1-7C63-4914-A25E-31B95FAF13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66267676"/>
      </p:ext>
    </p:extLst>
  </p:cSld>
  <p:clrMapOvr>
    <a:masterClrMapping/>
  </p:clrMapOvr>
  <p:transition advTm="5000">
    <p:dissolv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58EA372-0C85-4E5C-A78F-2E1B1B18CAB2}"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426090857"/>
      </p:ext>
    </p:extLst>
  </p:cSld>
  <p:clrMapOvr>
    <a:masterClrMapping/>
  </p:clrMapOvr>
  <p:transition advTm="5000">
    <p:dissolv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eaLnBrk="0" fontAlgn="base" hangingPunct="0">
              <a:spcBef>
                <a:spcPct val="0"/>
              </a:spcBef>
              <a:spcAft>
                <a:spcPct val="0"/>
              </a:spcAft>
            </a:pPr>
            <a:fld id="{17DD356B-E5CD-44F2-850A-F898D624950E}" type="datetime1">
              <a:rPr lang="en-US" smtClean="0">
                <a:solidFill>
                  <a:srgbClr val="000000"/>
                </a:solidFill>
                <a:latin typeface="Arial"/>
              </a:rPr>
              <a:pPr eaLnBrk="0" fontAlgn="base" hangingPunct="0">
                <a:spcBef>
                  <a:spcPct val="0"/>
                </a:spcBef>
                <a:spcAft>
                  <a:spcPct val="0"/>
                </a:spcAft>
              </a:pPr>
              <a:t>10/19/2020</a:t>
            </a:fld>
            <a:endParaRPr lang="en-US">
              <a:solidFill>
                <a:srgbClr val="000000"/>
              </a:solidFill>
              <a:latin typeface="Arial"/>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pPr>
            <a:r>
              <a:rPr lang="en-US">
                <a:solidFill>
                  <a:srgbClr val="000000"/>
                </a:solidFill>
                <a:latin typeface="Arial"/>
              </a:rPr>
              <a:t>From Security in Computing, Fifth Edition, by Charles P. Pfleeger, et al. (ISBN: 9780134085043). Copyright 2015 by Pearson Education, Inc. All rights reserved.</a:t>
            </a:r>
            <a:endParaRPr lang="en-US" dirty="0">
              <a:solidFill>
                <a:srgbClr val="000000"/>
              </a:solidFill>
              <a:latin typeface="Arial"/>
            </a:endParaRPr>
          </a:p>
        </p:txBody>
      </p:sp>
      <p:sp>
        <p:nvSpPr>
          <p:cNvPr id="6" name="Slide Number Placeholder 5"/>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smtClean="0">
                <a:solidFill>
                  <a:srgbClr val="000000"/>
                </a:solidFill>
                <a:latin typeface="Arial"/>
              </a:rPr>
              <a:pPr eaLnBrk="0" fontAlgn="base" hangingPunct="0">
                <a:spcBef>
                  <a:spcPct val="0"/>
                </a:spcBef>
                <a:spcAft>
                  <a:spcPct val="0"/>
                </a:spcAft>
              </a:pPr>
              <a:t>‹#›</a:t>
            </a:fld>
            <a:endParaRPr lang="en-US">
              <a:solidFill>
                <a:srgbClr val="000000"/>
              </a:solidFill>
              <a:latin typeface="Arial"/>
            </a:endParaRPr>
          </a:p>
        </p:txBody>
      </p:sp>
    </p:spTree>
    <p:extLst>
      <p:ext uri="{BB962C8B-B14F-4D97-AF65-F5344CB8AC3E}">
        <p14:creationId xmlns:p14="http://schemas.microsoft.com/office/powerpoint/2010/main" val="1646716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1.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Tree>
    <p:extLst>
      <p:ext uri="{BB962C8B-B14F-4D97-AF65-F5344CB8AC3E}">
        <p14:creationId xmlns:p14="http://schemas.microsoft.com/office/powerpoint/2010/main" val="1712656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80441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defRPr>
      </a:lvl2pPr>
      <a:lvl3pPr algn="ctr" rtl="0" eaLnBrk="1" fontAlgn="base" hangingPunct="1">
        <a:spcBef>
          <a:spcPct val="0"/>
        </a:spcBef>
        <a:spcAft>
          <a:spcPct val="0"/>
        </a:spcAft>
        <a:defRPr sz="4400">
          <a:solidFill>
            <a:schemeClr val="tx2"/>
          </a:solidFill>
          <a:latin typeface="Times New Roman" pitchFamily="18" charset="0"/>
        </a:defRPr>
      </a:lvl3pPr>
      <a:lvl4pPr algn="ctr" rtl="0" eaLnBrk="1" fontAlgn="base" hangingPunct="1">
        <a:spcBef>
          <a:spcPct val="0"/>
        </a:spcBef>
        <a:spcAft>
          <a:spcPct val="0"/>
        </a:spcAft>
        <a:defRPr sz="4400">
          <a:solidFill>
            <a:schemeClr val="tx2"/>
          </a:solidFill>
          <a:latin typeface="Times New Roman" pitchFamily="18" charset="0"/>
        </a:defRPr>
      </a:lvl4pPr>
      <a:lvl5pPr algn="ctr" rtl="0" eaLnBrk="1" fontAlgn="base" hangingPunct="1">
        <a:spcBef>
          <a:spcPct val="0"/>
        </a:spcBef>
        <a:spcAft>
          <a:spcPct val="0"/>
        </a:spcAft>
        <a:defRPr sz="4400">
          <a:solidFill>
            <a:schemeClr val="tx2"/>
          </a:solidFill>
          <a:latin typeface="Times New Roman" pitchFamily="18"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818195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transition advTm="5000">
    <p:dissolve/>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631950" y="869950"/>
            <a:ext cx="8928100" cy="1728788"/>
          </a:xfrm>
        </p:spPr>
        <p:txBody>
          <a:bodyPr/>
          <a:lstStyle/>
          <a:p>
            <a:pPr algn="r"/>
            <a:r>
              <a:rPr lang="en-US" altLang="en-US" sz="5400">
                <a:latin typeface="Georgia" panose="02040502050405020303" pitchFamily="18" charset="0"/>
              </a:rPr>
              <a:t>Lecture 5 </a:t>
            </a:r>
            <a:r>
              <a:rPr lang="en-US" altLang="en-US" sz="5400" dirty="0">
                <a:latin typeface="Georgia" panose="02040502050405020303" pitchFamily="18" charset="0"/>
              </a:rPr>
              <a:t>– </a:t>
            </a:r>
            <a:r>
              <a:rPr lang="en-GB" sz="5400" dirty="0"/>
              <a:t>Classification and Roles</a:t>
            </a:r>
            <a:endParaRPr lang="en-GB" altLang="en-US" sz="5400" dirty="0">
              <a:latin typeface="Georgia" panose="02040502050405020303" pitchFamily="18" charset="0"/>
            </a:endParaRPr>
          </a:p>
        </p:txBody>
      </p:sp>
      <p:sp>
        <p:nvSpPr>
          <p:cNvPr id="6147" name="TextBox 3"/>
          <p:cNvSpPr txBox="1">
            <a:spLocks noChangeArrowheads="1"/>
          </p:cNvSpPr>
          <p:nvPr/>
        </p:nvSpPr>
        <p:spPr bwMode="auto">
          <a:xfrm>
            <a:off x="1631950" y="2714626"/>
            <a:ext cx="892810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COM744: Security and Risk Management</a:t>
            </a:r>
          </a:p>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Nigel Houlden / Jason Davies</a:t>
            </a:r>
          </a:p>
          <a:p>
            <a:pPr eaLnBrk="0" fontAlgn="base" hangingPunct="0">
              <a:spcBef>
                <a:spcPct val="0"/>
              </a:spcBef>
              <a:spcAft>
                <a:spcPct val="0"/>
              </a:spcAft>
              <a:buFontTx/>
              <a:buNone/>
            </a:pPr>
            <a:endParaRPr lang="en-GB" altLang="en-US" sz="12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endParaRPr lang="en-GB" altLang="en-US" sz="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r>
              <a:rPr lang="en-GB" altLang="en-US" sz="1700" dirty="0">
                <a:solidFill>
                  <a:srgbClr val="000000"/>
                </a:solidFill>
                <a:latin typeface="Courier New" panose="02070309020205020404" pitchFamily="49" charset="0"/>
                <a:cs typeface="Courier New" panose="02070309020205020404" pitchFamily="49" charset="0"/>
              </a:rPr>
              <a:t>n.houlden@glyndwr.ac.uk </a:t>
            </a:r>
            <a:r>
              <a:rPr lang="en-GB" altLang="en-US" sz="1700">
                <a:solidFill>
                  <a:srgbClr val="000000"/>
                </a:solidFill>
                <a:latin typeface="Courier New" panose="02070309020205020404" pitchFamily="49" charset="0"/>
                <a:cs typeface="Courier New" panose="02070309020205020404" pitchFamily="49" charset="0"/>
              </a:rPr>
              <a:t>/ </a:t>
            </a:r>
            <a:r>
              <a:rPr lang="en-GB" altLang="en-US" sz="1800">
                <a:solidFill>
                  <a:srgbClr val="000000"/>
                </a:solidFill>
                <a:latin typeface="Courier New" panose="02070309020205020404" pitchFamily="49" charset="0"/>
                <a:cs typeface="Courier New" panose="02070309020205020404" pitchFamily="49" charset="0"/>
              </a:rPr>
              <a:t>Jason.Davies@glyndwr.ac.uk</a:t>
            </a:r>
            <a:endParaRPr lang="en-GB" altLang="en-US" sz="17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462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Data Classification</a:t>
            </a:r>
          </a:p>
        </p:txBody>
      </p:sp>
      <p:sp>
        <p:nvSpPr>
          <p:cNvPr id="3" name="Content Placeholder 2"/>
          <p:cNvSpPr>
            <a:spLocks noGrp="1"/>
          </p:cNvSpPr>
          <p:nvPr>
            <p:ph idx="1"/>
          </p:nvPr>
        </p:nvSpPr>
        <p:spPr>
          <a:xfrm>
            <a:off x="914400" y="1180850"/>
            <a:ext cx="10363200" cy="4114800"/>
          </a:xfrm>
        </p:spPr>
        <p:txBody>
          <a:bodyPr/>
          <a:lstStyle/>
          <a:p>
            <a:r>
              <a:rPr lang="en-US" dirty="0"/>
              <a:t>Data classification, or categorization, is the primary means by which data is protected based on its need for secrecy, sensitivity, or confidentiality. </a:t>
            </a:r>
          </a:p>
          <a:p>
            <a:r>
              <a:rPr lang="en-US" dirty="0"/>
              <a:t>It is inefficient to treat all data the same way (some data items need more security than others!) </a:t>
            </a:r>
          </a:p>
          <a:p>
            <a:r>
              <a:rPr lang="en-US" dirty="0"/>
              <a:t>Securing everything at a low security level means sensitive data is easily accessible. </a:t>
            </a:r>
          </a:p>
          <a:p>
            <a:r>
              <a:rPr lang="en-US" dirty="0"/>
              <a:t>Securing everything at a high security level is too expensive and restricts access to unclassified, noncritical data.</a:t>
            </a:r>
            <a:endParaRPr lang="en-GB" dirty="0"/>
          </a:p>
        </p:txBody>
      </p:sp>
    </p:spTree>
    <p:extLst>
      <p:ext uri="{BB962C8B-B14F-4D97-AF65-F5344CB8AC3E}">
        <p14:creationId xmlns:p14="http://schemas.microsoft.com/office/powerpoint/2010/main" val="5288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Data Classification</a:t>
            </a:r>
            <a:endParaRPr lang="en-GB" sz="3600" dirty="0"/>
          </a:p>
        </p:txBody>
      </p:sp>
      <p:sp>
        <p:nvSpPr>
          <p:cNvPr id="3" name="Content Placeholder 2"/>
          <p:cNvSpPr>
            <a:spLocks noGrp="1"/>
          </p:cNvSpPr>
          <p:nvPr>
            <p:ph idx="1"/>
          </p:nvPr>
        </p:nvSpPr>
        <p:spPr>
          <a:xfrm>
            <a:off x="914400" y="978568"/>
            <a:ext cx="10363200" cy="4493545"/>
          </a:xfrm>
        </p:spPr>
        <p:txBody>
          <a:bodyPr/>
          <a:lstStyle/>
          <a:p>
            <a:r>
              <a:rPr lang="en-US" sz="2400" dirty="0"/>
              <a:t>Used to determine how much effort, money, and resources are allocated to protect the data and control access to it. </a:t>
            </a:r>
          </a:p>
          <a:p>
            <a:r>
              <a:rPr lang="en-US" sz="2400" dirty="0"/>
              <a:t>The process of organizing items, objects, subjects, and so on into groups, categories, or collections with similarities. </a:t>
            </a:r>
          </a:p>
          <a:p>
            <a:r>
              <a:rPr lang="en-US" sz="2400" dirty="0"/>
              <a:t>These similarities could include: </a:t>
            </a:r>
          </a:p>
          <a:p>
            <a:pPr lvl="1">
              <a:buFont typeface="Arial" panose="020B0604020202020204" pitchFamily="34" charset="0"/>
              <a:buChar char="•"/>
            </a:pPr>
            <a:r>
              <a:rPr lang="en-US" sz="2000" dirty="0"/>
              <a:t>value, </a:t>
            </a:r>
          </a:p>
          <a:p>
            <a:pPr lvl="1">
              <a:buFont typeface="Arial" panose="020B0604020202020204" pitchFamily="34" charset="0"/>
              <a:buChar char="•"/>
            </a:pPr>
            <a:r>
              <a:rPr lang="en-US" sz="2000" dirty="0"/>
              <a:t>cost, </a:t>
            </a:r>
          </a:p>
          <a:p>
            <a:pPr lvl="1">
              <a:buFont typeface="Arial" panose="020B0604020202020204" pitchFamily="34" charset="0"/>
              <a:buChar char="•"/>
            </a:pPr>
            <a:r>
              <a:rPr lang="en-US" sz="2000" dirty="0"/>
              <a:t>sensitivity, </a:t>
            </a:r>
          </a:p>
          <a:p>
            <a:pPr lvl="1">
              <a:buFont typeface="Arial" panose="020B0604020202020204" pitchFamily="34" charset="0"/>
              <a:buChar char="•"/>
            </a:pPr>
            <a:r>
              <a:rPr lang="en-US" sz="2000" dirty="0"/>
              <a:t>risk, </a:t>
            </a:r>
          </a:p>
          <a:p>
            <a:pPr lvl="1">
              <a:buFont typeface="Arial" panose="020B0604020202020204" pitchFamily="34" charset="0"/>
              <a:buChar char="•"/>
            </a:pPr>
            <a:r>
              <a:rPr lang="en-US" sz="2000" dirty="0"/>
              <a:t>vulnerability, </a:t>
            </a:r>
          </a:p>
          <a:p>
            <a:pPr lvl="1">
              <a:buFont typeface="Arial" panose="020B0604020202020204" pitchFamily="34" charset="0"/>
              <a:buChar char="•"/>
            </a:pPr>
            <a:r>
              <a:rPr lang="en-US" sz="2000" dirty="0"/>
              <a:t>privilege, </a:t>
            </a:r>
          </a:p>
          <a:p>
            <a:pPr lvl="1">
              <a:buFont typeface="Arial" panose="020B0604020202020204" pitchFamily="34" charset="0"/>
              <a:buChar char="•"/>
            </a:pPr>
            <a:r>
              <a:rPr lang="en-US" sz="2000" dirty="0"/>
              <a:t>possible levels of loss or damage, </a:t>
            </a:r>
          </a:p>
          <a:p>
            <a:pPr lvl="1">
              <a:buFont typeface="Arial" panose="020B0604020202020204" pitchFamily="34" charset="0"/>
              <a:buChar char="•"/>
            </a:pPr>
            <a:r>
              <a:rPr lang="en-US" sz="2000" dirty="0"/>
              <a:t>need to know.</a:t>
            </a:r>
            <a:endParaRPr lang="en-GB" sz="2000" dirty="0"/>
          </a:p>
        </p:txBody>
      </p:sp>
    </p:spTree>
    <p:extLst>
      <p:ext uri="{BB962C8B-B14F-4D97-AF65-F5344CB8AC3E}">
        <p14:creationId xmlns:p14="http://schemas.microsoft.com/office/powerpoint/2010/main" val="2344030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Benefits of using a data classification scheme</a:t>
            </a:r>
            <a:endParaRPr lang="en-GB" sz="3600" dirty="0">
              <a:latin typeface="Georgia" panose="02040502050405020303" pitchFamily="18" charset="0"/>
            </a:endParaRPr>
          </a:p>
        </p:txBody>
      </p:sp>
      <p:sp>
        <p:nvSpPr>
          <p:cNvPr id="3" name="Content Placeholder 2"/>
          <p:cNvSpPr>
            <a:spLocks noGrp="1"/>
          </p:cNvSpPr>
          <p:nvPr>
            <p:ph idx="1"/>
          </p:nvPr>
        </p:nvSpPr>
        <p:spPr>
          <a:xfrm>
            <a:off x="914400" y="1148765"/>
            <a:ext cx="10363200" cy="4114800"/>
          </a:xfrm>
        </p:spPr>
        <p:txBody>
          <a:bodyPr/>
          <a:lstStyle/>
          <a:p>
            <a:r>
              <a:rPr lang="en-US" sz="2400" dirty="0"/>
              <a:t>Demonstrates an </a:t>
            </a:r>
            <a:r>
              <a:rPr lang="en-US" sz="2400" dirty="0" err="1"/>
              <a:t>organisation’s</a:t>
            </a:r>
            <a:r>
              <a:rPr lang="en-US" sz="2400" dirty="0"/>
              <a:t> commitment to protecting valuable resources and assets.</a:t>
            </a:r>
          </a:p>
          <a:p>
            <a:r>
              <a:rPr lang="en-US" sz="2400" dirty="0"/>
              <a:t>Assists in identifying those assets that are most critical or valuable to the organisation.</a:t>
            </a:r>
          </a:p>
          <a:p>
            <a:r>
              <a:rPr lang="en-US" sz="2400" dirty="0"/>
              <a:t>Gives credence to the selection of protection mechanisms.</a:t>
            </a:r>
          </a:p>
          <a:p>
            <a:r>
              <a:rPr lang="en-US" sz="2400" dirty="0"/>
              <a:t>Often required for regulatory compliance or legal restrictions.</a:t>
            </a:r>
          </a:p>
          <a:p>
            <a:r>
              <a:rPr lang="en-US" sz="2400" dirty="0"/>
              <a:t>Defines access levels, types of authorised uses, and parameters for declassification </a:t>
            </a:r>
          </a:p>
          <a:p>
            <a:r>
              <a:rPr lang="en-US" sz="2400" dirty="0"/>
              <a:t>Aids data life-cycle management: </a:t>
            </a:r>
          </a:p>
          <a:p>
            <a:pPr lvl="1">
              <a:buFont typeface="Arial" panose="020B0604020202020204" pitchFamily="34" charset="0"/>
              <a:buChar char="•"/>
            </a:pPr>
            <a:r>
              <a:rPr lang="en-US" sz="2000" dirty="0"/>
              <a:t>retention, </a:t>
            </a:r>
          </a:p>
          <a:p>
            <a:pPr lvl="1">
              <a:buFont typeface="Arial" panose="020B0604020202020204" pitchFamily="34" charset="0"/>
              <a:buChar char="•"/>
            </a:pPr>
            <a:r>
              <a:rPr lang="en-US" sz="2000" dirty="0"/>
              <a:t>usage, </a:t>
            </a:r>
          </a:p>
          <a:p>
            <a:pPr lvl="1">
              <a:buFont typeface="Arial" panose="020B0604020202020204" pitchFamily="34" charset="0"/>
              <a:buChar char="•"/>
            </a:pPr>
            <a:r>
              <a:rPr lang="en-US" sz="2000" dirty="0"/>
              <a:t>destruction of the data.</a:t>
            </a:r>
            <a:endParaRPr lang="en-GB" sz="2000" dirty="0"/>
          </a:p>
        </p:txBody>
      </p:sp>
    </p:spTree>
    <p:extLst>
      <p:ext uri="{BB962C8B-B14F-4D97-AF65-F5344CB8AC3E}">
        <p14:creationId xmlns:p14="http://schemas.microsoft.com/office/powerpoint/2010/main" val="1033235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Benefits of using a data classification scheme</a:t>
            </a:r>
            <a:endParaRPr lang="en-GB" sz="3600" dirty="0">
              <a:latin typeface="Georgia" panose="02040502050405020303" pitchFamily="18" charset="0"/>
            </a:endParaRPr>
          </a:p>
        </p:txBody>
      </p:sp>
      <p:sp>
        <p:nvSpPr>
          <p:cNvPr id="3" name="Content Placeholder 2"/>
          <p:cNvSpPr>
            <a:spLocks noGrp="1"/>
          </p:cNvSpPr>
          <p:nvPr>
            <p:ph idx="1"/>
          </p:nvPr>
        </p:nvSpPr>
        <p:spPr>
          <a:xfrm>
            <a:off x="914400" y="1148765"/>
            <a:ext cx="10363200" cy="4114800"/>
          </a:xfrm>
        </p:spPr>
        <p:txBody>
          <a:bodyPr/>
          <a:lstStyle/>
          <a:p>
            <a:r>
              <a:rPr lang="en-GB" sz="2000" dirty="0"/>
              <a:t>Data classification can/will vary depending upon the organisation.</a:t>
            </a:r>
          </a:p>
          <a:p>
            <a:r>
              <a:rPr lang="en-GB" sz="2000" dirty="0"/>
              <a:t>However, we can use numerous generalities:</a:t>
            </a:r>
          </a:p>
          <a:p>
            <a:pPr lvl="1">
              <a:buFont typeface="Arial" panose="020B0604020202020204" pitchFamily="34" charset="0"/>
              <a:buChar char="•"/>
            </a:pPr>
            <a:r>
              <a:rPr lang="en-US" sz="1600" dirty="0"/>
              <a:t>Usefulness of the data</a:t>
            </a:r>
          </a:p>
          <a:p>
            <a:pPr lvl="1">
              <a:buFont typeface="Arial" panose="020B0604020202020204" pitchFamily="34" charset="0"/>
              <a:buChar char="•"/>
            </a:pPr>
            <a:r>
              <a:rPr lang="en-US" sz="1600" dirty="0"/>
              <a:t>Timeliness of the data</a:t>
            </a:r>
            <a:endParaRPr lang="en-GB" sz="1600" dirty="0"/>
          </a:p>
          <a:p>
            <a:pPr lvl="1">
              <a:buFont typeface="Arial" panose="020B0604020202020204" pitchFamily="34" charset="0"/>
              <a:buChar char="•"/>
            </a:pPr>
            <a:r>
              <a:rPr lang="en-US" sz="1600" dirty="0"/>
              <a:t>Value or cost of the data</a:t>
            </a:r>
          </a:p>
          <a:p>
            <a:pPr lvl="1">
              <a:buFont typeface="Arial" panose="020B0604020202020204" pitchFamily="34" charset="0"/>
              <a:buChar char="•"/>
            </a:pPr>
            <a:r>
              <a:rPr lang="en-US" sz="1600" dirty="0"/>
              <a:t>Maturity or age of the data</a:t>
            </a:r>
          </a:p>
          <a:p>
            <a:pPr lvl="1">
              <a:buFont typeface="Arial" panose="020B0604020202020204" pitchFamily="34" charset="0"/>
              <a:buChar char="•"/>
            </a:pPr>
            <a:r>
              <a:rPr lang="en-US" sz="1600" dirty="0"/>
              <a:t>Lifetime of the data (or when it expires)</a:t>
            </a:r>
          </a:p>
          <a:p>
            <a:pPr lvl="1">
              <a:buFont typeface="Arial" panose="020B0604020202020204" pitchFamily="34" charset="0"/>
              <a:buChar char="•"/>
            </a:pPr>
            <a:r>
              <a:rPr lang="en-US" sz="1600" dirty="0"/>
              <a:t>Association with personnel</a:t>
            </a:r>
          </a:p>
          <a:p>
            <a:pPr lvl="1">
              <a:buFont typeface="Arial" panose="020B0604020202020204" pitchFamily="34" charset="0"/>
              <a:buChar char="•"/>
            </a:pPr>
            <a:r>
              <a:rPr lang="en-US" sz="1600" dirty="0"/>
              <a:t>Data disclosure damage assessment (that is, how the disclosure of the data would affect the organisation)</a:t>
            </a:r>
          </a:p>
          <a:p>
            <a:pPr lvl="1">
              <a:buFont typeface="Arial" panose="020B0604020202020204" pitchFamily="34" charset="0"/>
              <a:buChar char="•"/>
            </a:pPr>
            <a:r>
              <a:rPr lang="en-US" sz="1600" dirty="0"/>
              <a:t>Data modification damage assessment (that is, how the modification of the data would affect the organisation)</a:t>
            </a:r>
          </a:p>
          <a:p>
            <a:pPr lvl="1">
              <a:buFont typeface="Arial" panose="020B0604020202020204" pitchFamily="34" charset="0"/>
              <a:buChar char="•"/>
            </a:pPr>
            <a:r>
              <a:rPr lang="en-US" sz="1600" dirty="0"/>
              <a:t>National security implications of the data</a:t>
            </a:r>
          </a:p>
          <a:p>
            <a:pPr lvl="1">
              <a:buFont typeface="Arial" panose="020B0604020202020204" pitchFamily="34" charset="0"/>
              <a:buChar char="•"/>
            </a:pPr>
            <a:r>
              <a:rPr lang="en-US" sz="1600" dirty="0"/>
              <a:t>Authorised access to the data (that is, who has access to the data)</a:t>
            </a:r>
          </a:p>
          <a:p>
            <a:pPr lvl="1">
              <a:buFont typeface="Arial" panose="020B0604020202020204" pitchFamily="34" charset="0"/>
              <a:buChar char="•"/>
            </a:pPr>
            <a:r>
              <a:rPr lang="en-US" sz="1600" dirty="0"/>
              <a:t>Restriction from the data (that is, who is restricted from the data)</a:t>
            </a:r>
          </a:p>
          <a:p>
            <a:pPr lvl="1">
              <a:buFont typeface="Arial" panose="020B0604020202020204" pitchFamily="34" charset="0"/>
              <a:buChar char="•"/>
            </a:pPr>
            <a:r>
              <a:rPr lang="en-US" sz="1600" dirty="0"/>
              <a:t>Maintenance and monitoring of the data (that is, who should maintain and monitor the data)</a:t>
            </a:r>
          </a:p>
          <a:p>
            <a:pPr lvl="1">
              <a:buFont typeface="Arial" panose="020B0604020202020204" pitchFamily="34" charset="0"/>
              <a:buChar char="•"/>
            </a:pPr>
            <a:r>
              <a:rPr lang="en-US" sz="1600" dirty="0"/>
              <a:t>Storage of the data</a:t>
            </a:r>
            <a:endParaRPr lang="en-GB" sz="1600" dirty="0"/>
          </a:p>
        </p:txBody>
      </p:sp>
    </p:spTree>
    <p:extLst>
      <p:ext uri="{BB962C8B-B14F-4D97-AF65-F5344CB8AC3E}">
        <p14:creationId xmlns:p14="http://schemas.microsoft.com/office/powerpoint/2010/main" val="3898303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Criteria</a:t>
            </a:r>
          </a:p>
        </p:txBody>
      </p:sp>
      <p:sp>
        <p:nvSpPr>
          <p:cNvPr id="3" name="Content Placeholder 2"/>
          <p:cNvSpPr>
            <a:spLocks noGrp="1"/>
          </p:cNvSpPr>
          <p:nvPr>
            <p:ph idx="1"/>
          </p:nvPr>
        </p:nvSpPr>
        <p:spPr/>
        <p:txBody>
          <a:bodyPr/>
          <a:lstStyle/>
          <a:p>
            <a:r>
              <a:rPr lang="en-US" dirty="0"/>
              <a:t>Using whatever criteria is appropriate for the organisation, data is evaluated, and an appropriate data classification label is assigned to it. </a:t>
            </a:r>
          </a:p>
          <a:p>
            <a:r>
              <a:rPr lang="en-US" dirty="0"/>
              <a:t>In some cases, the label is added to the data object. </a:t>
            </a:r>
          </a:p>
          <a:p>
            <a:r>
              <a:rPr lang="en-US" dirty="0"/>
              <a:t>In other cases, labeling occurs automatically when the data is placed into a storage mechanism or behind a security protection mechanism.</a:t>
            </a:r>
            <a:endParaRPr lang="en-GB" dirty="0"/>
          </a:p>
        </p:txBody>
      </p:sp>
    </p:spTree>
    <p:extLst>
      <p:ext uri="{BB962C8B-B14F-4D97-AF65-F5344CB8AC3E}">
        <p14:creationId xmlns:p14="http://schemas.microsoft.com/office/powerpoint/2010/main" val="4020211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Steps for a classification scheme</a:t>
            </a:r>
          </a:p>
        </p:txBody>
      </p:sp>
      <p:sp>
        <p:nvSpPr>
          <p:cNvPr id="3" name="Content Placeholder 2"/>
          <p:cNvSpPr>
            <a:spLocks noGrp="1"/>
          </p:cNvSpPr>
          <p:nvPr>
            <p:ph idx="1"/>
          </p:nvPr>
        </p:nvSpPr>
        <p:spPr/>
        <p:txBody>
          <a:bodyPr/>
          <a:lstStyle/>
          <a:p>
            <a:pPr marL="457200" indent="-457200">
              <a:buFont typeface="+mj-lt"/>
              <a:buAutoNum type="arabicPeriod"/>
            </a:pPr>
            <a:r>
              <a:rPr lang="en-US" sz="2000" dirty="0"/>
              <a:t>Identify the custodian, and define their responsibilities.</a:t>
            </a:r>
          </a:p>
          <a:p>
            <a:pPr marL="457200" indent="-457200">
              <a:buFont typeface="+mj-lt"/>
              <a:buAutoNum type="arabicPeriod"/>
            </a:pPr>
            <a:r>
              <a:rPr lang="en-US" sz="2000" dirty="0"/>
              <a:t>Specify the evaluation criteria of how the information will be classified and labeled.</a:t>
            </a:r>
          </a:p>
          <a:p>
            <a:pPr marL="457200" indent="-457200">
              <a:buFont typeface="+mj-lt"/>
              <a:buAutoNum type="arabicPeriod"/>
            </a:pPr>
            <a:r>
              <a:rPr lang="en-US" sz="2000" dirty="0"/>
              <a:t>Classify and label each resource. (The owner conducts this step, but a supervisor should review it.)</a:t>
            </a:r>
          </a:p>
          <a:p>
            <a:pPr marL="457200" indent="-457200">
              <a:buFont typeface="+mj-lt"/>
              <a:buAutoNum type="arabicPeriod"/>
            </a:pPr>
            <a:r>
              <a:rPr lang="en-US" sz="2000" dirty="0"/>
              <a:t>Document any exceptions to the classification policy that are discovered, and integrate them into the evaluation criteria.</a:t>
            </a:r>
          </a:p>
          <a:p>
            <a:pPr marL="457200" indent="-457200">
              <a:buFont typeface="+mj-lt"/>
              <a:buAutoNum type="arabicPeriod"/>
            </a:pPr>
            <a:r>
              <a:rPr lang="en-US" sz="2000" dirty="0"/>
              <a:t>Select the security controls that will be applied to each classification level to provide the necessary level of protection.</a:t>
            </a:r>
          </a:p>
          <a:p>
            <a:pPr marL="457200" indent="-457200">
              <a:buFont typeface="+mj-lt"/>
              <a:buAutoNum type="arabicPeriod"/>
            </a:pPr>
            <a:r>
              <a:rPr lang="en-US" sz="2000" dirty="0"/>
              <a:t>Specify the procedures for declassifying resources and the procedures for transferring custody of a resource to an external entity.</a:t>
            </a:r>
          </a:p>
          <a:p>
            <a:pPr marL="457200" indent="-457200">
              <a:buFont typeface="+mj-lt"/>
              <a:buAutoNum type="arabicPeriod"/>
            </a:pPr>
            <a:r>
              <a:rPr lang="en-US" sz="2000" dirty="0"/>
              <a:t>Create an enterprise-wide awareness program to instruct all personnel about the classification system.</a:t>
            </a:r>
            <a:endParaRPr lang="en-GB" sz="2000" dirty="0"/>
          </a:p>
        </p:txBody>
      </p:sp>
    </p:spTree>
    <p:extLst>
      <p:ext uri="{BB962C8B-B14F-4D97-AF65-F5344CB8AC3E}">
        <p14:creationId xmlns:p14="http://schemas.microsoft.com/office/powerpoint/2010/main" val="128349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Declassification</a:t>
            </a:r>
          </a:p>
        </p:txBody>
      </p:sp>
      <p:sp>
        <p:nvSpPr>
          <p:cNvPr id="3" name="Content Placeholder 2"/>
          <p:cNvSpPr>
            <a:spLocks noGrp="1"/>
          </p:cNvSpPr>
          <p:nvPr>
            <p:ph idx="1"/>
          </p:nvPr>
        </p:nvSpPr>
        <p:spPr/>
        <p:txBody>
          <a:bodyPr/>
          <a:lstStyle/>
          <a:p>
            <a:r>
              <a:rPr lang="en-US" dirty="0"/>
              <a:t>Declassification is required once an asset no longer warrants or needs the protection of its currently assigned classification.</a:t>
            </a:r>
          </a:p>
          <a:p>
            <a:r>
              <a:rPr lang="en-US" dirty="0"/>
              <a:t>When assets fail to be declassified as needed, security resources are wasted, and the value and protection of the higher sensitivity levels is degraded</a:t>
            </a:r>
            <a:endParaRPr lang="en-GB" dirty="0"/>
          </a:p>
        </p:txBody>
      </p:sp>
    </p:spTree>
    <p:extLst>
      <p:ext uri="{BB962C8B-B14F-4D97-AF65-F5344CB8AC3E}">
        <p14:creationId xmlns:p14="http://schemas.microsoft.com/office/powerpoint/2010/main" val="244187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schemes</a:t>
            </a:r>
          </a:p>
        </p:txBody>
      </p:sp>
      <p:sp>
        <p:nvSpPr>
          <p:cNvPr id="3" name="Content Placeholder 2"/>
          <p:cNvSpPr>
            <a:spLocks noGrp="1"/>
          </p:cNvSpPr>
          <p:nvPr>
            <p:ph idx="1"/>
          </p:nvPr>
        </p:nvSpPr>
        <p:spPr>
          <a:xfrm>
            <a:off x="914400" y="1248276"/>
            <a:ext cx="10363200" cy="4114800"/>
          </a:xfrm>
        </p:spPr>
        <p:txBody>
          <a:bodyPr/>
          <a:lstStyle/>
          <a:p>
            <a:r>
              <a:rPr lang="en-GB" dirty="0"/>
              <a:t>Levels of government/military classification (UK)</a:t>
            </a:r>
          </a:p>
        </p:txBody>
      </p:sp>
      <p:sp>
        <p:nvSpPr>
          <p:cNvPr id="4" name="Rounded Rectangle 3"/>
          <p:cNvSpPr/>
          <p:nvPr/>
        </p:nvSpPr>
        <p:spPr bwMode="auto">
          <a:xfrm>
            <a:off x="1339515" y="2141621"/>
            <a:ext cx="2815390" cy="3553326"/>
          </a:xfrm>
          <a:prstGeom prst="round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GB" sz="1600" dirty="0"/>
              <a:t>OFFICIAL</a:t>
            </a:r>
            <a:endParaRPr lang="en-US" sz="1600" dirty="0"/>
          </a:p>
          <a:p>
            <a:pPr eaLnBrk="0" fontAlgn="base" hangingPunct="0">
              <a:spcBef>
                <a:spcPct val="0"/>
              </a:spcBef>
              <a:spcAft>
                <a:spcPct val="0"/>
              </a:spcAft>
            </a:pPr>
            <a:r>
              <a:rPr lang="en-US" sz="1600" dirty="0"/>
              <a:t>The majority of information that is created or processed by the public sector. This includes routine business operations and services, some of which could have damaging consequences if lost, stolen or published in the media, but are not subject to a heightened threat profile.</a:t>
            </a:r>
            <a:endParaRPr kumimoji="0" lang="en-GB" sz="1600" b="0" i="0" u="none" strike="noStrike" cap="none" normalizeH="0" baseline="0" dirty="0">
              <a:ln>
                <a:noFill/>
              </a:ln>
              <a:solidFill>
                <a:schemeClr val="tx1"/>
              </a:solidFill>
              <a:effectLst/>
              <a:latin typeface="Tahoma" pitchFamily="34" charset="0"/>
            </a:endParaRPr>
          </a:p>
        </p:txBody>
      </p:sp>
      <p:sp>
        <p:nvSpPr>
          <p:cNvPr id="7" name="Rounded Rectangle 6"/>
          <p:cNvSpPr/>
          <p:nvPr/>
        </p:nvSpPr>
        <p:spPr bwMode="auto">
          <a:xfrm>
            <a:off x="4636168" y="2141621"/>
            <a:ext cx="2815390" cy="3553326"/>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sz="1600" dirty="0"/>
              <a:t>SECRET </a:t>
            </a:r>
          </a:p>
          <a:p>
            <a:pPr eaLnBrk="0" fontAlgn="base" hangingPunct="0">
              <a:spcBef>
                <a:spcPct val="0"/>
              </a:spcBef>
              <a:spcAft>
                <a:spcPct val="0"/>
              </a:spcAft>
            </a:pPr>
            <a:r>
              <a:rPr lang="en-US" sz="1600" dirty="0"/>
              <a:t>Very sensitive information that justifies heightened protective measures to defend against determined and highly capable threat actors. For example, where compromise could seriously damage military capabilities, international relations or the investigation of serious </a:t>
            </a:r>
            <a:r>
              <a:rPr lang="en-US" sz="1600" dirty="0" err="1"/>
              <a:t>organised</a:t>
            </a:r>
            <a:r>
              <a:rPr lang="en-US" sz="1600" dirty="0"/>
              <a:t> crime.</a:t>
            </a:r>
            <a:endParaRPr kumimoji="0" lang="en-GB" sz="1600" b="0" i="0" u="none" strike="noStrike" cap="none" normalizeH="0" baseline="0" dirty="0">
              <a:ln>
                <a:noFill/>
              </a:ln>
              <a:solidFill>
                <a:schemeClr val="tx1"/>
              </a:solidFill>
              <a:effectLst/>
              <a:latin typeface="Tahoma" pitchFamily="34" charset="0"/>
            </a:endParaRPr>
          </a:p>
        </p:txBody>
      </p:sp>
      <p:sp>
        <p:nvSpPr>
          <p:cNvPr id="8" name="Rounded Rectangle 7"/>
          <p:cNvSpPr/>
          <p:nvPr/>
        </p:nvSpPr>
        <p:spPr bwMode="auto">
          <a:xfrm>
            <a:off x="7932821" y="2141621"/>
            <a:ext cx="2815390" cy="3553326"/>
          </a:xfrm>
          <a:prstGeom prst="round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sz="1600" dirty="0"/>
              <a:t>TOP SECRET </a:t>
            </a:r>
          </a:p>
          <a:p>
            <a:pPr eaLnBrk="0" fontAlgn="base" hangingPunct="0">
              <a:spcBef>
                <a:spcPct val="0"/>
              </a:spcBef>
              <a:spcAft>
                <a:spcPct val="0"/>
              </a:spcAft>
            </a:pPr>
            <a:r>
              <a:rPr lang="en-US" sz="1600" dirty="0"/>
              <a:t>HMG’s most sensitive information requiring the highest levels of protection from the most serious threats. For example, where compromise could cause widespread loss of life or else threaten the security or economic wellbeing of the country or friendly nations.</a:t>
            </a:r>
            <a:endParaRPr kumimoji="0" lang="en-GB" sz="16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332539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schemes</a:t>
            </a:r>
          </a:p>
        </p:txBody>
      </p:sp>
      <p:sp>
        <p:nvSpPr>
          <p:cNvPr id="3" name="Content Placeholder 2"/>
          <p:cNvSpPr>
            <a:spLocks noGrp="1"/>
          </p:cNvSpPr>
          <p:nvPr>
            <p:ph idx="1"/>
          </p:nvPr>
        </p:nvSpPr>
        <p:spPr/>
        <p:txBody>
          <a:bodyPr/>
          <a:lstStyle/>
          <a:p>
            <a:r>
              <a:rPr lang="en-GB" dirty="0"/>
              <a:t>Levels of commercial classification </a:t>
            </a:r>
          </a:p>
        </p:txBody>
      </p:sp>
      <p:sp>
        <p:nvSpPr>
          <p:cNvPr id="4" name="Right Triangle 3"/>
          <p:cNvSpPr/>
          <p:nvPr/>
        </p:nvSpPr>
        <p:spPr bwMode="auto">
          <a:xfrm rot="5400000">
            <a:off x="3061267" y="1254058"/>
            <a:ext cx="1264854" cy="3408947"/>
          </a:xfrm>
          <a:prstGeom prst="rtTriangle">
            <a:avLst/>
          </a:prstGeom>
          <a:solidFill>
            <a:schemeClr val="accent1"/>
          </a:solidFill>
          <a:ln w="9525" cap="flat" cmpd="sng" algn="ctr">
            <a:solidFill>
              <a:schemeClr val="tx1"/>
            </a:solidFill>
            <a:prstDash val="solid"/>
            <a:round/>
            <a:headEnd type="none" w="med" len="med"/>
            <a:tailEnd type="none" w="med" len="med"/>
          </a:ln>
          <a:effectLst/>
        </p:spPr>
        <p:txBody>
          <a:bodyPr vert="vert270"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500" b="0" i="0" u="none" strike="noStrike" cap="none" normalizeH="0" baseline="0" dirty="0">
                <a:ln>
                  <a:noFill/>
                </a:ln>
                <a:solidFill>
                  <a:schemeClr val="tx1"/>
                </a:solidFill>
                <a:effectLst/>
                <a:latin typeface="Tahoma" pitchFamily="34" charset="0"/>
              </a:rPr>
              <a:t>Confidential</a:t>
            </a:r>
          </a:p>
        </p:txBody>
      </p:sp>
      <p:sp>
        <p:nvSpPr>
          <p:cNvPr id="6" name="Right Triangle 5"/>
          <p:cNvSpPr/>
          <p:nvPr/>
        </p:nvSpPr>
        <p:spPr bwMode="auto">
          <a:xfrm rot="16200000">
            <a:off x="3061267" y="1254058"/>
            <a:ext cx="1264854" cy="3408947"/>
          </a:xfrm>
          <a:prstGeom prst="rtTriangle">
            <a:avLst/>
          </a:prstGeom>
          <a:solidFill>
            <a:schemeClr val="accent1"/>
          </a:solidFill>
          <a:ln w="9525" cap="flat" cmpd="sng" algn="ctr">
            <a:solidFill>
              <a:schemeClr val="tx1"/>
            </a:solidFill>
            <a:prstDash val="solid"/>
            <a:round/>
            <a:headEnd type="none" w="med" len="med"/>
            <a:tailEnd type="none" w="med" len="med"/>
          </a:ln>
          <a:effectLst/>
        </p:spPr>
        <p:txBody>
          <a:bodyPr vert="vert"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500" b="0" i="0" u="none" strike="noStrike" cap="none" normalizeH="0" baseline="0" dirty="0">
                <a:ln>
                  <a:noFill/>
                </a:ln>
                <a:solidFill>
                  <a:schemeClr val="tx1"/>
                </a:solidFill>
                <a:effectLst/>
                <a:latin typeface="Tahoma" pitchFamily="34" charset="0"/>
              </a:rPr>
              <a:t>Private</a:t>
            </a:r>
          </a:p>
        </p:txBody>
      </p:sp>
      <p:sp>
        <p:nvSpPr>
          <p:cNvPr id="7" name="Rectangle 6"/>
          <p:cNvSpPr/>
          <p:nvPr/>
        </p:nvSpPr>
        <p:spPr bwMode="auto">
          <a:xfrm>
            <a:off x="1989220" y="3590959"/>
            <a:ext cx="3408948" cy="118958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dirty="0">
              <a:ln>
                <a:noFill/>
              </a:ln>
              <a:solidFill>
                <a:schemeClr val="tx1"/>
              </a:solidFill>
              <a:effectLst/>
              <a:latin typeface="Tahoma"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GB" b="0" i="0" u="none" strike="noStrike" cap="none" normalizeH="0" baseline="0" dirty="0">
                <a:ln>
                  <a:noFill/>
                </a:ln>
                <a:solidFill>
                  <a:schemeClr val="tx1"/>
                </a:solidFill>
                <a:effectLst/>
                <a:latin typeface="Tahoma" pitchFamily="34" charset="0"/>
              </a:rPr>
              <a:t>Sensitive</a:t>
            </a:r>
            <a:endParaRPr kumimoji="0" lang="en-GB" sz="2400" b="0" i="0" u="none" strike="noStrike" cap="none" normalizeH="0" baseline="0" dirty="0">
              <a:ln>
                <a:noFill/>
              </a:ln>
              <a:solidFill>
                <a:schemeClr val="tx1"/>
              </a:solidFill>
              <a:effectLst/>
              <a:latin typeface="Tahoma" pitchFamily="34" charset="0"/>
            </a:endParaRPr>
          </a:p>
        </p:txBody>
      </p:sp>
      <p:sp>
        <p:nvSpPr>
          <p:cNvPr id="8" name="Rectangle 7"/>
          <p:cNvSpPr/>
          <p:nvPr/>
        </p:nvSpPr>
        <p:spPr bwMode="auto">
          <a:xfrm>
            <a:off x="1989220" y="4780547"/>
            <a:ext cx="3408948" cy="118958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dirty="0">
              <a:ln>
                <a:noFill/>
              </a:ln>
              <a:solidFill>
                <a:schemeClr val="tx1"/>
              </a:solidFill>
              <a:effectLst/>
              <a:latin typeface="Tahoma"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GB" b="0" i="0" u="none" strike="noStrike" cap="none" normalizeH="0" baseline="0" dirty="0">
                <a:ln>
                  <a:noFill/>
                </a:ln>
                <a:solidFill>
                  <a:schemeClr val="tx1"/>
                </a:solidFill>
                <a:effectLst/>
                <a:latin typeface="Tahoma" pitchFamily="34" charset="0"/>
              </a:rPr>
              <a:t>Public</a:t>
            </a:r>
            <a:endParaRPr kumimoji="0" lang="en-GB" sz="2400" b="0" i="0" u="none" strike="noStrike" cap="none" normalizeH="0" baseline="0" dirty="0">
              <a:ln>
                <a:noFill/>
              </a:ln>
              <a:solidFill>
                <a:schemeClr val="tx1"/>
              </a:solidFill>
              <a:effectLst/>
              <a:latin typeface="Tahoma" pitchFamily="34" charset="0"/>
            </a:endParaRPr>
          </a:p>
        </p:txBody>
      </p:sp>
      <p:sp>
        <p:nvSpPr>
          <p:cNvPr id="9" name="TextBox 8"/>
          <p:cNvSpPr txBox="1"/>
          <p:nvPr/>
        </p:nvSpPr>
        <p:spPr>
          <a:xfrm>
            <a:off x="5743073" y="2773865"/>
            <a:ext cx="1098885" cy="369332"/>
          </a:xfrm>
          <a:prstGeom prst="rect">
            <a:avLst/>
          </a:prstGeom>
          <a:noFill/>
        </p:spPr>
        <p:txBody>
          <a:bodyPr wrap="square" rtlCol="0">
            <a:spAutoFit/>
          </a:bodyPr>
          <a:lstStyle/>
          <a:p>
            <a:r>
              <a:rPr lang="en-GB" dirty="0"/>
              <a:t>High</a:t>
            </a:r>
          </a:p>
        </p:txBody>
      </p:sp>
      <p:sp>
        <p:nvSpPr>
          <p:cNvPr id="10" name="TextBox 9"/>
          <p:cNvSpPr txBox="1"/>
          <p:nvPr/>
        </p:nvSpPr>
        <p:spPr>
          <a:xfrm>
            <a:off x="5775157" y="5287447"/>
            <a:ext cx="1098885" cy="369332"/>
          </a:xfrm>
          <a:prstGeom prst="rect">
            <a:avLst/>
          </a:prstGeom>
          <a:noFill/>
        </p:spPr>
        <p:txBody>
          <a:bodyPr wrap="square" rtlCol="0">
            <a:spAutoFit/>
          </a:bodyPr>
          <a:lstStyle/>
          <a:p>
            <a:r>
              <a:rPr lang="en-GB" dirty="0"/>
              <a:t>Low</a:t>
            </a:r>
          </a:p>
        </p:txBody>
      </p:sp>
    </p:spTree>
    <p:extLst>
      <p:ext uri="{BB962C8B-B14F-4D97-AF65-F5344CB8AC3E}">
        <p14:creationId xmlns:p14="http://schemas.microsoft.com/office/powerpoint/2010/main" val="39454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schemes</a:t>
            </a:r>
          </a:p>
        </p:txBody>
      </p:sp>
      <p:sp>
        <p:nvSpPr>
          <p:cNvPr id="3" name="Content Placeholder 2"/>
          <p:cNvSpPr>
            <a:spLocks noGrp="1"/>
          </p:cNvSpPr>
          <p:nvPr>
            <p:ph idx="1"/>
          </p:nvPr>
        </p:nvSpPr>
        <p:spPr/>
        <p:txBody>
          <a:bodyPr/>
          <a:lstStyle/>
          <a:p>
            <a:pPr marL="342900" lvl="1" indent="-342900">
              <a:buFontTx/>
              <a:buChar char="•"/>
            </a:pPr>
            <a:r>
              <a:rPr lang="en-US" dirty="0"/>
              <a:t>Confidential - The highest level of classification. </a:t>
            </a:r>
          </a:p>
          <a:p>
            <a:pPr lvl="1">
              <a:buFont typeface="Arial" panose="020B0604020202020204" pitchFamily="34" charset="0"/>
              <a:buChar char="•"/>
            </a:pPr>
            <a:r>
              <a:rPr lang="en-US" dirty="0"/>
              <a:t>This is used for data that is extremely sensitive and for internal use only. </a:t>
            </a:r>
          </a:p>
          <a:p>
            <a:pPr lvl="1">
              <a:buFont typeface="Arial" panose="020B0604020202020204" pitchFamily="34" charset="0"/>
              <a:buChar char="•"/>
            </a:pPr>
            <a:r>
              <a:rPr lang="en-US" dirty="0"/>
              <a:t>A significant negative impact could occur for a company if confidential data is disclosed. </a:t>
            </a:r>
          </a:p>
          <a:p>
            <a:pPr lvl="2"/>
            <a:r>
              <a:rPr lang="en-US" dirty="0"/>
              <a:t>Occasionally the label </a:t>
            </a:r>
            <a:r>
              <a:rPr lang="en-US" i="1" u="sng" dirty="0"/>
              <a:t>proprietary</a:t>
            </a:r>
            <a:r>
              <a:rPr lang="en-US" dirty="0"/>
              <a:t> is substituted for confidential Proprietary data can be considered a specific form of confidential information. </a:t>
            </a:r>
          </a:p>
          <a:p>
            <a:pPr lvl="2"/>
            <a:r>
              <a:rPr lang="en-US" dirty="0"/>
              <a:t>If proprietary data is disclosed, it can have drastic effects on the competitive edge of an organization.</a:t>
            </a:r>
          </a:p>
        </p:txBody>
      </p:sp>
    </p:spTree>
    <p:extLst>
      <p:ext uri="{BB962C8B-B14F-4D97-AF65-F5344CB8AC3E}">
        <p14:creationId xmlns:p14="http://schemas.microsoft.com/office/powerpoint/2010/main" val="3215393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schemes</a:t>
            </a:r>
          </a:p>
        </p:txBody>
      </p:sp>
      <p:sp>
        <p:nvSpPr>
          <p:cNvPr id="3" name="Content Placeholder 2"/>
          <p:cNvSpPr>
            <a:spLocks noGrp="1"/>
          </p:cNvSpPr>
          <p:nvPr>
            <p:ph idx="1"/>
          </p:nvPr>
        </p:nvSpPr>
        <p:spPr/>
        <p:txBody>
          <a:bodyPr/>
          <a:lstStyle/>
          <a:p>
            <a:r>
              <a:rPr lang="en-US" b="1" dirty="0"/>
              <a:t>Private </a:t>
            </a:r>
          </a:p>
          <a:p>
            <a:r>
              <a:rPr lang="en-US" dirty="0"/>
              <a:t>Used for data that is of a private or personal nature and intended for internal use only. </a:t>
            </a:r>
          </a:p>
          <a:p>
            <a:r>
              <a:rPr lang="en-US" dirty="0"/>
              <a:t>A significant negative impact could occur for the company or individuals if private </a:t>
            </a:r>
            <a:r>
              <a:rPr lang="en-GB" dirty="0"/>
              <a:t>data is disclosed. </a:t>
            </a:r>
            <a:r>
              <a:rPr lang="en-GB" i="1" dirty="0">
                <a:solidFill>
                  <a:srgbClr val="FF0000"/>
                </a:solidFill>
              </a:rPr>
              <a:t>(We will talk about GDPR… )</a:t>
            </a:r>
          </a:p>
        </p:txBody>
      </p:sp>
    </p:spTree>
    <p:extLst>
      <p:ext uri="{BB962C8B-B14F-4D97-AF65-F5344CB8AC3E}">
        <p14:creationId xmlns:p14="http://schemas.microsoft.com/office/powerpoint/2010/main" val="2029280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Classification schemes</a:t>
            </a:r>
          </a:p>
        </p:txBody>
      </p:sp>
      <p:sp>
        <p:nvSpPr>
          <p:cNvPr id="3" name="Content Placeholder 2"/>
          <p:cNvSpPr>
            <a:spLocks noGrp="1"/>
          </p:cNvSpPr>
          <p:nvPr>
            <p:ph idx="1"/>
          </p:nvPr>
        </p:nvSpPr>
        <p:spPr/>
        <p:txBody>
          <a:bodyPr/>
          <a:lstStyle/>
          <a:p>
            <a:r>
              <a:rPr lang="en-US" dirty="0"/>
              <a:t>Sensitive </a:t>
            </a:r>
          </a:p>
          <a:p>
            <a:pPr lvl="1">
              <a:buFont typeface="Arial" panose="020B0604020202020204" pitchFamily="34" charset="0"/>
              <a:buChar char="•"/>
            </a:pPr>
            <a:r>
              <a:rPr lang="en-US" dirty="0"/>
              <a:t>Used for data that is more classified than public data. </a:t>
            </a:r>
          </a:p>
          <a:p>
            <a:pPr lvl="1">
              <a:buFont typeface="Arial" panose="020B0604020202020204" pitchFamily="34" charset="0"/>
              <a:buChar char="•"/>
            </a:pPr>
            <a:r>
              <a:rPr lang="en-US" dirty="0"/>
              <a:t>A negative impact could occur for the company if sensitive data is disclosed.</a:t>
            </a:r>
          </a:p>
          <a:p>
            <a:r>
              <a:rPr lang="en-US" dirty="0"/>
              <a:t>Public - The lowest level of classification. </a:t>
            </a:r>
          </a:p>
          <a:p>
            <a:pPr lvl="1">
              <a:buFont typeface="Arial" panose="020B0604020202020204" pitchFamily="34" charset="0"/>
              <a:buChar char="•"/>
            </a:pPr>
            <a:r>
              <a:rPr lang="en-US" dirty="0"/>
              <a:t>This is used for all data that does not fit in one of the higher classifications. </a:t>
            </a:r>
          </a:p>
          <a:p>
            <a:pPr lvl="1">
              <a:buFont typeface="Arial" panose="020B0604020202020204" pitchFamily="34" charset="0"/>
              <a:buChar char="•"/>
            </a:pPr>
            <a:r>
              <a:rPr lang="en-US" dirty="0"/>
              <a:t>Its disclosure does not have a serious negative impact on the organization.</a:t>
            </a:r>
            <a:endParaRPr lang="en-GB" dirty="0"/>
          </a:p>
        </p:txBody>
      </p:sp>
    </p:spTree>
    <p:extLst>
      <p:ext uri="{BB962C8B-B14F-4D97-AF65-F5344CB8AC3E}">
        <p14:creationId xmlns:p14="http://schemas.microsoft.com/office/powerpoint/2010/main" val="3423189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970547"/>
          </a:xfrm>
        </p:spPr>
        <p:txBody>
          <a:bodyPr/>
          <a:lstStyle/>
          <a:p>
            <a:r>
              <a:rPr lang="en-GB" dirty="0"/>
              <a:t>Ownership</a:t>
            </a:r>
          </a:p>
        </p:txBody>
      </p:sp>
      <p:sp>
        <p:nvSpPr>
          <p:cNvPr id="3" name="Content Placeholder 2"/>
          <p:cNvSpPr>
            <a:spLocks noGrp="1"/>
          </p:cNvSpPr>
          <p:nvPr>
            <p:ph idx="1"/>
          </p:nvPr>
        </p:nvSpPr>
        <p:spPr>
          <a:xfrm>
            <a:off x="914400" y="868028"/>
            <a:ext cx="10363200" cy="4114800"/>
          </a:xfrm>
        </p:spPr>
        <p:txBody>
          <a:bodyPr/>
          <a:lstStyle/>
          <a:p>
            <a:r>
              <a:rPr lang="en-US" dirty="0"/>
              <a:t>Formal assignment of responsibility to an individual or group.</a:t>
            </a:r>
          </a:p>
          <a:p>
            <a:r>
              <a:rPr lang="en-US" dirty="0"/>
              <a:t>Ownership can be made clear and distinct within an operating system where files or other types of objects can be assigned an owner.</a:t>
            </a:r>
          </a:p>
          <a:p>
            <a:r>
              <a:rPr lang="en-US" dirty="0"/>
              <a:t>Ownership of objects outside of formal IT structures is often not as obvious, or as easy.</a:t>
            </a:r>
          </a:p>
          <a:p>
            <a:r>
              <a:rPr lang="en-US" dirty="0"/>
              <a:t>A company document can define owners, but can not enforce ownership!</a:t>
            </a:r>
            <a:endParaRPr lang="en-GB" dirty="0"/>
          </a:p>
        </p:txBody>
      </p:sp>
    </p:spTree>
    <p:extLst>
      <p:ext uri="{BB962C8B-B14F-4D97-AF65-F5344CB8AC3E}">
        <p14:creationId xmlns:p14="http://schemas.microsoft.com/office/powerpoint/2010/main" val="3089896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Roles and Responsibilities</a:t>
            </a:r>
          </a:p>
        </p:txBody>
      </p:sp>
      <p:sp>
        <p:nvSpPr>
          <p:cNvPr id="3" name="Content Placeholder 2"/>
          <p:cNvSpPr>
            <a:spLocks noGrp="1"/>
          </p:cNvSpPr>
          <p:nvPr>
            <p:ph idx="1"/>
          </p:nvPr>
        </p:nvSpPr>
        <p:spPr/>
        <p:txBody>
          <a:bodyPr/>
          <a:lstStyle/>
          <a:p>
            <a:r>
              <a:rPr lang="en-US" dirty="0"/>
              <a:t>A security role is the part an individual plays in the overall scheme of security implementation and administration within an organization.</a:t>
            </a:r>
            <a:endParaRPr lang="en-GB" dirty="0"/>
          </a:p>
        </p:txBody>
      </p:sp>
    </p:spTree>
    <p:extLst>
      <p:ext uri="{BB962C8B-B14F-4D97-AF65-F5344CB8AC3E}">
        <p14:creationId xmlns:p14="http://schemas.microsoft.com/office/powerpoint/2010/main" val="460013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Roles and Responsibilities</a:t>
            </a:r>
          </a:p>
        </p:txBody>
      </p:sp>
      <p:sp>
        <p:nvSpPr>
          <p:cNvPr id="3" name="Content Placeholder 2"/>
          <p:cNvSpPr>
            <a:spLocks noGrp="1"/>
          </p:cNvSpPr>
          <p:nvPr>
            <p:ph idx="1"/>
          </p:nvPr>
        </p:nvSpPr>
        <p:spPr>
          <a:xfrm>
            <a:off x="914400" y="1140744"/>
            <a:ext cx="10363200" cy="4114800"/>
          </a:xfrm>
        </p:spPr>
        <p:txBody>
          <a:bodyPr/>
          <a:lstStyle/>
          <a:p>
            <a:r>
              <a:rPr lang="en-US" dirty="0"/>
              <a:t>Senior Manager: </a:t>
            </a:r>
          </a:p>
          <a:p>
            <a:r>
              <a:rPr lang="en-US" dirty="0"/>
              <a:t>The </a:t>
            </a:r>
            <a:r>
              <a:rPr lang="en-US" dirty="0" err="1"/>
              <a:t>organisational</a:t>
            </a:r>
            <a:r>
              <a:rPr lang="en-US" dirty="0"/>
              <a:t> owner (senior manager) role is assigned to the person who is ultimately responsible for the security maintained by an organization and who should be most concerned about the protection of its assets.</a:t>
            </a:r>
          </a:p>
          <a:p>
            <a:r>
              <a:rPr lang="en-US" dirty="0"/>
              <a:t>Signs off all policy issues</a:t>
            </a:r>
          </a:p>
          <a:p>
            <a:r>
              <a:rPr lang="en-US" dirty="0"/>
              <a:t>Endorsement of the security policy indicates the accepted ownership of the implemented security within the organisation</a:t>
            </a:r>
            <a:endParaRPr lang="en-GB" dirty="0"/>
          </a:p>
        </p:txBody>
      </p:sp>
    </p:spTree>
    <p:extLst>
      <p:ext uri="{BB962C8B-B14F-4D97-AF65-F5344CB8AC3E}">
        <p14:creationId xmlns:p14="http://schemas.microsoft.com/office/powerpoint/2010/main" val="687054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Roles and Responsibilities</a:t>
            </a:r>
            <a:endParaRPr lang="en-GB" sz="3600" dirty="0"/>
          </a:p>
        </p:txBody>
      </p:sp>
      <p:sp>
        <p:nvSpPr>
          <p:cNvPr id="3" name="Content Placeholder 2"/>
          <p:cNvSpPr>
            <a:spLocks noGrp="1"/>
          </p:cNvSpPr>
          <p:nvPr>
            <p:ph idx="1"/>
          </p:nvPr>
        </p:nvSpPr>
        <p:spPr>
          <a:xfrm>
            <a:off x="858252" y="1092619"/>
            <a:ext cx="10363200" cy="4114800"/>
          </a:xfrm>
        </p:spPr>
        <p:txBody>
          <a:bodyPr/>
          <a:lstStyle/>
          <a:p>
            <a:pPr>
              <a:spcAft>
                <a:spcPts val="600"/>
              </a:spcAft>
            </a:pPr>
            <a:r>
              <a:rPr lang="en-US" sz="2800" dirty="0"/>
              <a:t>Security Professional: </a:t>
            </a:r>
          </a:p>
          <a:p>
            <a:pPr>
              <a:spcAft>
                <a:spcPts val="600"/>
              </a:spcAft>
            </a:pPr>
            <a:r>
              <a:rPr lang="en-US" sz="2800" dirty="0"/>
              <a:t>The security professional, information security (InfoSec) officer, or computer incident response team (CIRT) role is assigned to a trained and experienced network, systems, and security engineer who is responsible for following the directives mandated by senior management.</a:t>
            </a:r>
          </a:p>
          <a:p>
            <a:pPr>
              <a:spcAft>
                <a:spcPts val="600"/>
              </a:spcAft>
            </a:pPr>
            <a:r>
              <a:rPr lang="en-US" sz="2800" dirty="0"/>
              <a:t>Functional responsibility for security, including writing the security policy and implementing it.</a:t>
            </a:r>
          </a:p>
          <a:p>
            <a:pPr>
              <a:spcAft>
                <a:spcPts val="600"/>
              </a:spcAft>
            </a:pPr>
            <a:r>
              <a:rPr lang="en-US" sz="2800" dirty="0"/>
              <a:t>Can be a team, not just an individual</a:t>
            </a:r>
          </a:p>
          <a:p>
            <a:endParaRPr lang="en-GB" dirty="0"/>
          </a:p>
        </p:txBody>
      </p:sp>
    </p:spTree>
    <p:extLst>
      <p:ext uri="{BB962C8B-B14F-4D97-AF65-F5344CB8AC3E}">
        <p14:creationId xmlns:p14="http://schemas.microsoft.com/office/powerpoint/2010/main" val="884162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Roles and Responsibilities</a:t>
            </a:r>
          </a:p>
        </p:txBody>
      </p:sp>
      <p:sp>
        <p:nvSpPr>
          <p:cNvPr id="3" name="Content Placeholder 2"/>
          <p:cNvSpPr>
            <a:spLocks noGrp="1"/>
          </p:cNvSpPr>
          <p:nvPr>
            <p:ph idx="1"/>
          </p:nvPr>
        </p:nvSpPr>
        <p:spPr/>
        <p:txBody>
          <a:bodyPr/>
          <a:lstStyle/>
          <a:p>
            <a:r>
              <a:rPr lang="en-US" sz="2800" dirty="0"/>
              <a:t>Data Owner:</a:t>
            </a:r>
          </a:p>
          <a:p>
            <a:r>
              <a:rPr lang="en-US" sz="2800" dirty="0"/>
              <a:t>The data owner role is assigned to the person who is responsible for classifying information for placement and protection within the security solution. </a:t>
            </a:r>
          </a:p>
          <a:p>
            <a:r>
              <a:rPr lang="en-US" sz="2800" dirty="0"/>
              <a:t>Typically a high-level manager who is ultimately responsible for data protection.</a:t>
            </a:r>
          </a:p>
          <a:p>
            <a:r>
              <a:rPr lang="en-US" sz="2800" dirty="0"/>
              <a:t>The data owner usually delegates the responsibility of the actual data management tasks to a data custodian.</a:t>
            </a:r>
            <a:endParaRPr lang="en-GB" sz="2800" dirty="0"/>
          </a:p>
        </p:txBody>
      </p:sp>
    </p:spTree>
    <p:extLst>
      <p:ext uri="{BB962C8B-B14F-4D97-AF65-F5344CB8AC3E}">
        <p14:creationId xmlns:p14="http://schemas.microsoft.com/office/powerpoint/2010/main" val="1882263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Security Roles and Responsibilities</a:t>
            </a:r>
          </a:p>
        </p:txBody>
      </p:sp>
      <p:sp>
        <p:nvSpPr>
          <p:cNvPr id="3" name="Content Placeholder 2"/>
          <p:cNvSpPr>
            <a:spLocks noGrp="1"/>
          </p:cNvSpPr>
          <p:nvPr>
            <p:ph idx="1"/>
          </p:nvPr>
        </p:nvSpPr>
        <p:spPr/>
        <p:txBody>
          <a:bodyPr/>
          <a:lstStyle/>
          <a:p>
            <a:r>
              <a:rPr lang="en-US" sz="2400" dirty="0"/>
              <a:t>Data Custodian:</a:t>
            </a:r>
          </a:p>
          <a:p>
            <a:r>
              <a:rPr lang="en-US" sz="2400" dirty="0"/>
              <a:t>The data custodian role is assigned to the user who is responsible for the tasks of implementing the prescribed protection defined by the security policy and senior management. </a:t>
            </a:r>
          </a:p>
          <a:p>
            <a:r>
              <a:rPr lang="en-US" sz="2400" dirty="0"/>
              <a:t>The data custodian performs all activities necessary to provide adequate protection for the CIA Triad of data and to fulfill the requirements and responsibilities delegated from upper management. </a:t>
            </a:r>
          </a:p>
          <a:p>
            <a:r>
              <a:rPr lang="en-US" sz="2400" dirty="0"/>
              <a:t>These activities can include performing and testing backups, validating data integrity, deploying security solutions, and managing data storage based on classification.</a:t>
            </a:r>
            <a:endParaRPr lang="en-GB" dirty="0"/>
          </a:p>
        </p:txBody>
      </p:sp>
    </p:spTree>
    <p:extLst>
      <p:ext uri="{BB962C8B-B14F-4D97-AF65-F5344CB8AC3E}">
        <p14:creationId xmlns:p14="http://schemas.microsoft.com/office/powerpoint/2010/main" val="2307056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Security Roles and Responsibilities</a:t>
            </a:r>
          </a:p>
        </p:txBody>
      </p:sp>
      <p:sp>
        <p:nvSpPr>
          <p:cNvPr id="3" name="Content Placeholder 2"/>
          <p:cNvSpPr>
            <a:spLocks noGrp="1"/>
          </p:cNvSpPr>
          <p:nvPr>
            <p:ph idx="1"/>
          </p:nvPr>
        </p:nvSpPr>
        <p:spPr/>
        <p:txBody>
          <a:bodyPr/>
          <a:lstStyle/>
          <a:p>
            <a:r>
              <a:rPr lang="en-US" sz="2400" dirty="0"/>
              <a:t>User:</a:t>
            </a:r>
          </a:p>
          <a:p>
            <a:r>
              <a:rPr lang="en-US" sz="2400" dirty="0"/>
              <a:t>The user (end user or operator) role is assigned to any person who has access to the secured system. </a:t>
            </a:r>
          </a:p>
          <a:p>
            <a:r>
              <a:rPr lang="en-US" sz="2400" dirty="0"/>
              <a:t>A user’s access is tied to their work tasks and is limited so they have only enough access to perform the tasks necessary for their job position (the principle of least privilege).</a:t>
            </a:r>
          </a:p>
          <a:p>
            <a:r>
              <a:rPr lang="en-US" sz="2400" dirty="0"/>
              <a:t>Responsible for understanding and upholding the security policy of an organisation by following prescribed operational procedures and operating within defined security parameters. </a:t>
            </a:r>
            <a:r>
              <a:rPr lang="en-US" sz="2400" i="1" dirty="0">
                <a:solidFill>
                  <a:srgbClr val="FF0000"/>
                </a:solidFill>
              </a:rPr>
              <a:t>(Induction and continuous training is important!)</a:t>
            </a:r>
            <a:endParaRPr lang="en-GB" sz="2400" i="1" dirty="0">
              <a:solidFill>
                <a:srgbClr val="FF0000"/>
              </a:solidFill>
            </a:endParaRPr>
          </a:p>
        </p:txBody>
      </p:sp>
    </p:spTree>
    <p:extLst>
      <p:ext uri="{BB962C8B-B14F-4D97-AF65-F5344CB8AC3E}">
        <p14:creationId xmlns:p14="http://schemas.microsoft.com/office/powerpoint/2010/main" val="1391909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Security Roles and Responsibilities</a:t>
            </a:r>
          </a:p>
        </p:txBody>
      </p:sp>
      <p:sp>
        <p:nvSpPr>
          <p:cNvPr id="3" name="Content Placeholder 2"/>
          <p:cNvSpPr>
            <a:spLocks noGrp="1"/>
          </p:cNvSpPr>
          <p:nvPr>
            <p:ph idx="1"/>
          </p:nvPr>
        </p:nvSpPr>
        <p:spPr/>
        <p:txBody>
          <a:bodyPr/>
          <a:lstStyle/>
          <a:p>
            <a:r>
              <a:rPr lang="en-US" sz="2400" dirty="0"/>
              <a:t>Auditor:</a:t>
            </a:r>
          </a:p>
          <a:p>
            <a:r>
              <a:rPr lang="en-US" sz="2400" dirty="0"/>
              <a:t>An auditor is responsible for reviewing and verifying that the security policy is properly implemented and the derived security solutions are adequate. </a:t>
            </a:r>
          </a:p>
          <a:p>
            <a:r>
              <a:rPr lang="en-US" sz="2400" dirty="0"/>
              <a:t>The auditor role may be assigned to a security professional or a trained user. </a:t>
            </a:r>
          </a:p>
          <a:p>
            <a:r>
              <a:rPr lang="en-US" sz="2400" dirty="0"/>
              <a:t>The auditor produces compliance and effectiveness reports that are reviewed by the senior manager. </a:t>
            </a:r>
          </a:p>
          <a:p>
            <a:r>
              <a:rPr lang="en-US" sz="2400" dirty="0"/>
              <a:t>Issues discovered through these reports are transformed into new directives assigned by the senior manager to security professionals or data custodians. </a:t>
            </a:r>
          </a:p>
        </p:txBody>
      </p:sp>
    </p:spTree>
    <p:extLst>
      <p:ext uri="{BB962C8B-B14F-4D97-AF65-F5344CB8AC3E}">
        <p14:creationId xmlns:p14="http://schemas.microsoft.com/office/powerpoint/2010/main" val="179209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2221831" y="2174708"/>
            <a:ext cx="7565982" cy="2317082"/>
          </a:xfrm>
          <a:prstGeom prst="rect">
            <a:avLst/>
          </a:prstGeom>
        </p:spPr>
      </p:pic>
    </p:spTree>
    <p:extLst>
      <p:ext uri="{BB962C8B-B14F-4D97-AF65-F5344CB8AC3E}">
        <p14:creationId xmlns:p14="http://schemas.microsoft.com/office/powerpoint/2010/main" val="874570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Planning</a:t>
            </a:r>
          </a:p>
        </p:txBody>
      </p:sp>
      <p:sp>
        <p:nvSpPr>
          <p:cNvPr id="3" name="Content Placeholder 2"/>
          <p:cNvSpPr>
            <a:spLocks noGrp="1"/>
          </p:cNvSpPr>
          <p:nvPr>
            <p:ph idx="1"/>
          </p:nvPr>
        </p:nvSpPr>
        <p:spPr/>
        <p:txBody>
          <a:bodyPr/>
          <a:lstStyle/>
          <a:p>
            <a:r>
              <a:rPr lang="en-US" dirty="0"/>
              <a:t>Significant amount of planning goes into developing a solid security policy.</a:t>
            </a:r>
          </a:p>
          <a:p>
            <a:r>
              <a:rPr lang="en-US" dirty="0"/>
              <a:t>Planning for security must start with planning to plan, then move into planning for standards and compliance </a:t>
            </a:r>
          </a:p>
          <a:p>
            <a:r>
              <a:rPr lang="en-US" dirty="0"/>
              <a:t>Finally move into the actual plan development and design</a:t>
            </a:r>
            <a:endParaRPr lang="en-GB" dirty="0"/>
          </a:p>
        </p:txBody>
      </p:sp>
    </p:spTree>
    <p:extLst>
      <p:ext uri="{BB962C8B-B14F-4D97-AF65-F5344CB8AC3E}">
        <p14:creationId xmlns:p14="http://schemas.microsoft.com/office/powerpoint/2010/main" val="443124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Planning</a:t>
            </a:r>
          </a:p>
        </p:txBody>
      </p:sp>
      <p:sp>
        <p:nvSpPr>
          <p:cNvPr id="3" name="Content Placeholder 2"/>
          <p:cNvSpPr>
            <a:spLocks noGrp="1"/>
          </p:cNvSpPr>
          <p:nvPr>
            <p:ph idx="1"/>
          </p:nvPr>
        </p:nvSpPr>
        <p:spPr/>
        <p:txBody>
          <a:bodyPr/>
          <a:lstStyle/>
          <a:p>
            <a:r>
              <a:rPr lang="en-US" dirty="0"/>
              <a:t>One of the first and most important security planning steps is to consider the overall control framework or structure of the security solution desired.</a:t>
            </a:r>
          </a:p>
          <a:p>
            <a:r>
              <a:rPr lang="en-US" dirty="0"/>
              <a:t>There are a number of frameworks:</a:t>
            </a:r>
          </a:p>
          <a:p>
            <a:pPr lvl="1"/>
            <a:r>
              <a:rPr lang="en-US" dirty="0"/>
              <a:t>COBIT - Control Objectives for Information and Related Technology</a:t>
            </a:r>
          </a:p>
          <a:p>
            <a:pPr lvl="1"/>
            <a:r>
              <a:rPr lang="en-US" dirty="0"/>
              <a:t>OSSTMM - Open Source Security Testing Methodology Manual</a:t>
            </a:r>
          </a:p>
          <a:p>
            <a:pPr lvl="1"/>
            <a:r>
              <a:rPr lang="en-GB" dirty="0"/>
              <a:t>ITIL - Information Technology Infrastructure Library </a:t>
            </a:r>
          </a:p>
        </p:txBody>
      </p:sp>
    </p:spTree>
    <p:extLst>
      <p:ext uri="{BB962C8B-B14F-4D97-AF65-F5344CB8AC3E}">
        <p14:creationId xmlns:p14="http://schemas.microsoft.com/office/powerpoint/2010/main" val="3346505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International Organisation for Standardisation (ISO)</a:t>
            </a:r>
          </a:p>
        </p:txBody>
      </p:sp>
      <p:sp>
        <p:nvSpPr>
          <p:cNvPr id="3" name="Content Placeholder 2"/>
          <p:cNvSpPr>
            <a:spLocks noGrp="1"/>
          </p:cNvSpPr>
          <p:nvPr>
            <p:ph idx="1"/>
          </p:nvPr>
        </p:nvSpPr>
        <p:spPr/>
        <p:txBody>
          <a:bodyPr/>
          <a:lstStyle/>
          <a:p>
            <a:r>
              <a:rPr lang="en-US" sz="2400" dirty="0"/>
              <a:t>ISO/IEC 27002:2013 gives guidelines for organizational information security standards and information security management practices including the selection, implementation and management of controls taking into consideration the organization's information security risk environment(s).</a:t>
            </a:r>
          </a:p>
          <a:p>
            <a:endParaRPr lang="en-US" sz="2400" dirty="0"/>
          </a:p>
          <a:p>
            <a:r>
              <a:rPr lang="en-US" sz="2400" dirty="0"/>
              <a:t>It is designed to be used by organizations that intend to: select controls within the process of implementing an Information Security Management System based on ISO/IEC 27001; implement commonly accepted information security controls; develop their own information security management guidelines.</a:t>
            </a:r>
          </a:p>
          <a:p>
            <a:pPr marL="0" indent="0">
              <a:buNone/>
            </a:pPr>
            <a:endParaRPr lang="en-GB" dirty="0"/>
          </a:p>
        </p:txBody>
      </p:sp>
    </p:spTree>
    <p:extLst>
      <p:ext uri="{BB962C8B-B14F-4D97-AF65-F5344CB8AC3E}">
        <p14:creationId xmlns:p14="http://schemas.microsoft.com/office/powerpoint/2010/main" val="259491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ISO/IEC 27001</a:t>
            </a:r>
          </a:p>
        </p:txBody>
      </p:sp>
      <p:sp>
        <p:nvSpPr>
          <p:cNvPr id="3" name="Content Placeholder 2"/>
          <p:cNvSpPr>
            <a:spLocks noGrp="1"/>
          </p:cNvSpPr>
          <p:nvPr>
            <p:ph idx="1"/>
          </p:nvPr>
        </p:nvSpPr>
        <p:spPr>
          <a:xfrm>
            <a:off x="753979" y="1084597"/>
            <a:ext cx="10363200" cy="4114800"/>
          </a:xfrm>
        </p:spPr>
        <p:txBody>
          <a:bodyPr/>
          <a:lstStyle/>
          <a:p>
            <a:pPr>
              <a:buFont typeface="+mj-lt"/>
              <a:buAutoNum type="arabicPeriod"/>
            </a:pPr>
            <a:r>
              <a:rPr lang="en-US" sz="1800" dirty="0"/>
              <a:t>Scope - it specifies generic ISMS requirements suitable for organizations of any type, size or nature.</a:t>
            </a:r>
          </a:p>
          <a:p>
            <a:pPr>
              <a:buFont typeface="+mj-lt"/>
              <a:buAutoNum type="arabicPeriod"/>
            </a:pPr>
            <a:endParaRPr lang="en-US" sz="1800" dirty="0"/>
          </a:p>
          <a:p>
            <a:pPr>
              <a:buFont typeface="+mj-lt"/>
              <a:buAutoNum type="arabicPeriod"/>
            </a:pPr>
            <a:r>
              <a:rPr lang="en-US" sz="1800" dirty="0"/>
              <a:t>Normative references - only ISO/IEC 27000 is considered absolutely essential to users of ’27001: the remaining ISO27k standards are optional.</a:t>
            </a:r>
          </a:p>
          <a:p>
            <a:pPr>
              <a:buFont typeface="+mj-lt"/>
              <a:buAutoNum type="arabicPeriod"/>
            </a:pPr>
            <a:endParaRPr lang="en-US" sz="1800" dirty="0"/>
          </a:p>
          <a:p>
            <a:pPr>
              <a:buFont typeface="+mj-lt"/>
              <a:buAutoNum type="arabicPeriod"/>
            </a:pPr>
            <a:r>
              <a:rPr lang="en-US" sz="1800" dirty="0"/>
              <a:t>Terms and definitions - see ISO/IEC 27000.</a:t>
            </a:r>
          </a:p>
          <a:p>
            <a:pPr>
              <a:buFont typeface="+mj-lt"/>
              <a:buAutoNum type="arabicPeriod"/>
            </a:pPr>
            <a:endParaRPr lang="en-US" sz="1800" dirty="0"/>
          </a:p>
          <a:p>
            <a:pPr>
              <a:buFont typeface="+mj-lt"/>
              <a:buAutoNum type="arabicPeriod"/>
            </a:pPr>
            <a:r>
              <a:rPr lang="en-US" sz="1800" dirty="0"/>
              <a:t>Context of the organization - understanding the organizational context, the needs and expectations of ‘interested parties’ and defining the scope of the ISMS. Section 4.4 states very plainly that “The organization shall establish, implement, maintain and continually improve” the ISMS.</a:t>
            </a:r>
          </a:p>
          <a:p>
            <a:pPr>
              <a:buFont typeface="+mj-lt"/>
              <a:buAutoNum type="arabicPeriod"/>
            </a:pPr>
            <a:endParaRPr lang="en-US" sz="1800" dirty="0"/>
          </a:p>
          <a:p>
            <a:pPr>
              <a:buFont typeface="+mj-lt"/>
              <a:buAutoNum type="arabicPeriod"/>
            </a:pPr>
            <a:r>
              <a:rPr lang="en-US" sz="1800" dirty="0"/>
              <a:t>Leadership - top management must demonstrate leadership and commitment to the ISMS, mandate policy, and assign information security roles, responsibilities and authorities.</a:t>
            </a:r>
          </a:p>
          <a:p>
            <a:endParaRPr lang="en-US" sz="1100" dirty="0"/>
          </a:p>
        </p:txBody>
      </p:sp>
    </p:spTree>
    <p:extLst>
      <p:ext uri="{BB962C8B-B14F-4D97-AF65-F5344CB8AC3E}">
        <p14:creationId xmlns:p14="http://schemas.microsoft.com/office/powerpoint/2010/main" val="52236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ISO/IEC 27001</a:t>
            </a:r>
          </a:p>
        </p:txBody>
      </p:sp>
      <p:sp>
        <p:nvSpPr>
          <p:cNvPr id="3" name="Content Placeholder 2"/>
          <p:cNvSpPr>
            <a:spLocks noGrp="1"/>
          </p:cNvSpPr>
          <p:nvPr>
            <p:ph idx="1"/>
          </p:nvPr>
        </p:nvSpPr>
        <p:spPr>
          <a:xfrm>
            <a:off x="753979" y="1285875"/>
            <a:ext cx="10363200" cy="4114800"/>
          </a:xfrm>
        </p:spPr>
        <p:txBody>
          <a:bodyPr/>
          <a:lstStyle/>
          <a:p>
            <a:pPr>
              <a:buFont typeface="+mj-lt"/>
              <a:buAutoNum type="arabicPeriod" startAt="6"/>
            </a:pPr>
            <a:r>
              <a:rPr lang="en-US" sz="1800" dirty="0"/>
              <a:t>Planning - outlines the process to identify, analyze and plan to treat information risks, and clarify the objectives of information security.</a:t>
            </a:r>
          </a:p>
          <a:p>
            <a:pPr>
              <a:buFont typeface="+mj-lt"/>
              <a:buAutoNum type="arabicPeriod" startAt="6"/>
            </a:pPr>
            <a:endParaRPr lang="en-US" sz="1800" dirty="0"/>
          </a:p>
          <a:p>
            <a:pPr>
              <a:buFont typeface="+mj-lt"/>
              <a:buAutoNum type="arabicPeriod" startAt="6"/>
            </a:pPr>
            <a:r>
              <a:rPr lang="en-US" sz="1800" dirty="0"/>
              <a:t>Support - adequate, competent resources must be assigned, awareness raised, documentation prepared and controlled.</a:t>
            </a:r>
          </a:p>
          <a:p>
            <a:pPr>
              <a:buFont typeface="+mj-lt"/>
              <a:buAutoNum type="arabicPeriod" startAt="6"/>
            </a:pPr>
            <a:endParaRPr lang="en-US" sz="1800" dirty="0"/>
          </a:p>
          <a:p>
            <a:pPr>
              <a:buFont typeface="+mj-lt"/>
              <a:buAutoNum type="arabicPeriod" startAt="6"/>
            </a:pPr>
            <a:r>
              <a:rPr lang="en-US" sz="1800" dirty="0"/>
              <a:t>Operation - a bit more detail about assessing and treating information risks, managing changes, and documenting things (partly so that they can be audited by the certification auditors).</a:t>
            </a:r>
          </a:p>
          <a:p>
            <a:pPr>
              <a:buFont typeface="+mj-lt"/>
              <a:buAutoNum type="arabicPeriod" startAt="6"/>
            </a:pPr>
            <a:endParaRPr lang="en-US" sz="1800" dirty="0"/>
          </a:p>
          <a:p>
            <a:pPr>
              <a:buFont typeface="+mj-lt"/>
              <a:buAutoNum type="arabicPeriod" startAt="6"/>
            </a:pPr>
            <a:r>
              <a:rPr lang="en-US" sz="1800" dirty="0"/>
              <a:t>Performance evaluation - monitor, measure, analyze and evaluate/audit/review the information security controls, processes and management system, systematically improving things where necessary.</a:t>
            </a:r>
          </a:p>
          <a:p>
            <a:pPr>
              <a:buFont typeface="+mj-lt"/>
              <a:buAutoNum type="arabicPeriod" startAt="6"/>
            </a:pPr>
            <a:endParaRPr lang="en-US" sz="1800" dirty="0"/>
          </a:p>
          <a:p>
            <a:pPr>
              <a:buFont typeface="+mj-lt"/>
              <a:buAutoNum type="arabicPeriod" startAt="6"/>
            </a:pPr>
            <a:r>
              <a:rPr lang="en-US" sz="1800" dirty="0"/>
              <a:t>Improvement - address the findings of audits and reviews (e.g. nonconformities and corrective actions), make continual refinements to the ISMS.</a:t>
            </a:r>
            <a:endParaRPr lang="en-GB" sz="1800" dirty="0"/>
          </a:p>
        </p:txBody>
      </p:sp>
    </p:spTree>
    <p:extLst>
      <p:ext uri="{BB962C8B-B14F-4D97-AF65-F5344CB8AC3E}">
        <p14:creationId xmlns:p14="http://schemas.microsoft.com/office/powerpoint/2010/main" val="2042739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883820"/>
          </a:xfrm>
        </p:spPr>
        <p:txBody>
          <a:bodyPr/>
          <a:lstStyle/>
          <a:p>
            <a:r>
              <a:rPr lang="en-GB" sz="3600" dirty="0">
                <a:latin typeface="Georgia" panose="02040502050405020303" pitchFamily="18" charset="0"/>
              </a:rPr>
              <a:t>ISO/IEC 27001 (Annex A)</a:t>
            </a:r>
          </a:p>
        </p:txBody>
      </p:sp>
      <p:sp>
        <p:nvSpPr>
          <p:cNvPr id="3" name="Content Placeholder 2"/>
          <p:cNvSpPr>
            <a:spLocks noGrp="1"/>
          </p:cNvSpPr>
          <p:nvPr>
            <p:ph idx="1"/>
          </p:nvPr>
        </p:nvSpPr>
        <p:spPr>
          <a:xfrm>
            <a:off x="352926" y="860007"/>
            <a:ext cx="10363200" cy="4114800"/>
          </a:xfrm>
        </p:spPr>
        <p:txBody>
          <a:bodyPr/>
          <a:lstStyle/>
          <a:p>
            <a:r>
              <a:rPr lang="en-US" sz="1600" dirty="0"/>
              <a:t>There are 114 controls in 14 clauses and 35 control categories.</a:t>
            </a:r>
          </a:p>
          <a:p>
            <a:endParaRPr lang="en-US" sz="1600" dirty="0"/>
          </a:p>
          <a:p>
            <a:r>
              <a:rPr lang="en-US" sz="1600" dirty="0"/>
              <a:t>A.5: Information security policies (2 controls)</a:t>
            </a:r>
          </a:p>
          <a:p>
            <a:r>
              <a:rPr lang="en-US" sz="1600" dirty="0"/>
              <a:t>A.6: Organization of information security (7 controls)</a:t>
            </a:r>
          </a:p>
          <a:p>
            <a:r>
              <a:rPr lang="en-US" sz="1600" dirty="0"/>
              <a:t>A.7: Human resource security - 6 controls that are applied before, during, or after employment</a:t>
            </a:r>
          </a:p>
          <a:p>
            <a:r>
              <a:rPr lang="en-US" sz="1600" dirty="0"/>
              <a:t>A.8: Asset management (10 controls)</a:t>
            </a:r>
          </a:p>
          <a:p>
            <a:r>
              <a:rPr lang="en-US" sz="1600" dirty="0"/>
              <a:t>A.9: Access control (14 controls)</a:t>
            </a:r>
          </a:p>
          <a:p>
            <a:r>
              <a:rPr lang="en-US" sz="1600" dirty="0"/>
              <a:t>A.10: Cryptography (2 controls)</a:t>
            </a:r>
          </a:p>
          <a:p>
            <a:r>
              <a:rPr lang="en-US" sz="1600" dirty="0"/>
              <a:t>A.11: Physical and environmental security (15 controls)</a:t>
            </a:r>
          </a:p>
          <a:p>
            <a:r>
              <a:rPr lang="en-US" sz="1600" dirty="0"/>
              <a:t>A.12: Operations security (14 controls)</a:t>
            </a:r>
          </a:p>
          <a:p>
            <a:r>
              <a:rPr lang="en-US" sz="1600" dirty="0"/>
              <a:t>A.13: Communications security (7 controls)</a:t>
            </a:r>
          </a:p>
          <a:p>
            <a:r>
              <a:rPr lang="en-US" sz="1600" dirty="0"/>
              <a:t>A.14: System acquisition, development and maintenance (13 controls)</a:t>
            </a:r>
          </a:p>
          <a:p>
            <a:r>
              <a:rPr lang="en-US" sz="1600" dirty="0"/>
              <a:t>A.15: Supplier relationships (5 controls)</a:t>
            </a:r>
          </a:p>
          <a:p>
            <a:r>
              <a:rPr lang="en-US" sz="1600" dirty="0"/>
              <a:t>A.16: Information security incident management (7 controls)</a:t>
            </a:r>
          </a:p>
          <a:p>
            <a:r>
              <a:rPr lang="en-US" sz="1600" dirty="0"/>
              <a:t>A.17: Information security aspects of business continuity management (4 controls)</a:t>
            </a:r>
          </a:p>
          <a:p>
            <a:r>
              <a:rPr lang="en-US" sz="1600" dirty="0"/>
              <a:t>A.18: Compliance; with internal requirements, such as policies, and with external requirements, such as laws (8 controls)</a:t>
            </a:r>
            <a:endParaRPr lang="en-GB" sz="1600" dirty="0"/>
          </a:p>
        </p:txBody>
      </p:sp>
    </p:spTree>
    <p:extLst>
      <p:ext uri="{BB962C8B-B14F-4D97-AF65-F5344CB8AC3E}">
        <p14:creationId xmlns:p14="http://schemas.microsoft.com/office/powerpoint/2010/main" val="1623293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Due Care and Due Diligence</a:t>
            </a:r>
            <a:endParaRPr lang="en-GB" sz="3600" dirty="0">
              <a:latin typeface="Georgia" panose="02040502050405020303" pitchFamily="18" charset="0"/>
            </a:endParaRPr>
          </a:p>
        </p:txBody>
      </p:sp>
      <p:sp>
        <p:nvSpPr>
          <p:cNvPr id="3" name="Content Placeholder 2"/>
          <p:cNvSpPr>
            <a:spLocks noGrp="1"/>
          </p:cNvSpPr>
          <p:nvPr>
            <p:ph idx="1"/>
          </p:nvPr>
        </p:nvSpPr>
        <p:spPr/>
        <p:txBody>
          <a:bodyPr/>
          <a:lstStyle/>
          <a:p>
            <a:r>
              <a:rPr lang="en-US" dirty="0"/>
              <a:t>Why is planning to plan security so important? </a:t>
            </a:r>
          </a:p>
          <a:p>
            <a:r>
              <a:rPr lang="en-US" dirty="0"/>
              <a:t>The requirement for due care and due diligence. </a:t>
            </a:r>
          </a:p>
          <a:p>
            <a:r>
              <a:rPr lang="en-US" dirty="0"/>
              <a:t>Due care is using reasonable care to protect the interests of an organization. </a:t>
            </a:r>
          </a:p>
          <a:p>
            <a:r>
              <a:rPr lang="en-US" dirty="0"/>
              <a:t>Due diligence is practicing the activities that maintain the due care effort.</a:t>
            </a:r>
            <a:endParaRPr lang="en-GB" dirty="0"/>
          </a:p>
        </p:txBody>
      </p:sp>
    </p:spTree>
    <p:extLst>
      <p:ext uri="{BB962C8B-B14F-4D97-AF65-F5344CB8AC3E}">
        <p14:creationId xmlns:p14="http://schemas.microsoft.com/office/powerpoint/2010/main" val="2871510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Policies</a:t>
            </a:r>
          </a:p>
        </p:txBody>
      </p:sp>
      <p:sp>
        <p:nvSpPr>
          <p:cNvPr id="3" name="Content Placeholder 2"/>
          <p:cNvSpPr>
            <a:spLocks noGrp="1"/>
          </p:cNvSpPr>
          <p:nvPr>
            <p:ph idx="1"/>
          </p:nvPr>
        </p:nvSpPr>
        <p:spPr/>
        <p:txBody>
          <a:bodyPr/>
          <a:lstStyle/>
          <a:p>
            <a:r>
              <a:rPr lang="en-US" dirty="0"/>
              <a:t>A security policy is a document that defines the scope of security needed by the organisation and discusses the assets that require protection and the extent to which security solutions should go to provide the necessary protection.</a:t>
            </a:r>
          </a:p>
          <a:p>
            <a:endParaRPr lang="en-GB" dirty="0"/>
          </a:p>
        </p:txBody>
      </p:sp>
    </p:spTree>
    <p:extLst>
      <p:ext uri="{BB962C8B-B14F-4D97-AF65-F5344CB8AC3E}">
        <p14:creationId xmlns:p14="http://schemas.microsoft.com/office/powerpoint/2010/main" val="2853475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4190" y="0"/>
            <a:ext cx="10363200" cy="1143000"/>
          </a:xfrm>
        </p:spPr>
        <p:txBody>
          <a:bodyPr/>
          <a:lstStyle/>
          <a:p>
            <a:r>
              <a:rPr lang="en-GB" dirty="0"/>
              <a:t>ISO 27001 Section 5.2</a:t>
            </a:r>
          </a:p>
        </p:txBody>
      </p:sp>
      <p:sp>
        <p:nvSpPr>
          <p:cNvPr id="3" name="Content Placeholder 2"/>
          <p:cNvSpPr>
            <a:spLocks noGrp="1"/>
          </p:cNvSpPr>
          <p:nvPr>
            <p:ph idx="1"/>
          </p:nvPr>
        </p:nvSpPr>
        <p:spPr>
          <a:xfrm>
            <a:off x="729916" y="1143000"/>
            <a:ext cx="10363200" cy="4114800"/>
          </a:xfrm>
        </p:spPr>
        <p:txBody>
          <a:bodyPr/>
          <a:lstStyle/>
          <a:p>
            <a:r>
              <a:rPr lang="en-GB" sz="2000" dirty="0"/>
              <a:t>Top management shall establish an information security policy that:</a:t>
            </a:r>
          </a:p>
          <a:p>
            <a:pPr marL="457200" indent="-457200">
              <a:buFont typeface="+mj-lt"/>
              <a:buAutoNum type="alphaLcParenR"/>
            </a:pPr>
            <a:r>
              <a:rPr lang="en-GB" sz="2000" dirty="0"/>
              <a:t>Is appropriate to the purpose of the organisation</a:t>
            </a:r>
          </a:p>
          <a:p>
            <a:pPr marL="457200" indent="-457200">
              <a:buFont typeface="+mj-lt"/>
              <a:buAutoNum type="alphaLcParenR"/>
            </a:pPr>
            <a:r>
              <a:rPr lang="en-GB" sz="2000" dirty="0"/>
              <a:t>Includes information security objectives or provides the framework for setting information security objectives</a:t>
            </a:r>
          </a:p>
          <a:p>
            <a:pPr marL="457200" indent="-457200">
              <a:buFont typeface="+mj-lt"/>
              <a:buAutoNum type="alphaLcParenR"/>
            </a:pPr>
            <a:r>
              <a:rPr lang="en-GB" sz="2000" dirty="0"/>
              <a:t>Includes a commitment to satisfy applicable requirements related to information security</a:t>
            </a:r>
          </a:p>
          <a:p>
            <a:pPr marL="457200" indent="-457200">
              <a:buFont typeface="+mj-lt"/>
              <a:buAutoNum type="alphaLcParenR"/>
            </a:pPr>
            <a:r>
              <a:rPr lang="en-GB" sz="2000" dirty="0"/>
              <a:t>Includes a commitment to continual improvement of the information security management system</a:t>
            </a:r>
          </a:p>
          <a:p>
            <a:r>
              <a:rPr lang="en-GB" sz="2000" dirty="0"/>
              <a:t>The information security policy shall:</a:t>
            </a:r>
          </a:p>
          <a:p>
            <a:pPr marL="457200" indent="-457200">
              <a:buFont typeface="+mj-lt"/>
              <a:buAutoNum type="alphaLcParenR" startAt="5"/>
            </a:pPr>
            <a:r>
              <a:rPr lang="en-GB" sz="2000" dirty="0"/>
              <a:t>Be available as documented information</a:t>
            </a:r>
          </a:p>
          <a:p>
            <a:pPr marL="457200" indent="-457200">
              <a:buFont typeface="+mj-lt"/>
              <a:buAutoNum type="alphaLcParenR" startAt="5"/>
            </a:pPr>
            <a:r>
              <a:rPr lang="en-GB" sz="2000" dirty="0"/>
              <a:t>Be communicated within the organisation</a:t>
            </a:r>
          </a:p>
          <a:p>
            <a:pPr marL="457200" indent="-457200">
              <a:buFont typeface="+mj-lt"/>
              <a:buAutoNum type="alphaLcParenR" startAt="5"/>
            </a:pPr>
            <a:r>
              <a:rPr lang="en-GB" sz="2000" dirty="0"/>
              <a:t>Be available to interested parties, as appropriate</a:t>
            </a:r>
          </a:p>
          <a:p>
            <a:endParaRPr lang="en-GB" sz="2000" dirty="0"/>
          </a:p>
        </p:txBody>
      </p:sp>
    </p:spTree>
    <p:extLst>
      <p:ext uri="{BB962C8B-B14F-4D97-AF65-F5344CB8AC3E}">
        <p14:creationId xmlns:p14="http://schemas.microsoft.com/office/powerpoint/2010/main" val="698561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Lec 1 Security Governan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 1 Security Governance</Template>
  <TotalTime>533</TotalTime>
  <Words>2387</Words>
  <Application>Microsoft Office PowerPoint</Application>
  <PresentationFormat>Widescreen</PresentationFormat>
  <Paragraphs>209</Paragraphs>
  <Slides>31</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31</vt:i4>
      </vt:variant>
    </vt:vector>
  </HeadingPairs>
  <TitlesOfParts>
    <vt:vector size="41" baseType="lpstr">
      <vt:lpstr>Arial</vt:lpstr>
      <vt:lpstr>Calibri</vt:lpstr>
      <vt:lpstr>Calibri Light</vt:lpstr>
      <vt:lpstr>Courier New</vt:lpstr>
      <vt:lpstr>Georgia</vt:lpstr>
      <vt:lpstr>Tahoma</vt:lpstr>
      <vt:lpstr>Times New Roman</vt:lpstr>
      <vt:lpstr>Lec 1 Security Governance</vt:lpstr>
      <vt:lpstr>Default Design</vt:lpstr>
      <vt:lpstr>1_Default Design</vt:lpstr>
      <vt:lpstr>Lecture 5 – Classification and Roles</vt:lpstr>
      <vt:lpstr>Data Classification</vt:lpstr>
      <vt:lpstr>Data Classification</vt:lpstr>
      <vt:lpstr>Benefits of using a data classification scheme</vt:lpstr>
      <vt:lpstr>Benefits of using a data classification scheme</vt:lpstr>
      <vt:lpstr>Criteria</vt:lpstr>
      <vt:lpstr>Steps for a classification scheme</vt:lpstr>
      <vt:lpstr>Declassification</vt:lpstr>
      <vt:lpstr>Classification schemes</vt:lpstr>
      <vt:lpstr>Classification schemes</vt:lpstr>
      <vt:lpstr>Classification schemes</vt:lpstr>
      <vt:lpstr>Classification schemes</vt:lpstr>
      <vt:lpstr>Classification schemes</vt:lpstr>
      <vt:lpstr>Ownership</vt:lpstr>
      <vt:lpstr>Security Roles and Responsibilities</vt:lpstr>
      <vt:lpstr>Security Roles and Responsibilities</vt:lpstr>
      <vt:lpstr>Security Roles and Responsibilities</vt:lpstr>
      <vt:lpstr>Security Roles and Responsibilities</vt:lpstr>
      <vt:lpstr>Security Roles and Responsibilities</vt:lpstr>
      <vt:lpstr>Security Roles and Responsibilities</vt:lpstr>
      <vt:lpstr>Security Roles and Responsibilities</vt:lpstr>
      <vt:lpstr>PowerPoint Presentation</vt:lpstr>
      <vt:lpstr>Planning</vt:lpstr>
      <vt:lpstr>Planning</vt:lpstr>
      <vt:lpstr>International Organisation for Standardisation (ISO)</vt:lpstr>
      <vt:lpstr>ISO/IEC 27001</vt:lpstr>
      <vt:lpstr>ISO/IEC 27001</vt:lpstr>
      <vt:lpstr>ISO/IEC 27001 (Annex A)</vt:lpstr>
      <vt:lpstr>Due Care and Due Diligence</vt:lpstr>
      <vt:lpstr>Security Policies</vt:lpstr>
      <vt:lpstr>ISO 27001 Section 5.2</vt:lpstr>
    </vt:vector>
  </TitlesOfParts>
  <Company>GU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Nigel Houlden</dc:creator>
  <cp:lastModifiedBy>Nigel Houlden</cp:lastModifiedBy>
  <cp:revision>34</cp:revision>
  <dcterms:created xsi:type="dcterms:W3CDTF">2019-01-07T11:18:16Z</dcterms:created>
  <dcterms:modified xsi:type="dcterms:W3CDTF">2020-10-19T10:44:39Z</dcterms:modified>
</cp:coreProperties>
</file>