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4" r:id="rId2"/>
  </p:sldMasterIdLst>
  <p:notesMasterIdLst>
    <p:notesMasterId r:id="rId40"/>
  </p:notesMasterIdLst>
  <p:sldIdLst>
    <p:sldId id="341" r:id="rId3"/>
    <p:sldId id="270" r:id="rId4"/>
    <p:sldId id="277" r:id="rId5"/>
    <p:sldId id="278" r:id="rId6"/>
    <p:sldId id="279" r:id="rId7"/>
    <p:sldId id="280" r:id="rId8"/>
    <p:sldId id="286" r:id="rId9"/>
    <p:sldId id="290" r:id="rId10"/>
    <p:sldId id="319" r:id="rId11"/>
    <p:sldId id="320" r:id="rId12"/>
    <p:sldId id="321" r:id="rId13"/>
    <p:sldId id="316" r:id="rId14"/>
    <p:sldId id="274" r:id="rId15"/>
    <p:sldId id="337" r:id="rId16"/>
    <p:sldId id="317" r:id="rId17"/>
    <p:sldId id="284" r:id="rId18"/>
    <p:sldId id="318" r:id="rId19"/>
    <p:sldId id="324" r:id="rId20"/>
    <p:sldId id="330" r:id="rId21"/>
    <p:sldId id="325" r:id="rId22"/>
    <p:sldId id="336" r:id="rId23"/>
    <p:sldId id="322" r:id="rId24"/>
    <p:sldId id="338" r:id="rId25"/>
    <p:sldId id="288" r:id="rId26"/>
    <p:sldId id="323" r:id="rId27"/>
    <p:sldId id="293" r:id="rId28"/>
    <p:sldId id="295" r:id="rId29"/>
    <p:sldId id="327" r:id="rId30"/>
    <p:sldId id="326" r:id="rId31"/>
    <p:sldId id="328" r:id="rId32"/>
    <p:sldId id="329" r:id="rId33"/>
    <p:sldId id="298" r:id="rId34"/>
    <p:sldId id="300" r:id="rId35"/>
    <p:sldId id="340" r:id="rId36"/>
    <p:sldId id="331" r:id="rId37"/>
    <p:sldId id="339" r:id="rId38"/>
    <p:sldId id="266"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7F607F-A8CB-4C0E-8902-49C3DFBA1D0A}" type="datetimeFigureOut">
              <a:rPr lang="en-GB" smtClean="0"/>
              <a:t>25/09/2020</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6CC5218-18F4-4139-A5A6-A18D760DFFB2}" type="slidenum">
              <a:rPr lang="en-GB" smtClean="0"/>
              <a:t>‹#›</a:t>
            </a:fld>
            <a:endParaRPr lang="en-GB"/>
          </a:p>
        </p:txBody>
      </p:sp>
    </p:spTree>
    <p:extLst>
      <p:ext uri="{BB962C8B-B14F-4D97-AF65-F5344CB8AC3E}">
        <p14:creationId xmlns:p14="http://schemas.microsoft.com/office/powerpoint/2010/main" val="3197840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0" fontAlgn="base" hangingPunct="0">
              <a:spcBef>
                <a:spcPct val="0"/>
              </a:spcBef>
              <a:spcAft>
                <a:spcPct val="0"/>
              </a:spcAft>
              <a:defRPr/>
            </a:pPr>
            <a:fld id="{71E9B611-79A5-4063-8624-6013F60C0F92}" type="slidenum">
              <a:rPr lang="en-GB" altLang="en-US" sz="1200" smtClean="0">
                <a:solidFill>
                  <a:srgbClr val="000000"/>
                </a:solidFill>
                <a:latin typeface="Times New Roman" panose="02020603050405020304" pitchFamily="18" charset="0"/>
              </a:rPr>
              <a:pPr eaLnBrk="0" fontAlgn="base" hangingPunct="0">
                <a:spcBef>
                  <a:spcPct val="0"/>
                </a:spcBef>
                <a:spcAft>
                  <a:spcPct val="0"/>
                </a:spcAft>
                <a:defRPr/>
              </a:pPr>
              <a:t>1</a:t>
            </a:fld>
            <a:endParaRPr lang="en-GB" altLang="en-US" sz="12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389884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9/25/2020</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4023604862"/>
      </p:ext>
    </p:extLst>
  </p:cSld>
  <p:clrMapOvr>
    <a:masterClrMapping/>
  </p:clrMapOvr>
  <p:transition advTm="5000">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dt" sz="half" idx="10"/>
          </p:nvPr>
        </p:nvSpPr>
        <p:spPr/>
        <p:txBody>
          <a:bodyPr/>
          <a:lstStyle>
            <a:lvl1pPr>
              <a:defRPr/>
            </a:lvl1pPr>
          </a:lstStyle>
          <a:p>
            <a:fld id="{C38D81F5-BCB9-4E4E-8DD0-830A5063C0E9}" type="datetimeFigureOut">
              <a:rPr lang="en-US" smtClean="0"/>
              <a:pPr/>
              <a:t>9/25/2020</a:t>
            </a:fld>
            <a:endParaRPr lang="en-US"/>
          </a:p>
        </p:txBody>
      </p:sp>
      <p:sp>
        <p:nvSpPr>
          <p:cNvPr id="7" name="Rectangle 6"/>
          <p:cNvSpPr>
            <a:spLocks noGrp="1" noChangeArrowheads="1"/>
          </p:cNvSpPr>
          <p:nvPr>
            <p:ph type="ftr" sz="quarter" idx="11"/>
          </p:nvPr>
        </p:nvSpPr>
        <p:spPr/>
        <p:txBody>
          <a:bodyPr/>
          <a:lstStyle>
            <a:lvl1pPr>
              <a:defRPr/>
            </a:lvl1pPr>
          </a:lstStyle>
          <a:p>
            <a:endParaRPr lang="en-US"/>
          </a:p>
        </p:txBody>
      </p:sp>
      <p:sp>
        <p:nvSpPr>
          <p:cNvPr id="8" name="Rectangle 7"/>
          <p:cNvSpPr>
            <a:spLocks noGrp="1" noChangeArrowheads="1"/>
          </p:cNvSpPr>
          <p:nvPr>
            <p:ph type="sldNum" sz="quarter" idx="12"/>
          </p:nvPr>
        </p:nvSpPr>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1103863403"/>
      </p:ext>
    </p:extLst>
  </p:cSld>
  <p:clrMapOvr>
    <a:masterClrMapping/>
  </p:clrMapOvr>
  <p:transition advTm="5000">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9/25/2020</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2610065956"/>
      </p:ext>
    </p:extLst>
  </p:cSld>
  <p:clrMapOvr>
    <a:masterClrMapping/>
  </p:clrMapOvr>
  <p:transition advTm="5000">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5800" y="1981200"/>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981200"/>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9/25/2020</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1903897501"/>
      </p:ext>
    </p:extLst>
  </p:cSld>
  <p:clrMapOvr>
    <a:masterClrMapping/>
  </p:clrMapOvr>
  <p:transition advTm="5000">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9/25/2020</a:t>
            </a:fld>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2118811596"/>
      </p:ext>
    </p:extLst>
  </p:cSld>
  <p:clrMapOvr>
    <a:masterClrMapping/>
  </p:clrMapOvr>
  <p:transition advTm="5000">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9/25/2020</a:t>
            </a:fld>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664966045"/>
      </p:ext>
    </p:extLst>
  </p:cSld>
  <p:clrMapOvr>
    <a:masterClrMapping/>
  </p:clrMapOvr>
  <p:transition advTm="5000">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9/25/2020</a:t>
            </a:fld>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3042293667"/>
      </p:ext>
    </p:extLst>
  </p:cSld>
  <p:clrMapOvr>
    <a:masterClrMapping/>
  </p:clrMapOvr>
  <p:transition advTm="5000">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9/25/2020</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1649038969"/>
      </p:ext>
    </p:extLst>
  </p:cSld>
  <p:clrMapOvr>
    <a:masterClrMapping/>
  </p:clrMapOvr>
  <p:transition advTm="5000">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9/25/2020</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275288426"/>
      </p:ext>
    </p:extLst>
  </p:cSld>
  <p:clrMapOvr>
    <a:masterClrMapping/>
  </p:clrMapOvr>
  <p:transition advTm="5000">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9/25/2020</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2219010456"/>
      </p:ext>
    </p:extLst>
  </p:cSld>
  <p:clrMapOvr>
    <a:masterClrMapping/>
  </p:clrMapOvr>
  <p:transition advTm="5000">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9/25/2020</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2391411347"/>
      </p:ext>
    </p:extLst>
  </p:cSld>
  <p:clrMapOvr>
    <a:masterClrMapping/>
  </p:clrMapOvr>
  <p:transition advTm="5000">
    <p:dissolv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9/25/2020</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1948653572"/>
      </p:ext>
    </p:extLst>
  </p:cSld>
  <p:clrMapOvr>
    <a:masterClrMapping/>
  </p:clrMapOvr>
  <p:transition advTm="5000">
    <p:dissolv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142875"/>
            <a:ext cx="77724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685800" y="1357313"/>
            <a:ext cx="7772400" cy="4114800"/>
          </a:xfrm>
        </p:spPr>
        <p:txBody>
          <a:bodyPr/>
          <a:lstStyle/>
          <a:p>
            <a:pPr lvl="0"/>
            <a:r>
              <a:rPr lang="en-US" noProof="0"/>
              <a:t>Click icon to add table</a:t>
            </a:r>
            <a:endParaRPr lang="en-GB" noProof="0"/>
          </a:p>
        </p:txBody>
      </p:sp>
      <p:sp>
        <p:nvSpPr>
          <p:cNvPr id="4" name="Rectangle 4"/>
          <p:cNvSpPr>
            <a:spLocks noGrp="1" noChangeArrowheads="1"/>
          </p:cNvSpPr>
          <p:nvPr>
            <p:ph type="dt" sz="half" idx="10"/>
          </p:nvPr>
        </p:nvSpPr>
        <p:spPr>
          <a:ln/>
        </p:spPr>
        <p:txBody>
          <a:bodyPr/>
          <a:lstStyle>
            <a:lvl1pPr>
              <a:defRPr/>
            </a:lvl1pPr>
          </a:lstStyle>
          <a:p>
            <a:fld id="{C38D81F5-BCB9-4E4E-8DD0-830A5063C0E9}" type="datetimeFigureOut">
              <a:rPr lang="en-US" smtClean="0"/>
              <a:pPr/>
              <a:t>9/25/2020</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EF09475-F7F7-1D47-BA3F-6600EC01B5CE}" type="slidenum">
              <a:rPr lang="en-US" smtClean="0"/>
              <a:pPr/>
              <a:t>‹#›</a:t>
            </a:fld>
            <a:endParaRPr lang="en-US"/>
          </a:p>
        </p:txBody>
      </p:sp>
    </p:spTree>
    <p:extLst>
      <p:ext uri="{BB962C8B-B14F-4D97-AF65-F5344CB8AC3E}">
        <p14:creationId xmlns:p14="http://schemas.microsoft.com/office/powerpoint/2010/main" val="3894090150"/>
      </p:ext>
    </p:extLst>
  </p:cSld>
  <p:clrMapOvr>
    <a:masterClrMapping/>
  </p:clrMapOvr>
  <p:transition advTm="5000">
    <p:dissolv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25/09/2020</a:t>
            </a:fld>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1960316503"/>
      </p:ext>
    </p:extLst>
  </p:cSld>
  <p:clrMapOvr>
    <a:masterClrMapping/>
  </p:clrMapOvr>
  <p:transition advTm="5000">
    <p:dissolv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dt" sz="half" idx="10"/>
          </p:nvPr>
        </p:nvSpPr>
        <p:spPr/>
        <p:txBody>
          <a:bodyPr/>
          <a:lstStyle>
            <a:lvl1pPr>
              <a:defRPr/>
            </a:lvl1pPr>
          </a:lstStyle>
          <a:p>
            <a:fld id="{EA8A833F-2814-4079-BC79-BFE80033B204}" type="datetimeFigureOut">
              <a:rPr lang="en-GB" smtClean="0">
                <a:solidFill>
                  <a:srgbClr val="000000"/>
                </a:solidFill>
              </a:rPr>
              <a:pPr/>
              <a:t>25/09/2020</a:t>
            </a:fld>
            <a:endParaRPr lang="en-GB">
              <a:solidFill>
                <a:srgbClr val="000000"/>
              </a:solidFill>
            </a:endParaRPr>
          </a:p>
        </p:txBody>
      </p:sp>
      <p:sp>
        <p:nvSpPr>
          <p:cNvPr id="7" name="Rectangle 6"/>
          <p:cNvSpPr>
            <a:spLocks noGrp="1" noChangeArrowheads="1"/>
          </p:cNvSpPr>
          <p:nvPr>
            <p:ph type="ftr" sz="quarter" idx="11"/>
          </p:nvPr>
        </p:nvSpPr>
        <p:spPr/>
        <p:txBody>
          <a:bodyPr/>
          <a:lstStyle>
            <a:lvl1pPr>
              <a:defRPr/>
            </a:lvl1pPr>
          </a:lstStyle>
          <a:p>
            <a:endParaRPr lang="en-GB">
              <a:solidFill>
                <a:srgbClr val="000000"/>
              </a:solidFill>
            </a:endParaRPr>
          </a:p>
        </p:txBody>
      </p:sp>
      <p:sp>
        <p:nvSpPr>
          <p:cNvPr id="8" name="Rectangle 7"/>
          <p:cNvSpPr>
            <a:spLocks noGrp="1" noChangeArrowheads="1"/>
          </p:cNvSpPr>
          <p:nvPr>
            <p:ph type="sldNum" sz="quarter" idx="12"/>
          </p:nvPr>
        </p:nvSpPr>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1416567531"/>
      </p:ext>
    </p:extLst>
  </p:cSld>
  <p:clrMapOvr>
    <a:masterClrMapping/>
  </p:clrMapOvr>
  <p:transition advTm="5000">
    <p:dissolv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25/09/2020</a:t>
            </a:fld>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2299223466"/>
      </p:ext>
    </p:extLst>
  </p:cSld>
  <p:clrMapOvr>
    <a:masterClrMapping/>
  </p:clrMapOvr>
  <p:transition advTm="5000">
    <p:dissolv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5800" y="1981200"/>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981200"/>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25/09/2020</a:t>
            </a:fld>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1251133200"/>
      </p:ext>
    </p:extLst>
  </p:cSld>
  <p:clrMapOvr>
    <a:masterClrMapping/>
  </p:clrMapOvr>
  <p:transition advTm="5000">
    <p:dissolv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25/09/2020</a:t>
            </a:fld>
            <a:endParaRPr lang="en-GB">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3612261666"/>
      </p:ext>
    </p:extLst>
  </p:cSld>
  <p:clrMapOvr>
    <a:masterClrMapping/>
  </p:clrMapOvr>
  <p:transition advTm="5000">
    <p:dissolv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25/09/2020</a:t>
            </a:fld>
            <a:endParaRPr lang="en-GB">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2136626220"/>
      </p:ext>
    </p:extLst>
  </p:cSld>
  <p:clrMapOvr>
    <a:masterClrMapping/>
  </p:clrMapOvr>
  <p:transition advTm="5000">
    <p:dissolv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25/09/2020</a:t>
            </a:fld>
            <a:endParaRPr lang="en-GB">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797136689"/>
      </p:ext>
    </p:extLst>
  </p:cSld>
  <p:clrMapOvr>
    <a:masterClrMapping/>
  </p:clrMapOvr>
  <p:transition advTm="5000">
    <p:dissolv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25/09/2020</a:t>
            </a:fld>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1675593672"/>
      </p:ext>
    </p:extLst>
  </p:cSld>
  <p:clrMapOvr>
    <a:masterClrMapping/>
  </p:clrMapOvr>
  <p:transition advTm="5000">
    <p:dissolv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25/09/2020</a:t>
            </a:fld>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3770682661"/>
      </p:ext>
    </p:extLst>
  </p:cSld>
  <p:clrMapOvr>
    <a:masterClrMapping/>
  </p:clrMapOvr>
  <p:transition advTm="5000">
    <p:dissolv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25/09/2020</a:t>
            </a:fld>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372185158"/>
      </p:ext>
    </p:extLst>
  </p:cSld>
  <p:clrMapOvr>
    <a:masterClrMapping/>
  </p:clrMapOvr>
  <p:transition advTm="5000">
    <p:dissolv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25/09/2020</a:t>
            </a:fld>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3653611906"/>
      </p:ext>
    </p:extLst>
  </p:cSld>
  <p:clrMapOvr>
    <a:masterClrMapping/>
  </p:clrMapOvr>
  <p:transition advTm="5000">
    <p:dissolv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25/09/2020</a:t>
            </a:fld>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4015860881"/>
      </p:ext>
    </p:extLst>
  </p:cSld>
  <p:clrMapOvr>
    <a:masterClrMapping/>
  </p:clrMapOvr>
  <p:transition advTm="5000">
    <p:dissolv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142875"/>
            <a:ext cx="77724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685800" y="1357313"/>
            <a:ext cx="7772400" cy="4114800"/>
          </a:xfrm>
        </p:spPr>
        <p:txBody>
          <a:bodyPr/>
          <a:lstStyle/>
          <a:p>
            <a:pPr lvl="0"/>
            <a:r>
              <a:rPr lang="en-US" noProof="0"/>
              <a:t>Click icon to add table</a:t>
            </a:r>
            <a:endParaRPr lang="en-GB" noProof="0"/>
          </a:p>
        </p:txBody>
      </p:sp>
      <p:sp>
        <p:nvSpPr>
          <p:cNvPr id="4" name="Rectangle 4"/>
          <p:cNvSpPr>
            <a:spLocks noGrp="1" noChangeArrowheads="1"/>
          </p:cNvSpPr>
          <p:nvPr>
            <p:ph type="dt" sz="half" idx="10"/>
          </p:nvPr>
        </p:nvSpPr>
        <p:spPr>
          <a:ln/>
        </p:spPr>
        <p:txBody>
          <a:bodyPr/>
          <a:lstStyle>
            <a:lvl1pPr>
              <a:defRPr/>
            </a:lvl1pPr>
          </a:lstStyle>
          <a:p>
            <a:fld id="{EA8A833F-2814-4079-BC79-BFE80033B204}" type="datetimeFigureOut">
              <a:rPr lang="en-GB" smtClean="0">
                <a:solidFill>
                  <a:srgbClr val="000000"/>
                </a:solidFill>
              </a:rPr>
              <a:pPr/>
              <a:t>25/09/2020</a:t>
            </a:fld>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C7D65C3B-8BB6-4EFA-B7CB-FBD88C7A4B71}" type="slidenum">
              <a:rPr lang="en-GB" smtClean="0">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4241471934"/>
      </p:ext>
    </p:extLst>
  </p:cSld>
  <p:clrMapOvr>
    <a:masterClrMapping/>
  </p:clrMapOvr>
  <p:transition advTm="5000">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42875"/>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GB"/>
          </a:p>
        </p:txBody>
      </p:sp>
      <p:sp>
        <p:nvSpPr>
          <p:cNvPr id="1027" name="Rectangle 3"/>
          <p:cNvSpPr>
            <a:spLocks noGrp="1" noChangeArrowheads="1"/>
          </p:cNvSpPr>
          <p:nvPr>
            <p:ph type="body" idx="1"/>
          </p:nvPr>
        </p:nvSpPr>
        <p:spPr bwMode="auto">
          <a:xfrm>
            <a:off x="685800" y="1357313"/>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50">
                <a:latin typeface="+mn-lt"/>
              </a:defRPr>
            </a:lvl1pPr>
          </a:lstStyle>
          <a:p>
            <a:fld id="{C38D81F5-BCB9-4E4E-8DD0-830A5063C0E9}" type="datetimeFigureOut">
              <a:rPr lang="en-US" smtClean="0"/>
              <a:pPr/>
              <a:t>9/25/2020</a:t>
            </a:fld>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50">
                <a:latin typeface="+mn-lt"/>
              </a:defRPr>
            </a:lvl1pPr>
          </a:lstStyle>
          <a:p>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50">
                <a:latin typeface="+mn-lt"/>
              </a:defRPr>
            </a:lvl1pPr>
          </a:lstStyle>
          <a:p>
            <a:fld id="{2EF09475-F7F7-1D47-BA3F-6600EC01B5CE}" type="slidenum">
              <a:rPr lang="en-US" smtClean="0"/>
              <a:pPr/>
              <a:t>‹#›</a:t>
            </a:fld>
            <a:endParaRPr lang="en-US"/>
          </a:p>
        </p:txBody>
      </p:sp>
      <p:pic>
        <p:nvPicPr>
          <p:cNvPr id="1031" name="Picture 65" descr="Glyndwr PPT-4"/>
          <p:cNvPicPr>
            <a:picLocks noChangeAspect="1" noChangeArrowheads="1"/>
          </p:cNvPicPr>
          <p:nvPr/>
        </p:nvPicPr>
        <p:blipFill>
          <a:blip r:embed="rId15" cstate="print"/>
          <a:srcRect/>
          <a:stretch>
            <a:fillRect/>
          </a:stretch>
        </p:blipFill>
        <p:spPr bwMode="auto">
          <a:xfrm>
            <a:off x="-1588" y="4868865"/>
            <a:ext cx="9145588" cy="1989137"/>
          </a:xfrm>
          <a:prstGeom prst="rect">
            <a:avLst/>
          </a:prstGeom>
          <a:noFill/>
          <a:ln w="9525">
            <a:noFill/>
            <a:miter lim="800000"/>
            <a:headEnd/>
            <a:tailEnd/>
          </a:ln>
        </p:spPr>
      </p:pic>
      <p:pic>
        <p:nvPicPr>
          <p:cNvPr id="8" name="Picture 7" descr="Powerpoint 4x3 (inside).jpg"/>
          <p:cNvPicPr>
            <a:picLocks noChangeAspect="1"/>
          </p:cNvPicPr>
          <p:nvPr userDrawn="1"/>
        </p:nvPicPr>
        <p:blipFill>
          <a:blip r:embed="rId16"/>
          <a:stretch>
            <a:fillRect/>
          </a:stretch>
        </p:blipFill>
        <p:spPr>
          <a:xfrm>
            <a:off x="0" y="0"/>
            <a:ext cx="9144000" cy="6858000"/>
          </a:xfrm>
          <a:prstGeom prst="rect">
            <a:avLst/>
          </a:prstGeom>
        </p:spPr>
      </p:pic>
    </p:spTree>
    <p:extLst>
      <p:ext uri="{BB962C8B-B14F-4D97-AF65-F5344CB8AC3E}">
        <p14:creationId xmlns:p14="http://schemas.microsoft.com/office/powerpoint/2010/main" val="29262835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advTm="5000">
    <p:dissolve/>
  </p:transition>
  <p:txStyles>
    <p:titleStyle>
      <a:lvl1pPr algn="ctr" rtl="0" eaLnBrk="1" fontAlgn="base" hangingPunct="1">
        <a:spcBef>
          <a:spcPct val="0"/>
        </a:spcBef>
        <a:spcAft>
          <a:spcPct val="0"/>
        </a:spcAft>
        <a:defRPr sz="33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Times New Roman" pitchFamily="18" charset="0"/>
        </a:defRPr>
      </a:lvl2pPr>
      <a:lvl3pPr algn="ctr" rtl="0" eaLnBrk="1" fontAlgn="base" hangingPunct="1">
        <a:spcBef>
          <a:spcPct val="0"/>
        </a:spcBef>
        <a:spcAft>
          <a:spcPct val="0"/>
        </a:spcAft>
        <a:defRPr sz="3300">
          <a:solidFill>
            <a:schemeClr val="tx2"/>
          </a:solidFill>
          <a:latin typeface="Times New Roman" pitchFamily="18" charset="0"/>
        </a:defRPr>
      </a:lvl3pPr>
      <a:lvl4pPr algn="ctr" rtl="0" eaLnBrk="1" fontAlgn="base" hangingPunct="1">
        <a:spcBef>
          <a:spcPct val="0"/>
        </a:spcBef>
        <a:spcAft>
          <a:spcPct val="0"/>
        </a:spcAft>
        <a:defRPr sz="3300">
          <a:solidFill>
            <a:schemeClr val="tx2"/>
          </a:solidFill>
          <a:latin typeface="Times New Roman" pitchFamily="18" charset="0"/>
        </a:defRPr>
      </a:lvl4pPr>
      <a:lvl5pPr algn="ctr" rtl="0" eaLnBrk="1" fontAlgn="base" hangingPunct="1">
        <a:spcBef>
          <a:spcPct val="0"/>
        </a:spcBef>
        <a:spcAft>
          <a:spcPct val="0"/>
        </a:spcAft>
        <a:defRPr sz="3300">
          <a:solidFill>
            <a:schemeClr val="tx2"/>
          </a:solidFill>
          <a:latin typeface="Times New Roman" pitchFamily="18" charset="0"/>
        </a:defRPr>
      </a:lvl5pPr>
      <a:lvl6pPr marL="342900" algn="ctr" rtl="0" eaLnBrk="1" fontAlgn="base" hangingPunct="1">
        <a:spcBef>
          <a:spcPct val="0"/>
        </a:spcBef>
        <a:spcAft>
          <a:spcPct val="0"/>
        </a:spcAft>
        <a:defRPr sz="3300">
          <a:solidFill>
            <a:schemeClr val="tx2"/>
          </a:solidFill>
          <a:latin typeface="Times New Roman" pitchFamily="18" charset="0"/>
        </a:defRPr>
      </a:lvl6pPr>
      <a:lvl7pPr marL="685800" algn="ctr" rtl="0" eaLnBrk="1" fontAlgn="base" hangingPunct="1">
        <a:spcBef>
          <a:spcPct val="0"/>
        </a:spcBef>
        <a:spcAft>
          <a:spcPct val="0"/>
        </a:spcAft>
        <a:defRPr sz="3300">
          <a:solidFill>
            <a:schemeClr val="tx2"/>
          </a:solidFill>
          <a:latin typeface="Times New Roman" pitchFamily="18" charset="0"/>
        </a:defRPr>
      </a:lvl7pPr>
      <a:lvl8pPr marL="1028700" algn="ctr" rtl="0" eaLnBrk="1" fontAlgn="base" hangingPunct="1">
        <a:spcBef>
          <a:spcPct val="0"/>
        </a:spcBef>
        <a:spcAft>
          <a:spcPct val="0"/>
        </a:spcAft>
        <a:defRPr sz="3300">
          <a:solidFill>
            <a:schemeClr val="tx2"/>
          </a:solidFill>
          <a:latin typeface="Times New Roman" pitchFamily="18" charset="0"/>
        </a:defRPr>
      </a:lvl8pPr>
      <a:lvl9pPr marL="1371600" algn="ctr" rtl="0" eaLnBrk="1" fontAlgn="base" hangingPunct="1">
        <a:spcBef>
          <a:spcPct val="0"/>
        </a:spcBef>
        <a:spcAft>
          <a:spcPct val="0"/>
        </a:spcAft>
        <a:defRPr sz="3300">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Char char="•"/>
        <a:defRPr sz="2400">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a:solidFill>
            <a:schemeClr val="tx1"/>
          </a:solidFill>
          <a:latin typeface="+mn-lt"/>
        </a:defRPr>
      </a:lvl2pPr>
      <a:lvl3pPr marL="857250" indent="-171450" algn="l" rtl="0" eaLnBrk="1" fontAlgn="base" hangingPunct="1">
        <a:spcBef>
          <a:spcPct val="20000"/>
        </a:spcBef>
        <a:spcAft>
          <a:spcPct val="0"/>
        </a:spcAft>
        <a:buChar char="•"/>
        <a:defRPr sz="1800">
          <a:solidFill>
            <a:schemeClr val="tx1"/>
          </a:solidFill>
          <a:latin typeface="+mn-lt"/>
        </a:defRPr>
      </a:lvl3pPr>
      <a:lvl4pPr marL="1200150" indent="-171450" algn="l" rtl="0" eaLnBrk="1" fontAlgn="base" hangingPunct="1">
        <a:spcBef>
          <a:spcPct val="20000"/>
        </a:spcBef>
        <a:spcAft>
          <a:spcPct val="0"/>
        </a:spcAft>
        <a:buChar char="–"/>
        <a:defRPr sz="1500">
          <a:solidFill>
            <a:schemeClr val="tx1"/>
          </a:solidFill>
          <a:latin typeface="+mn-lt"/>
        </a:defRPr>
      </a:lvl4pPr>
      <a:lvl5pPr marL="1543050" indent="-171450" algn="l" rtl="0" eaLnBrk="1" fontAlgn="base" hangingPunct="1">
        <a:spcBef>
          <a:spcPct val="20000"/>
        </a:spcBef>
        <a:spcAft>
          <a:spcPct val="0"/>
        </a:spcAft>
        <a:buChar char="»"/>
        <a:defRPr sz="1500">
          <a:solidFill>
            <a:schemeClr val="tx1"/>
          </a:solidFill>
          <a:latin typeface="+mn-lt"/>
        </a:defRPr>
      </a:lvl5pPr>
      <a:lvl6pPr marL="1885950" indent="-171450" algn="l" rtl="0" eaLnBrk="1" fontAlgn="base" hangingPunct="1">
        <a:spcBef>
          <a:spcPct val="20000"/>
        </a:spcBef>
        <a:spcAft>
          <a:spcPct val="0"/>
        </a:spcAft>
        <a:buChar char="»"/>
        <a:defRPr sz="1500">
          <a:solidFill>
            <a:schemeClr val="tx1"/>
          </a:solidFill>
          <a:latin typeface="+mn-lt"/>
        </a:defRPr>
      </a:lvl6pPr>
      <a:lvl7pPr marL="2228850" indent="-171450" algn="l" rtl="0" eaLnBrk="1" fontAlgn="base" hangingPunct="1">
        <a:spcBef>
          <a:spcPct val="20000"/>
        </a:spcBef>
        <a:spcAft>
          <a:spcPct val="0"/>
        </a:spcAft>
        <a:buChar char="»"/>
        <a:defRPr sz="1500">
          <a:solidFill>
            <a:schemeClr val="tx1"/>
          </a:solidFill>
          <a:latin typeface="+mn-lt"/>
        </a:defRPr>
      </a:lvl7pPr>
      <a:lvl8pPr marL="2571750" indent="-171450" algn="l" rtl="0" eaLnBrk="1" fontAlgn="base" hangingPunct="1">
        <a:spcBef>
          <a:spcPct val="20000"/>
        </a:spcBef>
        <a:spcAft>
          <a:spcPct val="0"/>
        </a:spcAft>
        <a:buChar char="»"/>
        <a:defRPr sz="1500">
          <a:solidFill>
            <a:schemeClr val="tx1"/>
          </a:solidFill>
          <a:latin typeface="+mn-lt"/>
        </a:defRPr>
      </a:lvl8pPr>
      <a:lvl9pPr marL="2914650" indent="-171450" algn="l" rtl="0" eaLnBrk="1" fontAlgn="base" hangingPunct="1">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42875"/>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GB"/>
          </a:p>
        </p:txBody>
      </p:sp>
      <p:sp>
        <p:nvSpPr>
          <p:cNvPr id="1027" name="Rectangle 3"/>
          <p:cNvSpPr>
            <a:spLocks noGrp="1" noChangeArrowheads="1"/>
          </p:cNvSpPr>
          <p:nvPr>
            <p:ph type="body" idx="1"/>
          </p:nvPr>
        </p:nvSpPr>
        <p:spPr bwMode="auto">
          <a:xfrm>
            <a:off x="685800" y="1357313"/>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50">
                <a:latin typeface="+mn-lt"/>
              </a:defRPr>
            </a:lvl1pPr>
          </a:lstStyle>
          <a:p>
            <a:fld id="{EA8A833F-2814-4079-BC79-BFE80033B204}" type="datetimeFigureOut">
              <a:rPr lang="en-GB" smtClean="0">
                <a:solidFill>
                  <a:srgbClr val="000000"/>
                </a:solidFill>
              </a:rPr>
              <a:pPr/>
              <a:t>25/09/2020</a:t>
            </a:fld>
            <a:endParaRPr lang="en-GB">
              <a:solidFill>
                <a:srgbClr val="000000"/>
              </a:solidFill>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50">
                <a:latin typeface="+mn-lt"/>
              </a:defRPr>
            </a:lvl1pPr>
          </a:lstStyle>
          <a:p>
            <a:endParaRPr lang="en-GB">
              <a:solidFill>
                <a:srgbClr val="000000"/>
              </a:solidFill>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50">
                <a:latin typeface="+mn-lt"/>
              </a:defRPr>
            </a:lvl1pPr>
          </a:lstStyle>
          <a:p>
            <a:fld id="{C7D65C3B-8BB6-4EFA-B7CB-FBD88C7A4B71}" type="slidenum">
              <a:rPr lang="en-GB" smtClean="0">
                <a:solidFill>
                  <a:srgbClr val="000000"/>
                </a:solidFill>
              </a:rPr>
              <a:pPr/>
              <a:t>‹#›</a:t>
            </a:fld>
            <a:endParaRPr lang="en-GB">
              <a:solidFill>
                <a:srgbClr val="000000"/>
              </a:solidFill>
            </a:endParaRPr>
          </a:p>
        </p:txBody>
      </p:sp>
      <p:pic>
        <p:nvPicPr>
          <p:cNvPr id="1031" name="Picture 65" descr="Glyndwr PPT-4"/>
          <p:cNvPicPr>
            <a:picLocks noChangeAspect="1" noChangeArrowheads="1"/>
          </p:cNvPicPr>
          <p:nvPr/>
        </p:nvPicPr>
        <p:blipFill>
          <a:blip r:embed="rId15" cstate="print"/>
          <a:srcRect/>
          <a:stretch>
            <a:fillRect/>
          </a:stretch>
        </p:blipFill>
        <p:spPr bwMode="auto">
          <a:xfrm>
            <a:off x="-1588" y="4868865"/>
            <a:ext cx="9145588" cy="1989137"/>
          </a:xfrm>
          <a:prstGeom prst="rect">
            <a:avLst/>
          </a:prstGeom>
          <a:noFill/>
          <a:ln w="9525">
            <a:noFill/>
            <a:miter lim="800000"/>
            <a:headEnd/>
            <a:tailEnd/>
          </a:ln>
        </p:spPr>
      </p:pic>
    </p:spTree>
    <p:extLst>
      <p:ext uri="{BB962C8B-B14F-4D97-AF65-F5344CB8AC3E}">
        <p14:creationId xmlns:p14="http://schemas.microsoft.com/office/powerpoint/2010/main" val="363834103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ransition advTm="5000">
    <p:dissolve/>
  </p:transition>
  <p:txStyles>
    <p:titleStyle>
      <a:lvl1pPr algn="ctr" rtl="0" eaLnBrk="1" fontAlgn="base" hangingPunct="1">
        <a:spcBef>
          <a:spcPct val="0"/>
        </a:spcBef>
        <a:spcAft>
          <a:spcPct val="0"/>
        </a:spcAft>
        <a:defRPr sz="33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Times New Roman" pitchFamily="18" charset="0"/>
        </a:defRPr>
      </a:lvl2pPr>
      <a:lvl3pPr algn="ctr" rtl="0" eaLnBrk="1" fontAlgn="base" hangingPunct="1">
        <a:spcBef>
          <a:spcPct val="0"/>
        </a:spcBef>
        <a:spcAft>
          <a:spcPct val="0"/>
        </a:spcAft>
        <a:defRPr sz="3300">
          <a:solidFill>
            <a:schemeClr val="tx2"/>
          </a:solidFill>
          <a:latin typeface="Times New Roman" pitchFamily="18" charset="0"/>
        </a:defRPr>
      </a:lvl3pPr>
      <a:lvl4pPr algn="ctr" rtl="0" eaLnBrk="1" fontAlgn="base" hangingPunct="1">
        <a:spcBef>
          <a:spcPct val="0"/>
        </a:spcBef>
        <a:spcAft>
          <a:spcPct val="0"/>
        </a:spcAft>
        <a:defRPr sz="3300">
          <a:solidFill>
            <a:schemeClr val="tx2"/>
          </a:solidFill>
          <a:latin typeface="Times New Roman" pitchFamily="18" charset="0"/>
        </a:defRPr>
      </a:lvl4pPr>
      <a:lvl5pPr algn="ctr" rtl="0" eaLnBrk="1" fontAlgn="base" hangingPunct="1">
        <a:spcBef>
          <a:spcPct val="0"/>
        </a:spcBef>
        <a:spcAft>
          <a:spcPct val="0"/>
        </a:spcAft>
        <a:defRPr sz="3300">
          <a:solidFill>
            <a:schemeClr val="tx2"/>
          </a:solidFill>
          <a:latin typeface="Times New Roman" pitchFamily="18" charset="0"/>
        </a:defRPr>
      </a:lvl5pPr>
      <a:lvl6pPr marL="342900" algn="ctr" rtl="0" eaLnBrk="1" fontAlgn="base" hangingPunct="1">
        <a:spcBef>
          <a:spcPct val="0"/>
        </a:spcBef>
        <a:spcAft>
          <a:spcPct val="0"/>
        </a:spcAft>
        <a:defRPr sz="3300">
          <a:solidFill>
            <a:schemeClr val="tx2"/>
          </a:solidFill>
          <a:latin typeface="Times New Roman" pitchFamily="18" charset="0"/>
        </a:defRPr>
      </a:lvl6pPr>
      <a:lvl7pPr marL="685800" algn="ctr" rtl="0" eaLnBrk="1" fontAlgn="base" hangingPunct="1">
        <a:spcBef>
          <a:spcPct val="0"/>
        </a:spcBef>
        <a:spcAft>
          <a:spcPct val="0"/>
        </a:spcAft>
        <a:defRPr sz="3300">
          <a:solidFill>
            <a:schemeClr val="tx2"/>
          </a:solidFill>
          <a:latin typeface="Times New Roman" pitchFamily="18" charset="0"/>
        </a:defRPr>
      </a:lvl7pPr>
      <a:lvl8pPr marL="1028700" algn="ctr" rtl="0" eaLnBrk="1" fontAlgn="base" hangingPunct="1">
        <a:spcBef>
          <a:spcPct val="0"/>
        </a:spcBef>
        <a:spcAft>
          <a:spcPct val="0"/>
        </a:spcAft>
        <a:defRPr sz="3300">
          <a:solidFill>
            <a:schemeClr val="tx2"/>
          </a:solidFill>
          <a:latin typeface="Times New Roman" pitchFamily="18" charset="0"/>
        </a:defRPr>
      </a:lvl8pPr>
      <a:lvl9pPr marL="1371600" algn="ctr" rtl="0" eaLnBrk="1" fontAlgn="base" hangingPunct="1">
        <a:spcBef>
          <a:spcPct val="0"/>
        </a:spcBef>
        <a:spcAft>
          <a:spcPct val="0"/>
        </a:spcAft>
        <a:defRPr sz="3300">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Char char="•"/>
        <a:defRPr sz="2400">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a:solidFill>
            <a:schemeClr val="tx1"/>
          </a:solidFill>
          <a:latin typeface="+mn-lt"/>
        </a:defRPr>
      </a:lvl2pPr>
      <a:lvl3pPr marL="857250" indent="-171450" algn="l" rtl="0" eaLnBrk="1" fontAlgn="base" hangingPunct="1">
        <a:spcBef>
          <a:spcPct val="20000"/>
        </a:spcBef>
        <a:spcAft>
          <a:spcPct val="0"/>
        </a:spcAft>
        <a:buChar char="•"/>
        <a:defRPr sz="1800">
          <a:solidFill>
            <a:schemeClr val="tx1"/>
          </a:solidFill>
          <a:latin typeface="+mn-lt"/>
        </a:defRPr>
      </a:lvl3pPr>
      <a:lvl4pPr marL="1200150" indent="-171450" algn="l" rtl="0" eaLnBrk="1" fontAlgn="base" hangingPunct="1">
        <a:spcBef>
          <a:spcPct val="20000"/>
        </a:spcBef>
        <a:spcAft>
          <a:spcPct val="0"/>
        </a:spcAft>
        <a:buChar char="–"/>
        <a:defRPr sz="1500">
          <a:solidFill>
            <a:schemeClr val="tx1"/>
          </a:solidFill>
          <a:latin typeface="+mn-lt"/>
        </a:defRPr>
      </a:lvl4pPr>
      <a:lvl5pPr marL="1543050" indent="-171450" algn="l" rtl="0" eaLnBrk="1" fontAlgn="base" hangingPunct="1">
        <a:spcBef>
          <a:spcPct val="20000"/>
        </a:spcBef>
        <a:spcAft>
          <a:spcPct val="0"/>
        </a:spcAft>
        <a:buChar char="»"/>
        <a:defRPr sz="1500">
          <a:solidFill>
            <a:schemeClr val="tx1"/>
          </a:solidFill>
          <a:latin typeface="+mn-lt"/>
        </a:defRPr>
      </a:lvl5pPr>
      <a:lvl6pPr marL="1885950" indent="-171450" algn="l" rtl="0" eaLnBrk="1" fontAlgn="base" hangingPunct="1">
        <a:spcBef>
          <a:spcPct val="20000"/>
        </a:spcBef>
        <a:spcAft>
          <a:spcPct val="0"/>
        </a:spcAft>
        <a:buChar char="»"/>
        <a:defRPr sz="1500">
          <a:solidFill>
            <a:schemeClr val="tx1"/>
          </a:solidFill>
          <a:latin typeface="+mn-lt"/>
        </a:defRPr>
      </a:lvl6pPr>
      <a:lvl7pPr marL="2228850" indent="-171450" algn="l" rtl="0" eaLnBrk="1" fontAlgn="base" hangingPunct="1">
        <a:spcBef>
          <a:spcPct val="20000"/>
        </a:spcBef>
        <a:spcAft>
          <a:spcPct val="0"/>
        </a:spcAft>
        <a:buChar char="»"/>
        <a:defRPr sz="1500">
          <a:solidFill>
            <a:schemeClr val="tx1"/>
          </a:solidFill>
          <a:latin typeface="+mn-lt"/>
        </a:defRPr>
      </a:lvl7pPr>
      <a:lvl8pPr marL="2571750" indent="-171450" algn="l" rtl="0" eaLnBrk="1" fontAlgn="base" hangingPunct="1">
        <a:spcBef>
          <a:spcPct val="20000"/>
        </a:spcBef>
        <a:spcAft>
          <a:spcPct val="0"/>
        </a:spcAft>
        <a:buChar char="»"/>
        <a:defRPr sz="1500">
          <a:solidFill>
            <a:schemeClr val="tx1"/>
          </a:solidFill>
          <a:latin typeface="+mn-lt"/>
        </a:defRPr>
      </a:lvl8pPr>
      <a:lvl9pPr marL="2914650" indent="-171450" algn="l" rtl="0" eaLnBrk="1" fontAlgn="base" hangingPunct="1">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hyperlink" Target="https://www.symantec.com/security-center/threat-report" TargetMode="Externa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15.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ico.org.uk/about-the-ico/news-and-events/news-and-blogs/2018/01/blog-meltdown-and-spectre-what-should-organisations-be-doing-to-protect-people-s-personal-data/" TargetMode="Externa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15.xml"/><Relationship Id="rId4" Type="http://schemas.openxmlformats.org/officeDocument/2006/relationships/image" Target="../media/image20.emf"/></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223963" y="1509713"/>
            <a:ext cx="6696075" cy="1296591"/>
          </a:xfrm>
        </p:spPr>
        <p:txBody>
          <a:bodyPr/>
          <a:lstStyle/>
          <a:p>
            <a:pPr algn="r"/>
            <a:r>
              <a:rPr lang="en-US" altLang="en-US" sz="4050" dirty="0">
                <a:latin typeface="Georgia" panose="02040502050405020303" pitchFamily="18" charset="0"/>
              </a:rPr>
              <a:t>Lecture 1 – Internet </a:t>
            </a:r>
            <a:r>
              <a:rPr lang="en-GB" sz="4050" dirty="0"/>
              <a:t>Security</a:t>
            </a:r>
            <a:br>
              <a:rPr lang="en-GB" sz="4050" dirty="0"/>
            </a:br>
            <a:r>
              <a:rPr lang="en-GB" sz="4050" dirty="0"/>
              <a:t>or AKA Why do we need to study this…</a:t>
            </a:r>
            <a:endParaRPr lang="en-GB" altLang="en-US" sz="4050" dirty="0">
              <a:latin typeface="Georgia" panose="02040502050405020303" pitchFamily="18" charset="0"/>
            </a:endParaRPr>
          </a:p>
        </p:txBody>
      </p:sp>
      <p:sp>
        <p:nvSpPr>
          <p:cNvPr id="6147" name="TextBox 3"/>
          <p:cNvSpPr txBox="1">
            <a:spLocks noChangeArrowheads="1"/>
          </p:cNvSpPr>
          <p:nvPr/>
        </p:nvSpPr>
        <p:spPr bwMode="auto">
          <a:xfrm>
            <a:off x="971600" y="3356992"/>
            <a:ext cx="6696075" cy="1627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0" fontAlgn="base" hangingPunct="0">
              <a:spcBef>
                <a:spcPct val="0"/>
              </a:spcBef>
              <a:spcAft>
                <a:spcPct val="0"/>
              </a:spcAft>
              <a:buFontTx/>
              <a:buNone/>
            </a:pPr>
            <a:r>
              <a:rPr lang="en-GB" altLang="en-US" sz="1425" dirty="0">
                <a:solidFill>
                  <a:srgbClr val="000000"/>
                </a:solidFill>
                <a:latin typeface="Georgia" panose="02040502050405020303" pitchFamily="18" charset="0"/>
              </a:rPr>
              <a:t>COM744: Security and Risk Management</a:t>
            </a:r>
          </a:p>
          <a:p>
            <a:pPr eaLnBrk="0" fontAlgn="base" hangingPunct="0">
              <a:spcBef>
                <a:spcPct val="0"/>
              </a:spcBef>
              <a:spcAft>
                <a:spcPct val="0"/>
              </a:spcAft>
              <a:buFontTx/>
              <a:buNone/>
            </a:pPr>
            <a:r>
              <a:rPr lang="en-GB" altLang="en-US" sz="1425" dirty="0">
                <a:solidFill>
                  <a:srgbClr val="000000"/>
                </a:solidFill>
                <a:latin typeface="Georgia" panose="02040502050405020303" pitchFamily="18" charset="0"/>
              </a:rPr>
              <a:t>Nigel Houlden / Jason Davies</a:t>
            </a:r>
          </a:p>
          <a:p>
            <a:pPr eaLnBrk="0" fontAlgn="base" hangingPunct="0">
              <a:spcBef>
                <a:spcPct val="0"/>
              </a:spcBef>
              <a:spcAft>
                <a:spcPct val="0"/>
              </a:spcAft>
              <a:buFontTx/>
              <a:buNone/>
            </a:pPr>
            <a:endParaRPr lang="en-GB" altLang="en-US" sz="9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5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5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35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endParaRPr lang="en-GB" altLang="en-US" sz="6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r>
              <a:rPr lang="en-GB" altLang="en-US" sz="1275" dirty="0">
                <a:solidFill>
                  <a:srgbClr val="000000"/>
                </a:solidFill>
                <a:latin typeface="Courier New" panose="02070309020205020404" pitchFamily="49" charset="0"/>
                <a:cs typeface="Courier New" panose="02070309020205020404" pitchFamily="49" charset="0"/>
              </a:rPr>
              <a:t>n.houlden@glyndwr.ac.uk / Jason.Davies@glyndwr.ac.uk</a:t>
            </a:r>
          </a:p>
        </p:txBody>
      </p:sp>
    </p:spTree>
    <p:extLst>
      <p:ext uri="{BB962C8B-B14F-4D97-AF65-F5344CB8AC3E}">
        <p14:creationId xmlns:p14="http://schemas.microsoft.com/office/powerpoint/2010/main" val="667535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INTERNET SECURITY THREAT REPORT</a:t>
            </a:r>
          </a:p>
        </p:txBody>
      </p:sp>
      <p:sp>
        <p:nvSpPr>
          <p:cNvPr id="3" name="Content Placeholder 2"/>
          <p:cNvSpPr>
            <a:spLocks noGrp="1"/>
          </p:cNvSpPr>
          <p:nvPr>
            <p:ph idx="1"/>
          </p:nvPr>
        </p:nvSpPr>
        <p:spPr>
          <a:xfrm>
            <a:off x="457200" y="1916832"/>
            <a:ext cx="8229600" cy="3733875"/>
          </a:xfrm>
        </p:spPr>
        <p:txBody>
          <a:bodyPr>
            <a:normAutofit/>
          </a:bodyPr>
          <a:lstStyle/>
          <a:p>
            <a:r>
              <a:rPr lang="en-GB" dirty="0"/>
              <a:t>Symantec February 2019 - VOLUME 24</a:t>
            </a:r>
          </a:p>
          <a:p>
            <a:r>
              <a:rPr lang="en-GB" sz="2600" dirty="0">
                <a:hlinkClick r:id="rId2"/>
              </a:rPr>
              <a:t>https://www.symantec.com/security-center/threat-report</a:t>
            </a:r>
            <a:endParaRPr lang="en-GB" sz="2600" dirty="0"/>
          </a:p>
        </p:txBody>
      </p:sp>
    </p:spTree>
    <p:extLst>
      <p:ext uri="{BB962C8B-B14F-4D97-AF65-F5344CB8AC3E}">
        <p14:creationId xmlns:p14="http://schemas.microsoft.com/office/powerpoint/2010/main" val="3021022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Big Numbers</a:t>
            </a:r>
          </a:p>
        </p:txBody>
      </p:sp>
      <p:sp>
        <p:nvSpPr>
          <p:cNvPr id="3" name="Content Placeholder 2"/>
          <p:cNvSpPr>
            <a:spLocks noGrp="1"/>
          </p:cNvSpPr>
          <p:nvPr>
            <p:ph idx="1"/>
          </p:nvPr>
        </p:nvSpPr>
        <p:spPr/>
        <p:txBody>
          <a:bodyPr/>
          <a:lstStyle/>
          <a:p>
            <a:r>
              <a:rPr lang="en-GB" dirty="0"/>
              <a:t>One in Ten URLS are Malicious</a:t>
            </a:r>
          </a:p>
          <a:p>
            <a:r>
              <a:rPr lang="en-GB" dirty="0"/>
              <a:t>Web Attacks up 56%</a:t>
            </a:r>
          </a:p>
          <a:p>
            <a:r>
              <a:rPr lang="en-GB" dirty="0"/>
              <a:t>4,800 – Average number of Websites compromised with </a:t>
            </a:r>
            <a:r>
              <a:rPr lang="en-GB" dirty="0" err="1"/>
              <a:t>formjacking</a:t>
            </a:r>
            <a:r>
              <a:rPr lang="en-GB" dirty="0"/>
              <a:t> each month</a:t>
            </a:r>
          </a:p>
          <a:p>
            <a:r>
              <a:rPr lang="en-GB" dirty="0"/>
              <a:t>Supply Chain attacks up 78%</a:t>
            </a:r>
          </a:p>
          <a:p>
            <a:endParaRPr lang="en-GB" dirty="0"/>
          </a:p>
        </p:txBody>
      </p:sp>
    </p:spTree>
    <p:extLst>
      <p:ext uri="{BB962C8B-B14F-4D97-AF65-F5344CB8AC3E}">
        <p14:creationId xmlns:p14="http://schemas.microsoft.com/office/powerpoint/2010/main" val="499185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5" name="Picture 4"/>
          <p:cNvPicPr>
            <a:picLocks noChangeAspect="1"/>
          </p:cNvPicPr>
          <p:nvPr/>
        </p:nvPicPr>
        <p:blipFill rotWithShape="1">
          <a:blip r:embed="rId2"/>
          <a:srcRect l="5507" t="17801" r="18500" b="6556"/>
          <a:stretch/>
        </p:blipFill>
        <p:spPr>
          <a:xfrm>
            <a:off x="251520" y="404664"/>
            <a:ext cx="8640960" cy="4838247"/>
          </a:xfrm>
          <a:prstGeom prst="rect">
            <a:avLst/>
          </a:prstGeom>
        </p:spPr>
      </p:pic>
    </p:spTree>
    <p:extLst>
      <p:ext uri="{BB962C8B-B14F-4D97-AF65-F5344CB8AC3E}">
        <p14:creationId xmlns:p14="http://schemas.microsoft.com/office/powerpoint/2010/main" val="3358817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5" name="Picture 4"/>
          <p:cNvPicPr>
            <a:picLocks noChangeAspect="1"/>
          </p:cNvPicPr>
          <p:nvPr/>
        </p:nvPicPr>
        <p:blipFill rotWithShape="1">
          <a:blip r:embed="rId2"/>
          <a:srcRect l="5817" t="18167" r="18271" b="6569"/>
          <a:stretch/>
        </p:blipFill>
        <p:spPr>
          <a:xfrm>
            <a:off x="485353" y="620688"/>
            <a:ext cx="8173294" cy="4558183"/>
          </a:xfrm>
          <a:prstGeom prst="rect">
            <a:avLst/>
          </a:prstGeom>
        </p:spPr>
      </p:pic>
    </p:spTree>
    <p:extLst>
      <p:ext uri="{BB962C8B-B14F-4D97-AF65-F5344CB8AC3E}">
        <p14:creationId xmlns:p14="http://schemas.microsoft.com/office/powerpoint/2010/main" val="2091294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pic>
        <p:nvPicPr>
          <p:cNvPr id="4" name="Picture 3"/>
          <p:cNvPicPr>
            <a:picLocks noChangeAspect="1"/>
          </p:cNvPicPr>
          <p:nvPr/>
        </p:nvPicPr>
        <p:blipFill rotWithShape="1">
          <a:blip r:embed="rId2"/>
          <a:srcRect l="5694" t="18724" r="18657" b="6380"/>
          <a:stretch/>
        </p:blipFill>
        <p:spPr>
          <a:xfrm>
            <a:off x="899592" y="142875"/>
            <a:ext cx="7126151" cy="3984515"/>
          </a:xfrm>
          <a:prstGeom prst="rect">
            <a:avLst/>
          </a:prstGeom>
        </p:spPr>
      </p:pic>
      <p:sp>
        <p:nvSpPr>
          <p:cNvPr id="6" name="TextBox 5"/>
          <p:cNvSpPr txBox="1"/>
          <p:nvPr/>
        </p:nvSpPr>
        <p:spPr>
          <a:xfrm>
            <a:off x="323528" y="4653136"/>
            <a:ext cx="2088232" cy="646331"/>
          </a:xfrm>
          <a:prstGeom prst="rect">
            <a:avLst/>
          </a:prstGeom>
          <a:noFill/>
          <a:ln>
            <a:solidFill>
              <a:srgbClr val="FF0000"/>
            </a:solidFill>
          </a:ln>
        </p:spPr>
        <p:txBody>
          <a:bodyPr wrap="square" rtlCol="0">
            <a:spAutoFit/>
          </a:bodyPr>
          <a:lstStyle/>
          <a:p>
            <a:r>
              <a:rPr lang="en-GB" sz="1200" b="1" dirty="0"/>
              <a:t>EMAIL DISGUISED AS</a:t>
            </a:r>
          </a:p>
          <a:p>
            <a:r>
              <a:rPr lang="en-GB" sz="1200" b="1" dirty="0"/>
              <a:t>NOTIFICATION, SUCH AS</a:t>
            </a:r>
          </a:p>
          <a:p>
            <a:r>
              <a:rPr lang="en-GB" sz="1200" b="1" dirty="0"/>
              <a:t>INVOICE OR RECEIPT</a:t>
            </a:r>
            <a:endParaRPr lang="en-GB" sz="1200" dirty="0"/>
          </a:p>
        </p:txBody>
      </p:sp>
      <p:sp>
        <p:nvSpPr>
          <p:cNvPr id="7" name="TextBox 6"/>
          <p:cNvSpPr txBox="1"/>
          <p:nvPr/>
        </p:nvSpPr>
        <p:spPr>
          <a:xfrm>
            <a:off x="2990056" y="4628820"/>
            <a:ext cx="2088232" cy="646331"/>
          </a:xfrm>
          <a:prstGeom prst="rect">
            <a:avLst/>
          </a:prstGeom>
          <a:noFill/>
          <a:ln>
            <a:solidFill>
              <a:srgbClr val="FF0000"/>
            </a:solidFill>
          </a:ln>
        </p:spPr>
        <p:txBody>
          <a:bodyPr wrap="square" rtlCol="0">
            <a:spAutoFit/>
          </a:bodyPr>
          <a:lstStyle/>
          <a:p>
            <a:r>
              <a:rPr lang="en-GB" sz="1200" b="1" dirty="0"/>
              <a:t>ATTACHED OFFICE</a:t>
            </a:r>
          </a:p>
          <a:p>
            <a:r>
              <a:rPr lang="en-GB" sz="1200" b="1" dirty="0"/>
              <a:t>FILE CONTAINS</a:t>
            </a:r>
          </a:p>
          <a:p>
            <a:r>
              <a:rPr lang="en-GB" sz="1200" b="1" dirty="0"/>
              <a:t>MALICIOUS SCRIPT</a:t>
            </a:r>
            <a:endParaRPr lang="en-GB" sz="1200" dirty="0"/>
          </a:p>
        </p:txBody>
      </p:sp>
      <p:sp>
        <p:nvSpPr>
          <p:cNvPr id="8" name="TextBox 7"/>
          <p:cNvSpPr txBox="1"/>
          <p:nvPr/>
        </p:nvSpPr>
        <p:spPr>
          <a:xfrm>
            <a:off x="5724128" y="4634770"/>
            <a:ext cx="2088232" cy="646331"/>
          </a:xfrm>
          <a:prstGeom prst="rect">
            <a:avLst/>
          </a:prstGeom>
          <a:noFill/>
          <a:ln>
            <a:solidFill>
              <a:srgbClr val="FF0000"/>
            </a:solidFill>
          </a:ln>
        </p:spPr>
        <p:txBody>
          <a:bodyPr wrap="square" rtlCol="0">
            <a:spAutoFit/>
          </a:bodyPr>
          <a:lstStyle/>
          <a:p>
            <a:r>
              <a:rPr lang="en-GB" sz="1200" b="1" dirty="0"/>
              <a:t>OPENING ATTACHMENT</a:t>
            </a:r>
          </a:p>
          <a:p>
            <a:r>
              <a:rPr lang="en-GB" sz="1200" b="1" dirty="0"/>
              <a:t>EXECUTES SCRIPT</a:t>
            </a:r>
          </a:p>
          <a:p>
            <a:r>
              <a:rPr lang="en-GB" sz="1200" b="1" dirty="0"/>
              <a:t>DOWNLOADS MALWARE</a:t>
            </a:r>
            <a:endParaRPr lang="en-GB" sz="1200" dirty="0"/>
          </a:p>
        </p:txBody>
      </p:sp>
      <p:sp>
        <p:nvSpPr>
          <p:cNvPr id="9" name="Right Arrow 8"/>
          <p:cNvSpPr/>
          <p:nvPr/>
        </p:nvSpPr>
        <p:spPr bwMode="auto">
          <a:xfrm>
            <a:off x="2519772" y="4699957"/>
            <a:ext cx="362272" cy="50405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10" name="Right Arrow 9"/>
          <p:cNvSpPr/>
          <p:nvPr/>
        </p:nvSpPr>
        <p:spPr bwMode="auto">
          <a:xfrm>
            <a:off x="5220072" y="4682769"/>
            <a:ext cx="362272" cy="50405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3670054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Email: Malware, spam &amp; phishing</a:t>
            </a:r>
          </a:p>
        </p:txBody>
      </p:sp>
      <p:sp>
        <p:nvSpPr>
          <p:cNvPr id="3" name="Content Placeholder 2"/>
          <p:cNvSpPr>
            <a:spLocks noGrp="1"/>
          </p:cNvSpPr>
          <p:nvPr>
            <p:ph idx="1"/>
          </p:nvPr>
        </p:nvSpPr>
        <p:spPr/>
        <p:txBody>
          <a:bodyPr/>
          <a:lstStyle/>
          <a:p>
            <a:r>
              <a:rPr lang="en-GB" dirty="0"/>
              <a:t>Email is one of the prime sources of disruption for end users and organisations.</a:t>
            </a:r>
          </a:p>
          <a:p>
            <a:pPr lvl="1"/>
            <a:r>
              <a:rPr lang="en-GB" dirty="0"/>
              <a:t>Unwanted e-mails (Spam)</a:t>
            </a:r>
          </a:p>
          <a:p>
            <a:pPr lvl="1"/>
            <a:r>
              <a:rPr lang="en-GB" dirty="0"/>
              <a:t>Propagation of ransomware</a:t>
            </a:r>
          </a:p>
          <a:p>
            <a:pPr lvl="1"/>
            <a:r>
              <a:rPr lang="en-GB" dirty="0"/>
              <a:t>Targeted spear-phishing </a:t>
            </a:r>
          </a:p>
        </p:txBody>
      </p:sp>
    </p:spTree>
    <p:extLst>
      <p:ext uri="{BB962C8B-B14F-4D97-AF65-F5344CB8AC3E}">
        <p14:creationId xmlns:p14="http://schemas.microsoft.com/office/powerpoint/2010/main" val="2221016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Business Email Compromise </a:t>
            </a:r>
            <a:r>
              <a:rPr lang="en-GB" i="1" dirty="0"/>
              <a:t>(BEC) </a:t>
            </a:r>
            <a:r>
              <a:rPr lang="en-GB" dirty="0"/>
              <a:t>Scam</a:t>
            </a:r>
          </a:p>
        </p:txBody>
      </p:sp>
      <p:sp>
        <p:nvSpPr>
          <p:cNvPr id="3" name="Content Placeholder 2"/>
          <p:cNvSpPr>
            <a:spLocks noGrp="1"/>
          </p:cNvSpPr>
          <p:nvPr>
            <p:ph idx="1"/>
          </p:nvPr>
        </p:nvSpPr>
        <p:spPr>
          <a:xfrm>
            <a:off x="457200" y="1420532"/>
            <a:ext cx="8229600" cy="4525963"/>
          </a:xfrm>
        </p:spPr>
        <p:txBody>
          <a:bodyPr/>
          <a:lstStyle/>
          <a:p>
            <a:r>
              <a:rPr lang="en-GB" dirty="0"/>
              <a:t>Spear-phishing e-mails </a:t>
            </a:r>
          </a:p>
          <a:p>
            <a:r>
              <a:rPr lang="en-GB" dirty="0"/>
              <a:t>Low tech</a:t>
            </a:r>
          </a:p>
          <a:p>
            <a:r>
              <a:rPr lang="en-GB" dirty="0"/>
              <a:t>Pretending to be the CEO or senior staff</a:t>
            </a:r>
          </a:p>
          <a:p>
            <a:r>
              <a:rPr lang="en-GB" dirty="0"/>
              <a:t>Request large money transfers</a:t>
            </a:r>
          </a:p>
          <a:p>
            <a:r>
              <a:rPr lang="en-GB" dirty="0"/>
              <a:t>A previous report quotes an Australian aerospace company sacking its CEO after losing almost $50 million to BEC scammers.</a:t>
            </a:r>
          </a:p>
        </p:txBody>
      </p:sp>
    </p:spTree>
    <p:extLst>
      <p:ext uri="{BB962C8B-B14F-4D97-AF65-F5344CB8AC3E}">
        <p14:creationId xmlns:p14="http://schemas.microsoft.com/office/powerpoint/2010/main" val="748295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5372" t="18464" r="18595" b="12483"/>
          <a:stretch/>
        </p:blipFill>
        <p:spPr>
          <a:xfrm>
            <a:off x="179512" y="548680"/>
            <a:ext cx="8879965" cy="4536504"/>
          </a:xfrm>
          <a:prstGeom prst="rect">
            <a:avLst/>
          </a:prstGeom>
        </p:spPr>
      </p:pic>
    </p:spTree>
    <p:extLst>
      <p:ext uri="{BB962C8B-B14F-4D97-AF65-F5344CB8AC3E}">
        <p14:creationId xmlns:p14="http://schemas.microsoft.com/office/powerpoint/2010/main" val="1278751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7253" t="17592" r="18544" b="12149"/>
          <a:stretch/>
        </p:blipFill>
        <p:spPr>
          <a:xfrm>
            <a:off x="179512" y="548680"/>
            <a:ext cx="8923114" cy="4752528"/>
          </a:xfrm>
          <a:prstGeom prst="rect">
            <a:avLst/>
          </a:prstGeom>
        </p:spPr>
      </p:pic>
    </p:spTree>
    <p:extLst>
      <p:ext uri="{BB962C8B-B14F-4D97-AF65-F5344CB8AC3E}">
        <p14:creationId xmlns:p14="http://schemas.microsoft.com/office/powerpoint/2010/main" val="1596546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36336" t="18640" r="15273" b="19704"/>
          <a:stretch/>
        </p:blipFill>
        <p:spPr>
          <a:xfrm>
            <a:off x="323528" y="107067"/>
            <a:ext cx="8206680" cy="5881454"/>
          </a:xfrm>
          <a:prstGeom prst="rect">
            <a:avLst/>
          </a:prstGeom>
        </p:spPr>
      </p:pic>
    </p:spTree>
    <p:extLst>
      <p:ext uri="{BB962C8B-B14F-4D97-AF65-F5344CB8AC3E}">
        <p14:creationId xmlns:p14="http://schemas.microsoft.com/office/powerpoint/2010/main" val="4130363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5731" t="17907" r="18950" b="5661"/>
          <a:stretch/>
        </p:blipFill>
        <p:spPr>
          <a:xfrm>
            <a:off x="278189" y="620688"/>
            <a:ext cx="8587621" cy="5040560"/>
          </a:xfrm>
          <a:prstGeom prst="rect">
            <a:avLst/>
          </a:prstGeom>
        </p:spPr>
      </p:pic>
    </p:spTree>
    <p:extLst>
      <p:ext uri="{BB962C8B-B14F-4D97-AF65-F5344CB8AC3E}">
        <p14:creationId xmlns:p14="http://schemas.microsoft.com/office/powerpoint/2010/main" val="3043344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TARGETED ATTACKS</a:t>
            </a:r>
            <a:endParaRPr lang="en-GB" dirty="0"/>
          </a:p>
        </p:txBody>
      </p:sp>
      <p:sp>
        <p:nvSpPr>
          <p:cNvPr id="3" name="Content Placeholder 2"/>
          <p:cNvSpPr>
            <a:spLocks noGrp="1"/>
          </p:cNvSpPr>
          <p:nvPr>
            <p:ph idx="1"/>
          </p:nvPr>
        </p:nvSpPr>
        <p:spPr>
          <a:xfrm>
            <a:off x="683567" y="1196753"/>
            <a:ext cx="7979581" cy="4104456"/>
          </a:xfrm>
        </p:spPr>
        <p:txBody>
          <a:bodyPr>
            <a:normAutofit fontScale="92500" lnSpcReduction="10000"/>
          </a:bodyPr>
          <a:lstStyle/>
          <a:p>
            <a:r>
              <a:rPr lang="en-GB" dirty="0"/>
              <a:t>Attacks for subversive purposes</a:t>
            </a:r>
          </a:p>
          <a:p>
            <a:r>
              <a:rPr lang="en-US" dirty="0"/>
              <a:t>Geopolitical: </a:t>
            </a:r>
          </a:p>
          <a:p>
            <a:pPr lvl="1"/>
            <a:r>
              <a:rPr lang="en-US" dirty="0"/>
              <a:t>Groups affiliated to nations may attempts to use the internet to engage in cyber warfare. Groups may launch attacks against nations, they have grievance against.</a:t>
            </a:r>
          </a:p>
          <a:p>
            <a:r>
              <a:rPr lang="en-US" dirty="0"/>
              <a:t>Economic espionage (Financial):</a:t>
            </a:r>
          </a:p>
          <a:p>
            <a:pPr lvl="1"/>
            <a:r>
              <a:rPr lang="en-US" dirty="0"/>
              <a:t>Point to point sale systems at a retail organisation (credit/debit) attacks can be sold onto the black market. Actor can also penetrate organisations, compromise accounts </a:t>
            </a:r>
            <a:r>
              <a:rPr lang="en-US" dirty="0" err="1"/>
              <a:t>etc</a:t>
            </a:r>
            <a:endParaRPr lang="en-US" dirty="0"/>
          </a:p>
          <a:p>
            <a:r>
              <a:rPr lang="en-GB" dirty="0"/>
              <a:t>Disruption: </a:t>
            </a:r>
          </a:p>
          <a:p>
            <a:pPr lvl="1"/>
            <a:r>
              <a:rPr lang="en-GB" dirty="0"/>
              <a:t>To protest the action, decisions or behaviours of an organisation. To serve as distraction while malicious attackers plant something within the network.    To gain media attention.</a:t>
            </a:r>
          </a:p>
        </p:txBody>
      </p:sp>
    </p:spTree>
    <p:extLst>
      <p:ext uri="{BB962C8B-B14F-4D97-AF65-F5344CB8AC3E}">
        <p14:creationId xmlns:p14="http://schemas.microsoft.com/office/powerpoint/2010/main" val="4076960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7190" y="319061"/>
            <a:ext cx="4923626" cy="1143000"/>
          </a:xfrm>
        </p:spPr>
        <p:txBody>
          <a:bodyPr/>
          <a:lstStyle/>
          <a:p>
            <a:r>
              <a:rPr lang="en-GB" dirty="0"/>
              <a:t>Best Practice</a:t>
            </a:r>
          </a:p>
        </p:txBody>
      </p:sp>
      <p:sp>
        <p:nvSpPr>
          <p:cNvPr id="3" name="Content Placeholder 2"/>
          <p:cNvSpPr>
            <a:spLocks noGrp="1"/>
          </p:cNvSpPr>
          <p:nvPr>
            <p:ph idx="1"/>
          </p:nvPr>
        </p:nvSpPr>
        <p:spPr/>
        <p:txBody>
          <a:bodyPr/>
          <a:lstStyle/>
          <a:p>
            <a:endParaRPr lang="en-GB" dirty="0"/>
          </a:p>
        </p:txBody>
      </p:sp>
      <p:pic>
        <p:nvPicPr>
          <p:cNvPr id="4" name="Picture 3"/>
          <p:cNvPicPr>
            <a:picLocks noChangeAspect="1"/>
          </p:cNvPicPr>
          <p:nvPr/>
        </p:nvPicPr>
        <p:blipFill>
          <a:blip r:embed="rId2"/>
          <a:stretch>
            <a:fillRect/>
          </a:stretch>
        </p:blipFill>
        <p:spPr>
          <a:xfrm>
            <a:off x="93440" y="640957"/>
            <a:ext cx="3813750" cy="1484895"/>
          </a:xfrm>
          <a:prstGeom prst="rect">
            <a:avLst/>
          </a:prstGeom>
        </p:spPr>
      </p:pic>
      <p:pic>
        <p:nvPicPr>
          <p:cNvPr id="5" name="Picture 4"/>
          <p:cNvPicPr>
            <a:picLocks noChangeAspect="1"/>
          </p:cNvPicPr>
          <p:nvPr/>
        </p:nvPicPr>
        <p:blipFill>
          <a:blip r:embed="rId3"/>
          <a:stretch>
            <a:fillRect/>
          </a:stretch>
        </p:blipFill>
        <p:spPr>
          <a:xfrm>
            <a:off x="1081598" y="2314179"/>
            <a:ext cx="3762900" cy="837633"/>
          </a:xfrm>
          <a:prstGeom prst="rect">
            <a:avLst/>
          </a:prstGeom>
        </p:spPr>
      </p:pic>
      <p:pic>
        <p:nvPicPr>
          <p:cNvPr id="6" name="Picture 5"/>
          <p:cNvPicPr>
            <a:picLocks noChangeAspect="1"/>
          </p:cNvPicPr>
          <p:nvPr/>
        </p:nvPicPr>
        <p:blipFill>
          <a:blip r:embed="rId4"/>
          <a:stretch>
            <a:fillRect/>
          </a:stretch>
        </p:blipFill>
        <p:spPr>
          <a:xfrm>
            <a:off x="107504" y="3428091"/>
            <a:ext cx="4017150" cy="1015313"/>
          </a:xfrm>
          <a:prstGeom prst="rect">
            <a:avLst/>
          </a:prstGeom>
        </p:spPr>
      </p:pic>
      <p:pic>
        <p:nvPicPr>
          <p:cNvPr id="7" name="Picture 6"/>
          <p:cNvPicPr>
            <a:picLocks noChangeAspect="1"/>
          </p:cNvPicPr>
          <p:nvPr/>
        </p:nvPicPr>
        <p:blipFill>
          <a:blip r:embed="rId5"/>
          <a:stretch>
            <a:fillRect/>
          </a:stretch>
        </p:blipFill>
        <p:spPr>
          <a:xfrm>
            <a:off x="2097802" y="4715466"/>
            <a:ext cx="3966300" cy="1891020"/>
          </a:xfrm>
          <a:prstGeom prst="rect">
            <a:avLst/>
          </a:prstGeom>
        </p:spPr>
      </p:pic>
      <p:pic>
        <p:nvPicPr>
          <p:cNvPr id="8" name="Picture 7"/>
          <p:cNvPicPr>
            <a:picLocks noChangeAspect="1"/>
          </p:cNvPicPr>
          <p:nvPr/>
        </p:nvPicPr>
        <p:blipFill>
          <a:blip r:embed="rId6"/>
          <a:stretch>
            <a:fillRect/>
          </a:stretch>
        </p:blipFill>
        <p:spPr>
          <a:xfrm>
            <a:off x="5019346" y="2036492"/>
            <a:ext cx="4017150" cy="2170231"/>
          </a:xfrm>
          <a:prstGeom prst="rect">
            <a:avLst/>
          </a:prstGeom>
        </p:spPr>
      </p:pic>
    </p:spTree>
    <p:extLst>
      <p:ext uri="{BB962C8B-B14F-4D97-AF65-F5344CB8AC3E}">
        <p14:creationId xmlns:p14="http://schemas.microsoft.com/office/powerpoint/2010/main" val="2206168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CLOUD</a:t>
            </a:r>
          </a:p>
        </p:txBody>
      </p:sp>
      <p:sp>
        <p:nvSpPr>
          <p:cNvPr id="3" name="Content Placeholder 2"/>
          <p:cNvSpPr>
            <a:spLocks noGrp="1"/>
          </p:cNvSpPr>
          <p:nvPr>
            <p:ph idx="1"/>
          </p:nvPr>
        </p:nvSpPr>
        <p:spPr>
          <a:xfrm>
            <a:off x="364894" y="1052736"/>
            <a:ext cx="8455578" cy="4114800"/>
          </a:xfrm>
        </p:spPr>
        <p:txBody>
          <a:bodyPr/>
          <a:lstStyle/>
          <a:p>
            <a:pPr marL="0" indent="0" algn="ctr">
              <a:buNone/>
            </a:pPr>
            <a:r>
              <a:rPr lang="en-US" dirty="0"/>
              <a:t>SECURITY CHALLENGES EMERGE ON MULTIPLE FRONTS</a:t>
            </a:r>
          </a:p>
          <a:p>
            <a:r>
              <a:rPr lang="en-US" dirty="0"/>
              <a:t>From simple misconfiguration issues to vulnerabilities in hardware chips, in 2018 there was a wide range of security challenges that the cloud presents.</a:t>
            </a:r>
          </a:p>
          <a:p>
            <a:r>
              <a:rPr lang="en-US" dirty="0"/>
              <a:t>Poorly secured cloud databases continued to be a weak point for organizations. </a:t>
            </a:r>
          </a:p>
          <a:p>
            <a:r>
              <a:rPr lang="en-US" dirty="0"/>
              <a:t>In 2018, S3 buckets emerged as an Achilles heel for organizations, with more than 70 million records stolen or leaked as a result of poor configuration.</a:t>
            </a:r>
          </a:p>
          <a:p>
            <a:r>
              <a:rPr lang="en-US" dirty="0"/>
              <a:t>This was on the heels of a spate of ransomware attacks against open databases such as </a:t>
            </a:r>
            <a:r>
              <a:rPr lang="en-US" dirty="0" err="1"/>
              <a:t>MongoDB</a:t>
            </a:r>
            <a:r>
              <a:rPr lang="en-US" dirty="0"/>
              <a:t> in 2017, which saw attackers wipe their contents and seek payment in order to restore them.</a:t>
            </a:r>
          </a:p>
          <a:p>
            <a:pPr marL="0" indent="0">
              <a:buNone/>
            </a:pPr>
            <a:endParaRPr lang="en-GB" dirty="0"/>
          </a:p>
        </p:txBody>
      </p:sp>
    </p:spTree>
    <p:extLst>
      <p:ext uri="{BB962C8B-B14F-4D97-AF65-F5344CB8AC3E}">
        <p14:creationId xmlns:p14="http://schemas.microsoft.com/office/powerpoint/2010/main" val="3090290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105"/>
            <a:ext cx="7772400" cy="1143000"/>
          </a:xfrm>
        </p:spPr>
        <p:txBody>
          <a:bodyPr/>
          <a:lstStyle/>
          <a:p>
            <a:r>
              <a:rPr lang="en-GB" dirty="0"/>
              <a:t>CLOUD</a:t>
            </a:r>
          </a:p>
        </p:txBody>
      </p:sp>
      <p:sp>
        <p:nvSpPr>
          <p:cNvPr id="3" name="Content Placeholder 2"/>
          <p:cNvSpPr>
            <a:spLocks noGrp="1"/>
          </p:cNvSpPr>
          <p:nvPr>
            <p:ph idx="1"/>
          </p:nvPr>
        </p:nvSpPr>
        <p:spPr>
          <a:xfrm>
            <a:off x="4067944" y="1048210"/>
            <a:ext cx="4968552" cy="3611196"/>
          </a:xfrm>
        </p:spPr>
        <p:txBody>
          <a:bodyPr>
            <a:normAutofit fontScale="85000" lnSpcReduction="10000"/>
          </a:bodyPr>
          <a:lstStyle/>
          <a:p>
            <a:r>
              <a:rPr lang="en-US" dirty="0"/>
              <a:t>Meltdown and Spectre weren’t isolated cases—several variants of these attacks were subsequently released into the public domain throughout the year. They were also followed up by similar chip-level vulnerabilities such as Speculative</a:t>
            </a:r>
          </a:p>
          <a:p>
            <a:r>
              <a:rPr lang="en-US" dirty="0"/>
              <a:t>Store Bypass and Foreshadow, or L1 Terminal Fault. </a:t>
            </a:r>
          </a:p>
          <a:p>
            <a:r>
              <a:rPr lang="en-US" dirty="0"/>
              <a:t>This is likely just the start, as researchers and attackers home in on vulnerabilities at the chip level, and indicates that there are challenging times ahead for the cloud.</a:t>
            </a:r>
            <a:endParaRPr lang="en-GB" dirty="0"/>
          </a:p>
        </p:txBody>
      </p:sp>
      <p:sp>
        <p:nvSpPr>
          <p:cNvPr id="5" name="TextBox 4"/>
          <p:cNvSpPr txBox="1"/>
          <p:nvPr/>
        </p:nvSpPr>
        <p:spPr>
          <a:xfrm>
            <a:off x="467544" y="5301208"/>
            <a:ext cx="7846640" cy="461665"/>
          </a:xfrm>
          <a:prstGeom prst="rect">
            <a:avLst/>
          </a:prstGeom>
          <a:noFill/>
        </p:spPr>
        <p:txBody>
          <a:bodyPr wrap="square" rtlCol="0">
            <a:spAutoFit/>
          </a:bodyPr>
          <a:lstStyle/>
          <a:p>
            <a:r>
              <a:rPr lang="en-GB" sz="1200" dirty="0">
                <a:hlinkClick r:id="rId2"/>
              </a:rPr>
              <a:t>https://ico.org.uk/about-the-ico/news-and-events/news-and-blogs/2018/01/blog-meltdown-and-spectre-what-should-organisations-be-doing-to-protect-people-s-personal-data/</a:t>
            </a:r>
            <a:endParaRPr lang="en-GB" sz="1200" dirty="0"/>
          </a:p>
        </p:txBody>
      </p:sp>
      <p:pic>
        <p:nvPicPr>
          <p:cNvPr id="6" name="Picture 5"/>
          <p:cNvPicPr>
            <a:picLocks noChangeAspect="1"/>
          </p:cNvPicPr>
          <p:nvPr/>
        </p:nvPicPr>
        <p:blipFill rotWithShape="1">
          <a:blip r:embed="rId3"/>
          <a:srcRect l="21335" t="9553" r="37198" b="27569"/>
          <a:stretch/>
        </p:blipFill>
        <p:spPr>
          <a:xfrm>
            <a:off x="131169" y="111106"/>
            <a:ext cx="4259695" cy="3633269"/>
          </a:xfrm>
          <a:prstGeom prst="rect">
            <a:avLst/>
          </a:prstGeom>
        </p:spPr>
      </p:pic>
    </p:spTree>
    <p:extLst>
      <p:ext uri="{BB962C8B-B14F-4D97-AF65-F5344CB8AC3E}">
        <p14:creationId xmlns:p14="http://schemas.microsoft.com/office/powerpoint/2010/main" val="281539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IoT</a:t>
            </a:r>
          </a:p>
        </p:txBody>
      </p:sp>
      <p:sp>
        <p:nvSpPr>
          <p:cNvPr id="3" name="Content Placeholder 2"/>
          <p:cNvSpPr>
            <a:spLocks noGrp="1"/>
          </p:cNvSpPr>
          <p:nvPr>
            <p:ph idx="1"/>
          </p:nvPr>
        </p:nvSpPr>
        <p:spPr>
          <a:xfrm>
            <a:off x="685800" y="1052736"/>
            <a:ext cx="7772400" cy="4114800"/>
          </a:xfrm>
        </p:spPr>
        <p:txBody>
          <a:bodyPr/>
          <a:lstStyle/>
          <a:p>
            <a:r>
              <a:rPr lang="en-US" sz="1800" dirty="0"/>
              <a:t>While worms and bots continued to account for the vast majority of Internet of Things (IoT) attacks</a:t>
            </a:r>
          </a:p>
          <a:p>
            <a:r>
              <a:rPr lang="en-US" sz="1800" dirty="0"/>
              <a:t>2018 saw a new breed of threat emerge as targeted attack actors displayed an interest in IoT as an infection vector.</a:t>
            </a:r>
          </a:p>
          <a:p>
            <a:r>
              <a:rPr lang="en-US" sz="1800" dirty="0"/>
              <a:t>Routers and connected cameras were the most infected devices and accounted for 75 and 15 percent of the attacks respectively.</a:t>
            </a:r>
          </a:p>
          <a:p>
            <a:r>
              <a:rPr lang="en-US" sz="1800" dirty="0"/>
              <a:t>It’s unsurprising that routers were the most targeted devices given their accessibility from the internet. </a:t>
            </a:r>
          </a:p>
          <a:p>
            <a:r>
              <a:rPr lang="en-US" sz="1800" dirty="0"/>
              <a:t>They’re also attractive as they provide an effective jumping-off point for attackers.</a:t>
            </a:r>
            <a:endParaRPr lang="en-GB" sz="1800" dirty="0"/>
          </a:p>
        </p:txBody>
      </p:sp>
    </p:spTree>
    <p:extLst>
      <p:ext uri="{BB962C8B-B14F-4D97-AF65-F5344CB8AC3E}">
        <p14:creationId xmlns:p14="http://schemas.microsoft.com/office/powerpoint/2010/main" val="3278959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IoT</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11679" t="19150" r="14077" b="23011"/>
          <a:stretch/>
        </p:blipFill>
        <p:spPr>
          <a:xfrm>
            <a:off x="35618" y="1196752"/>
            <a:ext cx="9037926" cy="3960440"/>
          </a:xfrm>
          <a:prstGeom prst="rect">
            <a:avLst/>
          </a:prstGeom>
        </p:spPr>
      </p:pic>
    </p:spTree>
    <p:extLst>
      <p:ext uri="{BB962C8B-B14F-4D97-AF65-F5344CB8AC3E}">
        <p14:creationId xmlns:p14="http://schemas.microsoft.com/office/powerpoint/2010/main" val="2284813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778098"/>
          </a:xfrm>
        </p:spPr>
        <p:txBody>
          <a:bodyPr/>
          <a:lstStyle/>
          <a:p>
            <a:r>
              <a:rPr lang="en-GB" dirty="0"/>
              <a:t>Mirai</a:t>
            </a:r>
          </a:p>
        </p:txBody>
      </p:sp>
      <p:sp>
        <p:nvSpPr>
          <p:cNvPr id="3" name="Content Placeholder 2"/>
          <p:cNvSpPr>
            <a:spLocks noGrp="1"/>
          </p:cNvSpPr>
          <p:nvPr>
            <p:ph idx="1"/>
          </p:nvPr>
        </p:nvSpPr>
        <p:spPr>
          <a:xfrm>
            <a:off x="457200" y="894730"/>
            <a:ext cx="8435280" cy="4838526"/>
          </a:xfrm>
          <a:solidFill>
            <a:schemeClr val="bg1"/>
          </a:solidFill>
        </p:spPr>
        <p:txBody>
          <a:bodyPr>
            <a:normAutofit/>
          </a:bodyPr>
          <a:lstStyle/>
          <a:p>
            <a:r>
              <a:rPr lang="en-GB" dirty="0"/>
              <a:t>Mirai is malware that turns networked devices running Linux into remotely controlled bots</a:t>
            </a:r>
          </a:p>
          <a:p>
            <a:r>
              <a:rPr lang="en-GB" dirty="0"/>
              <a:t>That can be used as part of a botnet in large-scale network attacks. </a:t>
            </a:r>
          </a:p>
          <a:p>
            <a:r>
              <a:rPr lang="en-GB" dirty="0"/>
              <a:t>It primarily targets online consumer devices such as IP cameras and home routers.</a:t>
            </a:r>
          </a:p>
          <a:p>
            <a:endParaRPr lang="en-GB" dirty="0"/>
          </a:p>
          <a:p>
            <a:r>
              <a:rPr lang="en-GB" dirty="0"/>
              <a:t>Mirai is primarily for DDoS, however could conceivably lead to compromise of personal information</a:t>
            </a:r>
          </a:p>
          <a:p>
            <a:pPr lvl="1"/>
            <a:r>
              <a:rPr lang="en-GB" dirty="0"/>
              <a:t>Passwords</a:t>
            </a:r>
          </a:p>
          <a:p>
            <a:pPr lvl="1"/>
            <a:r>
              <a:rPr lang="en-GB" dirty="0"/>
              <a:t>Financial information</a:t>
            </a:r>
          </a:p>
        </p:txBody>
      </p:sp>
    </p:spTree>
    <p:extLst>
      <p:ext uri="{BB962C8B-B14F-4D97-AF65-F5344CB8AC3E}">
        <p14:creationId xmlns:p14="http://schemas.microsoft.com/office/powerpoint/2010/main" val="3852324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IoT</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35520" t="17510" r="14165" b="21437"/>
          <a:stretch/>
        </p:blipFill>
        <p:spPr>
          <a:xfrm>
            <a:off x="827584" y="946781"/>
            <a:ext cx="7344816" cy="5013130"/>
          </a:xfrm>
          <a:prstGeom prst="rect">
            <a:avLst/>
          </a:prstGeom>
        </p:spPr>
      </p:pic>
    </p:spTree>
    <p:extLst>
      <p:ext uri="{BB962C8B-B14F-4D97-AF65-F5344CB8AC3E}">
        <p14:creationId xmlns:p14="http://schemas.microsoft.com/office/powerpoint/2010/main" val="240092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6055" y="333642"/>
            <a:ext cx="3341473" cy="1143000"/>
          </a:xfrm>
        </p:spPr>
        <p:txBody>
          <a:bodyPr/>
          <a:lstStyle/>
          <a:p>
            <a:r>
              <a:rPr lang="en-GB" dirty="0"/>
              <a:t>Best Practice</a:t>
            </a:r>
          </a:p>
        </p:txBody>
      </p:sp>
      <p:sp>
        <p:nvSpPr>
          <p:cNvPr id="3" name="Content Placeholder 2"/>
          <p:cNvSpPr>
            <a:spLocks noGrp="1"/>
          </p:cNvSpPr>
          <p:nvPr>
            <p:ph idx="1"/>
          </p:nvPr>
        </p:nvSpPr>
        <p:spPr/>
        <p:txBody>
          <a:bodyPr/>
          <a:lstStyle/>
          <a:p>
            <a:endParaRPr lang="en-GB" dirty="0"/>
          </a:p>
        </p:txBody>
      </p:sp>
      <p:pic>
        <p:nvPicPr>
          <p:cNvPr id="4" name="Picture 3"/>
          <p:cNvPicPr>
            <a:picLocks noChangeAspect="1"/>
          </p:cNvPicPr>
          <p:nvPr/>
        </p:nvPicPr>
        <p:blipFill>
          <a:blip r:embed="rId2"/>
          <a:stretch>
            <a:fillRect/>
          </a:stretch>
        </p:blipFill>
        <p:spPr>
          <a:xfrm>
            <a:off x="0" y="242691"/>
            <a:ext cx="5135850" cy="1764106"/>
          </a:xfrm>
          <a:prstGeom prst="rect">
            <a:avLst/>
          </a:prstGeom>
        </p:spPr>
      </p:pic>
      <p:pic>
        <p:nvPicPr>
          <p:cNvPr id="5" name="Picture 4"/>
          <p:cNvPicPr>
            <a:picLocks noChangeAspect="1"/>
          </p:cNvPicPr>
          <p:nvPr/>
        </p:nvPicPr>
        <p:blipFill>
          <a:blip r:embed="rId3"/>
          <a:stretch>
            <a:fillRect/>
          </a:stretch>
        </p:blipFill>
        <p:spPr>
          <a:xfrm>
            <a:off x="2942303" y="2132108"/>
            <a:ext cx="4881600" cy="1586426"/>
          </a:xfrm>
          <a:prstGeom prst="rect">
            <a:avLst/>
          </a:prstGeom>
        </p:spPr>
      </p:pic>
      <p:pic>
        <p:nvPicPr>
          <p:cNvPr id="6" name="Picture 5"/>
          <p:cNvPicPr>
            <a:picLocks noChangeAspect="1"/>
          </p:cNvPicPr>
          <p:nvPr/>
        </p:nvPicPr>
        <p:blipFill>
          <a:blip r:embed="rId4"/>
          <a:stretch>
            <a:fillRect/>
          </a:stretch>
        </p:blipFill>
        <p:spPr>
          <a:xfrm>
            <a:off x="323528" y="4077072"/>
            <a:ext cx="5237550" cy="2424059"/>
          </a:xfrm>
          <a:prstGeom prst="rect">
            <a:avLst/>
          </a:prstGeom>
        </p:spPr>
      </p:pic>
    </p:spTree>
    <p:extLst>
      <p:ext uri="{BB962C8B-B14F-4D97-AF65-F5344CB8AC3E}">
        <p14:creationId xmlns:p14="http://schemas.microsoft.com/office/powerpoint/2010/main" val="2460959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Mobile</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12259" t="48177" r="39349" b="13970"/>
          <a:stretch/>
        </p:blipFill>
        <p:spPr>
          <a:xfrm>
            <a:off x="235154" y="1506501"/>
            <a:ext cx="8673691" cy="3816424"/>
          </a:xfrm>
          <a:prstGeom prst="rect">
            <a:avLst/>
          </a:prstGeom>
        </p:spPr>
      </p:pic>
    </p:spTree>
    <p:extLst>
      <p:ext uri="{BB962C8B-B14F-4D97-AF65-F5344CB8AC3E}">
        <p14:creationId xmlns:p14="http://schemas.microsoft.com/office/powerpoint/2010/main" val="3615973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Mobile</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403648" y="1772816"/>
            <a:ext cx="6177987" cy="3129669"/>
          </a:xfrm>
          <a:prstGeom prst="rect">
            <a:avLst/>
          </a:prstGeom>
        </p:spPr>
      </p:pic>
    </p:spTree>
    <p:extLst>
      <p:ext uri="{BB962C8B-B14F-4D97-AF65-F5344CB8AC3E}">
        <p14:creationId xmlns:p14="http://schemas.microsoft.com/office/powerpoint/2010/main" val="4194363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Web attacks, toolkits &amp; exploiting vulnerabilities</a:t>
            </a:r>
          </a:p>
        </p:txBody>
      </p:sp>
      <p:sp>
        <p:nvSpPr>
          <p:cNvPr id="3" name="Content Placeholder 2"/>
          <p:cNvSpPr>
            <a:spLocks noGrp="1"/>
          </p:cNvSpPr>
          <p:nvPr>
            <p:ph idx="1"/>
          </p:nvPr>
        </p:nvSpPr>
        <p:spPr/>
        <p:txBody>
          <a:bodyPr/>
          <a:lstStyle/>
          <a:p>
            <a:r>
              <a:rPr lang="en-US" dirty="0"/>
              <a:t>In 2018, 1 in 10 URLs analyzed were identified as being malicious, up from 1 in 16 in 2017. </a:t>
            </a:r>
          </a:p>
          <a:p>
            <a:r>
              <a:rPr lang="en-US" dirty="0"/>
              <a:t>Despite a drop off in exploit kit activity, overall web attacks on endpoints increased by 56 percent in 2018. </a:t>
            </a:r>
          </a:p>
          <a:p>
            <a:r>
              <a:rPr lang="en-US" dirty="0"/>
              <a:t>By December, Symantec was blocking more than 1.3 million unique web attacks on endpoint machines every day.</a:t>
            </a:r>
            <a:endParaRPr lang="en-GB" dirty="0"/>
          </a:p>
        </p:txBody>
      </p:sp>
    </p:spTree>
    <p:extLst>
      <p:ext uri="{BB962C8B-B14F-4D97-AF65-F5344CB8AC3E}">
        <p14:creationId xmlns:p14="http://schemas.microsoft.com/office/powerpoint/2010/main" val="3491789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9096" y="174260"/>
            <a:ext cx="2952328" cy="1143000"/>
          </a:xfrm>
        </p:spPr>
        <p:txBody>
          <a:bodyPr/>
          <a:lstStyle/>
          <a:p>
            <a:r>
              <a:rPr lang="en-GB" dirty="0"/>
              <a:t>Web</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36126" t="21810" r="15707" b="12183"/>
          <a:stretch/>
        </p:blipFill>
        <p:spPr>
          <a:xfrm>
            <a:off x="107504" y="404664"/>
            <a:ext cx="7344816" cy="5661629"/>
          </a:xfrm>
          <a:prstGeom prst="rect">
            <a:avLst/>
          </a:prstGeom>
        </p:spPr>
      </p:pic>
    </p:spTree>
    <p:extLst>
      <p:ext uri="{BB962C8B-B14F-4D97-AF65-F5344CB8AC3E}">
        <p14:creationId xmlns:p14="http://schemas.microsoft.com/office/powerpoint/2010/main" val="1833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619672" y="548680"/>
            <a:ext cx="5491800" cy="4886192"/>
          </a:xfrm>
          <a:prstGeom prst="rect">
            <a:avLst/>
          </a:prstGeom>
        </p:spPr>
      </p:pic>
    </p:spTree>
    <p:extLst>
      <p:ext uri="{BB962C8B-B14F-4D97-AF65-F5344CB8AC3E}">
        <p14:creationId xmlns:p14="http://schemas.microsoft.com/office/powerpoint/2010/main" val="562494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Cyber Crime &amp; the underground economy</a:t>
            </a:r>
          </a:p>
        </p:txBody>
      </p:sp>
      <p:sp>
        <p:nvSpPr>
          <p:cNvPr id="3" name="Content Placeholder 2"/>
          <p:cNvSpPr>
            <a:spLocks noGrp="1"/>
          </p:cNvSpPr>
          <p:nvPr>
            <p:ph idx="1"/>
          </p:nvPr>
        </p:nvSpPr>
        <p:spPr/>
        <p:txBody>
          <a:bodyPr/>
          <a:lstStyle/>
          <a:p>
            <a:r>
              <a:rPr lang="en-GB" dirty="0"/>
              <a:t>More high profile victims</a:t>
            </a:r>
          </a:p>
          <a:p>
            <a:r>
              <a:rPr lang="en-GB" dirty="0"/>
              <a:t>Much bigger financial gain</a:t>
            </a:r>
          </a:p>
        </p:txBody>
      </p:sp>
    </p:spTree>
    <p:extLst>
      <p:ext uri="{BB962C8B-B14F-4D97-AF65-F5344CB8AC3E}">
        <p14:creationId xmlns:p14="http://schemas.microsoft.com/office/powerpoint/2010/main" val="2279796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So what is the motivation for Cyber Criminals?</a:t>
            </a:r>
          </a:p>
          <a:p>
            <a:endParaRPr lang="en-GB" dirty="0"/>
          </a:p>
          <a:p>
            <a:r>
              <a:rPr lang="en-GB" dirty="0"/>
              <a:t>Money, Yes obviously… But how much money?</a:t>
            </a:r>
          </a:p>
        </p:txBody>
      </p:sp>
    </p:spTree>
    <p:extLst>
      <p:ext uri="{BB962C8B-B14F-4D97-AF65-F5344CB8AC3E}">
        <p14:creationId xmlns:p14="http://schemas.microsoft.com/office/powerpoint/2010/main" val="392021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11581" t="20143" r="14724" b="6864"/>
          <a:stretch/>
        </p:blipFill>
        <p:spPr>
          <a:xfrm>
            <a:off x="130657" y="497354"/>
            <a:ext cx="8917910" cy="4968552"/>
          </a:xfrm>
          <a:prstGeom prst="rect">
            <a:avLst/>
          </a:prstGeom>
        </p:spPr>
      </p:pic>
    </p:spTree>
    <p:extLst>
      <p:ext uri="{BB962C8B-B14F-4D97-AF65-F5344CB8AC3E}">
        <p14:creationId xmlns:p14="http://schemas.microsoft.com/office/powerpoint/2010/main" val="1888002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10774" t="18916" r="13808" b="6210"/>
          <a:stretch/>
        </p:blipFill>
        <p:spPr>
          <a:xfrm>
            <a:off x="121920" y="404664"/>
            <a:ext cx="8897174" cy="4968552"/>
          </a:xfrm>
          <a:prstGeom prst="rect">
            <a:avLst/>
          </a:prstGeom>
        </p:spPr>
      </p:pic>
    </p:spTree>
    <p:extLst>
      <p:ext uri="{BB962C8B-B14F-4D97-AF65-F5344CB8AC3E}">
        <p14:creationId xmlns:p14="http://schemas.microsoft.com/office/powerpoint/2010/main" val="3526289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rotWithShape="1">
          <a:blip r:embed="rId2"/>
          <a:srcRect l="11112" t="18235" r="13665" b="5782"/>
          <a:stretch/>
        </p:blipFill>
        <p:spPr>
          <a:xfrm>
            <a:off x="72940" y="339721"/>
            <a:ext cx="8998119" cy="5112568"/>
          </a:xfrm>
          <a:prstGeom prst="rect">
            <a:avLst/>
          </a:prstGeom>
        </p:spPr>
      </p:pic>
    </p:spTree>
    <p:extLst>
      <p:ext uri="{BB962C8B-B14F-4D97-AF65-F5344CB8AC3E}">
        <p14:creationId xmlns:p14="http://schemas.microsoft.com/office/powerpoint/2010/main" val="374135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Ransomware: Extorting Business &amp; Consumers</a:t>
            </a:r>
          </a:p>
        </p:txBody>
      </p:sp>
      <p:sp>
        <p:nvSpPr>
          <p:cNvPr id="3" name="Content Placeholder 2"/>
          <p:cNvSpPr>
            <a:spLocks noGrp="1"/>
          </p:cNvSpPr>
          <p:nvPr>
            <p:ph idx="1"/>
          </p:nvPr>
        </p:nvSpPr>
        <p:spPr/>
        <p:txBody>
          <a:bodyPr/>
          <a:lstStyle/>
          <a:p>
            <a:r>
              <a:rPr lang="en-US" dirty="0"/>
              <a:t>The overall number of ransomware infections fell, dropping by more than 20 percent year-on-year.</a:t>
            </a:r>
          </a:p>
          <a:p>
            <a:r>
              <a:rPr lang="en-US" dirty="0"/>
              <a:t>However, enterprise detections bucked the trend, increasing by 12 percent, demonstrating that ransomware continues to be a problem for enterprises.</a:t>
            </a:r>
            <a:endParaRPr lang="en-GB" dirty="0"/>
          </a:p>
        </p:txBody>
      </p:sp>
      <p:pic>
        <p:nvPicPr>
          <p:cNvPr id="4" name="Picture 3"/>
          <p:cNvPicPr>
            <a:picLocks noChangeAspect="1"/>
          </p:cNvPicPr>
          <p:nvPr/>
        </p:nvPicPr>
        <p:blipFill rotWithShape="1">
          <a:blip r:embed="rId2"/>
          <a:srcRect l="36104" t="21960" r="39191" b="47844"/>
          <a:stretch/>
        </p:blipFill>
        <p:spPr>
          <a:xfrm>
            <a:off x="4931167" y="3212976"/>
            <a:ext cx="3502206" cy="2407766"/>
          </a:xfrm>
          <a:prstGeom prst="rect">
            <a:avLst/>
          </a:prstGeom>
        </p:spPr>
      </p:pic>
    </p:spTree>
    <p:extLst>
      <p:ext uri="{BB962C8B-B14F-4D97-AF65-F5344CB8AC3E}">
        <p14:creationId xmlns:p14="http://schemas.microsoft.com/office/powerpoint/2010/main" val="799033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703"/>
            <a:ext cx="8229600" cy="850106"/>
          </a:xfrm>
        </p:spPr>
        <p:txBody>
          <a:bodyPr/>
          <a:lstStyle/>
          <a:p>
            <a:r>
              <a:rPr lang="en-GB" dirty="0" err="1"/>
              <a:t>WannaCry</a:t>
            </a:r>
            <a:r>
              <a:rPr lang="en-GB" dirty="0"/>
              <a:t> </a:t>
            </a:r>
          </a:p>
        </p:txBody>
      </p:sp>
      <p:sp>
        <p:nvSpPr>
          <p:cNvPr id="3" name="Content Placeholder 2"/>
          <p:cNvSpPr>
            <a:spLocks noGrp="1"/>
          </p:cNvSpPr>
          <p:nvPr>
            <p:ph idx="1"/>
          </p:nvPr>
        </p:nvSpPr>
        <p:spPr>
          <a:xfrm>
            <a:off x="107504" y="1124744"/>
            <a:ext cx="8579296" cy="5001419"/>
          </a:xfrm>
        </p:spPr>
        <p:txBody>
          <a:bodyPr>
            <a:normAutofit fontScale="92500"/>
          </a:bodyPr>
          <a:lstStyle/>
          <a:p>
            <a:r>
              <a:rPr lang="en-US" dirty="0"/>
              <a:t>The </a:t>
            </a:r>
            <a:r>
              <a:rPr lang="en-US" dirty="0" err="1"/>
              <a:t>WannaCry</a:t>
            </a:r>
            <a:r>
              <a:rPr lang="en-US" dirty="0"/>
              <a:t> ransomware attack was a May 2017 worldwide cyber attack by the </a:t>
            </a:r>
            <a:r>
              <a:rPr lang="en-US" dirty="0" err="1"/>
              <a:t>WannaCry</a:t>
            </a:r>
            <a:r>
              <a:rPr lang="en-US" dirty="0"/>
              <a:t> ransomware </a:t>
            </a:r>
            <a:r>
              <a:rPr lang="en-US" dirty="0" err="1"/>
              <a:t>cryptoworm</a:t>
            </a:r>
            <a:r>
              <a:rPr lang="en-US" dirty="0"/>
              <a:t>. </a:t>
            </a:r>
          </a:p>
          <a:p>
            <a:r>
              <a:rPr lang="en-US" dirty="0"/>
              <a:t>It targeted computers running the Microsoft Windows operating system by encrypting data and demanding ransom payments in the Bitcoins.</a:t>
            </a:r>
          </a:p>
          <a:p>
            <a:r>
              <a:rPr lang="en-US" dirty="0"/>
              <a:t>The "payload" works in the same fashion as most modern ransomware</a:t>
            </a:r>
          </a:p>
          <a:p>
            <a:r>
              <a:rPr lang="en-US" dirty="0"/>
              <a:t>it finds and encrypts a range of data files, then displays a "ransom note" informing the user and demanding a payment in bitcoin.</a:t>
            </a:r>
          </a:p>
          <a:p>
            <a:r>
              <a:rPr lang="en-US" dirty="0"/>
              <a:t>It is considered a network worm because it also includes a transport mechanism to automatically spread itself. </a:t>
            </a:r>
          </a:p>
          <a:p>
            <a:r>
              <a:rPr lang="en-US" dirty="0"/>
              <a:t>This transport code scans for vulnerable systems, then uses the </a:t>
            </a:r>
            <a:r>
              <a:rPr lang="en-US" dirty="0" err="1"/>
              <a:t>EternalBlue</a:t>
            </a:r>
            <a:r>
              <a:rPr lang="en-US" dirty="0"/>
              <a:t> exploit to gain access, and the </a:t>
            </a:r>
            <a:r>
              <a:rPr lang="en-US" dirty="0" err="1"/>
              <a:t>DoublePulsar</a:t>
            </a:r>
            <a:r>
              <a:rPr lang="en-US" dirty="0"/>
              <a:t> tool to install and execute a copy of itself.</a:t>
            </a:r>
            <a:endParaRPr lang="en-GB" dirty="0"/>
          </a:p>
        </p:txBody>
      </p:sp>
      <p:sp>
        <p:nvSpPr>
          <p:cNvPr id="4" name="TextBox 3"/>
          <p:cNvSpPr txBox="1"/>
          <p:nvPr/>
        </p:nvSpPr>
        <p:spPr>
          <a:xfrm>
            <a:off x="5724128" y="-14714"/>
            <a:ext cx="3312368" cy="1200329"/>
          </a:xfrm>
          <a:prstGeom prst="rect">
            <a:avLst/>
          </a:prstGeom>
          <a:solidFill>
            <a:schemeClr val="bg1"/>
          </a:solidFill>
          <a:ln>
            <a:solidFill>
              <a:schemeClr val="tx1"/>
            </a:solidFill>
          </a:ln>
        </p:spPr>
        <p:txBody>
          <a:bodyPr wrap="square" rtlCol="0">
            <a:spAutoFit/>
          </a:bodyPr>
          <a:lstStyle/>
          <a:p>
            <a:r>
              <a:rPr lang="en-GB" dirty="0"/>
              <a:t>Double Pulsar and </a:t>
            </a:r>
            <a:r>
              <a:rPr lang="en-GB" dirty="0" err="1"/>
              <a:t>EternalBlue</a:t>
            </a:r>
            <a:r>
              <a:rPr lang="en-GB" dirty="0"/>
              <a:t> both believed to have been developed by US National Security Agency</a:t>
            </a:r>
          </a:p>
        </p:txBody>
      </p:sp>
    </p:spTree>
    <p:extLst>
      <p:ext uri="{BB962C8B-B14F-4D97-AF65-F5344CB8AC3E}">
        <p14:creationId xmlns:p14="http://schemas.microsoft.com/office/powerpoint/2010/main" val="1527359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988840"/>
            <a:ext cx="7772400" cy="1143000"/>
          </a:xfrm>
        </p:spPr>
        <p:txBody>
          <a:bodyPr/>
          <a:lstStyle/>
          <a:p>
            <a:r>
              <a:rPr lang="en-GB" dirty="0"/>
              <a:t>What else could go wrong….</a:t>
            </a:r>
          </a:p>
        </p:txBody>
      </p:sp>
    </p:spTree>
    <p:extLst>
      <p:ext uri="{BB962C8B-B14F-4D97-AF65-F5344CB8AC3E}">
        <p14:creationId xmlns:p14="http://schemas.microsoft.com/office/powerpoint/2010/main" val="1907612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201"/>
            <a:ext cx="8229600" cy="868958"/>
          </a:xfrm>
        </p:spPr>
        <p:txBody>
          <a:bodyPr/>
          <a:lstStyle/>
          <a:p>
            <a:r>
              <a:rPr lang="en-GB" dirty="0"/>
              <a:t>British Airways</a:t>
            </a:r>
          </a:p>
        </p:txBody>
      </p:sp>
      <p:sp>
        <p:nvSpPr>
          <p:cNvPr id="3" name="Content Placeholder 2"/>
          <p:cNvSpPr>
            <a:spLocks noGrp="1"/>
          </p:cNvSpPr>
          <p:nvPr>
            <p:ph idx="1"/>
          </p:nvPr>
        </p:nvSpPr>
        <p:spPr>
          <a:xfrm>
            <a:off x="179512" y="908720"/>
            <a:ext cx="8507288" cy="4536505"/>
          </a:xfrm>
        </p:spPr>
        <p:txBody>
          <a:bodyPr>
            <a:normAutofit/>
          </a:bodyPr>
          <a:lstStyle/>
          <a:p>
            <a:r>
              <a:rPr lang="en-US" dirty="0"/>
              <a:t>On Monday 8th July, the UK's data protection authority, the Information Commissioner’s Office (the ICO), announced its intention to fine British Airways in the amount of </a:t>
            </a:r>
            <a:r>
              <a:rPr lang="en-US" dirty="0">
                <a:solidFill>
                  <a:srgbClr val="FF0000"/>
                </a:solidFill>
              </a:rPr>
              <a:t>£183 million</a:t>
            </a:r>
          </a:p>
          <a:p>
            <a:r>
              <a:rPr lang="en-US" dirty="0"/>
              <a:t>The fine relates to a cyber incident involving user traffic to the British Airways website being diverted to a fraudulent site.</a:t>
            </a:r>
          </a:p>
          <a:p>
            <a:r>
              <a:rPr lang="en-US" dirty="0"/>
              <a:t>Through this false site, customer details were allegedly harvested by attackers. </a:t>
            </a:r>
          </a:p>
          <a:p>
            <a:r>
              <a:rPr lang="en-US" dirty="0"/>
              <a:t>The ICO’s investigation found that a variety of information of approximately 500,000 customers was compromised in this incident, including log in, payment card, and travel booking details as well name and address information.</a:t>
            </a:r>
            <a:endParaRPr lang="en-GB" dirty="0"/>
          </a:p>
        </p:txBody>
      </p:sp>
    </p:spTree>
    <p:extLst>
      <p:ext uri="{BB962C8B-B14F-4D97-AF65-F5344CB8AC3E}">
        <p14:creationId xmlns:p14="http://schemas.microsoft.com/office/powerpoint/2010/main" val="3401327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Marriot Hotels</a:t>
            </a:r>
          </a:p>
        </p:txBody>
      </p:sp>
      <p:sp>
        <p:nvSpPr>
          <p:cNvPr id="3" name="Content Placeholder 2"/>
          <p:cNvSpPr>
            <a:spLocks noGrp="1"/>
          </p:cNvSpPr>
          <p:nvPr>
            <p:ph idx="1"/>
          </p:nvPr>
        </p:nvSpPr>
        <p:spPr/>
        <p:txBody>
          <a:bodyPr/>
          <a:lstStyle/>
          <a:p>
            <a:r>
              <a:rPr lang="en-US" dirty="0"/>
              <a:t>Following an extensive investigation the ICO has issued a notice of its intention to fine Marriott International </a:t>
            </a:r>
            <a:r>
              <a:rPr lang="en-US" dirty="0">
                <a:solidFill>
                  <a:srgbClr val="FF0000"/>
                </a:solidFill>
              </a:rPr>
              <a:t>£99,200,396 </a:t>
            </a:r>
            <a:r>
              <a:rPr lang="en-US" dirty="0"/>
              <a:t>for infringements of the General Data Protection Regulation (GDPR).</a:t>
            </a:r>
          </a:p>
          <a:p>
            <a:r>
              <a:rPr lang="en-US" dirty="0"/>
              <a:t>The proposed fine relates to a cyber incident which was notified to the ICO by Marriott in November 2018. </a:t>
            </a:r>
          </a:p>
          <a:p>
            <a:r>
              <a:rPr lang="en-US" dirty="0"/>
              <a:t>A variety of personal data contained in approximately 339 million guest records globally were exposed by the incident, of which around 30 million related to residents of 31 countries in the European Economic Area (EEA). </a:t>
            </a:r>
          </a:p>
          <a:p>
            <a:r>
              <a:rPr lang="en-US" dirty="0"/>
              <a:t>Seven million related to UK residents.</a:t>
            </a:r>
            <a:endParaRPr lang="en-GB" dirty="0"/>
          </a:p>
        </p:txBody>
      </p:sp>
    </p:spTree>
    <p:extLst>
      <p:ext uri="{BB962C8B-B14F-4D97-AF65-F5344CB8AC3E}">
        <p14:creationId xmlns:p14="http://schemas.microsoft.com/office/powerpoint/2010/main" val="789183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normAutofit/>
          </a:bodyPr>
          <a:lstStyle/>
          <a:p>
            <a:r>
              <a:rPr lang="en-GB"/>
              <a:t>Questions/Answers/</a:t>
            </a:r>
            <a:br>
              <a:rPr lang="en-GB"/>
            </a:br>
            <a:r>
              <a:rPr lang="en-GB"/>
              <a:t>Discussion/Comparison</a:t>
            </a:r>
          </a:p>
        </p:txBody>
      </p:sp>
      <p:pic>
        <p:nvPicPr>
          <p:cNvPr id="2050" name="Picture 2" descr="C:\Users\JohnN\AppData\Local\Microsoft\Windows\INetCache\IE\AF8P1NP1\question[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685925"/>
            <a:ext cx="5715000" cy="348615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JohnN\AppData\Local\Microsoft\Windows\INetCache\IE\AF8P1NP1\question[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685925"/>
            <a:ext cx="5715000" cy="34861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JohnN\AppData\Local\Microsoft\Windows\INetCache\IE\AF8P1NP1\question[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685925"/>
            <a:ext cx="5715000"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6360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Glyndwr">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lyndwr">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 02 Cyber Security</Template>
  <TotalTime>1183</TotalTime>
  <Words>1174</Words>
  <Application>Microsoft Office PowerPoint</Application>
  <PresentationFormat>On-screen Show (4:3)</PresentationFormat>
  <Paragraphs>111</Paragraphs>
  <Slides>37</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37</vt:i4>
      </vt:variant>
    </vt:vector>
  </HeadingPairs>
  <TitlesOfParts>
    <vt:vector size="44" baseType="lpstr">
      <vt:lpstr>Calibri</vt:lpstr>
      <vt:lpstr>Courier New</vt:lpstr>
      <vt:lpstr>Georgia</vt:lpstr>
      <vt:lpstr>Tahoma</vt:lpstr>
      <vt:lpstr>Times New Roman</vt:lpstr>
      <vt:lpstr>1_Glyndwr</vt:lpstr>
      <vt:lpstr>Glyndwr</vt:lpstr>
      <vt:lpstr>Lecture 1 – Internet Security or AKA Why do we need to study this…</vt:lpstr>
      <vt:lpstr>INTERNET SECURITY THREAT REPORT</vt:lpstr>
      <vt:lpstr>Big Numbers</vt:lpstr>
      <vt:lpstr>PowerPoint Presentation</vt:lpstr>
      <vt:lpstr>PowerPoint Presentation</vt:lpstr>
      <vt:lpstr>PowerPoint Presentation</vt:lpstr>
      <vt:lpstr>Email: Malware, spam &amp; phishing</vt:lpstr>
      <vt:lpstr>Business Email Compromise (BEC) Scam</vt:lpstr>
      <vt:lpstr>PowerPoint Presentation</vt:lpstr>
      <vt:lpstr>PowerPoint Presentation</vt:lpstr>
      <vt:lpstr>PowerPoint Presentation</vt:lpstr>
      <vt:lpstr>PowerPoint Presentation</vt:lpstr>
      <vt:lpstr>TARGETED ATTACKS</vt:lpstr>
      <vt:lpstr>Best Practice</vt:lpstr>
      <vt:lpstr>CLOUD</vt:lpstr>
      <vt:lpstr>CLOUD</vt:lpstr>
      <vt:lpstr>IoT</vt:lpstr>
      <vt:lpstr>IoT</vt:lpstr>
      <vt:lpstr>Mirai</vt:lpstr>
      <vt:lpstr>IoT</vt:lpstr>
      <vt:lpstr>Best Practice</vt:lpstr>
      <vt:lpstr>Mobile</vt:lpstr>
      <vt:lpstr>Mobile</vt:lpstr>
      <vt:lpstr>Web attacks, toolkits &amp; exploiting vulnerabilities</vt:lpstr>
      <vt:lpstr>Web</vt:lpstr>
      <vt:lpstr>PowerPoint Presentation</vt:lpstr>
      <vt:lpstr>Cyber Crime &amp; the underground economy</vt:lpstr>
      <vt:lpstr>PowerPoint Presentation</vt:lpstr>
      <vt:lpstr>PowerPoint Presentation</vt:lpstr>
      <vt:lpstr>PowerPoint Presentation</vt:lpstr>
      <vt:lpstr>PowerPoint Presentation</vt:lpstr>
      <vt:lpstr>Ransomware: Extorting Business &amp; Consumers</vt:lpstr>
      <vt:lpstr>WannaCry </vt:lpstr>
      <vt:lpstr>What else could go wrong….</vt:lpstr>
      <vt:lpstr>British Airways</vt:lpstr>
      <vt:lpstr>Marriot Hotels</vt:lpstr>
      <vt:lpstr>Questions/Answers/ Discussion/Comparison</vt:lpstr>
    </vt:vector>
  </TitlesOfParts>
  <Company>NEWI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 Dutton</dc:creator>
  <cp:lastModifiedBy>Nigel Houlden</cp:lastModifiedBy>
  <cp:revision>132</cp:revision>
  <cp:lastPrinted>2017-11-06T09:11:48Z</cp:lastPrinted>
  <dcterms:created xsi:type="dcterms:W3CDTF">2012-05-21T16:03:29Z</dcterms:created>
  <dcterms:modified xsi:type="dcterms:W3CDTF">2020-09-25T10:46:37Z</dcterms:modified>
</cp:coreProperties>
</file>