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59"/>
  </p:notesMasterIdLst>
  <p:sldIdLst>
    <p:sldId id="288" r:id="rId3"/>
    <p:sldId id="257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000A07-A4B7-45D9-9135-6DD4341F64F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BF33E2F-EC62-464C-82F4-8660E08BC78F}">
      <dgm:prSet phldrT="[Text]"/>
      <dgm:spPr/>
      <dgm:t>
        <a:bodyPr/>
        <a:lstStyle/>
        <a:p>
          <a:r>
            <a:rPr lang="en-GB" dirty="0" smtClean="0"/>
            <a:t>Threats</a:t>
          </a:r>
          <a:endParaRPr lang="en-GB" dirty="0"/>
        </a:p>
      </dgm:t>
    </dgm:pt>
    <dgm:pt modelId="{4A8DC76A-1EE2-4EDF-8C69-38EFB52E3B0B}" type="parTrans" cxnId="{2A5CFEC4-2038-447A-9DA3-CEABEE6DE699}">
      <dgm:prSet/>
      <dgm:spPr/>
      <dgm:t>
        <a:bodyPr/>
        <a:lstStyle/>
        <a:p>
          <a:endParaRPr lang="en-GB"/>
        </a:p>
      </dgm:t>
    </dgm:pt>
    <dgm:pt modelId="{4C665930-9323-433E-A7FE-F6011B9AF563}" type="sibTrans" cxnId="{2A5CFEC4-2038-447A-9DA3-CEABEE6DE699}">
      <dgm:prSet/>
      <dgm:spPr/>
      <dgm:t>
        <a:bodyPr/>
        <a:lstStyle/>
        <a:p>
          <a:endParaRPr lang="en-GB" dirty="0"/>
        </a:p>
      </dgm:t>
    </dgm:pt>
    <dgm:pt modelId="{2BE569B2-CE47-48E8-8316-ADD3C527DBFD}">
      <dgm:prSet phldrT="[Text]"/>
      <dgm:spPr/>
      <dgm:t>
        <a:bodyPr/>
        <a:lstStyle/>
        <a:p>
          <a:r>
            <a:rPr lang="en-GB" dirty="0" smtClean="0"/>
            <a:t>Vulnerabilities</a:t>
          </a:r>
          <a:endParaRPr lang="en-GB" dirty="0"/>
        </a:p>
      </dgm:t>
    </dgm:pt>
    <dgm:pt modelId="{EF3BDF0D-D68C-449C-BF36-5FE82036EF9B}" type="parTrans" cxnId="{DD4A7147-0E05-4CC1-AD06-5820479B84A8}">
      <dgm:prSet/>
      <dgm:spPr/>
      <dgm:t>
        <a:bodyPr/>
        <a:lstStyle/>
        <a:p>
          <a:endParaRPr lang="en-GB"/>
        </a:p>
      </dgm:t>
    </dgm:pt>
    <dgm:pt modelId="{9D27FC64-1E82-43A5-8B13-E02F488EA751}" type="sibTrans" cxnId="{DD4A7147-0E05-4CC1-AD06-5820479B84A8}">
      <dgm:prSet/>
      <dgm:spPr/>
      <dgm:t>
        <a:bodyPr/>
        <a:lstStyle/>
        <a:p>
          <a:endParaRPr lang="en-GB"/>
        </a:p>
      </dgm:t>
    </dgm:pt>
    <dgm:pt modelId="{5A03BB71-C580-4520-A5A6-0868437D6767}">
      <dgm:prSet phldrT="[Text]"/>
      <dgm:spPr/>
      <dgm:t>
        <a:bodyPr/>
        <a:lstStyle/>
        <a:p>
          <a:r>
            <a:rPr lang="en-GB" dirty="0" smtClean="0"/>
            <a:t>Exposure</a:t>
          </a:r>
          <a:endParaRPr lang="en-GB" dirty="0"/>
        </a:p>
      </dgm:t>
    </dgm:pt>
    <dgm:pt modelId="{7B8FC580-81CB-45F9-8B19-81818829D552}" type="parTrans" cxnId="{228949C1-057D-46AE-8D4E-27B3B376285A}">
      <dgm:prSet/>
      <dgm:spPr/>
      <dgm:t>
        <a:bodyPr/>
        <a:lstStyle/>
        <a:p>
          <a:endParaRPr lang="en-GB"/>
        </a:p>
      </dgm:t>
    </dgm:pt>
    <dgm:pt modelId="{E8EEAF65-1EB2-4B19-AE6A-2589B2D3E03D}" type="sibTrans" cxnId="{228949C1-057D-46AE-8D4E-27B3B376285A}">
      <dgm:prSet/>
      <dgm:spPr/>
      <dgm:t>
        <a:bodyPr/>
        <a:lstStyle/>
        <a:p>
          <a:endParaRPr lang="en-GB"/>
        </a:p>
      </dgm:t>
    </dgm:pt>
    <dgm:pt modelId="{6109EF8D-21E6-4F13-83EE-E3E20BA8D7C3}">
      <dgm:prSet phldrT="[Text]"/>
      <dgm:spPr/>
      <dgm:t>
        <a:bodyPr/>
        <a:lstStyle/>
        <a:p>
          <a:r>
            <a:rPr lang="en-GB" dirty="0" smtClean="0"/>
            <a:t>Risk</a:t>
          </a:r>
          <a:endParaRPr lang="en-GB" dirty="0"/>
        </a:p>
      </dgm:t>
    </dgm:pt>
    <dgm:pt modelId="{E4693867-E433-44FE-85F4-9720F957C2E4}" type="parTrans" cxnId="{05D9B3E4-5543-4A09-A9D4-E1B9B413F31A}">
      <dgm:prSet/>
      <dgm:spPr/>
      <dgm:t>
        <a:bodyPr/>
        <a:lstStyle/>
        <a:p>
          <a:endParaRPr lang="en-GB"/>
        </a:p>
      </dgm:t>
    </dgm:pt>
    <dgm:pt modelId="{79966C6B-D279-4E38-9E37-9326181569F4}" type="sibTrans" cxnId="{05D9B3E4-5543-4A09-A9D4-E1B9B413F31A}">
      <dgm:prSet/>
      <dgm:spPr/>
      <dgm:t>
        <a:bodyPr/>
        <a:lstStyle/>
        <a:p>
          <a:endParaRPr lang="en-GB"/>
        </a:p>
      </dgm:t>
    </dgm:pt>
    <dgm:pt modelId="{7A4647FB-62DB-49EB-BB39-02E20268157B}">
      <dgm:prSet phldrT="[Text]"/>
      <dgm:spPr/>
      <dgm:t>
        <a:bodyPr/>
        <a:lstStyle/>
        <a:p>
          <a:r>
            <a:rPr lang="en-GB" dirty="0" smtClean="0"/>
            <a:t>Safeguards</a:t>
          </a:r>
          <a:endParaRPr lang="en-GB" dirty="0"/>
        </a:p>
      </dgm:t>
    </dgm:pt>
    <dgm:pt modelId="{496F7D98-4DDA-46DC-B405-2B33A8A7B852}" type="parTrans" cxnId="{9247803F-2978-4462-A3D5-4BAE81C98487}">
      <dgm:prSet/>
      <dgm:spPr/>
      <dgm:t>
        <a:bodyPr/>
        <a:lstStyle/>
        <a:p>
          <a:endParaRPr lang="en-GB"/>
        </a:p>
      </dgm:t>
    </dgm:pt>
    <dgm:pt modelId="{F98221D5-9036-4320-B34E-1253E2B118EB}" type="sibTrans" cxnId="{9247803F-2978-4462-A3D5-4BAE81C98487}">
      <dgm:prSet/>
      <dgm:spPr/>
      <dgm:t>
        <a:bodyPr/>
        <a:lstStyle/>
        <a:p>
          <a:endParaRPr lang="en-GB"/>
        </a:p>
      </dgm:t>
    </dgm:pt>
    <dgm:pt modelId="{2E7F2BB4-8898-48FF-9906-DBD51CB6BDC3}">
      <dgm:prSet phldrT="[Text]"/>
      <dgm:spPr/>
      <dgm:t>
        <a:bodyPr/>
        <a:lstStyle/>
        <a:p>
          <a:r>
            <a:rPr lang="en-GB" dirty="0" smtClean="0"/>
            <a:t>Assets</a:t>
          </a:r>
          <a:endParaRPr lang="en-GB" dirty="0"/>
        </a:p>
      </dgm:t>
    </dgm:pt>
    <dgm:pt modelId="{525DD18D-ED8D-4735-A447-52272BBBD33D}" type="parTrans" cxnId="{D418E662-7DA8-4D77-8F55-26D96AA78B06}">
      <dgm:prSet/>
      <dgm:spPr/>
      <dgm:t>
        <a:bodyPr/>
        <a:lstStyle/>
        <a:p>
          <a:endParaRPr lang="en-GB"/>
        </a:p>
      </dgm:t>
    </dgm:pt>
    <dgm:pt modelId="{56F309B1-02D4-4104-A13A-B8E0DEA60F86}" type="sibTrans" cxnId="{D418E662-7DA8-4D77-8F55-26D96AA78B06}">
      <dgm:prSet/>
      <dgm:spPr/>
      <dgm:t>
        <a:bodyPr/>
        <a:lstStyle/>
        <a:p>
          <a:endParaRPr lang="en-GB"/>
        </a:p>
      </dgm:t>
    </dgm:pt>
    <dgm:pt modelId="{F63C6502-3730-45E3-ABB9-DFD548E32A1A}" type="pres">
      <dgm:prSet presAssocID="{EB000A07-A4B7-45D9-9135-6DD4341F64F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F4E09D7-7DF3-452E-943F-773F6FF4425E}" type="pres">
      <dgm:prSet presAssocID="{5BF33E2F-EC62-464C-82F4-8660E08BC78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A50156E-3C74-4DD7-B043-4E963927E214}" type="pres">
      <dgm:prSet presAssocID="{4C665930-9323-433E-A7FE-F6011B9AF563}" presName="sibTrans" presStyleLbl="sibTrans2D1" presStyleIdx="0" presStyleCnt="6"/>
      <dgm:spPr/>
      <dgm:t>
        <a:bodyPr/>
        <a:lstStyle/>
        <a:p>
          <a:endParaRPr lang="en-GB"/>
        </a:p>
      </dgm:t>
    </dgm:pt>
    <dgm:pt modelId="{BF1CEA02-881A-41E8-A319-A2CF8616387B}" type="pres">
      <dgm:prSet presAssocID="{4C665930-9323-433E-A7FE-F6011B9AF563}" presName="connectorText" presStyleLbl="sibTrans2D1" presStyleIdx="0" presStyleCnt="6"/>
      <dgm:spPr/>
      <dgm:t>
        <a:bodyPr/>
        <a:lstStyle/>
        <a:p>
          <a:endParaRPr lang="en-GB"/>
        </a:p>
      </dgm:t>
    </dgm:pt>
    <dgm:pt modelId="{83AAD058-3470-4779-B992-8D99E506FA38}" type="pres">
      <dgm:prSet presAssocID="{2BE569B2-CE47-48E8-8316-ADD3C527DBF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5081B9B-A621-4567-BEB5-474A6A642CE9}" type="pres">
      <dgm:prSet presAssocID="{9D27FC64-1E82-43A5-8B13-E02F488EA751}" presName="sibTrans" presStyleLbl="sibTrans2D1" presStyleIdx="1" presStyleCnt="6"/>
      <dgm:spPr/>
      <dgm:t>
        <a:bodyPr/>
        <a:lstStyle/>
        <a:p>
          <a:endParaRPr lang="en-GB"/>
        </a:p>
      </dgm:t>
    </dgm:pt>
    <dgm:pt modelId="{7BE31DBD-34E1-495D-BD0B-E282DA897AF6}" type="pres">
      <dgm:prSet presAssocID="{9D27FC64-1E82-43A5-8B13-E02F488EA751}" presName="connectorText" presStyleLbl="sibTrans2D1" presStyleIdx="1" presStyleCnt="6"/>
      <dgm:spPr/>
      <dgm:t>
        <a:bodyPr/>
        <a:lstStyle/>
        <a:p>
          <a:endParaRPr lang="en-GB"/>
        </a:p>
      </dgm:t>
    </dgm:pt>
    <dgm:pt modelId="{8D5A62F4-E789-4A3C-99F7-566CA107C124}" type="pres">
      <dgm:prSet presAssocID="{5A03BB71-C580-4520-A5A6-0868437D6767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F43E326-75E0-441F-A065-000942DBBABF}" type="pres">
      <dgm:prSet presAssocID="{E8EEAF65-1EB2-4B19-AE6A-2589B2D3E03D}" presName="sibTrans" presStyleLbl="sibTrans2D1" presStyleIdx="2" presStyleCnt="6"/>
      <dgm:spPr/>
      <dgm:t>
        <a:bodyPr/>
        <a:lstStyle/>
        <a:p>
          <a:endParaRPr lang="en-GB"/>
        </a:p>
      </dgm:t>
    </dgm:pt>
    <dgm:pt modelId="{2E0E41F1-924B-4D01-9652-6340608537C8}" type="pres">
      <dgm:prSet presAssocID="{E8EEAF65-1EB2-4B19-AE6A-2589B2D3E03D}" presName="connectorText" presStyleLbl="sibTrans2D1" presStyleIdx="2" presStyleCnt="6"/>
      <dgm:spPr/>
      <dgm:t>
        <a:bodyPr/>
        <a:lstStyle/>
        <a:p>
          <a:endParaRPr lang="en-GB"/>
        </a:p>
      </dgm:t>
    </dgm:pt>
    <dgm:pt modelId="{A162AE5A-2301-4178-91DD-F299C487BE5A}" type="pres">
      <dgm:prSet presAssocID="{6109EF8D-21E6-4F13-83EE-E3E20BA8D7C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E29C799-C38E-4166-A988-0787EF377D86}" type="pres">
      <dgm:prSet presAssocID="{79966C6B-D279-4E38-9E37-9326181569F4}" presName="sibTrans" presStyleLbl="sibTrans2D1" presStyleIdx="3" presStyleCnt="6"/>
      <dgm:spPr/>
      <dgm:t>
        <a:bodyPr/>
        <a:lstStyle/>
        <a:p>
          <a:endParaRPr lang="en-GB"/>
        </a:p>
      </dgm:t>
    </dgm:pt>
    <dgm:pt modelId="{182E0FEC-BBF1-43E0-86DC-586488556B03}" type="pres">
      <dgm:prSet presAssocID="{79966C6B-D279-4E38-9E37-9326181569F4}" presName="connectorText" presStyleLbl="sibTrans2D1" presStyleIdx="3" presStyleCnt="6"/>
      <dgm:spPr/>
      <dgm:t>
        <a:bodyPr/>
        <a:lstStyle/>
        <a:p>
          <a:endParaRPr lang="en-GB"/>
        </a:p>
      </dgm:t>
    </dgm:pt>
    <dgm:pt modelId="{5EEF08C1-5E95-47A2-BF7F-407912732844}" type="pres">
      <dgm:prSet presAssocID="{7A4647FB-62DB-49EB-BB39-02E20268157B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4EDEA7D-9C5F-4E8E-8D3F-2FC13093CC82}" type="pres">
      <dgm:prSet presAssocID="{F98221D5-9036-4320-B34E-1253E2B118EB}" presName="sibTrans" presStyleLbl="sibTrans2D1" presStyleIdx="4" presStyleCnt="6"/>
      <dgm:spPr/>
      <dgm:t>
        <a:bodyPr/>
        <a:lstStyle/>
        <a:p>
          <a:endParaRPr lang="en-GB"/>
        </a:p>
      </dgm:t>
    </dgm:pt>
    <dgm:pt modelId="{EB8B272F-CB8E-41B4-B681-2596FD8E24BF}" type="pres">
      <dgm:prSet presAssocID="{F98221D5-9036-4320-B34E-1253E2B118EB}" presName="connectorText" presStyleLbl="sibTrans2D1" presStyleIdx="4" presStyleCnt="6"/>
      <dgm:spPr/>
      <dgm:t>
        <a:bodyPr/>
        <a:lstStyle/>
        <a:p>
          <a:endParaRPr lang="en-GB"/>
        </a:p>
      </dgm:t>
    </dgm:pt>
    <dgm:pt modelId="{E1398784-EBFA-4810-976A-17835491FD71}" type="pres">
      <dgm:prSet presAssocID="{2E7F2BB4-8898-48FF-9906-DBD51CB6BDC3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CD76243-56BD-4EBF-93E8-094D84C56408}" type="pres">
      <dgm:prSet presAssocID="{56F309B1-02D4-4104-A13A-B8E0DEA60F86}" presName="sibTrans" presStyleLbl="sibTrans2D1" presStyleIdx="5" presStyleCnt="6"/>
      <dgm:spPr/>
      <dgm:t>
        <a:bodyPr/>
        <a:lstStyle/>
        <a:p>
          <a:endParaRPr lang="en-GB"/>
        </a:p>
      </dgm:t>
    </dgm:pt>
    <dgm:pt modelId="{29DBF4BE-96CE-48E3-A3B9-82E9CF9D63F2}" type="pres">
      <dgm:prSet presAssocID="{56F309B1-02D4-4104-A13A-B8E0DEA60F86}" presName="connectorText" presStyleLbl="sibTrans2D1" presStyleIdx="5" presStyleCnt="6"/>
      <dgm:spPr/>
      <dgm:t>
        <a:bodyPr/>
        <a:lstStyle/>
        <a:p>
          <a:endParaRPr lang="en-GB"/>
        </a:p>
      </dgm:t>
    </dgm:pt>
  </dgm:ptLst>
  <dgm:cxnLst>
    <dgm:cxn modelId="{0DAEFA2D-1850-4C6C-95E9-4424CD8C818E}" type="presOf" srcId="{9D27FC64-1E82-43A5-8B13-E02F488EA751}" destId="{7BE31DBD-34E1-495D-BD0B-E282DA897AF6}" srcOrd="1" destOrd="0" presId="urn:microsoft.com/office/officeart/2005/8/layout/cycle2"/>
    <dgm:cxn modelId="{14FB2530-2DF8-46B5-A67F-631EDE5282F0}" type="presOf" srcId="{79966C6B-D279-4E38-9E37-9326181569F4}" destId="{182E0FEC-BBF1-43E0-86DC-586488556B03}" srcOrd="1" destOrd="0" presId="urn:microsoft.com/office/officeart/2005/8/layout/cycle2"/>
    <dgm:cxn modelId="{542A8317-14FD-48A4-8088-311BE25E6D42}" type="presOf" srcId="{2BE569B2-CE47-48E8-8316-ADD3C527DBFD}" destId="{83AAD058-3470-4779-B992-8D99E506FA38}" srcOrd="0" destOrd="0" presId="urn:microsoft.com/office/officeart/2005/8/layout/cycle2"/>
    <dgm:cxn modelId="{E3CB6308-04A0-4AEB-832D-D222B9CA05FF}" type="presOf" srcId="{EB000A07-A4B7-45D9-9135-6DD4341F64F5}" destId="{F63C6502-3730-45E3-ABB9-DFD548E32A1A}" srcOrd="0" destOrd="0" presId="urn:microsoft.com/office/officeart/2005/8/layout/cycle2"/>
    <dgm:cxn modelId="{DD4A7147-0E05-4CC1-AD06-5820479B84A8}" srcId="{EB000A07-A4B7-45D9-9135-6DD4341F64F5}" destId="{2BE569B2-CE47-48E8-8316-ADD3C527DBFD}" srcOrd="1" destOrd="0" parTransId="{EF3BDF0D-D68C-449C-BF36-5FE82036EF9B}" sibTransId="{9D27FC64-1E82-43A5-8B13-E02F488EA751}"/>
    <dgm:cxn modelId="{F70BAF49-39DB-4947-AFDF-4BCF6380C35F}" type="presOf" srcId="{9D27FC64-1E82-43A5-8B13-E02F488EA751}" destId="{35081B9B-A621-4567-BEB5-474A6A642CE9}" srcOrd="0" destOrd="0" presId="urn:microsoft.com/office/officeart/2005/8/layout/cycle2"/>
    <dgm:cxn modelId="{76C86702-0DAB-4E7D-8B21-420326009563}" type="presOf" srcId="{5BF33E2F-EC62-464C-82F4-8660E08BC78F}" destId="{5F4E09D7-7DF3-452E-943F-773F6FF4425E}" srcOrd="0" destOrd="0" presId="urn:microsoft.com/office/officeart/2005/8/layout/cycle2"/>
    <dgm:cxn modelId="{DC8230D6-E48B-44ED-9938-F7ED0201752E}" type="presOf" srcId="{E8EEAF65-1EB2-4B19-AE6A-2589B2D3E03D}" destId="{2E0E41F1-924B-4D01-9652-6340608537C8}" srcOrd="1" destOrd="0" presId="urn:microsoft.com/office/officeart/2005/8/layout/cycle2"/>
    <dgm:cxn modelId="{B83D0AF1-AE60-41D3-9B04-168B9FD2CDA3}" type="presOf" srcId="{56F309B1-02D4-4104-A13A-B8E0DEA60F86}" destId="{7CD76243-56BD-4EBF-93E8-094D84C56408}" srcOrd="0" destOrd="0" presId="urn:microsoft.com/office/officeart/2005/8/layout/cycle2"/>
    <dgm:cxn modelId="{5D278F0B-DB82-41EE-9CD8-0E976CEFB877}" type="presOf" srcId="{4C665930-9323-433E-A7FE-F6011B9AF563}" destId="{BF1CEA02-881A-41E8-A319-A2CF8616387B}" srcOrd="1" destOrd="0" presId="urn:microsoft.com/office/officeart/2005/8/layout/cycle2"/>
    <dgm:cxn modelId="{9FF8D783-C3E0-4C77-838B-6AEB70F07CC0}" type="presOf" srcId="{79966C6B-D279-4E38-9E37-9326181569F4}" destId="{CE29C799-C38E-4166-A988-0787EF377D86}" srcOrd="0" destOrd="0" presId="urn:microsoft.com/office/officeart/2005/8/layout/cycle2"/>
    <dgm:cxn modelId="{17F1596F-A92E-410F-8E72-63A103B7D57D}" type="presOf" srcId="{2E7F2BB4-8898-48FF-9906-DBD51CB6BDC3}" destId="{E1398784-EBFA-4810-976A-17835491FD71}" srcOrd="0" destOrd="0" presId="urn:microsoft.com/office/officeart/2005/8/layout/cycle2"/>
    <dgm:cxn modelId="{9724F863-A9FB-4D43-8564-F5072A6257F7}" type="presOf" srcId="{7A4647FB-62DB-49EB-BB39-02E20268157B}" destId="{5EEF08C1-5E95-47A2-BF7F-407912732844}" srcOrd="0" destOrd="0" presId="urn:microsoft.com/office/officeart/2005/8/layout/cycle2"/>
    <dgm:cxn modelId="{228949C1-057D-46AE-8D4E-27B3B376285A}" srcId="{EB000A07-A4B7-45D9-9135-6DD4341F64F5}" destId="{5A03BB71-C580-4520-A5A6-0868437D6767}" srcOrd="2" destOrd="0" parTransId="{7B8FC580-81CB-45F9-8B19-81818829D552}" sibTransId="{E8EEAF65-1EB2-4B19-AE6A-2589B2D3E03D}"/>
    <dgm:cxn modelId="{17DD1EA5-A38C-4148-AFA0-F379BC4AAE3C}" type="presOf" srcId="{F98221D5-9036-4320-B34E-1253E2B118EB}" destId="{EB8B272F-CB8E-41B4-B681-2596FD8E24BF}" srcOrd="1" destOrd="0" presId="urn:microsoft.com/office/officeart/2005/8/layout/cycle2"/>
    <dgm:cxn modelId="{99820244-0E6B-42E9-8BE3-C305168A9DD8}" type="presOf" srcId="{5A03BB71-C580-4520-A5A6-0868437D6767}" destId="{8D5A62F4-E789-4A3C-99F7-566CA107C124}" srcOrd="0" destOrd="0" presId="urn:microsoft.com/office/officeart/2005/8/layout/cycle2"/>
    <dgm:cxn modelId="{9247803F-2978-4462-A3D5-4BAE81C98487}" srcId="{EB000A07-A4B7-45D9-9135-6DD4341F64F5}" destId="{7A4647FB-62DB-49EB-BB39-02E20268157B}" srcOrd="4" destOrd="0" parTransId="{496F7D98-4DDA-46DC-B405-2B33A8A7B852}" sibTransId="{F98221D5-9036-4320-B34E-1253E2B118EB}"/>
    <dgm:cxn modelId="{F6CC43FC-6FE6-4DA1-968D-8ADC0781263C}" type="presOf" srcId="{6109EF8D-21E6-4F13-83EE-E3E20BA8D7C3}" destId="{A162AE5A-2301-4178-91DD-F299C487BE5A}" srcOrd="0" destOrd="0" presId="urn:microsoft.com/office/officeart/2005/8/layout/cycle2"/>
    <dgm:cxn modelId="{846CBCF6-01A9-412F-9557-FB0B77E4BFCC}" type="presOf" srcId="{4C665930-9323-433E-A7FE-F6011B9AF563}" destId="{AA50156E-3C74-4DD7-B043-4E963927E214}" srcOrd="0" destOrd="0" presId="urn:microsoft.com/office/officeart/2005/8/layout/cycle2"/>
    <dgm:cxn modelId="{CB45BDFD-8657-44B5-8FCF-9050215E2AA8}" type="presOf" srcId="{56F309B1-02D4-4104-A13A-B8E0DEA60F86}" destId="{29DBF4BE-96CE-48E3-A3B9-82E9CF9D63F2}" srcOrd="1" destOrd="0" presId="urn:microsoft.com/office/officeart/2005/8/layout/cycle2"/>
    <dgm:cxn modelId="{2A5CFEC4-2038-447A-9DA3-CEABEE6DE699}" srcId="{EB000A07-A4B7-45D9-9135-6DD4341F64F5}" destId="{5BF33E2F-EC62-464C-82F4-8660E08BC78F}" srcOrd="0" destOrd="0" parTransId="{4A8DC76A-1EE2-4EDF-8C69-38EFB52E3B0B}" sibTransId="{4C665930-9323-433E-A7FE-F6011B9AF563}"/>
    <dgm:cxn modelId="{69DF6CA0-7654-4163-9540-4427912DBC86}" type="presOf" srcId="{E8EEAF65-1EB2-4B19-AE6A-2589B2D3E03D}" destId="{7F43E326-75E0-441F-A065-000942DBBABF}" srcOrd="0" destOrd="0" presId="urn:microsoft.com/office/officeart/2005/8/layout/cycle2"/>
    <dgm:cxn modelId="{05D9B3E4-5543-4A09-A9D4-E1B9B413F31A}" srcId="{EB000A07-A4B7-45D9-9135-6DD4341F64F5}" destId="{6109EF8D-21E6-4F13-83EE-E3E20BA8D7C3}" srcOrd="3" destOrd="0" parTransId="{E4693867-E433-44FE-85F4-9720F957C2E4}" sibTransId="{79966C6B-D279-4E38-9E37-9326181569F4}"/>
    <dgm:cxn modelId="{D418E662-7DA8-4D77-8F55-26D96AA78B06}" srcId="{EB000A07-A4B7-45D9-9135-6DD4341F64F5}" destId="{2E7F2BB4-8898-48FF-9906-DBD51CB6BDC3}" srcOrd="5" destOrd="0" parTransId="{525DD18D-ED8D-4735-A447-52272BBBD33D}" sibTransId="{56F309B1-02D4-4104-A13A-B8E0DEA60F86}"/>
    <dgm:cxn modelId="{EBFAD639-DA07-4917-A07A-E5C45CD83DD3}" type="presOf" srcId="{F98221D5-9036-4320-B34E-1253E2B118EB}" destId="{34EDEA7D-9C5F-4E8E-8D3F-2FC13093CC82}" srcOrd="0" destOrd="0" presId="urn:microsoft.com/office/officeart/2005/8/layout/cycle2"/>
    <dgm:cxn modelId="{A00A6CB3-EFEA-407F-A9D3-E5AD7542543B}" type="presParOf" srcId="{F63C6502-3730-45E3-ABB9-DFD548E32A1A}" destId="{5F4E09D7-7DF3-452E-943F-773F6FF4425E}" srcOrd="0" destOrd="0" presId="urn:microsoft.com/office/officeart/2005/8/layout/cycle2"/>
    <dgm:cxn modelId="{C7A6638E-511D-4749-91D7-B9E6181F92DA}" type="presParOf" srcId="{F63C6502-3730-45E3-ABB9-DFD548E32A1A}" destId="{AA50156E-3C74-4DD7-B043-4E963927E214}" srcOrd="1" destOrd="0" presId="urn:microsoft.com/office/officeart/2005/8/layout/cycle2"/>
    <dgm:cxn modelId="{879C3026-9DBE-41D4-A32E-848B02623623}" type="presParOf" srcId="{AA50156E-3C74-4DD7-B043-4E963927E214}" destId="{BF1CEA02-881A-41E8-A319-A2CF8616387B}" srcOrd="0" destOrd="0" presId="urn:microsoft.com/office/officeart/2005/8/layout/cycle2"/>
    <dgm:cxn modelId="{A23DDBA1-DB38-44ED-A87E-3709E0926A8A}" type="presParOf" srcId="{F63C6502-3730-45E3-ABB9-DFD548E32A1A}" destId="{83AAD058-3470-4779-B992-8D99E506FA38}" srcOrd="2" destOrd="0" presId="urn:microsoft.com/office/officeart/2005/8/layout/cycle2"/>
    <dgm:cxn modelId="{892BE98A-A3DA-4439-9817-5977AB7B7F61}" type="presParOf" srcId="{F63C6502-3730-45E3-ABB9-DFD548E32A1A}" destId="{35081B9B-A621-4567-BEB5-474A6A642CE9}" srcOrd="3" destOrd="0" presId="urn:microsoft.com/office/officeart/2005/8/layout/cycle2"/>
    <dgm:cxn modelId="{0D720F1F-89D5-42E1-8FFA-0BB7760A0C7F}" type="presParOf" srcId="{35081B9B-A621-4567-BEB5-474A6A642CE9}" destId="{7BE31DBD-34E1-495D-BD0B-E282DA897AF6}" srcOrd="0" destOrd="0" presId="urn:microsoft.com/office/officeart/2005/8/layout/cycle2"/>
    <dgm:cxn modelId="{E6C1846D-EC41-493C-911A-27AA6D258076}" type="presParOf" srcId="{F63C6502-3730-45E3-ABB9-DFD548E32A1A}" destId="{8D5A62F4-E789-4A3C-99F7-566CA107C124}" srcOrd="4" destOrd="0" presId="urn:microsoft.com/office/officeart/2005/8/layout/cycle2"/>
    <dgm:cxn modelId="{1F7C38F4-FD8C-4E44-AA05-648081C15F45}" type="presParOf" srcId="{F63C6502-3730-45E3-ABB9-DFD548E32A1A}" destId="{7F43E326-75E0-441F-A065-000942DBBABF}" srcOrd="5" destOrd="0" presId="urn:microsoft.com/office/officeart/2005/8/layout/cycle2"/>
    <dgm:cxn modelId="{550179C1-F0B7-41E4-B2A5-2921B5A7F495}" type="presParOf" srcId="{7F43E326-75E0-441F-A065-000942DBBABF}" destId="{2E0E41F1-924B-4D01-9652-6340608537C8}" srcOrd="0" destOrd="0" presId="urn:microsoft.com/office/officeart/2005/8/layout/cycle2"/>
    <dgm:cxn modelId="{2F915898-0C04-4300-A9E8-FE9603F22AE0}" type="presParOf" srcId="{F63C6502-3730-45E3-ABB9-DFD548E32A1A}" destId="{A162AE5A-2301-4178-91DD-F299C487BE5A}" srcOrd="6" destOrd="0" presId="urn:microsoft.com/office/officeart/2005/8/layout/cycle2"/>
    <dgm:cxn modelId="{FFA4F5C4-4EB5-4274-922B-1A9868D843BD}" type="presParOf" srcId="{F63C6502-3730-45E3-ABB9-DFD548E32A1A}" destId="{CE29C799-C38E-4166-A988-0787EF377D86}" srcOrd="7" destOrd="0" presId="urn:microsoft.com/office/officeart/2005/8/layout/cycle2"/>
    <dgm:cxn modelId="{70DE479F-267B-4580-81E3-19BB0DAB64E1}" type="presParOf" srcId="{CE29C799-C38E-4166-A988-0787EF377D86}" destId="{182E0FEC-BBF1-43E0-86DC-586488556B03}" srcOrd="0" destOrd="0" presId="urn:microsoft.com/office/officeart/2005/8/layout/cycle2"/>
    <dgm:cxn modelId="{8E832EBA-4962-4B1A-9D3C-7CC8F15FDC03}" type="presParOf" srcId="{F63C6502-3730-45E3-ABB9-DFD548E32A1A}" destId="{5EEF08C1-5E95-47A2-BF7F-407912732844}" srcOrd="8" destOrd="0" presId="urn:microsoft.com/office/officeart/2005/8/layout/cycle2"/>
    <dgm:cxn modelId="{2C1DACA5-5940-4050-8F2F-D23FAAAEC616}" type="presParOf" srcId="{F63C6502-3730-45E3-ABB9-DFD548E32A1A}" destId="{34EDEA7D-9C5F-4E8E-8D3F-2FC13093CC82}" srcOrd="9" destOrd="0" presId="urn:microsoft.com/office/officeart/2005/8/layout/cycle2"/>
    <dgm:cxn modelId="{ADBEB7CD-8EBF-4685-BF34-C53BB5FBA86E}" type="presParOf" srcId="{34EDEA7D-9C5F-4E8E-8D3F-2FC13093CC82}" destId="{EB8B272F-CB8E-41B4-B681-2596FD8E24BF}" srcOrd="0" destOrd="0" presId="urn:microsoft.com/office/officeart/2005/8/layout/cycle2"/>
    <dgm:cxn modelId="{43A9816F-D6DE-4949-9292-4675E99AD09A}" type="presParOf" srcId="{F63C6502-3730-45E3-ABB9-DFD548E32A1A}" destId="{E1398784-EBFA-4810-976A-17835491FD71}" srcOrd="10" destOrd="0" presId="urn:microsoft.com/office/officeart/2005/8/layout/cycle2"/>
    <dgm:cxn modelId="{59F83FA7-FC47-4D88-8E87-DEFEDF1F67C7}" type="presParOf" srcId="{F63C6502-3730-45E3-ABB9-DFD548E32A1A}" destId="{7CD76243-56BD-4EBF-93E8-094D84C56408}" srcOrd="11" destOrd="0" presId="urn:microsoft.com/office/officeart/2005/8/layout/cycle2"/>
    <dgm:cxn modelId="{C6F9C5A4-2E18-46FB-89C3-7C803868CB62}" type="presParOf" srcId="{7CD76243-56BD-4EBF-93E8-094D84C56408}" destId="{29DBF4BE-96CE-48E3-A3B9-82E9CF9D63F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3E6BF0-5CEA-4BF4-AD79-48DDD001A63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0243486-F3FB-4CC2-9EC2-E19B2B69134A}">
      <dgm:prSet/>
      <dgm:spPr/>
      <dgm:t>
        <a:bodyPr/>
        <a:lstStyle/>
        <a:p>
          <a:pPr rtl="0"/>
          <a:r>
            <a:rPr lang="en-US" dirty="0" smtClean="0"/>
            <a:t>The best things in life are free </a:t>
          </a:r>
          <a:endParaRPr lang="en-GB" dirty="0" smtClean="0"/>
        </a:p>
        <a:p>
          <a:r>
            <a:rPr lang="en-US" dirty="0" smtClean="0"/>
            <a:t>But you can keep them for the birds and bees </a:t>
          </a:r>
          <a:endParaRPr lang="en-GB" dirty="0" smtClean="0"/>
        </a:p>
        <a:p>
          <a:r>
            <a:rPr lang="en-GB" dirty="0" smtClean="0"/>
            <a:t>Now give me money </a:t>
          </a:r>
        </a:p>
        <a:p>
          <a:r>
            <a:rPr lang="en-GB" dirty="0" smtClean="0"/>
            <a:t>That's what I want </a:t>
          </a:r>
        </a:p>
        <a:p>
          <a:r>
            <a:rPr lang="en-US" dirty="0" smtClean="0"/>
            <a:t>That's what I want, yeah </a:t>
          </a:r>
          <a:endParaRPr lang="en-GB" dirty="0" smtClean="0"/>
        </a:p>
        <a:p>
          <a:r>
            <a:rPr lang="en-GB" dirty="0" smtClean="0"/>
            <a:t>That's what I want</a:t>
          </a:r>
          <a:endParaRPr lang="en-GB" dirty="0"/>
        </a:p>
      </dgm:t>
    </dgm:pt>
    <dgm:pt modelId="{7248CD28-9D30-456F-BC6D-03B54AB7D2F6}" type="parTrans" cxnId="{CD903D0A-8A52-47C8-97D8-7B3B9AF60F91}">
      <dgm:prSet/>
      <dgm:spPr/>
      <dgm:t>
        <a:bodyPr/>
        <a:lstStyle/>
        <a:p>
          <a:endParaRPr lang="en-GB"/>
        </a:p>
      </dgm:t>
    </dgm:pt>
    <dgm:pt modelId="{5A148123-10B5-4CED-9DF1-798C8CA381BF}" type="sibTrans" cxnId="{CD903D0A-8A52-47C8-97D8-7B3B9AF60F91}">
      <dgm:prSet/>
      <dgm:spPr/>
      <dgm:t>
        <a:bodyPr/>
        <a:lstStyle/>
        <a:p>
          <a:endParaRPr lang="en-GB"/>
        </a:p>
      </dgm:t>
    </dgm:pt>
    <dgm:pt modelId="{EB412503-0C65-4D61-AF2B-087176E12307}">
      <dgm:prSet/>
      <dgm:spPr/>
      <dgm:t>
        <a:bodyPr/>
        <a:lstStyle/>
        <a:p>
          <a:pPr rtl="0"/>
          <a:r>
            <a:rPr lang="en-US" b="0" i="0" dirty="0" smtClean="0"/>
            <a:t>You're </a:t>
          </a:r>
          <a:r>
            <a:rPr lang="en-US" b="0" i="0" dirty="0" err="1" smtClean="0"/>
            <a:t>lovin</a:t>
          </a:r>
          <a:r>
            <a:rPr lang="en-US" b="0" i="0" dirty="0" smtClean="0"/>
            <a:t>' gives me a thrill </a:t>
          </a:r>
          <a:r>
            <a:rPr lang="en-US" dirty="0" smtClean="0"/>
            <a:t/>
          </a:r>
          <a:br>
            <a:rPr lang="en-US" dirty="0" smtClean="0"/>
          </a:br>
          <a:r>
            <a:rPr lang="en-US" b="0" i="0" dirty="0" smtClean="0"/>
            <a:t>But you're </a:t>
          </a:r>
          <a:r>
            <a:rPr lang="en-US" b="0" i="0" dirty="0" err="1" smtClean="0"/>
            <a:t>lovin</a:t>
          </a:r>
          <a:r>
            <a:rPr lang="en-US" b="0" i="0" dirty="0" smtClean="0"/>
            <a:t>' don't pay my bills </a:t>
          </a:r>
          <a:r>
            <a:rPr lang="en-US" dirty="0" smtClean="0"/>
            <a:t/>
          </a:r>
          <a:br>
            <a:rPr lang="en-US" dirty="0" smtClean="0"/>
          </a:br>
          <a:r>
            <a:rPr lang="en-US" b="0" i="0" dirty="0" smtClean="0"/>
            <a:t>Now give me money </a:t>
          </a:r>
          <a:r>
            <a:rPr lang="en-US" dirty="0" smtClean="0"/>
            <a:t/>
          </a:r>
          <a:br>
            <a:rPr lang="en-US" dirty="0" smtClean="0"/>
          </a:br>
          <a:r>
            <a:rPr lang="en-US" b="0" i="0" dirty="0" smtClean="0"/>
            <a:t>That's what I want </a:t>
          </a:r>
          <a:r>
            <a:rPr lang="en-US" dirty="0" smtClean="0"/>
            <a:t/>
          </a:r>
          <a:br>
            <a:rPr lang="en-US" dirty="0" smtClean="0"/>
          </a:br>
          <a:r>
            <a:rPr lang="en-US" b="0" i="0" dirty="0" smtClean="0"/>
            <a:t>That's what I want, yeah </a:t>
          </a:r>
          <a:r>
            <a:rPr lang="en-US" dirty="0" smtClean="0"/>
            <a:t/>
          </a:r>
          <a:br>
            <a:rPr lang="en-US" dirty="0" smtClean="0"/>
          </a:br>
          <a:r>
            <a:rPr lang="en-US" b="0" i="0" dirty="0" smtClean="0"/>
            <a:t>That's what I want</a:t>
          </a:r>
          <a:endParaRPr lang="en-GB" dirty="0"/>
        </a:p>
      </dgm:t>
    </dgm:pt>
    <dgm:pt modelId="{5768C0EC-4A92-4171-9A92-082BF1572C6A}" type="parTrans" cxnId="{2E9476FF-9BFD-4E80-BFC7-F25759CF5B8D}">
      <dgm:prSet/>
      <dgm:spPr/>
      <dgm:t>
        <a:bodyPr/>
        <a:lstStyle/>
        <a:p>
          <a:endParaRPr lang="en-GB"/>
        </a:p>
      </dgm:t>
    </dgm:pt>
    <dgm:pt modelId="{309E2B17-8196-46C3-AA71-8C7275114242}" type="sibTrans" cxnId="{2E9476FF-9BFD-4E80-BFC7-F25759CF5B8D}">
      <dgm:prSet/>
      <dgm:spPr/>
      <dgm:t>
        <a:bodyPr/>
        <a:lstStyle/>
        <a:p>
          <a:endParaRPr lang="en-GB"/>
        </a:p>
      </dgm:t>
    </dgm:pt>
    <dgm:pt modelId="{B5712834-7193-474B-9863-1C68EFFC3CA0}" type="pres">
      <dgm:prSet presAssocID="{163E6BF0-5CEA-4BF4-AD79-48DDD001A63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60D93A6-615D-4237-88DD-F28FB42B2523}" type="pres">
      <dgm:prSet presAssocID="{00243486-F3FB-4CC2-9EC2-E19B2B69134A}" presName="composite" presStyleCnt="0"/>
      <dgm:spPr/>
    </dgm:pt>
    <dgm:pt modelId="{DA1AE3B1-AC70-475E-ADE1-877A82469FDB}" type="pres">
      <dgm:prSet presAssocID="{00243486-F3FB-4CC2-9EC2-E19B2B69134A}" presName="imgShp" presStyleLbl="fgImgPlace1" presStyleIdx="0" presStyleCnt="2" custLinFactNeighborX="-460" custLinFactNeighborY="-1808"/>
      <dgm:spPr/>
    </dgm:pt>
    <dgm:pt modelId="{D8A3A9F3-2050-4779-89EE-E77B9F099065}" type="pres">
      <dgm:prSet presAssocID="{00243486-F3FB-4CC2-9EC2-E19B2B69134A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F9AC930-CDD0-484A-8D33-92F7A94F15D2}" type="pres">
      <dgm:prSet presAssocID="{5A148123-10B5-4CED-9DF1-798C8CA381BF}" presName="spacing" presStyleCnt="0"/>
      <dgm:spPr/>
    </dgm:pt>
    <dgm:pt modelId="{55F0C09E-F7E6-4C42-BF8A-8B57F201387E}" type="pres">
      <dgm:prSet presAssocID="{EB412503-0C65-4D61-AF2B-087176E12307}" presName="composite" presStyleCnt="0"/>
      <dgm:spPr/>
    </dgm:pt>
    <dgm:pt modelId="{8972BD25-F93C-45CB-A948-6B769A41BB0D}" type="pres">
      <dgm:prSet presAssocID="{EB412503-0C65-4D61-AF2B-087176E12307}" presName="imgShp" presStyleLbl="fgImgPlace1" presStyleIdx="1" presStyleCnt="2"/>
      <dgm:spPr/>
    </dgm:pt>
    <dgm:pt modelId="{BC4568D9-3380-4FAD-A14E-ED7D617EE439}" type="pres">
      <dgm:prSet presAssocID="{EB412503-0C65-4D61-AF2B-087176E12307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007D258-06C8-42A1-887C-9BC00399C38C}" type="presOf" srcId="{163E6BF0-5CEA-4BF4-AD79-48DDD001A633}" destId="{B5712834-7193-474B-9863-1C68EFFC3CA0}" srcOrd="0" destOrd="0" presId="urn:microsoft.com/office/officeart/2005/8/layout/vList3"/>
    <dgm:cxn modelId="{670E0BCD-71C0-4ACA-A4CB-BC46DDADE8F6}" type="presOf" srcId="{EB412503-0C65-4D61-AF2B-087176E12307}" destId="{BC4568D9-3380-4FAD-A14E-ED7D617EE439}" srcOrd="0" destOrd="0" presId="urn:microsoft.com/office/officeart/2005/8/layout/vList3"/>
    <dgm:cxn modelId="{CD903D0A-8A52-47C8-97D8-7B3B9AF60F91}" srcId="{163E6BF0-5CEA-4BF4-AD79-48DDD001A633}" destId="{00243486-F3FB-4CC2-9EC2-E19B2B69134A}" srcOrd="0" destOrd="0" parTransId="{7248CD28-9D30-456F-BC6D-03B54AB7D2F6}" sibTransId="{5A148123-10B5-4CED-9DF1-798C8CA381BF}"/>
    <dgm:cxn modelId="{68817122-1DC4-48D9-B0EC-4393546B8FAF}" type="presOf" srcId="{00243486-F3FB-4CC2-9EC2-E19B2B69134A}" destId="{D8A3A9F3-2050-4779-89EE-E77B9F099065}" srcOrd="0" destOrd="0" presId="urn:microsoft.com/office/officeart/2005/8/layout/vList3"/>
    <dgm:cxn modelId="{2E9476FF-9BFD-4E80-BFC7-F25759CF5B8D}" srcId="{163E6BF0-5CEA-4BF4-AD79-48DDD001A633}" destId="{EB412503-0C65-4D61-AF2B-087176E12307}" srcOrd="1" destOrd="0" parTransId="{5768C0EC-4A92-4171-9A92-082BF1572C6A}" sibTransId="{309E2B17-8196-46C3-AA71-8C7275114242}"/>
    <dgm:cxn modelId="{9791A493-260D-4569-87BE-735D70809684}" type="presParOf" srcId="{B5712834-7193-474B-9863-1C68EFFC3CA0}" destId="{960D93A6-615D-4237-88DD-F28FB42B2523}" srcOrd="0" destOrd="0" presId="urn:microsoft.com/office/officeart/2005/8/layout/vList3"/>
    <dgm:cxn modelId="{5F266BB4-CDB4-4BAF-A5AD-DA370F764714}" type="presParOf" srcId="{960D93A6-615D-4237-88DD-F28FB42B2523}" destId="{DA1AE3B1-AC70-475E-ADE1-877A82469FDB}" srcOrd="0" destOrd="0" presId="urn:microsoft.com/office/officeart/2005/8/layout/vList3"/>
    <dgm:cxn modelId="{BF027AEC-B2E9-47F5-BEC9-1405F78612AE}" type="presParOf" srcId="{960D93A6-615D-4237-88DD-F28FB42B2523}" destId="{D8A3A9F3-2050-4779-89EE-E77B9F099065}" srcOrd="1" destOrd="0" presId="urn:microsoft.com/office/officeart/2005/8/layout/vList3"/>
    <dgm:cxn modelId="{0B1E8955-1FB2-4371-A538-C10E46F297DF}" type="presParOf" srcId="{B5712834-7193-474B-9863-1C68EFFC3CA0}" destId="{3F9AC930-CDD0-484A-8D33-92F7A94F15D2}" srcOrd="1" destOrd="0" presId="urn:microsoft.com/office/officeart/2005/8/layout/vList3"/>
    <dgm:cxn modelId="{9D1279FB-85B3-469F-9D05-DD3433A4036C}" type="presParOf" srcId="{B5712834-7193-474B-9863-1C68EFFC3CA0}" destId="{55F0C09E-F7E6-4C42-BF8A-8B57F201387E}" srcOrd="2" destOrd="0" presId="urn:microsoft.com/office/officeart/2005/8/layout/vList3"/>
    <dgm:cxn modelId="{A2594EAB-3BA9-4284-AE10-CE95A0A75C66}" type="presParOf" srcId="{55F0C09E-F7E6-4C42-BF8A-8B57F201387E}" destId="{8972BD25-F93C-45CB-A948-6B769A41BB0D}" srcOrd="0" destOrd="0" presId="urn:microsoft.com/office/officeart/2005/8/layout/vList3"/>
    <dgm:cxn modelId="{EFF53355-37A7-490C-AF67-335E4463ECCF}" type="presParOf" srcId="{55F0C09E-F7E6-4C42-BF8A-8B57F201387E}" destId="{BC4568D9-3380-4FAD-A14E-ED7D617EE43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0F17BC-7EB2-4E1B-B427-7042494F380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D89A1-84A0-41A7-98B0-2E1868A55B5C}">
      <dgm:prSet/>
      <dgm:spPr/>
      <dgm:t>
        <a:bodyPr/>
        <a:lstStyle/>
        <a:p>
          <a:pPr rtl="0"/>
          <a:r>
            <a:rPr lang="en-GB" smtClean="0"/>
            <a:t>Assign Asset Value (AV)</a:t>
          </a:r>
          <a:endParaRPr lang="en-GB"/>
        </a:p>
      </dgm:t>
    </dgm:pt>
    <dgm:pt modelId="{765D44B2-C0E5-4351-ADF3-9334ADDFA650}" type="parTrans" cxnId="{45DD26FF-4675-4838-994F-54AF713DBD75}">
      <dgm:prSet/>
      <dgm:spPr/>
      <dgm:t>
        <a:bodyPr/>
        <a:lstStyle/>
        <a:p>
          <a:endParaRPr lang="en-GB"/>
        </a:p>
      </dgm:t>
    </dgm:pt>
    <dgm:pt modelId="{3A22E0C0-60E2-490D-A881-6A8A9CE41D1B}" type="sibTrans" cxnId="{45DD26FF-4675-4838-994F-54AF713DBD75}">
      <dgm:prSet/>
      <dgm:spPr/>
      <dgm:t>
        <a:bodyPr/>
        <a:lstStyle/>
        <a:p>
          <a:endParaRPr lang="en-GB"/>
        </a:p>
      </dgm:t>
    </dgm:pt>
    <dgm:pt modelId="{DAD15D4A-2AA0-42E4-8D9E-88FACAA3ECE8}">
      <dgm:prSet/>
      <dgm:spPr/>
      <dgm:t>
        <a:bodyPr/>
        <a:lstStyle/>
        <a:p>
          <a:pPr rtl="0"/>
          <a:r>
            <a:rPr lang="en-GB" smtClean="0"/>
            <a:t>Calculate the Exposure Factor (EF)</a:t>
          </a:r>
          <a:endParaRPr lang="en-GB"/>
        </a:p>
      </dgm:t>
    </dgm:pt>
    <dgm:pt modelId="{A9889B2B-2767-437F-A047-8741DA8B5341}" type="parTrans" cxnId="{6950BA25-47C9-4249-ADC3-6AFD05635DF6}">
      <dgm:prSet/>
      <dgm:spPr/>
      <dgm:t>
        <a:bodyPr/>
        <a:lstStyle/>
        <a:p>
          <a:endParaRPr lang="en-GB"/>
        </a:p>
      </dgm:t>
    </dgm:pt>
    <dgm:pt modelId="{3D52552D-73EA-4F32-8AF9-4500959ACB05}" type="sibTrans" cxnId="{6950BA25-47C9-4249-ADC3-6AFD05635DF6}">
      <dgm:prSet/>
      <dgm:spPr/>
      <dgm:t>
        <a:bodyPr/>
        <a:lstStyle/>
        <a:p>
          <a:endParaRPr lang="en-GB"/>
        </a:p>
      </dgm:t>
    </dgm:pt>
    <dgm:pt modelId="{68170AEA-1E93-4F58-8584-419F31D551F8}">
      <dgm:prSet/>
      <dgm:spPr/>
      <dgm:t>
        <a:bodyPr/>
        <a:lstStyle/>
        <a:p>
          <a:pPr rtl="0"/>
          <a:r>
            <a:rPr lang="en-GB" smtClean="0"/>
            <a:t>Calculate Single Loss Expectancy (SLE)</a:t>
          </a:r>
          <a:endParaRPr lang="en-GB"/>
        </a:p>
      </dgm:t>
    </dgm:pt>
    <dgm:pt modelId="{79C8EC0D-9C8F-47A0-AC99-844B1E49B34F}" type="parTrans" cxnId="{50665651-19BD-4281-AC70-922B46CB6CE2}">
      <dgm:prSet/>
      <dgm:spPr/>
      <dgm:t>
        <a:bodyPr/>
        <a:lstStyle/>
        <a:p>
          <a:endParaRPr lang="en-GB"/>
        </a:p>
      </dgm:t>
    </dgm:pt>
    <dgm:pt modelId="{81CEABCB-D270-443E-BD59-16410206ADC5}" type="sibTrans" cxnId="{50665651-19BD-4281-AC70-922B46CB6CE2}">
      <dgm:prSet/>
      <dgm:spPr/>
      <dgm:t>
        <a:bodyPr/>
        <a:lstStyle/>
        <a:p>
          <a:endParaRPr lang="en-GB"/>
        </a:p>
      </dgm:t>
    </dgm:pt>
    <dgm:pt modelId="{0461E9E7-80E0-400F-9E09-16D30C08B407}">
      <dgm:prSet/>
      <dgm:spPr/>
      <dgm:t>
        <a:bodyPr/>
        <a:lstStyle/>
        <a:p>
          <a:pPr rtl="0"/>
          <a:r>
            <a:rPr lang="en-GB" smtClean="0"/>
            <a:t>Assess the Annualized Rate of Occurrence (ARO)</a:t>
          </a:r>
          <a:endParaRPr lang="en-GB"/>
        </a:p>
      </dgm:t>
    </dgm:pt>
    <dgm:pt modelId="{47906FC9-49FC-465B-ABC5-97D8029ED0A4}" type="parTrans" cxnId="{54F67207-183B-4A0D-9C76-F0A333B942CE}">
      <dgm:prSet/>
      <dgm:spPr/>
      <dgm:t>
        <a:bodyPr/>
        <a:lstStyle/>
        <a:p>
          <a:endParaRPr lang="en-GB"/>
        </a:p>
      </dgm:t>
    </dgm:pt>
    <dgm:pt modelId="{A826A43D-F242-4784-BDCA-8343FF846A2F}" type="sibTrans" cxnId="{54F67207-183B-4A0D-9C76-F0A333B942CE}">
      <dgm:prSet/>
      <dgm:spPr/>
      <dgm:t>
        <a:bodyPr/>
        <a:lstStyle/>
        <a:p>
          <a:endParaRPr lang="en-GB"/>
        </a:p>
      </dgm:t>
    </dgm:pt>
    <dgm:pt modelId="{D856A510-4C43-4125-863C-48042140B712}">
      <dgm:prSet/>
      <dgm:spPr/>
      <dgm:t>
        <a:bodyPr/>
        <a:lstStyle/>
        <a:p>
          <a:pPr rtl="0"/>
          <a:r>
            <a:rPr lang="en-GB" dirty="0" smtClean="0"/>
            <a:t>Derive the Annualized Loss Expectancy (ALE)</a:t>
          </a:r>
          <a:endParaRPr lang="en-GB" dirty="0"/>
        </a:p>
      </dgm:t>
    </dgm:pt>
    <dgm:pt modelId="{349112B4-E5E1-466F-B255-92C0D3CF2F90}" type="parTrans" cxnId="{8D37B4BD-13C6-4781-903B-7298E91CC724}">
      <dgm:prSet/>
      <dgm:spPr/>
      <dgm:t>
        <a:bodyPr/>
        <a:lstStyle/>
        <a:p>
          <a:endParaRPr lang="en-GB"/>
        </a:p>
      </dgm:t>
    </dgm:pt>
    <dgm:pt modelId="{412C72EA-B42F-432C-8726-5F8BBF5EAE9D}" type="sibTrans" cxnId="{8D37B4BD-13C6-4781-903B-7298E91CC724}">
      <dgm:prSet/>
      <dgm:spPr/>
      <dgm:t>
        <a:bodyPr/>
        <a:lstStyle/>
        <a:p>
          <a:endParaRPr lang="en-GB"/>
        </a:p>
      </dgm:t>
    </dgm:pt>
    <dgm:pt modelId="{EDDB2798-F6BC-4A71-A256-7FAD8C67487E}" type="pres">
      <dgm:prSet presAssocID="{C70F17BC-7EB2-4E1B-B427-7042494F380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71A6498-2EAC-4258-AE64-57D6D63AA482}" type="pres">
      <dgm:prSet presAssocID="{C70F17BC-7EB2-4E1B-B427-7042494F3807}" presName="dummyMaxCanvas" presStyleCnt="0">
        <dgm:presLayoutVars/>
      </dgm:prSet>
      <dgm:spPr/>
    </dgm:pt>
    <dgm:pt modelId="{F925AFE8-8486-41BB-B0FB-9E390AB24D56}" type="pres">
      <dgm:prSet presAssocID="{C70F17BC-7EB2-4E1B-B427-7042494F3807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7AC86DD-B683-459C-B8CA-22A21462537C}" type="pres">
      <dgm:prSet presAssocID="{C70F17BC-7EB2-4E1B-B427-7042494F3807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78E55A4-2E58-410B-A345-85D030FAAAFF}" type="pres">
      <dgm:prSet presAssocID="{C70F17BC-7EB2-4E1B-B427-7042494F3807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C143DC8-F8B9-4249-99A2-B6A5F828C454}" type="pres">
      <dgm:prSet presAssocID="{C70F17BC-7EB2-4E1B-B427-7042494F3807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EA4F88C-ABDC-4A7F-B461-2CA554795C55}" type="pres">
      <dgm:prSet presAssocID="{C70F17BC-7EB2-4E1B-B427-7042494F3807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CD6475-5042-4F3D-975F-A68F94539EF2}" type="pres">
      <dgm:prSet presAssocID="{C70F17BC-7EB2-4E1B-B427-7042494F3807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643DBF-3F02-49C0-90CB-4A4B627887DF}" type="pres">
      <dgm:prSet presAssocID="{C70F17BC-7EB2-4E1B-B427-7042494F3807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E5E0F9F-AC53-413C-AECC-7FA131D174A7}" type="pres">
      <dgm:prSet presAssocID="{C70F17BC-7EB2-4E1B-B427-7042494F3807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6E87ACE-2024-4DFD-930B-55F63AE744C1}" type="pres">
      <dgm:prSet presAssocID="{C70F17BC-7EB2-4E1B-B427-7042494F3807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40C054B-DCBE-4023-A550-990E5C8A71DB}" type="pres">
      <dgm:prSet presAssocID="{C70F17BC-7EB2-4E1B-B427-7042494F3807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96259A1-E066-4D6D-9298-F9225CFA7A86}" type="pres">
      <dgm:prSet presAssocID="{C70F17BC-7EB2-4E1B-B427-7042494F3807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AF7B8FB-0ADB-439A-BF56-AA74631EABB7}" type="pres">
      <dgm:prSet presAssocID="{C70F17BC-7EB2-4E1B-B427-7042494F3807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B367F19-64D0-46EA-B410-F46FF65D70FA}" type="pres">
      <dgm:prSet presAssocID="{C70F17BC-7EB2-4E1B-B427-7042494F3807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A2E2F8F-61F9-49C8-A494-0CDBE4C4438E}" type="pres">
      <dgm:prSet presAssocID="{C70F17BC-7EB2-4E1B-B427-7042494F3807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950BA25-47C9-4249-ADC3-6AFD05635DF6}" srcId="{C70F17BC-7EB2-4E1B-B427-7042494F3807}" destId="{DAD15D4A-2AA0-42E4-8D9E-88FACAA3ECE8}" srcOrd="1" destOrd="0" parTransId="{A9889B2B-2767-437F-A047-8741DA8B5341}" sibTransId="{3D52552D-73EA-4F32-8AF9-4500959ACB05}"/>
    <dgm:cxn modelId="{D2F801B3-65D2-4367-9258-A8140D178EB1}" type="presOf" srcId="{D856A510-4C43-4125-863C-48042140B712}" destId="{BEA4F88C-ABDC-4A7F-B461-2CA554795C55}" srcOrd="0" destOrd="0" presId="urn:microsoft.com/office/officeart/2005/8/layout/vProcess5"/>
    <dgm:cxn modelId="{54F67207-183B-4A0D-9C76-F0A333B942CE}" srcId="{C70F17BC-7EB2-4E1B-B427-7042494F3807}" destId="{0461E9E7-80E0-400F-9E09-16D30C08B407}" srcOrd="3" destOrd="0" parTransId="{47906FC9-49FC-465B-ABC5-97D8029ED0A4}" sibTransId="{A826A43D-F242-4784-BDCA-8343FF846A2F}"/>
    <dgm:cxn modelId="{9ABF05E3-C335-4B23-BE92-46B335D6394A}" type="presOf" srcId="{68170AEA-1E93-4F58-8584-419F31D551F8}" destId="{778E55A4-2E58-410B-A345-85D030FAAAFF}" srcOrd="0" destOrd="0" presId="urn:microsoft.com/office/officeart/2005/8/layout/vProcess5"/>
    <dgm:cxn modelId="{524B7425-FE45-403E-A201-0F82E734DF3E}" type="presOf" srcId="{0461E9E7-80E0-400F-9E09-16D30C08B407}" destId="{6B367F19-64D0-46EA-B410-F46FF65D70FA}" srcOrd="1" destOrd="0" presId="urn:microsoft.com/office/officeart/2005/8/layout/vProcess5"/>
    <dgm:cxn modelId="{CD0E2BD8-A43B-4D80-84E4-73F5B9CE334F}" type="presOf" srcId="{3D52552D-73EA-4F32-8AF9-4500959ACB05}" destId="{83643DBF-3F02-49C0-90CB-4A4B627887DF}" srcOrd="0" destOrd="0" presId="urn:microsoft.com/office/officeart/2005/8/layout/vProcess5"/>
    <dgm:cxn modelId="{25808087-D285-48DE-8B0E-5C07F3C69E1A}" type="presOf" srcId="{A826A43D-F242-4784-BDCA-8343FF846A2F}" destId="{C6E87ACE-2024-4DFD-930B-55F63AE744C1}" srcOrd="0" destOrd="0" presId="urn:microsoft.com/office/officeart/2005/8/layout/vProcess5"/>
    <dgm:cxn modelId="{DADB4E05-F754-401B-B9D9-2B1F585F0E80}" type="presOf" srcId="{68170AEA-1E93-4F58-8584-419F31D551F8}" destId="{BAF7B8FB-0ADB-439A-BF56-AA74631EABB7}" srcOrd="1" destOrd="0" presId="urn:microsoft.com/office/officeart/2005/8/layout/vProcess5"/>
    <dgm:cxn modelId="{935F8BE5-91F8-448E-A09B-928AD41E57D1}" type="presOf" srcId="{DAD15D4A-2AA0-42E4-8D9E-88FACAA3ECE8}" destId="{896259A1-E066-4D6D-9298-F9225CFA7A86}" srcOrd="1" destOrd="0" presId="urn:microsoft.com/office/officeart/2005/8/layout/vProcess5"/>
    <dgm:cxn modelId="{FFE602EE-47EC-4BA0-A694-77FB961A4DE9}" type="presOf" srcId="{3A22E0C0-60E2-490D-A881-6A8A9CE41D1B}" destId="{A5CD6475-5042-4F3D-975F-A68F94539EF2}" srcOrd="0" destOrd="0" presId="urn:microsoft.com/office/officeart/2005/8/layout/vProcess5"/>
    <dgm:cxn modelId="{538C5A02-C798-4008-96D2-E295CC9C7E21}" type="presOf" srcId="{C70F17BC-7EB2-4E1B-B427-7042494F3807}" destId="{EDDB2798-F6BC-4A71-A256-7FAD8C67487E}" srcOrd="0" destOrd="0" presId="urn:microsoft.com/office/officeart/2005/8/layout/vProcess5"/>
    <dgm:cxn modelId="{E320D922-4F27-404A-84E4-9AFCE1D6ABD3}" type="presOf" srcId="{10FD89A1-84A0-41A7-98B0-2E1868A55B5C}" destId="{F925AFE8-8486-41BB-B0FB-9E390AB24D56}" srcOrd="0" destOrd="0" presId="urn:microsoft.com/office/officeart/2005/8/layout/vProcess5"/>
    <dgm:cxn modelId="{50665651-19BD-4281-AC70-922B46CB6CE2}" srcId="{C70F17BC-7EB2-4E1B-B427-7042494F3807}" destId="{68170AEA-1E93-4F58-8584-419F31D551F8}" srcOrd="2" destOrd="0" parTransId="{79C8EC0D-9C8F-47A0-AC99-844B1E49B34F}" sibTransId="{81CEABCB-D270-443E-BD59-16410206ADC5}"/>
    <dgm:cxn modelId="{BA081514-38D6-4FBF-9E0D-6B51AC9E2113}" type="presOf" srcId="{0461E9E7-80E0-400F-9E09-16D30C08B407}" destId="{FC143DC8-F8B9-4249-99A2-B6A5F828C454}" srcOrd="0" destOrd="0" presId="urn:microsoft.com/office/officeart/2005/8/layout/vProcess5"/>
    <dgm:cxn modelId="{C4CCC2DF-535A-4900-9DCD-5A573A4F1F34}" type="presOf" srcId="{81CEABCB-D270-443E-BD59-16410206ADC5}" destId="{CE5E0F9F-AC53-413C-AECC-7FA131D174A7}" srcOrd="0" destOrd="0" presId="urn:microsoft.com/office/officeart/2005/8/layout/vProcess5"/>
    <dgm:cxn modelId="{1B9D2551-2424-444C-93F0-8FB2D0C7F033}" type="presOf" srcId="{D856A510-4C43-4125-863C-48042140B712}" destId="{DA2E2F8F-61F9-49C8-A494-0CDBE4C4438E}" srcOrd="1" destOrd="0" presId="urn:microsoft.com/office/officeart/2005/8/layout/vProcess5"/>
    <dgm:cxn modelId="{80463FAC-D499-4C47-86B1-D06A919C1EE2}" type="presOf" srcId="{10FD89A1-84A0-41A7-98B0-2E1868A55B5C}" destId="{A40C054B-DCBE-4023-A550-990E5C8A71DB}" srcOrd="1" destOrd="0" presId="urn:microsoft.com/office/officeart/2005/8/layout/vProcess5"/>
    <dgm:cxn modelId="{45DD26FF-4675-4838-994F-54AF713DBD75}" srcId="{C70F17BC-7EB2-4E1B-B427-7042494F3807}" destId="{10FD89A1-84A0-41A7-98B0-2E1868A55B5C}" srcOrd="0" destOrd="0" parTransId="{765D44B2-C0E5-4351-ADF3-9334ADDFA650}" sibTransId="{3A22E0C0-60E2-490D-A881-6A8A9CE41D1B}"/>
    <dgm:cxn modelId="{8D37B4BD-13C6-4781-903B-7298E91CC724}" srcId="{C70F17BC-7EB2-4E1B-B427-7042494F3807}" destId="{D856A510-4C43-4125-863C-48042140B712}" srcOrd="4" destOrd="0" parTransId="{349112B4-E5E1-466F-B255-92C0D3CF2F90}" sibTransId="{412C72EA-B42F-432C-8726-5F8BBF5EAE9D}"/>
    <dgm:cxn modelId="{332CA37F-0BCB-4CAB-84D2-EA267A32FCB1}" type="presOf" srcId="{DAD15D4A-2AA0-42E4-8D9E-88FACAA3ECE8}" destId="{67AC86DD-B683-459C-B8CA-22A21462537C}" srcOrd="0" destOrd="0" presId="urn:microsoft.com/office/officeart/2005/8/layout/vProcess5"/>
    <dgm:cxn modelId="{C71D0C31-8B46-4D78-85B5-B438CDCA9140}" type="presParOf" srcId="{EDDB2798-F6BC-4A71-A256-7FAD8C67487E}" destId="{971A6498-2EAC-4258-AE64-57D6D63AA482}" srcOrd="0" destOrd="0" presId="urn:microsoft.com/office/officeart/2005/8/layout/vProcess5"/>
    <dgm:cxn modelId="{B14EA7D0-BD4D-4EC5-B0CB-50059B46D1F5}" type="presParOf" srcId="{EDDB2798-F6BC-4A71-A256-7FAD8C67487E}" destId="{F925AFE8-8486-41BB-B0FB-9E390AB24D56}" srcOrd="1" destOrd="0" presId="urn:microsoft.com/office/officeart/2005/8/layout/vProcess5"/>
    <dgm:cxn modelId="{7F742E4A-5CDA-415F-8443-AE71F7C332C6}" type="presParOf" srcId="{EDDB2798-F6BC-4A71-A256-7FAD8C67487E}" destId="{67AC86DD-B683-459C-B8CA-22A21462537C}" srcOrd="2" destOrd="0" presId="urn:microsoft.com/office/officeart/2005/8/layout/vProcess5"/>
    <dgm:cxn modelId="{CC0997CE-A873-4E0E-8285-F589753E1406}" type="presParOf" srcId="{EDDB2798-F6BC-4A71-A256-7FAD8C67487E}" destId="{778E55A4-2E58-410B-A345-85D030FAAAFF}" srcOrd="3" destOrd="0" presId="urn:microsoft.com/office/officeart/2005/8/layout/vProcess5"/>
    <dgm:cxn modelId="{461D4B75-D19D-44CC-9EFC-E6734F262544}" type="presParOf" srcId="{EDDB2798-F6BC-4A71-A256-7FAD8C67487E}" destId="{FC143DC8-F8B9-4249-99A2-B6A5F828C454}" srcOrd="4" destOrd="0" presId="urn:microsoft.com/office/officeart/2005/8/layout/vProcess5"/>
    <dgm:cxn modelId="{B72BB58F-D343-46A7-ABFE-7E365CC879E3}" type="presParOf" srcId="{EDDB2798-F6BC-4A71-A256-7FAD8C67487E}" destId="{BEA4F88C-ABDC-4A7F-B461-2CA554795C55}" srcOrd="5" destOrd="0" presId="urn:microsoft.com/office/officeart/2005/8/layout/vProcess5"/>
    <dgm:cxn modelId="{810042F1-8EAF-411A-A234-39DBFFAD4F09}" type="presParOf" srcId="{EDDB2798-F6BC-4A71-A256-7FAD8C67487E}" destId="{A5CD6475-5042-4F3D-975F-A68F94539EF2}" srcOrd="6" destOrd="0" presId="urn:microsoft.com/office/officeart/2005/8/layout/vProcess5"/>
    <dgm:cxn modelId="{F064B01E-E5D8-44B0-B6A5-F185966C526F}" type="presParOf" srcId="{EDDB2798-F6BC-4A71-A256-7FAD8C67487E}" destId="{83643DBF-3F02-49C0-90CB-4A4B627887DF}" srcOrd="7" destOrd="0" presId="urn:microsoft.com/office/officeart/2005/8/layout/vProcess5"/>
    <dgm:cxn modelId="{F5E4EE13-50E5-4765-A67B-82233DF8A1D9}" type="presParOf" srcId="{EDDB2798-F6BC-4A71-A256-7FAD8C67487E}" destId="{CE5E0F9F-AC53-413C-AECC-7FA131D174A7}" srcOrd="8" destOrd="0" presId="urn:microsoft.com/office/officeart/2005/8/layout/vProcess5"/>
    <dgm:cxn modelId="{8F3D4115-1FDC-4E46-8B9E-A6E67917E124}" type="presParOf" srcId="{EDDB2798-F6BC-4A71-A256-7FAD8C67487E}" destId="{C6E87ACE-2024-4DFD-930B-55F63AE744C1}" srcOrd="9" destOrd="0" presId="urn:microsoft.com/office/officeart/2005/8/layout/vProcess5"/>
    <dgm:cxn modelId="{87166C07-93D9-48F1-BA4F-AE546A7C47AC}" type="presParOf" srcId="{EDDB2798-F6BC-4A71-A256-7FAD8C67487E}" destId="{A40C054B-DCBE-4023-A550-990E5C8A71DB}" srcOrd="10" destOrd="0" presId="urn:microsoft.com/office/officeart/2005/8/layout/vProcess5"/>
    <dgm:cxn modelId="{DD250820-18F4-4F91-BF3F-9219E9E3B045}" type="presParOf" srcId="{EDDB2798-F6BC-4A71-A256-7FAD8C67487E}" destId="{896259A1-E066-4D6D-9298-F9225CFA7A86}" srcOrd="11" destOrd="0" presId="urn:microsoft.com/office/officeart/2005/8/layout/vProcess5"/>
    <dgm:cxn modelId="{7BA0CC97-9976-4F9F-BB3D-D82F5D010B25}" type="presParOf" srcId="{EDDB2798-F6BC-4A71-A256-7FAD8C67487E}" destId="{BAF7B8FB-0ADB-439A-BF56-AA74631EABB7}" srcOrd="12" destOrd="0" presId="urn:microsoft.com/office/officeart/2005/8/layout/vProcess5"/>
    <dgm:cxn modelId="{D5F2DC17-4C4D-4F5E-BF42-BE4052F46EA2}" type="presParOf" srcId="{EDDB2798-F6BC-4A71-A256-7FAD8C67487E}" destId="{6B367F19-64D0-46EA-B410-F46FF65D70FA}" srcOrd="13" destOrd="0" presId="urn:microsoft.com/office/officeart/2005/8/layout/vProcess5"/>
    <dgm:cxn modelId="{3E97C9B4-076F-4937-9402-FBA876A8DC68}" type="presParOf" srcId="{EDDB2798-F6BC-4A71-A256-7FAD8C67487E}" destId="{DA2E2F8F-61F9-49C8-A494-0CDBE4C4438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E09D7-7DF3-452E-943F-773F6FF4425E}">
      <dsp:nvSpPr>
        <dsp:cNvPr id="0" name=""/>
        <dsp:cNvSpPr/>
      </dsp:nvSpPr>
      <dsp:spPr>
        <a:xfrm>
          <a:off x="4843663" y="1178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Threats</a:t>
          </a:r>
          <a:endParaRPr lang="en-GB" sz="1100" kern="1200" dirty="0"/>
        </a:p>
      </dsp:txBody>
      <dsp:txXfrm>
        <a:off x="5022265" y="179780"/>
        <a:ext cx="862366" cy="862366"/>
      </dsp:txXfrm>
    </dsp:sp>
    <dsp:sp modelId="{AA50156E-3C74-4DD7-B043-4E963927E214}">
      <dsp:nvSpPr>
        <dsp:cNvPr id="0" name=""/>
        <dsp:cNvSpPr/>
      </dsp:nvSpPr>
      <dsp:spPr>
        <a:xfrm rot="1800000">
          <a:off x="6076578" y="858725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 dirty="0"/>
        </a:p>
      </dsp:txBody>
      <dsp:txXfrm>
        <a:off x="6083108" y="916676"/>
        <a:ext cx="227452" cy="246962"/>
      </dsp:txXfrm>
    </dsp:sp>
    <dsp:sp modelId="{83AAD058-3470-4779-B992-8D99E506FA38}">
      <dsp:nvSpPr>
        <dsp:cNvPr id="0" name=""/>
        <dsp:cNvSpPr/>
      </dsp:nvSpPr>
      <dsp:spPr>
        <a:xfrm>
          <a:off x="6430785" y="917503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Vulnerabilities</a:t>
          </a:r>
          <a:endParaRPr lang="en-GB" sz="1100" kern="1200" dirty="0"/>
        </a:p>
      </dsp:txBody>
      <dsp:txXfrm>
        <a:off x="6609387" y="1096105"/>
        <a:ext cx="862366" cy="862366"/>
      </dsp:txXfrm>
    </dsp:sp>
    <dsp:sp modelId="{35081B9B-A621-4567-BEB5-474A6A642CE9}">
      <dsp:nvSpPr>
        <dsp:cNvPr id="0" name=""/>
        <dsp:cNvSpPr/>
      </dsp:nvSpPr>
      <dsp:spPr>
        <a:xfrm rot="5400000">
          <a:off x="6878104" y="2228614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/>
        </a:p>
      </dsp:txBody>
      <dsp:txXfrm>
        <a:off x="6926844" y="2262195"/>
        <a:ext cx="227452" cy="246962"/>
      </dsp:txXfrm>
    </dsp:sp>
    <dsp:sp modelId="{8D5A62F4-E789-4A3C-99F7-566CA107C124}">
      <dsp:nvSpPr>
        <dsp:cNvPr id="0" name=""/>
        <dsp:cNvSpPr/>
      </dsp:nvSpPr>
      <dsp:spPr>
        <a:xfrm>
          <a:off x="6430785" y="2750153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Exposure</a:t>
          </a:r>
          <a:endParaRPr lang="en-GB" sz="1100" kern="1200" dirty="0"/>
        </a:p>
      </dsp:txBody>
      <dsp:txXfrm>
        <a:off x="6609387" y="2928755"/>
        <a:ext cx="862366" cy="862366"/>
      </dsp:txXfrm>
    </dsp:sp>
    <dsp:sp modelId="{7F43E326-75E0-441F-A065-000942DBBABF}">
      <dsp:nvSpPr>
        <dsp:cNvPr id="0" name=""/>
        <dsp:cNvSpPr/>
      </dsp:nvSpPr>
      <dsp:spPr>
        <a:xfrm rot="9000000">
          <a:off x="6092507" y="3607700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/>
        </a:p>
      </dsp:txBody>
      <dsp:txXfrm rot="10800000">
        <a:off x="6183457" y="3665651"/>
        <a:ext cx="227452" cy="246962"/>
      </dsp:txXfrm>
    </dsp:sp>
    <dsp:sp modelId="{A162AE5A-2301-4178-91DD-F299C487BE5A}">
      <dsp:nvSpPr>
        <dsp:cNvPr id="0" name=""/>
        <dsp:cNvSpPr/>
      </dsp:nvSpPr>
      <dsp:spPr>
        <a:xfrm>
          <a:off x="4843663" y="3666478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Risk</a:t>
          </a:r>
          <a:endParaRPr lang="en-GB" sz="1100" kern="1200" dirty="0"/>
        </a:p>
      </dsp:txBody>
      <dsp:txXfrm>
        <a:off x="5022265" y="3845080"/>
        <a:ext cx="862366" cy="862366"/>
      </dsp:txXfrm>
    </dsp:sp>
    <dsp:sp modelId="{CE29C799-C38E-4166-A988-0787EF377D86}">
      <dsp:nvSpPr>
        <dsp:cNvPr id="0" name=""/>
        <dsp:cNvSpPr/>
      </dsp:nvSpPr>
      <dsp:spPr>
        <a:xfrm rot="12600000">
          <a:off x="4505385" y="3616896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/>
        </a:p>
      </dsp:txBody>
      <dsp:txXfrm rot="10800000">
        <a:off x="4596335" y="3723587"/>
        <a:ext cx="227452" cy="246962"/>
      </dsp:txXfrm>
    </dsp:sp>
    <dsp:sp modelId="{5EEF08C1-5E95-47A2-BF7F-407912732844}">
      <dsp:nvSpPr>
        <dsp:cNvPr id="0" name=""/>
        <dsp:cNvSpPr/>
      </dsp:nvSpPr>
      <dsp:spPr>
        <a:xfrm>
          <a:off x="3256541" y="2750153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Safeguards</a:t>
          </a:r>
          <a:endParaRPr lang="en-GB" sz="1100" kern="1200" dirty="0"/>
        </a:p>
      </dsp:txBody>
      <dsp:txXfrm>
        <a:off x="3435143" y="2928755"/>
        <a:ext cx="862366" cy="862366"/>
      </dsp:txXfrm>
    </dsp:sp>
    <dsp:sp modelId="{34EDEA7D-9C5F-4E8E-8D3F-2FC13093CC82}">
      <dsp:nvSpPr>
        <dsp:cNvPr id="0" name=""/>
        <dsp:cNvSpPr/>
      </dsp:nvSpPr>
      <dsp:spPr>
        <a:xfrm rot="16200000">
          <a:off x="3703860" y="2247007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/>
        </a:p>
      </dsp:txBody>
      <dsp:txXfrm>
        <a:off x="3752600" y="2378068"/>
        <a:ext cx="227452" cy="246962"/>
      </dsp:txXfrm>
    </dsp:sp>
    <dsp:sp modelId="{E1398784-EBFA-4810-976A-17835491FD71}">
      <dsp:nvSpPr>
        <dsp:cNvPr id="0" name=""/>
        <dsp:cNvSpPr/>
      </dsp:nvSpPr>
      <dsp:spPr>
        <a:xfrm>
          <a:off x="3256541" y="917503"/>
          <a:ext cx="1219570" cy="1219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kern="1200" dirty="0" smtClean="0"/>
            <a:t>Assets</a:t>
          </a:r>
          <a:endParaRPr lang="en-GB" sz="1100" kern="1200" dirty="0"/>
        </a:p>
      </dsp:txBody>
      <dsp:txXfrm>
        <a:off x="3435143" y="1096105"/>
        <a:ext cx="862366" cy="862366"/>
      </dsp:txXfrm>
    </dsp:sp>
    <dsp:sp modelId="{7CD76243-56BD-4EBF-93E8-094D84C56408}">
      <dsp:nvSpPr>
        <dsp:cNvPr id="0" name=""/>
        <dsp:cNvSpPr/>
      </dsp:nvSpPr>
      <dsp:spPr>
        <a:xfrm rot="19800000">
          <a:off x="4489457" y="867921"/>
          <a:ext cx="324932" cy="411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900" kern="1200"/>
        </a:p>
      </dsp:txBody>
      <dsp:txXfrm>
        <a:off x="4495987" y="974612"/>
        <a:ext cx="227452" cy="246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060A3-FB1B-4612-AEDE-6ADD6DDA353C}" type="datetimeFigureOut">
              <a:rPr lang="en-GB" smtClean="0"/>
              <a:t>19/09/2019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05C81-F1E5-4552-890E-CDE7C03957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2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1E9B611-79A5-4063-8624-6013F60C0F92}" type="slidenum">
              <a:rPr lang="en-GB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 altLang="en-US" sz="12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284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47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943514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3934" y="5732463"/>
            <a:ext cx="140134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c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@</a:t>
            </a:r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744653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115272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475998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01944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27284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63496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178046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747359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859964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713520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212226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357313"/>
            <a:ext cx="103632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496306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44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EE6291-FC66-4C7E-B805-791E609FC7B6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84234"/>
      </p:ext>
    </p:extLst>
  </p:cSld>
  <p:clrMapOvr>
    <a:masterClrMapping/>
  </p:clrMapOvr>
  <p:transition advTm="5000"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3934" y="5732463"/>
            <a:ext cx="140134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 smtClean="0">
                <a:solidFill>
                  <a:srgbClr val="FFFFFF"/>
                </a:solidFill>
                <a:latin typeface="Georgia" pitchFamily="18" charset="0"/>
              </a:rPr>
              <a:t>c</a:t>
            </a:r>
            <a:r>
              <a:rPr lang="en-GB" sz="4000" smtClean="0">
                <a:solidFill>
                  <a:srgbClr val="FFFFFF"/>
                </a:solidFill>
                <a:latin typeface="Georgia" pitchFamily="18" charset="0"/>
              </a:rPr>
              <a:t>@</a:t>
            </a:r>
            <a:r>
              <a:rPr lang="en-GB" sz="6000" smtClean="0">
                <a:solidFill>
                  <a:srgbClr val="FFFFFF"/>
                </a:solidFill>
                <a:latin typeface="Georgia" pitchFamily="18" charset="0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CC69CA-3F23-44CA-945B-0FA4477283F4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924111"/>
      </p:ext>
    </p:extLst>
  </p:cSld>
  <p:clrMapOvr>
    <a:masterClrMapping/>
  </p:clrMapOvr>
  <p:transition advTm="5000"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1377758-8C37-4DF1-97AB-37A77D625D27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57982"/>
      </p:ext>
    </p:extLst>
  </p:cSld>
  <p:clrMapOvr>
    <a:masterClrMapping/>
  </p:clrMapOvr>
  <p:transition advTm="5000"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FDF3D6-0B4F-41BB-A2E9-5EE288C12E7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42607"/>
      </p:ext>
    </p:extLst>
  </p:cSld>
  <p:clrMapOvr>
    <a:masterClrMapping/>
  </p:clrMapOvr>
  <p:transition advTm="5000"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4005AFC-2604-42A5-BE75-ACBC63D550FA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871249"/>
      </p:ext>
    </p:extLst>
  </p:cSld>
  <p:clrMapOvr>
    <a:masterClrMapping/>
  </p:clrMapOvr>
  <p:transition advTm="5000"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1E6357F-E285-4B03-9226-48D613FBC574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184440"/>
      </p:ext>
    </p:extLst>
  </p:cSld>
  <p:clrMapOvr>
    <a:masterClrMapping/>
  </p:clrMapOvr>
  <p:transition advTm="5000"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15E10C-CC7A-417A-A2EE-23A0EFFC8E4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773846"/>
      </p:ext>
    </p:extLst>
  </p:cSld>
  <p:clrMapOvr>
    <a:masterClrMapping/>
  </p:clrMapOvr>
  <p:transition advTm="5000"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09E4A2D-E46C-4766-8C2E-027EBC5B508C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92917"/>
      </p:ext>
    </p:extLst>
  </p:cSld>
  <p:clrMapOvr>
    <a:masterClrMapping/>
  </p:clrMapOvr>
  <p:transition advTm="5000"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37E9A74-7737-4008-93AE-82F7F5FA4879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760874"/>
      </p:ext>
    </p:extLst>
  </p:cSld>
  <p:clrMapOvr>
    <a:masterClrMapping/>
  </p:clrMapOvr>
  <p:transition advTm="5000"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8B50079-DBA3-4EC3-9B8C-5C8B3B58FB43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090057"/>
      </p:ext>
    </p:extLst>
  </p:cSld>
  <p:clrMapOvr>
    <a:masterClrMapping/>
  </p:clrMapOvr>
  <p:transition advTm="5000"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45E8AE7-88A0-4549-A1EA-61CBAAEBA1F3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88469"/>
      </p:ext>
    </p:extLst>
  </p:cSld>
  <p:clrMapOvr>
    <a:masterClrMapping/>
  </p:clrMapOvr>
  <p:transition advTm="5000">
    <p:dissolv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3B7A2F1-7C63-4914-A25E-31B95FAF134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89248"/>
      </p:ext>
    </p:extLst>
  </p:cSld>
  <p:clrMapOvr>
    <a:masterClrMapping/>
  </p:clrMapOvr>
  <p:transition advTm="5000">
    <p:dissolv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357313"/>
            <a:ext cx="103632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58EA372-0C85-4E5C-A78F-2E1B1B18CAB2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10835"/>
      </p:ext>
    </p:extLst>
  </p:cSld>
  <p:clrMapOvr>
    <a:masterClrMapping/>
  </p:clrMapOvr>
  <p:transition advTm="5000">
    <p:dissolv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7DD356B-E5CD-44F2-850A-F898D624950E}" type="datetime1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9/19/2019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rial"/>
              </a:rPr>
              <a:t>From Security in Computing, Fifth Edition, by Charles P. Pfleeger, et al. (ISBN: 9780134085043). Copyright 2015 by Pearson Education, Inc. All rights reserved.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20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4287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573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4D1ED90-0827-4CB6-B597-69384EBF957E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4868864"/>
            <a:ext cx="12194117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80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advTm="5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4287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573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4D1ED90-0827-4CB6-B597-69384EBF957E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4868864"/>
            <a:ext cx="12194117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9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ransition advTm="5000">
    <p:dissolv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631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 dirty="0">
                <a:latin typeface="Georgia" panose="02040502050405020303" pitchFamily="18" charset="0"/>
              </a:rPr>
              <a:t>Lecture </a:t>
            </a:r>
            <a:r>
              <a:rPr lang="en-US" altLang="en-US" sz="5400" dirty="0" smtClean="0">
                <a:latin typeface="Georgia" panose="02040502050405020303" pitchFamily="18" charset="0"/>
              </a:rPr>
              <a:t>4 </a:t>
            </a:r>
            <a:r>
              <a:rPr lang="en-US" altLang="en-US" sz="5400" dirty="0">
                <a:latin typeface="Georgia" panose="02040502050405020303" pitchFamily="18" charset="0"/>
              </a:rPr>
              <a:t>– </a:t>
            </a:r>
            <a:r>
              <a:rPr lang="en-GB" sz="5400" dirty="0" smtClean="0"/>
              <a:t>Risk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631950" y="2714626"/>
            <a:ext cx="89281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Denise Oram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7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d.oram@Glyndwr.ac.uk</a:t>
            </a:r>
          </a:p>
        </p:txBody>
      </p:sp>
    </p:spTree>
    <p:extLst>
      <p:ext uri="{BB962C8B-B14F-4D97-AF65-F5344CB8AC3E}">
        <p14:creationId xmlns:p14="http://schemas.microsoft.com/office/powerpoint/2010/main" val="309634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latin typeface="Georgia" panose="02040502050405020303" pitchFamily="18" charset="0"/>
              </a:rPr>
              <a:t>Risk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US" dirty="0"/>
              <a:t>Security is aimed at preventing loss or disclosure of data while sustaining </a:t>
            </a:r>
            <a:r>
              <a:rPr lang="en-US" dirty="0" smtClean="0"/>
              <a:t>authorised access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possibility that something could happen to damage, destroy, or </a:t>
            </a:r>
            <a:r>
              <a:rPr lang="en-US" dirty="0" smtClean="0"/>
              <a:t>disclose data </a:t>
            </a:r>
            <a:r>
              <a:rPr lang="en-US" dirty="0"/>
              <a:t>or other resources is known as </a:t>
            </a:r>
            <a:r>
              <a:rPr lang="en-US" i="1" dirty="0" smtClean="0"/>
              <a:t>risk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72" y="3473436"/>
            <a:ext cx="3624649" cy="240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Risk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risk management </a:t>
            </a:r>
            <a:r>
              <a:rPr lang="en-US" dirty="0" smtClean="0"/>
              <a:t>concepts is </a:t>
            </a:r>
            <a:r>
              <a:rPr lang="en-US" dirty="0"/>
              <a:t>essential to the establishment of </a:t>
            </a:r>
            <a:r>
              <a:rPr lang="en-US" dirty="0" smtClean="0"/>
              <a:t>a sufficient </a:t>
            </a:r>
            <a:r>
              <a:rPr lang="en-US" dirty="0"/>
              <a:t>security stance, proper security governance, and legal proof of due care </a:t>
            </a:r>
            <a:r>
              <a:rPr lang="en-US" dirty="0" smtClean="0"/>
              <a:t>and due </a:t>
            </a:r>
            <a:r>
              <a:rPr lang="en-US" dirty="0"/>
              <a:t>diligence.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94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085" y="1228982"/>
            <a:ext cx="11755395" cy="4114800"/>
          </a:xfrm>
        </p:spPr>
        <p:txBody>
          <a:bodyPr/>
          <a:lstStyle/>
          <a:p>
            <a:r>
              <a:rPr lang="en-US" sz="2800" dirty="0"/>
              <a:t>Managing risk is </a:t>
            </a:r>
            <a:r>
              <a:rPr lang="en-US" sz="2800" dirty="0" smtClean="0"/>
              <a:t>an </a:t>
            </a:r>
            <a:r>
              <a:rPr lang="en-US" sz="2800" dirty="0"/>
              <a:t>element of sustaining a secure environment. </a:t>
            </a:r>
            <a:endParaRPr lang="en-US" sz="2800" dirty="0" smtClean="0"/>
          </a:p>
          <a:p>
            <a:r>
              <a:rPr lang="en-US" sz="2800" dirty="0" smtClean="0"/>
              <a:t>It is </a:t>
            </a:r>
            <a:r>
              <a:rPr lang="en-US" sz="2800" dirty="0"/>
              <a:t>a detailed process of identifying factors that could damage or disclose </a:t>
            </a:r>
            <a:r>
              <a:rPr lang="en-US" sz="2800" dirty="0" smtClean="0"/>
              <a:t>data, evaluating </a:t>
            </a:r>
            <a:r>
              <a:rPr lang="en-US" sz="2800" dirty="0"/>
              <a:t>those factors in light of data value and countermeasure cost, and </a:t>
            </a:r>
            <a:r>
              <a:rPr lang="en-US" sz="2800" dirty="0" smtClean="0"/>
              <a:t>implementing cost-effective </a:t>
            </a:r>
            <a:r>
              <a:rPr lang="en-US" sz="2800" dirty="0"/>
              <a:t>solutions for mitigating or reducing risk.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overall process </a:t>
            </a:r>
            <a:r>
              <a:rPr lang="en-US" sz="2800" dirty="0" smtClean="0"/>
              <a:t>is </a:t>
            </a:r>
            <a:r>
              <a:rPr lang="en-US" sz="2800" dirty="0"/>
              <a:t>used to develop and implement information security strategies.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goal of </a:t>
            </a:r>
            <a:r>
              <a:rPr lang="en-US" sz="2800" dirty="0" smtClean="0"/>
              <a:t>these strategies </a:t>
            </a:r>
            <a:r>
              <a:rPr lang="en-US" sz="2800" dirty="0"/>
              <a:t>is to reduce risk and to support the mission of the organization.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9604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goal of risk management is to reduce risk to an acceptable level. </a:t>
            </a:r>
            <a:endParaRPr lang="en-US" dirty="0" smtClean="0"/>
          </a:p>
          <a:p>
            <a:pPr lvl="1"/>
            <a:r>
              <a:rPr lang="en-US" dirty="0" smtClean="0"/>
              <a:t>What that </a:t>
            </a:r>
            <a:r>
              <a:rPr lang="en-US" dirty="0"/>
              <a:t>level actually is depends on the </a:t>
            </a:r>
            <a:r>
              <a:rPr lang="en-US" dirty="0" smtClean="0"/>
              <a:t>organisation</a:t>
            </a:r>
            <a:r>
              <a:rPr lang="en-US" dirty="0"/>
              <a:t>, the value of its assets, the size of </a:t>
            </a:r>
            <a:r>
              <a:rPr lang="en-US" dirty="0" smtClean="0"/>
              <a:t>its budget</a:t>
            </a:r>
            <a:r>
              <a:rPr lang="en-US" dirty="0"/>
              <a:t>, and many other factors.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is deemed acceptable risk to one </a:t>
            </a:r>
            <a:r>
              <a:rPr lang="en-US" dirty="0" smtClean="0"/>
              <a:t>organisation may be </a:t>
            </a:r>
            <a:r>
              <a:rPr lang="en-US" dirty="0"/>
              <a:t>an unreasonably high level of risk to another.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49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 to an IT infrastructure are not all computer based.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fact, many risks </a:t>
            </a:r>
            <a:r>
              <a:rPr lang="en-US" dirty="0" smtClean="0"/>
              <a:t>come from non-computer </a:t>
            </a:r>
            <a:r>
              <a:rPr lang="en-US" dirty="0"/>
              <a:t>sources.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important to consider all possible risks when </a:t>
            </a:r>
            <a:r>
              <a:rPr lang="en-US" dirty="0" smtClean="0"/>
              <a:t>performing risk </a:t>
            </a:r>
            <a:r>
              <a:rPr lang="en-US" dirty="0"/>
              <a:t>evaluation for an </a:t>
            </a:r>
            <a:r>
              <a:rPr lang="en-US" dirty="0" smtClean="0"/>
              <a:t>organisation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Failing </a:t>
            </a:r>
            <a:r>
              <a:rPr lang="en-US" dirty="0"/>
              <a:t>to properly evaluate and respond to </a:t>
            </a:r>
            <a:r>
              <a:rPr lang="en-US" dirty="0" smtClean="0"/>
              <a:t>all forms </a:t>
            </a:r>
            <a:r>
              <a:rPr lang="en-US" dirty="0"/>
              <a:t>of risk will leave a company vulnerable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security can only prevent technical attacks, not physical ones!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49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</a:t>
            </a:r>
            <a:r>
              <a:rPr lang="en-US" dirty="0"/>
              <a:t>analysis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The process by which the goals of risk management are achieved is known </a:t>
            </a:r>
            <a:r>
              <a:rPr lang="en-US" sz="2400" dirty="0" smtClean="0"/>
              <a:t>as risk </a:t>
            </a:r>
            <a:r>
              <a:rPr lang="en-US" sz="2400" dirty="0"/>
              <a:t>analysis 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includes examining an environment for risks, evaluating each threat </a:t>
            </a:r>
            <a:r>
              <a:rPr lang="en-US" sz="2400" dirty="0" smtClean="0"/>
              <a:t>event as to:</a:t>
            </a:r>
          </a:p>
          <a:p>
            <a:pPr lvl="1"/>
            <a:r>
              <a:rPr lang="en-US" sz="2000" dirty="0" smtClean="0"/>
              <a:t>its </a:t>
            </a:r>
            <a:r>
              <a:rPr lang="en-US" sz="2000" dirty="0"/>
              <a:t>likelihood of occurring </a:t>
            </a:r>
            <a:endParaRPr lang="en-US" sz="2000" dirty="0" smtClean="0"/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cost of the damage it would cause if it did occur,</a:t>
            </a:r>
          </a:p>
          <a:p>
            <a:r>
              <a:rPr lang="en-US" sz="2400" dirty="0" smtClean="0"/>
              <a:t>It is about assessing </a:t>
            </a:r>
            <a:r>
              <a:rPr lang="en-US" sz="2400" dirty="0"/>
              <a:t>the cost of various countermeasures for each risk, and creating a </a:t>
            </a:r>
            <a:r>
              <a:rPr lang="en-US" sz="2400" dirty="0" smtClean="0"/>
              <a:t>cost/benefit report </a:t>
            </a:r>
            <a:r>
              <a:rPr lang="en-US" sz="2400" dirty="0"/>
              <a:t>for </a:t>
            </a:r>
            <a:r>
              <a:rPr lang="en-US" sz="2400" dirty="0" smtClean="0"/>
              <a:t>safeguards.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7304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We’ve discussed Assets, Threats, Attacks and Vulnerability but there are other terms…</a:t>
            </a:r>
          </a:p>
          <a:p>
            <a:r>
              <a:rPr lang="en-US" sz="2400" u="sng" dirty="0" smtClean="0"/>
              <a:t>Asset Valuation</a:t>
            </a:r>
            <a:r>
              <a:rPr lang="en-US" sz="2400" dirty="0" smtClean="0"/>
              <a:t>: is </a:t>
            </a:r>
            <a:r>
              <a:rPr lang="en-US" sz="2400" dirty="0"/>
              <a:t>a </a:t>
            </a:r>
            <a:r>
              <a:rPr lang="en-US" sz="2400" dirty="0" smtClean="0"/>
              <a:t>pound/ euro /dollar value </a:t>
            </a:r>
            <a:r>
              <a:rPr lang="en-US" sz="2400" dirty="0"/>
              <a:t>assigned to an asset based on </a:t>
            </a:r>
            <a:r>
              <a:rPr lang="en-US" sz="2400" dirty="0" smtClean="0"/>
              <a:t>actual cost </a:t>
            </a:r>
            <a:r>
              <a:rPr lang="en-US" sz="2400" dirty="0"/>
              <a:t>and nonmonetary expenses. </a:t>
            </a:r>
            <a:endParaRPr lang="en-US" sz="2400" dirty="0" smtClean="0"/>
          </a:p>
          <a:p>
            <a:r>
              <a:rPr lang="en-US" sz="2400" dirty="0" smtClean="0"/>
              <a:t>These costs </a:t>
            </a:r>
            <a:r>
              <a:rPr lang="en-US" sz="2400" dirty="0"/>
              <a:t>can </a:t>
            </a:r>
            <a:r>
              <a:rPr lang="en-US" sz="2400" dirty="0" smtClean="0"/>
              <a:t>include:</a:t>
            </a:r>
          </a:p>
          <a:p>
            <a:pPr lvl="1"/>
            <a:r>
              <a:rPr lang="en-US" sz="2000" dirty="0" smtClean="0"/>
              <a:t>development, maintenance, administer, advertise</a:t>
            </a:r>
            <a:r>
              <a:rPr lang="en-US" sz="2000" dirty="0"/>
              <a:t>, support, repair, and replace an asset; </a:t>
            </a:r>
            <a:endParaRPr lang="en-US" sz="2000" dirty="0" smtClean="0"/>
          </a:p>
          <a:p>
            <a:r>
              <a:rPr lang="en-US" sz="2400" dirty="0" smtClean="0"/>
              <a:t>they </a:t>
            </a:r>
            <a:r>
              <a:rPr lang="en-US" sz="2400" dirty="0"/>
              <a:t>can also include more elusive values,</a:t>
            </a:r>
          </a:p>
          <a:p>
            <a:pPr lvl="1"/>
            <a:r>
              <a:rPr lang="en-US" sz="2000" dirty="0"/>
              <a:t>such as public </a:t>
            </a:r>
            <a:r>
              <a:rPr lang="en-US" sz="2000" dirty="0" smtClean="0"/>
              <a:t>confidence</a:t>
            </a:r>
            <a:r>
              <a:rPr lang="en-US" sz="2000" dirty="0"/>
              <a:t>, industry support, productivity </a:t>
            </a:r>
            <a:r>
              <a:rPr lang="en-US" sz="2000" dirty="0" smtClean="0"/>
              <a:t>enhancement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9336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u="sng" dirty="0" smtClean="0"/>
              <a:t>Exposure</a:t>
            </a:r>
            <a:r>
              <a:rPr lang="en-US" sz="2400" dirty="0" smtClean="0"/>
              <a:t>: is </a:t>
            </a:r>
            <a:r>
              <a:rPr lang="en-US" sz="2400" dirty="0"/>
              <a:t>being susceptible to asset loss because of a threat; there is the </a:t>
            </a:r>
            <a:r>
              <a:rPr lang="en-US" sz="2400" dirty="0" smtClean="0"/>
              <a:t>possibility that </a:t>
            </a:r>
            <a:r>
              <a:rPr lang="en-US" sz="2400" dirty="0"/>
              <a:t>a vulnerability can or will be exploited by a threat agent or </a:t>
            </a:r>
            <a:r>
              <a:rPr lang="en-US" sz="2400" dirty="0" smtClean="0"/>
              <a:t>event.</a:t>
            </a:r>
          </a:p>
          <a:p>
            <a:r>
              <a:rPr lang="en-US" sz="2400" dirty="0" smtClean="0"/>
              <a:t>Exposure doesn’t </a:t>
            </a:r>
            <a:r>
              <a:rPr lang="en-US" sz="2400" dirty="0"/>
              <a:t>mean that a </a:t>
            </a:r>
            <a:r>
              <a:rPr lang="en-US" sz="2400" dirty="0" smtClean="0"/>
              <a:t>realised </a:t>
            </a:r>
            <a:r>
              <a:rPr lang="en-US" sz="2400" dirty="0"/>
              <a:t>threat (an event that results in loss) is actually occurring (</a:t>
            </a:r>
            <a:r>
              <a:rPr lang="en-US" sz="2400" dirty="0" smtClean="0"/>
              <a:t>the exposure </a:t>
            </a:r>
            <a:r>
              <a:rPr lang="en-US" sz="2400" dirty="0"/>
              <a:t>to a </a:t>
            </a:r>
            <a:r>
              <a:rPr lang="en-US" sz="2400" dirty="0" smtClean="0"/>
              <a:t>realised </a:t>
            </a:r>
            <a:r>
              <a:rPr lang="en-US" sz="2400" dirty="0"/>
              <a:t>threat is called </a:t>
            </a:r>
            <a:r>
              <a:rPr lang="en-US" sz="2400" dirty="0" smtClean="0"/>
              <a:t>experienced exposure </a:t>
            </a:r>
            <a:r>
              <a:rPr lang="en-US" sz="2400" dirty="0"/>
              <a:t>).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just means that if there is </a:t>
            </a:r>
            <a:r>
              <a:rPr lang="en-US" sz="2400" dirty="0" smtClean="0"/>
              <a:t>a vulnerability </a:t>
            </a:r>
            <a:r>
              <a:rPr lang="en-US" sz="2400" dirty="0"/>
              <a:t>and a threat that can exploit it, there is the possibility that a threat event, </a:t>
            </a:r>
            <a:r>
              <a:rPr lang="en-US" sz="2400" dirty="0" smtClean="0"/>
              <a:t>or potential </a:t>
            </a:r>
            <a:r>
              <a:rPr lang="en-US" sz="2400" dirty="0"/>
              <a:t>exposure, can occur.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819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Risk is the possibility or likelihood that a threat will exploit a vulnerability to </a:t>
            </a:r>
            <a:r>
              <a:rPr lang="en-US" sz="2400" dirty="0" smtClean="0"/>
              <a:t>cause harm </a:t>
            </a:r>
            <a:r>
              <a:rPr lang="en-US" sz="2400" dirty="0"/>
              <a:t>to an asset.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an assessment of probability, possibility, or chance. The more </a:t>
            </a:r>
            <a:r>
              <a:rPr lang="en-US" sz="2400" dirty="0" smtClean="0"/>
              <a:t>likely it </a:t>
            </a:r>
            <a:r>
              <a:rPr lang="en-US" sz="2400" dirty="0"/>
              <a:t>is that a threat event will occur, the greater the risk. Every instance of exposure is a risk.</a:t>
            </a:r>
          </a:p>
          <a:p>
            <a:r>
              <a:rPr lang="en-US" sz="2400" dirty="0"/>
              <a:t>When written as a formula, risk can be </a:t>
            </a:r>
            <a:r>
              <a:rPr lang="en-US" sz="2400" dirty="0" smtClean="0"/>
              <a:t>defined </a:t>
            </a:r>
            <a:r>
              <a:rPr lang="en-US" sz="2400" dirty="0"/>
              <a:t>as follows</a:t>
            </a:r>
            <a:r>
              <a:rPr lang="en-US" sz="2400" dirty="0" smtClean="0"/>
              <a:t>:</a:t>
            </a:r>
          </a:p>
          <a:p>
            <a:endParaRPr lang="en-GB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982097" y="3929448"/>
            <a:ext cx="6993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Risk = threat * vulnerability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7493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Reducing </a:t>
            </a:r>
            <a:r>
              <a:rPr lang="en-US" sz="2400" dirty="0"/>
              <a:t>either the threat </a:t>
            </a:r>
            <a:r>
              <a:rPr lang="en-US" sz="2400" dirty="0" smtClean="0"/>
              <a:t>or </a:t>
            </a:r>
            <a:r>
              <a:rPr lang="en-US" sz="2400" dirty="0"/>
              <a:t>the vulnerability directly results in a </a:t>
            </a:r>
            <a:r>
              <a:rPr lang="en-US" sz="2400" dirty="0" smtClean="0"/>
              <a:t>reduction in </a:t>
            </a:r>
            <a:r>
              <a:rPr lang="en-US" sz="2400" dirty="0"/>
              <a:t>risk.</a:t>
            </a:r>
          </a:p>
          <a:p>
            <a:r>
              <a:rPr lang="en-US" sz="2400" dirty="0"/>
              <a:t>When a risk is </a:t>
            </a:r>
            <a:r>
              <a:rPr lang="en-US" sz="2400" dirty="0" smtClean="0"/>
              <a:t>realised</a:t>
            </a:r>
            <a:r>
              <a:rPr lang="en-US" sz="2400" dirty="0"/>
              <a:t>, a threat agent or a threat event has taken advantage of a </a:t>
            </a:r>
            <a:r>
              <a:rPr lang="en-US" sz="2400" dirty="0" smtClean="0"/>
              <a:t>vulnerability and </a:t>
            </a:r>
            <a:r>
              <a:rPr lang="en-US" sz="2400" dirty="0"/>
              <a:t>caused harm to or disclosure of one or more assets.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whole purpose </a:t>
            </a:r>
            <a:r>
              <a:rPr lang="en-US" sz="2400" dirty="0" smtClean="0"/>
              <a:t>of security </a:t>
            </a:r>
            <a:r>
              <a:rPr lang="en-US" sz="2400" dirty="0"/>
              <a:t>is to prevent risks from becoming </a:t>
            </a:r>
            <a:r>
              <a:rPr lang="en-US" sz="2400" dirty="0" smtClean="0"/>
              <a:t>realised </a:t>
            </a:r>
            <a:r>
              <a:rPr lang="en-US" sz="2400" dirty="0"/>
              <a:t>by removing vulnerabilities and </a:t>
            </a:r>
            <a:r>
              <a:rPr lang="en-US" sz="2400" dirty="0" smtClean="0"/>
              <a:t>blocking threat </a:t>
            </a:r>
            <a:r>
              <a:rPr lang="en-US" sz="2400" dirty="0"/>
              <a:t>agents and threat events from jeopardizing assets. </a:t>
            </a:r>
            <a:endParaRPr lang="en-US" sz="2400" dirty="0" smtClean="0"/>
          </a:p>
          <a:p>
            <a:r>
              <a:rPr lang="en-US" sz="2400" dirty="0" smtClean="0"/>
              <a:t>As </a:t>
            </a:r>
            <a:r>
              <a:rPr lang="en-US" sz="2400" dirty="0"/>
              <a:t>a risk management </a:t>
            </a:r>
            <a:r>
              <a:rPr lang="en-US" sz="2400" dirty="0" smtClean="0"/>
              <a:t>tool, security </a:t>
            </a:r>
            <a:r>
              <a:rPr lang="en-US" sz="2400" dirty="0"/>
              <a:t>is the implementation of safeguards.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7688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u="sng" dirty="0" smtClean="0"/>
              <a:t>Safeguards</a:t>
            </a:r>
            <a:r>
              <a:rPr lang="en-US" sz="2400" dirty="0" smtClean="0"/>
              <a:t> (or countermeasure): </a:t>
            </a:r>
            <a:r>
              <a:rPr lang="en-US" sz="2400" dirty="0"/>
              <a:t>is anything that removes or reduces a </a:t>
            </a:r>
            <a:r>
              <a:rPr lang="en-US" sz="2400" dirty="0" smtClean="0"/>
              <a:t>vulnerability or </a:t>
            </a:r>
            <a:r>
              <a:rPr lang="en-US" sz="2400" dirty="0"/>
              <a:t>protects against one or more </a:t>
            </a:r>
            <a:r>
              <a:rPr lang="en-US" sz="2400" dirty="0" smtClean="0"/>
              <a:t>specific </a:t>
            </a:r>
            <a:r>
              <a:rPr lang="en-US" sz="2400" dirty="0"/>
              <a:t>threats.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safeguard can </a:t>
            </a:r>
            <a:r>
              <a:rPr lang="en-US" sz="2400" dirty="0" smtClean="0"/>
              <a:t>be: </a:t>
            </a:r>
          </a:p>
          <a:p>
            <a:pPr lvl="1"/>
            <a:r>
              <a:rPr lang="en-US" sz="2000" dirty="0" smtClean="0"/>
              <a:t>installing a software </a:t>
            </a:r>
            <a:r>
              <a:rPr lang="en-US" sz="2000" dirty="0"/>
              <a:t>patch, </a:t>
            </a:r>
            <a:endParaRPr lang="en-US" sz="2000" dirty="0" smtClean="0"/>
          </a:p>
          <a:p>
            <a:pPr lvl="1"/>
            <a:r>
              <a:rPr lang="en-US" sz="2000" dirty="0" smtClean="0"/>
              <a:t>making </a:t>
            </a:r>
            <a:r>
              <a:rPr lang="en-US" sz="2000" dirty="0"/>
              <a:t>a </a:t>
            </a:r>
            <a:r>
              <a:rPr lang="en-US" sz="2000" dirty="0" smtClean="0"/>
              <a:t>configuration </a:t>
            </a:r>
            <a:r>
              <a:rPr lang="en-US" sz="2000" dirty="0"/>
              <a:t>change, </a:t>
            </a:r>
            <a:endParaRPr lang="en-US" sz="2000" dirty="0" smtClean="0"/>
          </a:p>
          <a:p>
            <a:pPr lvl="1"/>
            <a:r>
              <a:rPr lang="en-US" sz="2000" dirty="0" smtClean="0"/>
              <a:t>hiring </a:t>
            </a:r>
            <a:r>
              <a:rPr lang="en-US" sz="2000" dirty="0"/>
              <a:t>security guards, </a:t>
            </a:r>
            <a:endParaRPr lang="en-US" sz="2000" dirty="0" smtClean="0"/>
          </a:p>
          <a:p>
            <a:pPr lvl="1"/>
            <a:r>
              <a:rPr lang="en-US" sz="2000" dirty="0" smtClean="0"/>
              <a:t>altering </a:t>
            </a:r>
            <a:r>
              <a:rPr lang="en-US" sz="2000" dirty="0"/>
              <a:t>the </a:t>
            </a:r>
            <a:r>
              <a:rPr lang="en-US" sz="2000" dirty="0" smtClean="0"/>
              <a:t>infrastructure</a:t>
            </a:r>
            <a:r>
              <a:rPr lang="en-US" sz="2000" dirty="0"/>
              <a:t>, </a:t>
            </a:r>
            <a:endParaRPr lang="en-US" sz="2000" dirty="0" smtClean="0"/>
          </a:p>
          <a:p>
            <a:pPr lvl="1"/>
            <a:r>
              <a:rPr lang="en-US" sz="2000" dirty="0" smtClean="0"/>
              <a:t>modifying </a:t>
            </a:r>
            <a:r>
              <a:rPr lang="en-US" sz="2000" dirty="0"/>
              <a:t>processes, </a:t>
            </a:r>
            <a:endParaRPr lang="en-US" sz="2000" dirty="0" smtClean="0"/>
          </a:p>
          <a:p>
            <a:pPr lvl="1"/>
            <a:r>
              <a:rPr lang="en-US" sz="2000" dirty="0" smtClean="0"/>
              <a:t>improving </a:t>
            </a:r>
            <a:r>
              <a:rPr lang="en-US" sz="2000" dirty="0"/>
              <a:t>the security policy, </a:t>
            </a:r>
            <a:endParaRPr lang="en-US" sz="2000" dirty="0" smtClean="0"/>
          </a:p>
          <a:p>
            <a:pPr lvl="1"/>
            <a:r>
              <a:rPr lang="en-US" sz="2000" dirty="0" smtClean="0"/>
              <a:t>training personnel</a:t>
            </a:r>
          </a:p>
          <a:p>
            <a:pPr lvl="1"/>
            <a:r>
              <a:rPr lang="en-US" sz="2000" dirty="0" smtClean="0"/>
              <a:t>And many others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9093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u="sng" dirty="0" smtClean="0"/>
              <a:t>Breach: </a:t>
            </a:r>
            <a:r>
              <a:rPr lang="en-US" sz="2800" dirty="0" smtClean="0"/>
              <a:t>is </a:t>
            </a:r>
            <a:r>
              <a:rPr lang="en-US" sz="2800" dirty="0"/>
              <a:t>the occurrence of a security mechanism being bypassed or </a:t>
            </a:r>
            <a:r>
              <a:rPr lang="en-US" sz="2800" dirty="0" smtClean="0"/>
              <a:t>thwarted by </a:t>
            </a:r>
            <a:r>
              <a:rPr lang="en-US" sz="2800" dirty="0"/>
              <a:t>a threat </a:t>
            </a:r>
            <a:r>
              <a:rPr lang="en-US" sz="2800" dirty="0" smtClean="0"/>
              <a:t>agent (bad actor). </a:t>
            </a:r>
          </a:p>
          <a:p>
            <a:r>
              <a:rPr lang="en-US" sz="2800" dirty="0" smtClean="0"/>
              <a:t>When a breach is combined with an attack, a penetration, or intrusion, can result. 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penetration is the condition in which a threat agent has gained access to </a:t>
            </a:r>
            <a:r>
              <a:rPr lang="en-US" sz="2800" dirty="0" smtClean="0"/>
              <a:t>an organisation’s </a:t>
            </a:r>
            <a:r>
              <a:rPr lang="en-US" sz="2800" dirty="0"/>
              <a:t>infrastructure through the circumvention of security controls and is able </a:t>
            </a:r>
            <a:r>
              <a:rPr lang="en-US" sz="2800" dirty="0" smtClean="0"/>
              <a:t>to directly jeopardize assets</a:t>
            </a:r>
            <a:r>
              <a:rPr lang="en-US" sz="2800" dirty="0"/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053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591697" y="527200"/>
            <a:ext cx="10906897" cy="4887227"/>
            <a:chOff x="436605" y="626011"/>
            <a:chExt cx="10906897" cy="4887227"/>
          </a:xfrm>
        </p:grpSpPr>
        <p:graphicFrame>
          <p:nvGraphicFramePr>
            <p:cNvPr id="4" name="Diagram 3"/>
            <p:cNvGraphicFramePr/>
            <p:nvPr>
              <p:extLst>
                <p:ext uri="{D42A27DB-BD31-4B8C-83A1-F6EECF244321}">
                  <p14:modId xmlns:p14="http://schemas.microsoft.com/office/powerpoint/2010/main" val="397216982"/>
                </p:ext>
              </p:extLst>
            </p:nvPr>
          </p:nvGraphicFramePr>
          <p:xfrm>
            <a:off x="436605" y="626011"/>
            <a:ext cx="10906897" cy="488722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12" name="Group 11"/>
            <p:cNvGrpSpPr/>
            <p:nvPr/>
          </p:nvGrpSpPr>
          <p:grpSpPr>
            <a:xfrm>
              <a:off x="2957383" y="1060963"/>
              <a:ext cx="5778843" cy="3833343"/>
              <a:chOff x="2957383" y="1060963"/>
              <a:chExt cx="5778843" cy="3833343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6647934" y="1153297"/>
                <a:ext cx="1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Exploit</a:t>
                </a:r>
                <a:endParaRPr lang="en-GB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957383" y="2792626"/>
                <a:ext cx="1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Which protect</a:t>
                </a:r>
                <a:endParaRPr lang="en-GB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267200" y="4617306"/>
                <a:ext cx="1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Mitigated by</a:t>
                </a:r>
                <a:endParaRPr lang="en-GB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647933" y="4617307"/>
                <a:ext cx="1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Which is</a:t>
                </a:r>
                <a:endParaRPr lang="en-GB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648831" y="2792627"/>
                <a:ext cx="1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Results in</a:t>
                </a:r>
                <a:endParaRPr lang="en-GB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044778" y="1060963"/>
                <a:ext cx="10873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smtClean="0"/>
                  <a:t>Which are endangered by</a:t>
                </a:r>
                <a:endParaRPr lang="en-GB" dirty="0"/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1155261" y="488155"/>
            <a:ext cx="446491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The elements asset, threat, vulnerability, exposure, risk, and safeguard are related, as shown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Threats </a:t>
            </a:r>
            <a:r>
              <a:rPr lang="en-US" sz="2400" dirty="0"/>
              <a:t>exploit vulnerabilities, which results in exposure. </a:t>
            </a:r>
            <a:endParaRPr lang="en-US" sz="2400" dirty="0" smtClean="0"/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Exposure </a:t>
            </a:r>
            <a:r>
              <a:rPr lang="en-US" sz="2400" dirty="0"/>
              <a:t>is risk, </a:t>
            </a:r>
            <a:r>
              <a:rPr lang="en-US" sz="2400" dirty="0" smtClean="0"/>
              <a:t>and risk </a:t>
            </a:r>
            <a:r>
              <a:rPr lang="en-US" sz="2400" dirty="0"/>
              <a:t>is mitigated by safeguards. </a:t>
            </a:r>
            <a:endParaRPr lang="en-US" sz="2400" dirty="0" smtClean="0"/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Safeguards </a:t>
            </a:r>
            <a:r>
              <a:rPr lang="en-US" sz="2400" dirty="0"/>
              <a:t>protect assets that are endangered by threats.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77490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Identify Threats and Vulnerabilities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An essential part of risk management is identifying and examining threats. </a:t>
            </a:r>
            <a:endParaRPr lang="en-US" sz="2800" dirty="0" smtClean="0"/>
          </a:p>
          <a:p>
            <a:r>
              <a:rPr lang="en-US" sz="2800" dirty="0" smtClean="0"/>
              <a:t>This involves creating </a:t>
            </a:r>
            <a:r>
              <a:rPr lang="en-US" sz="2800" dirty="0"/>
              <a:t>an exhaustive list of all possible threats for the </a:t>
            </a:r>
            <a:r>
              <a:rPr lang="en-US" sz="2800" dirty="0" smtClean="0"/>
              <a:t>organisation’s identified </a:t>
            </a:r>
            <a:r>
              <a:rPr lang="en-US" sz="2800" dirty="0"/>
              <a:t>assets. </a:t>
            </a:r>
            <a:endParaRPr lang="en-US" sz="2800" dirty="0" smtClean="0"/>
          </a:p>
          <a:p>
            <a:r>
              <a:rPr lang="en-US" sz="2800" dirty="0" smtClean="0"/>
              <a:t>The list </a:t>
            </a:r>
            <a:r>
              <a:rPr lang="en-US" sz="2800" dirty="0"/>
              <a:t>should include threat agents as well as threat events.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7705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16" y="62042"/>
            <a:ext cx="4893276" cy="5200006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Viruses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Cascade errors (a series of escalating errors) and dependency faults (caused by relying on events or items that don’t exist)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Criminal activities by </a:t>
            </a:r>
            <a:r>
              <a:rPr lang="en-GB" sz="1800" kern="1200" dirty="0" smtClean="0"/>
              <a:t>authorised </a:t>
            </a:r>
            <a:r>
              <a:rPr lang="en-GB" sz="1800" kern="1200" dirty="0"/>
              <a:t>users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Movement (vibrations, jarring, etc.)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Intentional attacks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Reorganization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Malicious hackers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Disgruntled employees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User errors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Natural disasters (earthquakes, floods, fire, volcanoes, hurricanes, tornadoes, tsunamis, and so on)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Physical damage (crushing, projectiles, cable severing, and so on)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sz="1800" kern="1200" dirty="0"/>
              <a:t>Misuse of data, resources, or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97146" y="72210"/>
            <a:ext cx="529693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Changes or compromises to data classification or 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Government</a:t>
            </a:r>
            <a:r>
              <a:rPr lang="en-US" dirty="0"/>
              <a:t>, political, or military intrusions or restrictions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Processing </a:t>
            </a:r>
            <a:r>
              <a:rPr lang="en-GB" dirty="0"/>
              <a:t>errors, buffer overflows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Personnel </a:t>
            </a:r>
            <a:r>
              <a:rPr lang="en-GB" dirty="0"/>
              <a:t>privilege abuse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Temperature </a:t>
            </a:r>
            <a:r>
              <a:rPr lang="en-GB" dirty="0"/>
              <a:t>extremes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Energy </a:t>
            </a:r>
            <a:r>
              <a:rPr lang="en-US" dirty="0"/>
              <a:t>anomalies (static, EM pulses, radio frequencies [RFs], power loss, </a:t>
            </a:r>
            <a:r>
              <a:rPr lang="en-US" dirty="0" smtClean="0"/>
              <a:t>power </a:t>
            </a:r>
            <a:r>
              <a:rPr lang="en-GB" dirty="0" smtClean="0"/>
              <a:t>surges</a:t>
            </a:r>
            <a:r>
              <a:rPr lang="en-GB" dirty="0"/>
              <a:t>, and so 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Loss </a:t>
            </a:r>
            <a:r>
              <a:rPr lang="en-GB" dirty="0"/>
              <a:t>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Information </a:t>
            </a:r>
            <a:r>
              <a:rPr lang="en-GB" dirty="0"/>
              <a:t>warfare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Bankruptcy </a:t>
            </a:r>
            <a:r>
              <a:rPr lang="en-US" dirty="0"/>
              <a:t>or alteration/interruption of business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Coding/programming </a:t>
            </a:r>
            <a:r>
              <a:rPr lang="en-GB" dirty="0"/>
              <a:t>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Intruders </a:t>
            </a:r>
            <a:r>
              <a:rPr lang="en-GB" dirty="0"/>
              <a:t>(physical and logical)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Environmental </a:t>
            </a:r>
            <a:r>
              <a:rPr lang="en-US" dirty="0"/>
              <a:t>factors (presence of gases, </a:t>
            </a:r>
            <a:r>
              <a:rPr lang="en-US" dirty="0" smtClean="0"/>
              <a:t>liquids and </a:t>
            </a:r>
            <a:r>
              <a:rPr lang="en-US" dirty="0"/>
              <a:t>so 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Equipment </a:t>
            </a:r>
            <a:r>
              <a:rPr lang="en-GB" dirty="0"/>
              <a:t>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Physical </a:t>
            </a:r>
            <a:r>
              <a:rPr lang="en-GB" dirty="0"/>
              <a:t>theft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Social </a:t>
            </a:r>
            <a:r>
              <a:rPr lang="en-GB" dirty="0"/>
              <a:t>engineering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618205" y="123568"/>
            <a:ext cx="74141" cy="5758248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010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Assessment/Analysis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Risk management/analysis is primarily an exercise for upper management. </a:t>
            </a:r>
            <a:endParaRPr lang="en-US" sz="2800" dirty="0" smtClean="0"/>
          </a:p>
          <a:p>
            <a:r>
              <a:rPr lang="en-US" sz="2800" dirty="0" smtClean="0"/>
              <a:t>It </a:t>
            </a:r>
            <a:r>
              <a:rPr lang="en-US" sz="2800" dirty="0"/>
              <a:t>is </a:t>
            </a:r>
            <a:r>
              <a:rPr lang="en-US" sz="2800" dirty="0" smtClean="0"/>
              <a:t>their responsibility </a:t>
            </a:r>
            <a:r>
              <a:rPr lang="en-US" sz="2800" dirty="0"/>
              <a:t>to initiate and support risk analysis and assessment by </a:t>
            </a:r>
            <a:r>
              <a:rPr lang="en-US" sz="2800" dirty="0" smtClean="0"/>
              <a:t>defining </a:t>
            </a:r>
            <a:r>
              <a:rPr lang="en-US" sz="2800" dirty="0"/>
              <a:t>the </a:t>
            </a:r>
            <a:r>
              <a:rPr lang="en-US" sz="2800" dirty="0" smtClean="0"/>
              <a:t>scope and purpose.</a:t>
            </a:r>
          </a:p>
          <a:p>
            <a:r>
              <a:rPr lang="en-US" sz="2800" dirty="0" smtClean="0"/>
              <a:t>Often </a:t>
            </a:r>
            <a:r>
              <a:rPr lang="en-US" sz="2800" dirty="0"/>
              <a:t>delegated to security professionals or an evaluation team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However, all risk </a:t>
            </a:r>
            <a:r>
              <a:rPr lang="en-US" sz="2800" dirty="0" smtClean="0"/>
              <a:t>assessments, results</a:t>
            </a:r>
            <a:r>
              <a:rPr lang="en-US" sz="2800" dirty="0"/>
              <a:t>, decisions, and outcomes must be understood and approved by upper </a:t>
            </a:r>
            <a:r>
              <a:rPr lang="en-US" sz="2800" dirty="0" smtClean="0"/>
              <a:t>management </a:t>
            </a:r>
          </a:p>
          <a:p>
            <a:pPr lvl="1"/>
            <a:r>
              <a:rPr lang="en-US" sz="2400" dirty="0" smtClean="0"/>
              <a:t>This is an </a:t>
            </a:r>
            <a:r>
              <a:rPr lang="en-US" sz="2400" dirty="0"/>
              <a:t>element in providing </a:t>
            </a:r>
            <a:r>
              <a:rPr lang="en-US" sz="2400" dirty="0" smtClean="0"/>
              <a:t>due </a:t>
            </a:r>
            <a:r>
              <a:rPr lang="en-US" sz="2400" dirty="0"/>
              <a:t>care.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632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Assessment/Analysis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All computer systems have risk</a:t>
            </a:r>
          </a:p>
          <a:p>
            <a:pPr lvl="1"/>
            <a:r>
              <a:rPr lang="en-GB" dirty="0" smtClean="0"/>
              <a:t>We can’t mitigate 100% !!</a:t>
            </a:r>
          </a:p>
          <a:p>
            <a:r>
              <a:rPr lang="en-US" dirty="0" smtClean="0"/>
              <a:t>Management </a:t>
            </a:r>
            <a:r>
              <a:rPr lang="en-US" dirty="0"/>
              <a:t>must decide which risks are acceptable and which are not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can only be done by complex risk and asset assessments.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84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Assessment/Analysis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Understand the threats</a:t>
            </a:r>
          </a:p>
          <a:p>
            <a:r>
              <a:rPr lang="en-US" dirty="0"/>
              <a:t>Once you develop a list of threats, you must individually evaluate each threat and </a:t>
            </a:r>
            <a:r>
              <a:rPr lang="en-US" dirty="0" smtClean="0"/>
              <a:t>its related </a:t>
            </a:r>
            <a:r>
              <a:rPr lang="en-US" dirty="0"/>
              <a:t>risk.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two risk assessment methodologies: </a:t>
            </a:r>
            <a:endParaRPr lang="en-US" dirty="0" smtClean="0"/>
          </a:p>
          <a:p>
            <a:pPr lvl="1"/>
            <a:r>
              <a:rPr lang="en-US" dirty="0" smtClean="0"/>
              <a:t>quantitative </a:t>
            </a:r>
            <a:r>
              <a:rPr lang="en-US" dirty="0"/>
              <a:t>and qualitative.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13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Assessment/Analysis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Quantitative risk analysis assigns real </a:t>
            </a:r>
            <a:r>
              <a:rPr lang="en-US" dirty="0" smtClean="0"/>
              <a:t>monetary figures </a:t>
            </a:r>
            <a:r>
              <a:rPr lang="en-US" dirty="0"/>
              <a:t>to the loss of an asset. </a:t>
            </a:r>
            <a:endParaRPr lang="en-US" dirty="0" smtClean="0"/>
          </a:p>
          <a:p>
            <a:r>
              <a:rPr lang="en-US" dirty="0" smtClean="0"/>
              <a:t>Qualitative risk analysis </a:t>
            </a:r>
            <a:r>
              <a:rPr lang="en-US" dirty="0"/>
              <a:t>assigns subjective and intangible values to the loss of an </a:t>
            </a:r>
            <a:r>
              <a:rPr lang="en-US" dirty="0" smtClean="0"/>
              <a:t>asset.</a:t>
            </a:r>
          </a:p>
          <a:p>
            <a:r>
              <a:rPr lang="en-GB" dirty="0"/>
              <a:t>Both methods </a:t>
            </a:r>
            <a:r>
              <a:rPr lang="en-GB" dirty="0" smtClean="0"/>
              <a:t>are </a:t>
            </a:r>
            <a:r>
              <a:rPr lang="en-US" dirty="0" smtClean="0"/>
              <a:t>necessary </a:t>
            </a:r>
            <a:r>
              <a:rPr lang="en-US" dirty="0"/>
              <a:t>for a complete risk analysis.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934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Quantitative Risk </a:t>
            </a:r>
            <a:r>
              <a:rPr lang="en-GB" dirty="0" smtClean="0"/>
              <a:t>Analysis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03260390"/>
              </p:ext>
            </p:extLst>
          </p:nvPr>
        </p:nvGraphicFramePr>
        <p:xfrm>
          <a:off x="914400" y="1357313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11394" y="1771134"/>
            <a:ext cx="906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£ $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4918" y="3982994"/>
            <a:ext cx="906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£ $ €</a:t>
            </a:r>
          </a:p>
        </p:txBody>
      </p:sp>
    </p:spTree>
    <p:extLst>
      <p:ext uri="{BB962C8B-B14F-4D97-AF65-F5344CB8AC3E}">
        <p14:creationId xmlns:p14="http://schemas.microsoft.com/office/powerpoint/2010/main" val="90045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Quantitative Risk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of quantitative risk analysis starts with asset valuation and </a:t>
            </a:r>
            <a:r>
              <a:rPr lang="en-US" dirty="0" smtClean="0"/>
              <a:t>threat identification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Next</a:t>
            </a:r>
            <a:r>
              <a:rPr lang="en-US" dirty="0"/>
              <a:t>, you estimate the potential and frequency of each risk. </a:t>
            </a:r>
            <a:endParaRPr lang="en-US" dirty="0" smtClean="0"/>
          </a:p>
          <a:p>
            <a:r>
              <a:rPr lang="en-US" dirty="0" smtClean="0"/>
              <a:t>This information is </a:t>
            </a:r>
            <a:r>
              <a:rPr lang="en-US" dirty="0"/>
              <a:t>then used to calculate various cost functions that are used to evaluate safeguards.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242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50463080"/>
              </p:ext>
            </p:extLst>
          </p:nvPr>
        </p:nvGraphicFramePr>
        <p:xfrm>
          <a:off x="823783" y="475864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621930" y="4732933"/>
            <a:ext cx="7979664" cy="740664"/>
            <a:chOff x="2383535" y="3374136"/>
            <a:chExt cx="7979664" cy="740664"/>
          </a:xfrm>
        </p:grpSpPr>
        <p:sp>
          <p:nvSpPr>
            <p:cNvPr id="10" name="Rounded Rectangle 9"/>
            <p:cNvSpPr/>
            <p:nvPr/>
          </p:nvSpPr>
          <p:spPr>
            <a:xfrm>
              <a:off x="2383535" y="3374136"/>
              <a:ext cx="7979664" cy="74066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2405228" y="3395829"/>
              <a:ext cx="6858962" cy="6972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/>
              <a:r>
                <a:rPr lang="en-GB" sz="2800" dirty="0"/>
                <a:t>Perform Cost Benefit Calculation  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674420" y="4370656"/>
            <a:ext cx="481431" cy="481431"/>
            <a:chOff x="9285884" y="3067583"/>
            <a:chExt cx="481431" cy="481431"/>
          </a:xfrm>
        </p:grpSpPr>
        <p:sp>
          <p:nvSpPr>
            <p:cNvPr id="7" name="Down Arrow 6"/>
            <p:cNvSpPr/>
            <p:nvPr/>
          </p:nvSpPr>
          <p:spPr>
            <a:xfrm>
              <a:off x="9285884" y="3067583"/>
              <a:ext cx="481431" cy="481431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Down Arrow 4"/>
            <p:cNvSpPr/>
            <p:nvPr/>
          </p:nvSpPr>
          <p:spPr>
            <a:xfrm>
              <a:off x="9394206" y="3067583"/>
              <a:ext cx="264787" cy="3622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9210" tIns="29210" rIns="29210" bIns="2921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300" kern="120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781309" y="280086"/>
            <a:ext cx="2188269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The elements of </a:t>
            </a:r>
            <a:r>
              <a:rPr lang="en-GB" dirty="0" smtClean="0"/>
              <a:t>risk.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555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essential part of risk management is identifying and examining threats. </a:t>
            </a:r>
            <a:endParaRPr lang="en-US" dirty="0" smtClean="0"/>
          </a:p>
          <a:p>
            <a:r>
              <a:rPr lang="en-US" dirty="0" smtClean="0"/>
              <a:t>This involves creating </a:t>
            </a:r>
            <a:r>
              <a:rPr lang="en-US" dirty="0"/>
              <a:t>an exhaustive list of all possible threats for the organization’s </a:t>
            </a:r>
            <a:r>
              <a:rPr lang="en-US" dirty="0" smtClean="0"/>
              <a:t>identified </a:t>
            </a:r>
            <a:r>
              <a:rPr lang="en-US" dirty="0"/>
              <a:t>assets.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981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Assessment/Analysis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25508"/>
            <a:ext cx="10363200" cy="4114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Inventory </a:t>
            </a:r>
            <a:r>
              <a:rPr lang="en-US" sz="2400" dirty="0"/>
              <a:t>assets, </a:t>
            </a:r>
            <a:r>
              <a:rPr lang="en-US" sz="2400" dirty="0" smtClean="0"/>
              <a:t>are assign </a:t>
            </a:r>
            <a:r>
              <a:rPr lang="en-US" sz="2400" dirty="0"/>
              <a:t>a value (asset value, or AV). </a:t>
            </a:r>
            <a:endParaRPr lang="en-US" sz="2400" dirty="0" smtClean="0"/>
          </a:p>
          <a:p>
            <a:pPr>
              <a:buFont typeface="+mj-lt"/>
              <a:buAutoNum type="arabicPeriod"/>
            </a:pPr>
            <a:r>
              <a:rPr lang="en-US" sz="2400" dirty="0" smtClean="0"/>
              <a:t>Research </a:t>
            </a:r>
            <a:r>
              <a:rPr lang="en-US" sz="2400" dirty="0"/>
              <a:t>each asset, and produce a list of all possible threats of each individual asset. </a:t>
            </a:r>
            <a:endParaRPr lang="en-US" sz="2400" dirty="0" smtClean="0"/>
          </a:p>
          <a:p>
            <a:pPr marL="800100" lvl="1" indent="-342900">
              <a:buFont typeface="+mj-lt"/>
              <a:buAutoNum type="alphaLcParenR"/>
            </a:pPr>
            <a:r>
              <a:rPr lang="en-US" sz="1800" dirty="0" smtClean="0"/>
              <a:t>For each </a:t>
            </a:r>
            <a:r>
              <a:rPr lang="en-US" sz="1800" dirty="0"/>
              <a:t>listed threat, calculate the exposure factor (EF) and single loss expectancy (SLE).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Perform </a:t>
            </a:r>
            <a:r>
              <a:rPr lang="en-US" sz="2400" dirty="0"/>
              <a:t>a threat analysis to calculate the likelihood of each threat being </a:t>
            </a:r>
            <a:r>
              <a:rPr lang="en-US" sz="2400" dirty="0" smtClean="0"/>
              <a:t>realized within </a:t>
            </a:r>
            <a:r>
              <a:rPr lang="en-US" sz="2400" dirty="0"/>
              <a:t>a single year—that is, the </a:t>
            </a:r>
            <a:r>
              <a:rPr lang="en-US" sz="2400" dirty="0" err="1" smtClean="0"/>
              <a:t>annualised</a:t>
            </a:r>
            <a:r>
              <a:rPr lang="en-US" sz="2400" dirty="0" smtClean="0"/>
              <a:t> </a:t>
            </a:r>
            <a:r>
              <a:rPr lang="en-US" sz="2400" dirty="0"/>
              <a:t>rate of occurrence (ARO).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Derive </a:t>
            </a:r>
            <a:r>
              <a:rPr lang="en-US" sz="2400" dirty="0"/>
              <a:t>the overall loss potential per threat by calculating the annualized loss </a:t>
            </a:r>
            <a:r>
              <a:rPr lang="en-US" sz="2400" dirty="0" smtClean="0"/>
              <a:t>expectancy (ALE</a:t>
            </a:r>
            <a:r>
              <a:rPr lang="en-US" sz="24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Research </a:t>
            </a:r>
            <a:r>
              <a:rPr lang="en-US" sz="2400" dirty="0"/>
              <a:t>countermeasures for each threat, and then calculate the changes to ARO </a:t>
            </a:r>
            <a:r>
              <a:rPr lang="en-US" sz="2400" dirty="0" smtClean="0"/>
              <a:t>and ALE </a:t>
            </a:r>
            <a:r>
              <a:rPr lang="en-US" sz="2400" dirty="0"/>
              <a:t>based on an applied countermeasure.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Perform </a:t>
            </a:r>
            <a:r>
              <a:rPr lang="en-US" sz="2400" dirty="0"/>
              <a:t>a cost/benefit analysis of each countermeasure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580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Cost </a:t>
            </a:r>
            <a:r>
              <a:rPr lang="en-GB" dirty="0"/>
              <a:t>functions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en-US" dirty="0" smtClean="0"/>
              <a:t>uantitative </a:t>
            </a:r>
            <a:r>
              <a:rPr lang="en-US" dirty="0"/>
              <a:t>risk analysis </a:t>
            </a:r>
            <a:r>
              <a:rPr lang="en-US" dirty="0" smtClean="0"/>
              <a:t>has several cost functions:</a:t>
            </a:r>
          </a:p>
          <a:p>
            <a:r>
              <a:rPr lang="en-US" dirty="0" smtClean="0"/>
              <a:t>Exposure Factor (EF)</a:t>
            </a:r>
            <a:endParaRPr lang="en-US" dirty="0"/>
          </a:p>
          <a:p>
            <a:r>
              <a:rPr lang="en-US" dirty="0" smtClean="0"/>
              <a:t>Single Loss Expectancy (SLE)</a:t>
            </a:r>
          </a:p>
          <a:p>
            <a:r>
              <a:rPr lang="en-US" dirty="0"/>
              <a:t>A</a:t>
            </a:r>
            <a:r>
              <a:rPr lang="en-US" dirty="0" smtClean="0"/>
              <a:t>nnualized Rate </a:t>
            </a:r>
            <a:r>
              <a:rPr lang="en-US" dirty="0"/>
              <a:t>of </a:t>
            </a:r>
            <a:r>
              <a:rPr lang="en-US" dirty="0" smtClean="0"/>
              <a:t>Occurrence (ARO)</a:t>
            </a:r>
          </a:p>
          <a:p>
            <a:r>
              <a:rPr lang="en-US" dirty="0"/>
              <a:t>A</a:t>
            </a:r>
            <a:r>
              <a:rPr lang="en-US" dirty="0" smtClean="0"/>
              <a:t>nnualized Loss Expectancy (ALE)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66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dirty="0"/>
              <a:t>Exposure Factor </a:t>
            </a:r>
            <a:r>
              <a:rPr lang="en-US" dirty="0" smtClean="0"/>
              <a:t>(</a:t>
            </a:r>
            <a:r>
              <a:rPr lang="en-US" dirty="0"/>
              <a:t>EF)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43000"/>
            <a:ext cx="10363200" cy="4114800"/>
          </a:xfrm>
        </p:spPr>
        <p:txBody>
          <a:bodyPr/>
          <a:lstStyle/>
          <a:p>
            <a:r>
              <a:rPr lang="en-US" sz="2800" dirty="0"/>
              <a:t>R</a:t>
            </a:r>
            <a:r>
              <a:rPr lang="en-US" sz="2800" dirty="0" smtClean="0"/>
              <a:t>epresents </a:t>
            </a:r>
            <a:r>
              <a:rPr lang="en-US" sz="2800" dirty="0"/>
              <a:t>the percentage of loss that an </a:t>
            </a:r>
            <a:r>
              <a:rPr lang="en-US" sz="2800" dirty="0" smtClean="0"/>
              <a:t>organization would </a:t>
            </a:r>
            <a:r>
              <a:rPr lang="en-US" sz="2800" dirty="0"/>
              <a:t>experience if a </a:t>
            </a:r>
            <a:r>
              <a:rPr lang="en-US" sz="2800" dirty="0" smtClean="0"/>
              <a:t>specific </a:t>
            </a:r>
            <a:r>
              <a:rPr lang="en-US" sz="2800" dirty="0"/>
              <a:t>asset were violated by a realized risk.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EF simply indicates the expected overall asset value loss because of </a:t>
            </a:r>
            <a:r>
              <a:rPr lang="en-US" sz="2800" dirty="0" smtClean="0"/>
              <a:t>a single realised </a:t>
            </a:r>
            <a:r>
              <a:rPr lang="en-US" sz="2800" dirty="0"/>
              <a:t>risk.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EF is usually small for assets that are easily replaceable, such </a:t>
            </a:r>
            <a:r>
              <a:rPr lang="en-US" sz="2800" dirty="0" smtClean="0"/>
              <a:t>as hardware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It </a:t>
            </a:r>
            <a:r>
              <a:rPr lang="en-US" sz="2800" dirty="0"/>
              <a:t>can be very large for assets that are irreplaceable or proprietary, such as </a:t>
            </a:r>
            <a:r>
              <a:rPr lang="en-US" sz="2800" dirty="0" smtClean="0"/>
              <a:t>product designs </a:t>
            </a:r>
            <a:r>
              <a:rPr lang="en-US" sz="2800" dirty="0"/>
              <a:t>or a database of </a:t>
            </a:r>
            <a:r>
              <a:rPr lang="en-US" sz="2800" dirty="0" smtClean="0"/>
              <a:t>customers.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EF is expressed as a percentage.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390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Loss </a:t>
            </a:r>
            <a:r>
              <a:rPr lang="en-US" dirty="0" smtClean="0"/>
              <a:t>Expectancy (SLE)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/>
              <a:t>EF is needed to calculate the single loss expectancy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The SLE </a:t>
            </a:r>
            <a:r>
              <a:rPr lang="en-US" sz="2400" dirty="0"/>
              <a:t>is the cost associated with a single </a:t>
            </a:r>
            <a:r>
              <a:rPr lang="en-US" sz="2400" dirty="0" smtClean="0"/>
              <a:t>realised </a:t>
            </a:r>
            <a:r>
              <a:rPr lang="en-US" sz="2400" dirty="0"/>
              <a:t>risk against a </a:t>
            </a:r>
            <a:r>
              <a:rPr lang="en-US" sz="2400" dirty="0" smtClean="0"/>
              <a:t>specific </a:t>
            </a:r>
            <a:r>
              <a:rPr lang="en-US" sz="2400" dirty="0"/>
              <a:t>asset. </a:t>
            </a:r>
            <a:endParaRPr lang="en-US" sz="2400" dirty="0" smtClean="0"/>
          </a:p>
          <a:p>
            <a:r>
              <a:rPr lang="en-US" sz="2400" dirty="0" smtClean="0"/>
              <a:t>It indicates the </a:t>
            </a:r>
            <a:r>
              <a:rPr lang="en-US" sz="2400" dirty="0"/>
              <a:t>exact amount of loss an organization would experience if an asset were harmed by </a:t>
            </a:r>
            <a:r>
              <a:rPr lang="en-US" sz="2400" dirty="0" smtClean="0"/>
              <a:t>a specific </a:t>
            </a:r>
            <a:r>
              <a:rPr lang="en-US" sz="2400" dirty="0"/>
              <a:t>threat occurring.</a:t>
            </a:r>
            <a:endParaRPr lang="en-GB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481382" y="3789406"/>
            <a:ext cx="6376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SLE = asset value (AV) * exposure factor (EF)</a:t>
            </a:r>
          </a:p>
          <a:p>
            <a:r>
              <a:rPr lang="en-GB" sz="2400" dirty="0">
                <a:solidFill>
                  <a:srgbClr val="FF0000"/>
                </a:solidFill>
              </a:rPr>
              <a:t>or </a:t>
            </a:r>
            <a:endParaRPr lang="en-GB" sz="2400" dirty="0" smtClean="0">
              <a:solidFill>
                <a:srgbClr val="FF0000"/>
              </a:solidFill>
            </a:endParaRPr>
          </a:p>
          <a:p>
            <a:r>
              <a:rPr lang="en-GB" sz="2400" dirty="0" smtClean="0">
                <a:solidFill>
                  <a:srgbClr val="FF0000"/>
                </a:solidFill>
              </a:rPr>
              <a:t>SLE </a:t>
            </a:r>
            <a:r>
              <a:rPr lang="en-GB" sz="2400" dirty="0">
                <a:solidFill>
                  <a:srgbClr val="FF0000"/>
                </a:solidFill>
              </a:rPr>
              <a:t>= AV * EF</a:t>
            </a:r>
          </a:p>
        </p:txBody>
      </p:sp>
    </p:spTree>
    <p:extLst>
      <p:ext uri="{BB962C8B-B14F-4D97-AF65-F5344CB8AC3E}">
        <p14:creationId xmlns:p14="http://schemas.microsoft.com/office/powerpoint/2010/main" val="274102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Loss Expectancy (SLE)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SLE is expressed in a </a:t>
            </a:r>
            <a:r>
              <a:rPr lang="en-US" dirty="0" smtClean="0"/>
              <a:t>monetary value</a:t>
            </a:r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If an asset is valued at £150,000</a:t>
            </a:r>
          </a:p>
          <a:p>
            <a:r>
              <a:rPr lang="en-US" dirty="0" smtClean="0"/>
              <a:t>And it has an EF of 30%</a:t>
            </a:r>
          </a:p>
          <a:p>
            <a:r>
              <a:rPr lang="en-US" dirty="0" smtClean="0"/>
              <a:t>Then the SLE is …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5906530" y="4449929"/>
            <a:ext cx="44154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SLE = £150,000 * 30%</a:t>
            </a:r>
          </a:p>
          <a:p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 smtClean="0">
                <a:solidFill>
                  <a:srgbClr val="FF0000"/>
                </a:solidFill>
              </a:rPr>
              <a:t>SLE = £45,000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55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Annualised </a:t>
            </a:r>
            <a:r>
              <a:rPr lang="en-US" dirty="0"/>
              <a:t>Rate of </a:t>
            </a:r>
            <a:r>
              <a:rPr lang="en-US" dirty="0" smtClean="0"/>
              <a:t>Occurrence (ARO)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The ARO is </a:t>
            </a:r>
            <a:r>
              <a:rPr lang="en-US" sz="2000" dirty="0"/>
              <a:t>the </a:t>
            </a:r>
            <a:r>
              <a:rPr lang="en-US" sz="2000" dirty="0" smtClean="0"/>
              <a:t>expected frequency </a:t>
            </a:r>
            <a:r>
              <a:rPr lang="en-US" sz="2000" dirty="0"/>
              <a:t>with which a </a:t>
            </a:r>
            <a:r>
              <a:rPr lang="en-US" sz="2000" dirty="0" smtClean="0"/>
              <a:t>specific </a:t>
            </a:r>
            <a:r>
              <a:rPr lang="en-US" sz="2000" dirty="0"/>
              <a:t>threat or risk will occur </a:t>
            </a:r>
            <a:r>
              <a:rPr lang="en-US" sz="2000" dirty="0" smtClean="0"/>
              <a:t>in a </a:t>
            </a:r>
            <a:r>
              <a:rPr lang="en-US" sz="2000" dirty="0"/>
              <a:t>single year.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ARO can range from a value of 0.0 (zero), indicating that the threat </a:t>
            </a:r>
            <a:r>
              <a:rPr lang="en-US" sz="2000" dirty="0" smtClean="0"/>
              <a:t>or risk </a:t>
            </a:r>
            <a:r>
              <a:rPr lang="en-US" sz="2000" dirty="0"/>
              <a:t>will never be </a:t>
            </a:r>
            <a:r>
              <a:rPr lang="en-US" sz="2000" dirty="0" smtClean="0"/>
              <a:t>realised</a:t>
            </a:r>
            <a:r>
              <a:rPr lang="en-US" sz="2000" dirty="0"/>
              <a:t>, to a very large number, indicating that the threat or risk </a:t>
            </a:r>
            <a:r>
              <a:rPr lang="en-US" sz="2000" dirty="0" smtClean="0"/>
              <a:t>occurs often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Calculating </a:t>
            </a:r>
            <a:r>
              <a:rPr lang="en-US" sz="2000" dirty="0"/>
              <a:t>the ARO can be complicated. </a:t>
            </a:r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can be derived from historical </a:t>
            </a:r>
            <a:r>
              <a:rPr lang="en-US" sz="2000" dirty="0" smtClean="0"/>
              <a:t>records, statistical </a:t>
            </a:r>
            <a:r>
              <a:rPr lang="en-US" sz="2000" dirty="0"/>
              <a:t>analysis, or guesswork. </a:t>
            </a:r>
          </a:p>
          <a:p>
            <a:r>
              <a:rPr lang="en-US" sz="2000" dirty="0" smtClean="0"/>
              <a:t>ARO </a:t>
            </a:r>
            <a:r>
              <a:rPr lang="en-US" sz="2000" dirty="0"/>
              <a:t>calculation is also known as </a:t>
            </a:r>
            <a:r>
              <a:rPr lang="en-US" sz="2000" i="1" dirty="0"/>
              <a:t>probability determination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The ARO for some threats or risks is calculated by multiplying the likelihood of </a:t>
            </a:r>
            <a:r>
              <a:rPr lang="en-US" sz="2000" dirty="0" smtClean="0"/>
              <a:t>a </a:t>
            </a:r>
            <a:r>
              <a:rPr lang="en-US" sz="2000" dirty="0"/>
              <a:t>single occurrence by the number of users who could initiate the threat. </a:t>
            </a:r>
            <a:endParaRPr lang="en-US" sz="2000" dirty="0" smtClean="0"/>
          </a:p>
          <a:p>
            <a:r>
              <a:rPr lang="en-US" sz="2000" dirty="0" smtClean="0"/>
              <a:t>For </a:t>
            </a:r>
            <a:r>
              <a:rPr lang="en-US" sz="2000" dirty="0"/>
              <a:t>example, </a:t>
            </a:r>
            <a:r>
              <a:rPr lang="en-US" sz="2000" dirty="0" smtClean="0"/>
              <a:t>the ARO </a:t>
            </a:r>
            <a:r>
              <a:rPr lang="en-US" sz="2000" dirty="0"/>
              <a:t>of an earthquake in </a:t>
            </a:r>
            <a:r>
              <a:rPr lang="en-US" sz="2000" dirty="0" smtClean="0"/>
              <a:t>Wrexham may </a:t>
            </a:r>
            <a:r>
              <a:rPr lang="en-US" sz="2000" dirty="0"/>
              <a:t>be .00001, whereas the ARO of an email virus in </a:t>
            </a:r>
            <a:r>
              <a:rPr lang="en-US" sz="2000" dirty="0" smtClean="0"/>
              <a:t>an office </a:t>
            </a:r>
            <a:r>
              <a:rPr lang="en-US" sz="2000" dirty="0"/>
              <a:t>in </a:t>
            </a:r>
            <a:r>
              <a:rPr lang="en-US" sz="2000" dirty="0" smtClean="0"/>
              <a:t>Glyndwr could be 5000.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5764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Annualised </a:t>
            </a:r>
            <a:r>
              <a:rPr lang="en-US" dirty="0"/>
              <a:t>Loss </a:t>
            </a:r>
            <a:r>
              <a:rPr lang="en-US" dirty="0" smtClean="0"/>
              <a:t>Expectancy (ALE)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ALE </a:t>
            </a:r>
            <a:r>
              <a:rPr lang="en-US" dirty="0"/>
              <a:t>is the possible </a:t>
            </a:r>
            <a:r>
              <a:rPr lang="en-US" dirty="0" smtClean="0"/>
              <a:t>yearly cost </a:t>
            </a:r>
            <a:r>
              <a:rPr lang="en-US" dirty="0"/>
              <a:t>of all instances of a </a:t>
            </a:r>
            <a:r>
              <a:rPr lang="en-US" dirty="0" smtClean="0"/>
              <a:t>specific realised </a:t>
            </a:r>
            <a:r>
              <a:rPr lang="en-US" dirty="0"/>
              <a:t>threat against a </a:t>
            </a:r>
            <a:r>
              <a:rPr lang="en-US" dirty="0" smtClean="0"/>
              <a:t>specific </a:t>
            </a:r>
            <a:r>
              <a:rPr lang="en-US" dirty="0"/>
              <a:t>asset.</a:t>
            </a:r>
          </a:p>
          <a:p>
            <a:r>
              <a:rPr lang="en-US" dirty="0"/>
              <a:t>The ALE is calculated using the following formula: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509319" y="3352800"/>
            <a:ext cx="7315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ALE = single loss expectancy (SLE) * annualized rate of occurrence (ARO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Or </a:t>
            </a:r>
            <a:endParaRPr lang="en-GB" dirty="0" smtClean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 smtClean="0">
                <a:solidFill>
                  <a:srgbClr val="FF0000"/>
                </a:solidFill>
              </a:rPr>
              <a:t>ALE </a:t>
            </a:r>
            <a:r>
              <a:rPr lang="en-GB" dirty="0">
                <a:solidFill>
                  <a:srgbClr val="FF0000"/>
                </a:solidFill>
              </a:rPr>
              <a:t>= SLE * ARO</a:t>
            </a:r>
          </a:p>
        </p:txBody>
      </p:sp>
    </p:spTree>
    <p:extLst>
      <p:ext uri="{BB962C8B-B14F-4D97-AF65-F5344CB8AC3E}">
        <p14:creationId xmlns:p14="http://schemas.microsoft.com/office/powerpoint/2010/main" val="178212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Annualised Loss Expectancy (ALE)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if the SLE of an asset is </a:t>
            </a:r>
            <a:r>
              <a:rPr lang="en-US" dirty="0" smtClean="0"/>
              <a:t>£30,000 </a:t>
            </a:r>
            <a:r>
              <a:rPr lang="en-US" dirty="0"/>
              <a:t>and the ARO for a </a:t>
            </a:r>
            <a:r>
              <a:rPr lang="en-US" dirty="0" smtClean="0"/>
              <a:t>specific </a:t>
            </a:r>
            <a:r>
              <a:rPr lang="en-US" dirty="0"/>
              <a:t>threat (</a:t>
            </a:r>
            <a:r>
              <a:rPr lang="en-US" dirty="0" smtClean="0"/>
              <a:t>such as </a:t>
            </a:r>
            <a:r>
              <a:rPr lang="en-US" dirty="0"/>
              <a:t>total power loss) is </a:t>
            </a:r>
            <a:r>
              <a:rPr lang="en-US" dirty="0" smtClean="0"/>
              <a:t>.0192 (5 days power outage in one working year (261 days), </a:t>
            </a:r>
            <a:r>
              <a:rPr lang="en-US" dirty="0"/>
              <a:t>then the ALE is </a:t>
            </a:r>
            <a:r>
              <a:rPr lang="en-US" dirty="0" smtClean="0"/>
              <a:t>£576. </a:t>
            </a:r>
          </a:p>
          <a:p>
            <a:r>
              <a:rPr lang="en-US" dirty="0" smtClean="0"/>
              <a:t>On </a:t>
            </a:r>
            <a:r>
              <a:rPr lang="en-US" dirty="0"/>
              <a:t>the other hand, if the ARO </a:t>
            </a:r>
            <a:r>
              <a:rPr lang="en-US" dirty="0" smtClean="0"/>
              <a:t>for a specific </a:t>
            </a:r>
            <a:r>
              <a:rPr lang="en-US" dirty="0"/>
              <a:t>threat (such as compromised user account) were 15, then the ALE would </a:t>
            </a:r>
            <a:r>
              <a:rPr lang="en-US" dirty="0" smtClean="0"/>
              <a:t>be £450,000.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495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Safeguards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addition to determining </a:t>
            </a:r>
            <a:r>
              <a:rPr lang="en-US" dirty="0" smtClean="0"/>
              <a:t>the annual </a:t>
            </a:r>
            <a:r>
              <a:rPr lang="en-US" dirty="0"/>
              <a:t>cost of the safeguard, you must calculate the ALE for the asset if the safeguard is implemented</a:t>
            </a:r>
            <a:r>
              <a:rPr lang="en-US" dirty="0" smtClean="0"/>
              <a:t>.</a:t>
            </a:r>
          </a:p>
          <a:p>
            <a:r>
              <a:rPr lang="en-US" dirty="0"/>
              <a:t>This </a:t>
            </a:r>
            <a:r>
              <a:rPr lang="en-US" dirty="0" smtClean="0"/>
              <a:t>requires: </a:t>
            </a:r>
          </a:p>
          <a:p>
            <a:r>
              <a:rPr lang="en-US" dirty="0" smtClean="0"/>
              <a:t>a </a:t>
            </a:r>
            <a:r>
              <a:rPr lang="en-US" dirty="0"/>
              <a:t>new </a:t>
            </a:r>
            <a:r>
              <a:rPr lang="en-US" dirty="0" smtClean="0"/>
              <a:t>Exposure Factor (EF) </a:t>
            </a:r>
          </a:p>
          <a:p>
            <a:pPr lvl="1"/>
            <a:r>
              <a:rPr lang="en-US" dirty="0" smtClean="0"/>
              <a:t>In truth this will probably stay the same.</a:t>
            </a:r>
          </a:p>
          <a:p>
            <a:r>
              <a:rPr lang="en-US" dirty="0" smtClean="0"/>
              <a:t>and a new </a:t>
            </a:r>
            <a:r>
              <a:rPr lang="en-US" dirty="0"/>
              <a:t>Annualised Rate of Occurrence </a:t>
            </a:r>
            <a:r>
              <a:rPr lang="en-US" dirty="0" smtClean="0"/>
              <a:t>(ARO) specific </a:t>
            </a:r>
            <a:r>
              <a:rPr lang="en-US" dirty="0"/>
              <a:t>to the </a:t>
            </a:r>
            <a:r>
              <a:rPr lang="en-US" dirty="0" smtClean="0"/>
              <a:t>safeguard.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50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EF with Safeguard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If the Safeguard fails then the exposure is the same as without it!</a:t>
            </a:r>
          </a:p>
          <a:p>
            <a:pPr lvl="1"/>
            <a:r>
              <a:rPr lang="en-GB" dirty="0" smtClean="0"/>
              <a:t>Think bullet proof vest that can’t stop bullets !</a:t>
            </a:r>
          </a:p>
          <a:p>
            <a:r>
              <a:rPr lang="en-GB" dirty="0" smtClean="0"/>
              <a:t>Although a safeguard can reduce damage</a:t>
            </a:r>
          </a:p>
          <a:p>
            <a:pPr lvl="1"/>
            <a:r>
              <a:rPr lang="en-GB" dirty="0" smtClean="0"/>
              <a:t>Sprinklers in a fire, the building still burns but probably not as bad!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67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ARO with Safeguard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dirty="0"/>
              <a:t>safeguard should reduce the </a:t>
            </a:r>
            <a:r>
              <a:rPr lang="en-US" sz="2000" dirty="0" smtClean="0"/>
              <a:t>number of </a:t>
            </a:r>
            <a:r>
              <a:rPr lang="en-US" sz="2000" dirty="0"/>
              <a:t>times an attack is successful in causing damage to an asset.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best of all </a:t>
            </a:r>
            <a:r>
              <a:rPr lang="en-US" sz="2000" dirty="0" smtClean="0"/>
              <a:t>possible safeguards </a:t>
            </a:r>
            <a:r>
              <a:rPr lang="en-US" sz="2000" dirty="0"/>
              <a:t>would reduce the ARO to zero. </a:t>
            </a:r>
            <a:endParaRPr lang="en-US" sz="2000" dirty="0" smtClean="0"/>
          </a:p>
          <a:p>
            <a:r>
              <a:rPr lang="en-US" sz="2000" dirty="0" smtClean="0"/>
              <a:t>Although </a:t>
            </a:r>
            <a:r>
              <a:rPr lang="en-US" sz="2000" dirty="0"/>
              <a:t>there are some perfect </a:t>
            </a:r>
            <a:r>
              <a:rPr lang="en-US" sz="2000" dirty="0" smtClean="0"/>
              <a:t>safeguards, many are </a:t>
            </a:r>
            <a:r>
              <a:rPr lang="en-US" sz="2000" dirty="0"/>
              <a:t>not. </a:t>
            </a:r>
            <a:endParaRPr lang="en-US" sz="2000" dirty="0" smtClean="0"/>
          </a:p>
          <a:p>
            <a:r>
              <a:rPr lang="en-US" sz="2000" dirty="0"/>
              <a:t>S</a:t>
            </a:r>
            <a:r>
              <a:rPr lang="en-US" sz="2000" dirty="0" smtClean="0"/>
              <a:t>afeguards (should) have </a:t>
            </a:r>
            <a:r>
              <a:rPr lang="en-US" sz="2000" dirty="0"/>
              <a:t>an applied ARO that is smaller (you hope </a:t>
            </a:r>
            <a:r>
              <a:rPr lang="en-US" sz="2000" dirty="0" smtClean="0"/>
              <a:t>much smaller</a:t>
            </a:r>
            <a:r>
              <a:rPr lang="en-US" sz="2000" dirty="0"/>
              <a:t>) than the </a:t>
            </a:r>
            <a:r>
              <a:rPr lang="en-US" sz="2000" dirty="0" smtClean="0"/>
              <a:t>non-safeguarded </a:t>
            </a:r>
            <a:r>
              <a:rPr lang="en-US" sz="2000" dirty="0"/>
              <a:t>ARO, but it is not often zero. </a:t>
            </a:r>
            <a:endParaRPr lang="en-US" sz="2000" dirty="0" smtClean="0"/>
          </a:p>
          <a:p>
            <a:r>
              <a:rPr lang="en-US" sz="2000" dirty="0" smtClean="0"/>
              <a:t>With </a:t>
            </a:r>
            <a:r>
              <a:rPr lang="en-US" sz="2000" dirty="0"/>
              <a:t>the new ARO (</a:t>
            </a:r>
            <a:r>
              <a:rPr lang="en-US" sz="2000" dirty="0" smtClean="0"/>
              <a:t>and possible </a:t>
            </a:r>
            <a:r>
              <a:rPr lang="en-US" sz="2000" dirty="0"/>
              <a:t>new EF), a new ALE with the application of a safeguard is </a:t>
            </a:r>
            <a:r>
              <a:rPr lang="en-US" sz="2000" dirty="0" smtClean="0"/>
              <a:t>calculated.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8012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Safeguard Costs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pre-safeguard ALE and the post-safeguard ALE calculated, there is </a:t>
            </a:r>
            <a:r>
              <a:rPr lang="en-US" dirty="0" smtClean="0"/>
              <a:t>still more work to do.</a:t>
            </a:r>
          </a:p>
          <a:p>
            <a:r>
              <a:rPr lang="en-US" dirty="0" smtClean="0"/>
              <a:t>One more value needed to perform a cost/benefit analysis</a:t>
            </a:r>
          </a:p>
          <a:p>
            <a:r>
              <a:rPr lang="en-GB" u="sng" dirty="0" smtClean="0"/>
              <a:t>Annual </a:t>
            </a:r>
            <a:r>
              <a:rPr lang="en-GB" u="sng" dirty="0"/>
              <a:t>cost </a:t>
            </a:r>
            <a:r>
              <a:rPr lang="en-GB" u="sng" dirty="0" smtClean="0"/>
              <a:t>of the safeguard</a:t>
            </a:r>
          </a:p>
          <a:p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385391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Safeguard Costs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65" y="1228982"/>
            <a:ext cx="11813059" cy="4114800"/>
          </a:xfrm>
        </p:spPr>
        <p:txBody>
          <a:bodyPr/>
          <a:lstStyle/>
          <a:p>
            <a:r>
              <a:rPr lang="en-US" sz="2400" dirty="0"/>
              <a:t>For each </a:t>
            </a:r>
            <a:r>
              <a:rPr lang="en-US" sz="2400" dirty="0" smtClean="0"/>
              <a:t>specific </a:t>
            </a:r>
            <a:r>
              <a:rPr lang="en-US" sz="2400" dirty="0"/>
              <a:t>risk, you must evaluate one or more </a:t>
            </a:r>
            <a:r>
              <a:rPr lang="en-US" sz="2400" dirty="0" smtClean="0"/>
              <a:t>safeguards, on </a:t>
            </a:r>
            <a:r>
              <a:rPr lang="en-US" sz="2400" dirty="0"/>
              <a:t>a </a:t>
            </a:r>
            <a:r>
              <a:rPr lang="en-US" sz="2400" dirty="0" smtClean="0"/>
              <a:t>cost/benefit </a:t>
            </a:r>
            <a:r>
              <a:rPr lang="en-US" sz="2400" dirty="0"/>
              <a:t>basis. </a:t>
            </a:r>
            <a:endParaRPr lang="en-US" sz="2400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perform this evaluation, you </a:t>
            </a:r>
            <a:r>
              <a:rPr lang="en-US" sz="2400" dirty="0" smtClean="0"/>
              <a:t>must first </a:t>
            </a:r>
            <a:r>
              <a:rPr lang="en-US" sz="2400" dirty="0"/>
              <a:t>compile a list of safeguards for each threat. </a:t>
            </a:r>
            <a:endParaRPr lang="en-US" sz="2400" dirty="0" smtClean="0"/>
          </a:p>
          <a:p>
            <a:r>
              <a:rPr lang="en-US" sz="2400" dirty="0" smtClean="0"/>
              <a:t>Then </a:t>
            </a:r>
            <a:r>
              <a:rPr lang="en-US" sz="2400" dirty="0"/>
              <a:t>you assign each safeguard a </a:t>
            </a:r>
            <a:r>
              <a:rPr lang="en-US" sz="2400" dirty="0" smtClean="0"/>
              <a:t>deployment value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1800" dirty="0" smtClean="0"/>
              <a:t>In </a:t>
            </a:r>
            <a:r>
              <a:rPr lang="en-US" sz="1800" dirty="0"/>
              <a:t>fact, you must measure the deployment value or the cost of the </a:t>
            </a:r>
            <a:r>
              <a:rPr lang="en-US" sz="1800" dirty="0" smtClean="0"/>
              <a:t>safeguard against </a:t>
            </a:r>
            <a:r>
              <a:rPr lang="en-US" sz="1800" dirty="0"/>
              <a:t>the value of the protected asset. </a:t>
            </a:r>
            <a:endParaRPr lang="en-US" sz="18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value of the protected asset </a:t>
            </a:r>
            <a:r>
              <a:rPr lang="en-US" sz="2400" dirty="0" smtClean="0"/>
              <a:t>determines the </a:t>
            </a:r>
            <a:r>
              <a:rPr lang="en-US" sz="2400" dirty="0"/>
              <a:t>maximum expenditures for protection mechanisms. </a:t>
            </a:r>
            <a:endParaRPr lang="en-US" sz="2400" dirty="0" smtClean="0"/>
          </a:p>
          <a:p>
            <a:r>
              <a:rPr lang="en-US" sz="2400" dirty="0" smtClean="0"/>
              <a:t>Security </a:t>
            </a:r>
            <a:r>
              <a:rPr lang="en-US" sz="2400" dirty="0"/>
              <a:t>should be </a:t>
            </a:r>
            <a:r>
              <a:rPr lang="en-US" sz="2400" dirty="0" smtClean="0"/>
              <a:t>cost effective</a:t>
            </a:r>
          </a:p>
          <a:p>
            <a:pPr lvl="1"/>
            <a:r>
              <a:rPr lang="en-US" sz="1800" dirty="0" smtClean="0"/>
              <a:t>It’s not sensible to </a:t>
            </a:r>
            <a:r>
              <a:rPr lang="en-US" sz="1800" dirty="0"/>
              <a:t>spend more (in terms of cash or resources) </a:t>
            </a:r>
            <a:r>
              <a:rPr lang="en-US" sz="1800" dirty="0" smtClean="0"/>
              <a:t>protecting an </a:t>
            </a:r>
            <a:r>
              <a:rPr lang="en-US" sz="1800" dirty="0"/>
              <a:t>asset than its value to the </a:t>
            </a:r>
            <a:r>
              <a:rPr lang="en-US" sz="1800" dirty="0" smtClean="0"/>
              <a:t>organisation</a:t>
            </a:r>
            <a:r>
              <a:rPr lang="en-US" sz="1800" dirty="0"/>
              <a:t>. </a:t>
            </a:r>
            <a:endParaRPr lang="en-US" sz="18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the cost of the countermeasure is greater </a:t>
            </a:r>
            <a:r>
              <a:rPr lang="en-US" sz="2400" dirty="0" smtClean="0"/>
              <a:t>than the </a:t>
            </a:r>
            <a:r>
              <a:rPr lang="en-US" sz="2400" dirty="0"/>
              <a:t>value of the asset (that is, the cost of the risk), then you should accept the risk.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110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Factors to consider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Cost of purchase, development, and licensing</a:t>
            </a:r>
          </a:p>
          <a:p>
            <a:r>
              <a:rPr lang="en-US" sz="2800" dirty="0" smtClean="0"/>
              <a:t>Cost </a:t>
            </a:r>
            <a:r>
              <a:rPr lang="en-US" sz="2800" dirty="0"/>
              <a:t>of implementation and </a:t>
            </a:r>
            <a:r>
              <a:rPr lang="en-US" sz="2800" dirty="0" smtClean="0"/>
              <a:t>customisation</a:t>
            </a:r>
            <a:endParaRPr lang="en-US" sz="2800" dirty="0"/>
          </a:p>
          <a:p>
            <a:r>
              <a:rPr lang="en-US" sz="2800" dirty="0" smtClean="0"/>
              <a:t>Cost </a:t>
            </a:r>
            <a:r>
              <a:rPr lang="en-US" sz="2800" dirty="0"/>
              <a:t>of annual operation, maintenance, </a:t>
            </a:r>
            <a:r>
              <a:rPr lang="en-US" sz="2800" dirty="0" smtClean="0"/>
              <a:t>administration</a:t>
            </a:r>
          </a:p>
          <a:p>
            <a:r>
              <a:rPr lang="en-US" sz="2800" dirty="0" smtClean="0"/>
              <a:t>Productivity </a:t>
            </a:r>
            <a:r>
              <a:rPr lang="en-US" sz="2800" dirty="0"/>
              <a:t>improvement or loss</a:t>
            </a:r>
          </a:p>
          <a:p>
            <a:r>
              <a:rPr lang="en-US" sz="2800" dirty="0" smtClean="0"/>
              <a:t>Changes </a:t>
            </a:r>
            <a:r>
              <a:rPr lang="en-US" sz="2800" dirty="0"/>
              <a:t>to environment</a:t>
            </a:r>
          </a:p>
          <a:p>
            <a:r>
              <a:rPr lang="en-US" sz="2800" dirty="0" smtClean="0"/>
              <a:t>Cost </a:t>
            </a:r>
            <a:r>
              <a:rPr lang="en-US" sz="2800" dirty="0"/>
              <a:t>of testing and evaluation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903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Safeguard Cost/Benefit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Once you know the potential cost of a safeguard, it is then possible to evaluate the </a:t>
            </a:r>
            <a:r>
              <a:rPr lang="en-US" sz="2000" dirty="0" smtClean="0"/>
              <a:t>benefit of </a:t>
            </a:r>
            <a:r>
              <a:rPr lang="en-US" sz="2000" dirty="0"/>
              <a:t>that </a:t>
            </a:r>
            <a:r>
              <a:rPr lang="en-US" sz="2000" dirty="0" smtClean="0"/>
              <a:t>safeguard.</a:t>
            </a:r>
          </a:p>
          <a:p>
            <a:r>
              <a:rPr lang="en-US" sz="2000" dirty="0" smtClean="0"/>
              <a:t>Remember the annual safeguard cost should NOT exceed the cost of the asset loss!!</a:t>
            </a:r>
            <a:endParaRPr lang="en-GB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41471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ALE before safeguard – ALE after implementing the safeguard – annual cost </a:t>
            </a:r>
            <a:r>
              <a:rPr lang="en-US" sz="1600" dirty="0" smtClean="0">
                <a:solidFill>
                  <a:srgbClr val="FF0000"/>
                </a:solidFill>
              </a:rPr>
              <a:t>of safeguard </a:t>
            </a:r>
            <a:r>
              <a:rPr lang="en-US" sz="1600" dirty="0">
                <a:solidFill>
                  <a:srgbClr val="FF0000"/>
                </a:solidFill>
              </a:rPr>
              <a:t>(ACS) = value of the safeguard to the company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66" y="4143632"/>
            <a:ext cx="12134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rgbClr val="FF0000"/>
                </a:solidFill>
              </a:rPr>
              <a:t>(ALE1 – ALE2) – ACS  = value of safeguard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31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Safeguard Cost/Benefit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2465" y="1192556"/>
            <a:ext cx="10915135" cy="4114800"/>
          </a:xfrm>
        </p:spPr>
        <p:txBody>
          <a:bodyPr/>
          <a:lstStyle/>
          <a:p>
            <a:r>
              <a:rPr lang="en-US" sz="2400" dirty="0"/>
              <a:t>If the result is negative, the safeguard is not a </a:t>
            </a:r>
            <a:r>
              <a:rPr lang="en-US" sz="2400" dirty="0" smtClean="0"/>
              <a:t>financially </a:t>
            </a:r>
            <a:r>
              <a:rPr lang="en-US" sz="2400" dirty="0"/>
              <a:t>responsible choice. </a:t>
            </a:r>
            <a:endParaRPr lang="en-US" sz="2400" dirty="0" smtClean="0"/>
          </a:p>
          <a:p>
            <a:pPr lvl="1"/>
            <a:r>
              <a:rPr lang="en-US" sz="2000" i="1" dirty="0" smtClean="0">
                <a:solidFill>
                  <a:srgbClr val="FF0000"/>
                </a:solidFill>
              </a:rPr>
              <a:t>Most of the time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the result </a:t>
            </a:r>
            <a:r>
              <a:rPr lang="en-US" sz="2400" dirty="0" smtClean="0"/>
              <a:t>is positive</a:t>
            </a:r>
            <a:r>
              <a:rPr lang="en-US" sz="2400" dirty="0"/>
              <a:t>, then that value is the annual savings your organization </a:t>
            </a:r>
            <a:r>
              <a:rPr lang="en-US" sz="2400" i="1" u="sng" dirty="0"/>
              <a:t>may</a:t>
            </a:r>
            <a:r>
              <a:rPr lang="en-US" sz="2400" dirty="0"/>
              <a:t> </a:t>
            </a:r>
            <a:r>
              <a:rPr lang="en-US" sz="2400" dirty="0" smtClean="0"/>
              <a:t>get as a return </a:t>
            </a:r>
          </a:p>
          <a:p>
            <a:pPr lvl="1"/>
            <a:r>
              <a:rPr lang="en-US" sz="2000" i="1" dirty="0" smtClean="0">
                <a:solidFill>
                  <a:srgbClr val="FF0000"/>
                </a:solidFill>
              </a:rPr>
              <a:t>May because </a:t>
            </a:r>
            <a:r>
              <a:rPr lang="en-US" sz="2000" i="1" dirty="0">
                <a:solidFill>
                  <a:srgbClr val="FF0000"/>
                </a:solidFill>
              </a:rPr>
              <a:t>the rate of occurrence is not a guarantee of occurrence.</a:t>
            </a:r>
          </a:p>
          <a:p>
            <a:r>
              <a:rPr lang="en-US" sz="2400" dirty="0"/>
              <a:t>The annual savings or loss from a safeguard should not be the only consideration </a:t>
            </a:r>
            <a:r>
              <a:rPr lang="en-US" sz="2400" dirty="0" smtClean="0"/>
              <a:t>when evaluating </a:t>
            </a:r>
            <a:r>
              <a:rPr lang="en-US" sz="2400" dirty="0"/>
              <a:t>safeguards. 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dirty="0"/>
              <a:t>should also consider the issues of legal responsibility and </a:t>
            </a:r>
            <a:r>
              <a:rPr lang="en-US" sz="2400" dirty="0" smtClean="0"/>
              <a:t>prudent due </a:t>
            </a:r>
            <a:r>
              <a:rPr lang="en-US" sz="2400" dirty="0"/>
              <a:t>care.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some cases, it makes more sense to lose money in the deployment of </a:t>
            </a:r>
            <a:r>
              <a:rPr lang="en-US" sz="2400" dirty="0" smtClean="0"/>
              <a:t>a safeguard </a:t>
            </a:r>
            <a:r>
              <a:rPr lang="en-US" sz="2400" dirty="0"/>
              <a:t>than to risk legal liability in the event of an asset disclosure or loss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i="1" dirty="0" smtClean="0">
                <a:solidFill>
                  <a:srgbClr val="FF0000"/>
                </a:solidFill>
              </a:rPr>
              <a:t>Think GDPR!!</a:t>
            </a:r>
            <a:endParaRPr lang="en-GB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4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422917"/>
              </p:ext>
            </p:extLst>
          </p:nvPr>
        </p:nvGraphicFramePr>
        <p:xfrm>
          <a:off x="2032001" y="444844"/>
          <a:ext cx="8084064" cy="5029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318"/>
                <a:gridCol w="5082746"/>
              </a:tblGrid>
              <a:tr h="914903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Concept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Formula</a:t>
                      </a:r>
                    </a:p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Exposure factor (EF)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loss expectancy (SLE)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SLE = AV * EF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Annualized rate of occurrence (ARO)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/ year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Annualized loss expectancy (ALE)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 = SLE * ARO or ALE = AV * EF * ARO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Annual cost of the safeguard (ACS)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£ / year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or benefit of a safeguard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(ALE1 – ALE2) – ACS</a:t>
                      </a:r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56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Cost/Benefit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It is important to </a:t>
            </a:r>
            <a:r>
              <a:rPr lang="en-US" sz="2000" dirty="0" err="1" smtClean="0"/>
              <a:t>realise</a:t>
            </a:r>
            <a:r>
              <a:rPr lang="en-US" sz="2000" dirty="0" smtClean="0"/>
              <a:t> </a:t>
            </a:r>
            <a:r>
              <a:rPr lang="en-US" sz="2000" dirty="0"/>
              <a:t>that with all the calculations used in the quantitative risk </a:t>
            </a:r>
            <a:r>
              <a:rPr lang="en-US" sz="2000" dirty="0" smtClean="0"/>
              <a:t>assessment process</a:t>
            </a:r>
            <a:r>
              <a:rPr lang="en-US" sz="2000" dirty="0"/>
              <a:t>, the end values are used for prioritization and selection.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values themselves do </a:t>
            </a:r>
            <a:r>
              <a:rPr lang="en-US" sz="2000" dirty="0" smtClean="0"/>
              <a:t>not truly reflect </a:t>
            </a:r>
            <a:r>
              <a:rPr lang="en-US" sz="2000" dirty="0"/>
              <a:t>real-world loss or costs due to security breaches. </a:t>
            </a:r>
            <a:endParaRPr lang="en-US" sz="2000" dirty="0" smtClean="0"/>
          </a:p>
          <a:p>
            <a:pPr lvl="1"/>
            <a:r>
              <a:rPr lang="en-US" sz="1600" dirty="0" smtClean="0">
                <a:solidFill>
                  <a:srgbClr val="FF0000"/>
                </a:solidFill>
              </a:rPr>
              <a:t>This </a:t>
            </a:r>
            <a:r>
              <a:rPr lang="en-US" sz="1600" dirty="0">
                <a:solidFill>
                  <a:srgbClr val="FF0000"/>
                </a:solidFill>
              </a:rPr>
              <a:t>should be obvious because </a:t>
            </a:r>
            <a:r>
              <a:rPr lang="en-US" sz="1600" dirty="0" smtClean="0">
                <a:solidFill>
                  <a:srgbClr val="FF0000"/>
                </a:solidFill>
              </a:rPr>
              <a:t>of the </a:t>
            </a:r>
            <a:r>
              <a:rPr lang="en-US" sz="1600" dirty="0">
                <a:solidFill>
                  <a:srgbClr val="FF0000"/>
                </a:solidFill>
              </a:rPr>
              <a:t>level of guesswork, statistical analysis, and probability predictions required in the process.</a:t>
            </a:r>
          </a:p>
          <a:p>
            <a:r>
              <a:rPr lang="en-US" sz="2000" dirty="0"/>
              <a:t>Once you have calculated a </a:t>
            </a:r>
            <a:r>
              <a:rPr lang="en-US" sz="2000" dirty="0" smtClean="0"/>
              <a:t>cost/benefit </a:t>
            </a:r>
            <a:r>
              <a:rPr lang="en-US" sz="2000" dirty="0"/>
              <a:t>for each safeguard for each risk that affects </a:t>
            </a:r>
            <a:r>
              <a:rPr lang="en-US" sz="2000" dirty="0" smtClean="0"/>
              <a:t>each asset</a:t>
            </a:r>
            <a:r>
              <a:rPr lang="en-US" sz="2000" dirty="0"/>
              <a:t>, you must then sort these values. </a:t>
            </a:r>
            <a:endParaRPr lang="en-US" sz="2000" dirty="0" smtClean="0"/>
          </a:p>
          <a:p>
            <a:r>
              <a:rPr lang="en-US" sz="2000" dirty="0" smtClean="0"/>
              <a:t>In </a:t>
            </a:r>
            <a:r>
              <a:rPr lang="en-US" sz="2000" dirty="0"/>
              <a:t>most cases, the </a:t>
            </a:r>
            <a:r>
              <a:rPr lang="en-US" sz="2000" dirty="0" smtClean="0"/>
              <a:t>cost/benefit </a:t>
            </a:r>
            <a:r>
              <a:rPr lang="en-US" sz="2000" dirty="0"/>
              <a:t>with the highest </a:t>
            </a:r>
            <a:r>
              <a:rPr lang="en-US" sz="2000" dirty="0" smtClean="0"/>
              <a:t>value is </a:t>
            </a:r>
            <a:r>
              <a:rPr lang="en-US" sz="2000" dirty="0"/>
              <a:t>the best safeguard to implement for that </a:t>
            </a:r>
            <a:r>
              <a:rPr lang="en-US" sz="2000" dirty="0" smtClean="0"/>
              <a:t>specific </a:t>
            </a:r>
            <a:r>
              <a:rPr lang="en-US" sz="2000" dirty="0"/>
              <a:t>risk against a </a:t>
            </a:r>
            <a:r>
              <a:rPr lang="en-US" sz="2000" dirty="0" smtClean="0"/>
              <a:t>specific </a:t>
            </a:r>
            <a:r>
              <a:rPr lang="en-US" sz="2000" dirty="0"/>
              <a:t>asset.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2479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Cost/Benefit …</a:t>
            </a:r>
            <a:r>
              <a:rPr lang="en-GB" i="1" dirty="0" smtClean="0"/>
              <a:t>but</a:t>
            </a:r>
            <a:r>
              <a:rPr lang="en-GB" dirty="0" smtClean="0"/>
              <a:t>..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01940"/>
            <a:ext cx="10363200" cy="4114800"/>
          </a:xfrm>
        </p:spPr>
        <p:txBody>
          <a:bodyPr/>
          <a:lstStyle/>
          <a:p>
            <a:r>
              <a:rPr lang="en-US" sz="2400" dirty="0" smtClean="0"/>
              <a:t>As with </a:t>
            </a:r>
            <a:r>
              <a:rPr lang="en-US" sz="2400" dirty="0"/>
              <a:t>all things in the real world, this is only one part of the decision-making process. </a:t>
            </a:r>
            <a:endParaRPr lang="en-US" sz="2400" dirty="0" smtClean="0"/>
          </a:p>
          <a:p>
            <a:r>
              <a:rPr lang="en-US" sz="2400" dirty="0" smtClean="0"/>
              <a:t>As important as it is </a:t>
            </a:r>
            <a:r>
              <a:rPr lang="en-US" sz="2400" dirty="0"/>
              <a:t>and often the primary guiding factor, it is not the sole </a:t>
            </a:r>
            <a:r>
              <a:rPr lang="en-US" sz="2400" dirty="0" smtClean="0"/>
              <a:t>element.</a:t>
            </a:r>
          </a:p>
          <a:p>
            <a:r>
              <a:rPr lang="en-US" sz="2400" dirty="0" smtClean="0"/>
              <a:t>Other </a:t>
            </a:r>
            <a:r>
              <a:rPr lang="en-US" sz="2400" dirty="0"/>
              <a:t>items </a:t>
            </a:r>
            <a:r>
              <a:rPr lang="en-US" sz="2400" dirty="0" smtClean="0"/>
              <a:t>include: </a:t>
            </a:r>
          </a:p>
          <a:p>
            <a:pPr lvl="1"/>
            <a:r>
              <a:rPr lang="en-US" sz="2400" dirty="0" smtClean="0"/>
              <a:t>security budget </a:t>
            </a:r>
          </a:p>
          <a:p>
            <a:pPr lvl="1"/>
            <a:r>
              <a:rPr lang="en-US" sz="2400" dirty="0" smtClean="0"/>
              <a:t>compatibility </a:t>
            </a:r>
            <a:r>
              <a:rPr lang="en-US" sz="2400" dirty="0"/>
              <a:t>with existing </a:t>
            </a:r>
            <a:r>
              <a:rPr lang="en-US" sz="2400" dirty="0" smtClean="0"/>
              <a:t>systems </a:t>
            </a:r>
          </a:p>
          <a:p>
            <a:pPr lvl="1"/>
            <a:r>
              <a:rPr lang="en-US" sz="2400" dirty="0" smtClean="0"/>
              <a:t>skill/knowledge </a:t>
            </a:r>
            <a:r>
              <a:rPr lang="en-US" sz="2400" dirty="0"/>
              <a:t>base of IT </a:t>
            </a:r>
            <a:r>
              <a:rPr lang="en-US" sz="2400" dirty="0" smtClean="0"/>
              <a:t>staff </a:t>
            </a:r>
          </a:p>
          <a:p>
            <a:pPr lvl="1"/>
            <a:r>
              <a:rPr lang="en-US" sz="2400" dirty="0" smtClean="0"/>
              <a:t>availability </a:t>
            </a:r>
            <a:r>
              <a:rPr lang="en-US" sz="2400" dirty="0"/>
              <a:t>of product </a:t>
            </a:r>
            <a:endParaRPr lang="en-US" sz="2400" dirty="0" smtClean="0"/>
          </a:p>
          <a:p>
            <a:pPr lvl="1"/>
            <a:r>
              <a:rPr lang="en-US" sz="2400" dirty="0" smtClean="0"/>
              <a:t>political issues </a:t>
            </a:r>
          </a:p>
          <a:p>
            <a:pPr lvl="1"/>
            <a:r>
              <a:rPr lang="en-US" sz="2400" dirty="0" smtClean="0"/>
              <a:t>partnerships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487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Qualitative Risk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Qualitative risk analysis is more scenario based than it is calculator based. Rather than </a:t>
            </a:r>
            <a:r>
              <a:rPr lang="en-US" sz="2800" dirty="0" smtClean="0"/>
              <a:t>assigning exact pounds or Euros to </a:t>
            </a:r>
            <a:r>
              <a:rPr lang="en-US" sz="2800" dirty="0"/>
              <a:t>possible losses, you rank threats on a scale to evaluate their </a:t>
            </a:r>
            <a:r>
              <a:rPr lang="en-US" sz="2800" dirty="0" smtClean="0"/>
              <a:t>risks, costs</a:t>
            </a:r>
            <a:r>
              <a:rPr lang="en-US" sz="2800" dirty="0"/>
              <a:t>, and effects. </a:t>
            </a:r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purely quantitative risk assessment is not </a:t>
            </a:r>
            <a:r>
              <a:rPr lang="en-US" sz="2800" dirty="0" smtClean="0"/>
              <a:t>advisable, </a:t>
            </a:r>
            <a:r>
              <a:rPr lang="en-US" sz="2800" dirty="0"/>
              <a:t>balancing </a:t>
            </a:r>
            <a:r>
              <a:rPr lang="en-US" sz="2800" dirty="0" smtClean="0"/>
              <a:t>the results </a:t>
            </a:r>
            <a:r>
              <a:rPr lang="en-US" sz="2800" dirty="0"/>
              <a:t>of a </a:t>
            </a:r>
            <a:r>
              <a:rPr lang="en-US" sz="2800" dirty="0" smtClean="0"/>
              <a:t>qualitative analysis </a:t>
            </a:r>
            <a:r>
              <a:rPr lang="en-US" sz="2800" dirty="0"/>
              <a:t>is </a:t>
            </a:r>
            <a:r>
              <a:rPr lang="en-US" sz="2800" dirty="0" smtClean="0"/>
              <a:t>desirable. </a:t>
            </a:r>
          </a:p>
          <a:p>
            <a:pPr lvl="1"/>
            <a:r>
              <a:rPr lang="en-US" sz="2000" dirty="0" smtClean="0"/>
              <a:t>known </a:t>
            </a:r>
            <a:r>
              <a:rPr lang="en-US" sz="2000" dirty="0"/>
              <a:t>as hybrid assessment </a:t>
            </a:r>
            <a:r>
              <a:rPr lang="en-US" sz="2000" dirty="0" smtClean="0"/>
              <a:t>or hybrid </a:t>
            </a:r>
            <a:r>
              <a:rPr lang="en-US" sz="2000" dirty="0"/>
              <a:t>analysis. </a:t>
            </a:r>
            <a:endParaRPr lang="en-US" sz="20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process of performing qualitative risk analysis involves judgment, </a:t>
            </a:r>
            <a:r>
              <a:rPr lang="en-US" sz="2800" dirty="0" smtClean="0"/>
              <a:t>intuition, and </a:t>
            </a:r>
            <a:r>
              <a:rPr lang="en-US" sz="2800" dirty="0"/>
              <a:t>experience.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4235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Qualitative Techniques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Brainstorming</a:t>
            </a:r>
          </a:p>
          <a:p>
            <a:r>
              <a:rPr lang="en-GB" sz="2400" dirty="0" smtClean="0"/>
              <a:t>Storyboarding</a:t>
            </a:r>
            <a:endParaRPr lang="en-GB" sz="2400" dirty="0"/>
          </a:p>
          <a:p>
            <a:r>
              <a:rPr lang="en-GB" sz="2400" dirty="0" smtClean="0"/>
              <a:t>Focus </a:t>
            </a:r>
            <a:r>
              <a:rPr lang="en-GB" sz="2400" dirty="0"/>
              <a:t>groups</a:t>
            </a:r>
          </a:p>
          <a:p>
            <a:r>
              <a:rPr lang="en-GB" sz="2400" dirty="0" smtClean="0"/>
              <a:t>Surveys</a:t>
            </a:r>
            <a:endParaRPr lang="en-GB" sz="2400" dirty="0"/>
          </a:p>
          <a:p>
            <a:r>
              <a:rPr lang="en-GB" sz="2400" dirty="0" smtClean="0"/>
              <a:t>Questionnaires</a:t>
            </a:r>
            <a:endParaRPr lang="en-GB" sz="2400" dirty="0"/>
          </a:p>
          <a:p>
            <a:r>
              <a:rPr lang="en-GB" sz="2400" dirty="0" smtClean="0"/>
              <a:t>Checklists</a:t>
            </a:r>
            <a:endParaRPr lang="en-GB" sz="2400" dirty="0"/>
          </a:p>
          <a:p>
            <a:r>
              <a:rPr lang="en-GB" sz="2400" dirty="0" smtClean="0"/>
              <a:t>One-on-one </a:t>
            </a:r>
            <a:r>
              <a:rPr lang="en-GB" sz="2400" dirty="0"/>
              <a:t>meetings</a:t>
            </a:r>
          </a:p>
          <a:p>
            <a:r>
              <a:rPr lang="en-GB" sz="2400" dirty="0" smtClean="0"/>
              <a:t>Interviews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3061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The basic process for all these mechanisms involves the creation of scenarios. </a:t>
            </a:r>
            <a:endParaRPr lang="en-US" sz="2000" dirty="0" smtClean="0"/>
          </a:p>
          <a:p>
            <a:r>
              <a:rPr lang="en-US" sz="2000" dirty="0" smtClean="0"/>
              <a:t>A scenario is </a:t>
            </a:r>
            <a:r>
              <a:rPr lang="en-US" sz="2000" dirty="0"/>
              <a:t>a written description of a single major threat. The description focuses on how a </a:t>
            </a:r>
            <a:r>
              <a:rPr lang="en-US" sz="2000" dirty="0" smtClean="0"/>
              <a:t>threat would </a:t>
            </a:r>
            <a:r>
              <a:rPr lang="en-US" sz="2000" dirty="0"/>
              <a:t>be instigated and what effects its occurrence could have on the </a:t>
            </a:r>
            <a:endParaRPr lang="en-US" sz="2000" dirty="0" smtClean="0"/>
          </a:p>
          <a:p>
            <a:pPr lvl="1"/>
            <a:r>
              <a:rPr lang="en-US" sz="1600" dirty="0" smtClean="0"/>
              <a:t>organization</a:t>
            </a:r>
            <a:r>
              <a:rPr lang="en-US" sz="1600" dirty="0"/>
              <a:t>, </a:t>
            </a:r>
            <a:endParaRPr lang="en-US" sz="1600" dirty="0" smtClean="0"/>
          </a:p>
          <a:p>
            <a:pPr lvl="1"/>
            <a:r>
              <a:rPr lang="en-US" sz="1600" dirty="0" smtClean="0"/>
              <a:t>IT infrastructure</a:t>
            </a:r>
            <a:r>
              <a:rPr lang="en-US" sz="1600" dirty="0"/>
              <a:t>, </a:t>
            </a:r>
            <a:endParaRPr lang="en-US" sz="1600" dirty="0" smtClean="0"/>
          </a:p>
          <a:p>
            <a:pPr lvl="1"/>
            <a:r>
              <a:rPr lang="en-US" sz="1600" dirty="0"/>
              <a:t>S</a:t>
            </a:r>
            <a:r>
              <a:rPr lang="en-US" sz="1600" dirty="0" smtClean="0"/>
              <a:t>pecific </a:t>
            </a:r>
            <a:r>
              <a:rPr lang="en-US" sz="1600" dirty="0"/>
              <a:t>assets. </a:t>
            </a:r>
            <a:endParaRPr lang="en-US" sz="1600" dirty="0" smtClean="0"/>
          </a:p>
          <a:p>
            <a:r>
              <a:rPr lang="en-US" sz="2000" dirty="0" smtClean="0"/>
              <a:t>Generally</a:t>
            </a:r>
            <a:r>
              <a:rPr lang="en-US" sz="2000" dirty="0"/>
              <a:t>, the scenarios are limited to one page of </a:t>
            </a:r>
            <a:r>
              <a:rPr lang="en-US" sz="2000" dirty="0" smtClean="0"/>
              <a:t>text to </a:t>
            </a:r>
            <a:r>
              <a:rPr lang="en-US" sz="2000" dirty="0"/>
              <a:t>keep them manageable. </a:t>
            </a:r>
            <a:endParaRPr lang="en-US" sz="2000" dirty="0" smtClean="0"/>
          </a:p>
          <a:p>
            <a:r>
              <a:rPr lang="en-US" sz="2000" dirty="0" smtClean="0"/>
              <a:t>For </a:t>
            </a:r>
            <a:r>
              <a:rPr lang="en-US" sz="2000" dirty="0"/>
              <a:t>each scenario, one or more safeguards are described </a:t>
            </a:r>
            <a:r>
              <a:rPr lang="en-US" sz="2000" dirty="0" smtClean="0"/>
              <a:t>that would </a:t>
            </a:r>
            <a:r>
              <a:rPr lang="en-US" sz="2000" dirty="0"/>
              <a:t>completely or partially protect against the major threat discussed in the </a:t>
            </a:r>
            <a:r>
              <a:rPr lang="en-US" sz="2000" dirty="0" smtClean="0"/>
              <a:t>scenario.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6201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analysis participants then assign to the scenario a threat level, a loss potential, </a:t>
            </a:r>
            <a:r>
              <a:rPr lang="en-US" dirty="0" smtClean="0"/>
              <a:t>and the </a:t>
            </a:r>
            <a:r>
              <a:rPr lang="en-US" dirty="0"/>
              <a:t>advantages of each </a:t>
            </a:r>
            <a:r>
              <a:rPr lang="en-US" dirty="0" smtClean="0"/>
              <a:t>safeguard.</a:t>
            </a:r>
          </a:p>
          <a:p>
            <a:r>
              <a:rPr lang="en-US" dirty="0" smtClean="0"/>
              <a:t>These </a:t>
            </a:r>
            <a:r>
              <a:rPr lang="en-US" dirty="0"/>
              <a:t>assignments can be </a:t>
            </a:r>
            <a:r>
              <a:rPr lang="en-US" dirty="0" smtClean="0"/>
              <a:t>simple:</a:t>
            </a:r>
          </a:p>
          <a:p>
            <a:pPr lvl="1"/>
            <a:r>
              <a:rPr lang="en-US" dirty="0" smtClean="0"/>
              <a:t>High</a:t>
            </a:r>
            <a:r>
              <a:rPr lang="en-US" dirty="0"/>
              <a:t>, Medium, and Low </a:t>
            </a:r>
            <a:endParaRPr lang="en-US" dirty="0" smtClean="0"/>
          </a:p>
          <a:p>
            <a:pPr lvl="1"/>
            <a:r>
              <a:rPr lang="en-US" dirty="0" smtClean="0"/>
              <a:t>or </a:t>
            </a:r>
            <a:r>
              <a:rPr lang="en-US" dirty="0"/>
              <a:t>a basic number scale of 1 to </a:t>
            </a:r>
            <a:r>
              <a:rPr lang="en-US" dirty="0" smtClean="0"/>
              <a:t>10</a:t>
            </a:r>
          </a:p>
          <a:p>
            <a:pPr lvl="1"/>
            <a:r>
              <a:rPr lang="en-US" dirty="0" smtClean="0"/>
              <a:t>or </a:t>
            </a:r>
            <a:r>
              <a:rPr lang="en-US" dirty="0"/>
              <a:t>they can be detailed </a:t>
            </a:r>
            <a:r>
              <a:rPr lang="en-US" dirty="0" smtClean="0"/>
              <a:t>essay responses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responses from all participants are then compiled into a single report </a:t>
            </a:r>
            <a:r>
              <a:rPr lang="en-US" dirty="0" smtClean="0"/>
              <a:t>that is </a:t>
            </a:r>
            <a:r>
              <a:rPr lang="en-US" dirty="0"/>
              <a:t>presented to upper management.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201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Assignment/Acceptance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of risk analysis are many:</a:t>
            </a:r>
          </a:p>
          <a:p>
            <a:pPr lvl="1"/>
            <a:r>
              <a:rPr lang="en-US" dirty="0" smtClean="0"/>
              <a:t>Complete </a:t>
            </a:r>
            <a:r>
              <a:rPr lang="en-US" dirty="0"/>
              <a:t>and detailed valuation of all assets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exhaustive list of all threats and risks, rate </a:t>
            </a:r>
            <a:r>
              <a:rPr lang="en-US" dirty="0" smtClean="0"/>
              <a:t>of occurrence</a:t>
            </a:r>
            <a:r>
              <a:rPr lang="en-US" dirty="0"/>
              <a:t>, and extent of loss if </a:t>
            </a:r>
            <a:r>
              <a:rPr lang="en-US" dirty="0" smtClean="0"/>
              <a:t>realised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list of threat-specific safeguards and countermeasures that identifies their </a:t>
            </a:r>
            <a:r>
              <a:rPr lang="en-US" dirty="0" smtClean="0"/>
              <a:t>effectiveness and </a:t>
            </a:r>
            <a:r>
              <a:rPr lang="en-US" dirty="0"/>
              <a:t>ALE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cost/benefit analysis of each safeguard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63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Assignment/Acceptance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270" y="1383957"/>
            <a:ext cx="11121080" cy="4302340"/>
          </a:xfrm>
        </p:spPr>
        <p:txBody>
          <a:bodyPr/>
          <a:lstStyle/>
          <a:p>
            <a:r>
              <a:rPr lang="en-US" dirty="0"/>
              <a:t>This information is essential for management to make educated, intelligent </a:t>
            </a:r>
            <a:r>
              <a:rPr lang="en-US" dirty="0" smtClean="0"/>
              <a:t>decisions about </a:t>
            </a:r>
            <a:r>
              <a:rPr lang="en-US" dirty="0"/>
              <a:t>safeguard implementation and security policy alterations.</a:t>
            </a:r>
          </a:p>
          <a:p>
            <a:r>
              <a:rPr lang="en-US" dirty="0"/>
              <a:t>Once the risk analysis is complete, management must address each </a:t>
            </a:r>
            <a:r>
              <a:rPr lang="en-US" dirty="0" smtClean="0"/>
              <a:t>specific </a:t>
            </a:r>
            <a:r>
              <a:rPr lang="en-US" dirty="0"/>
              <a:t>risk.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969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Responses </a:t>
            </a:r>
            <a:r>
              <a:rPr lang="en-US" dirty="0"/>
              <a:t>to risk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four possible responses to risk:</a:t>
            </a:r>
          </a:p>
          <a:p>
            <a:r>
              <a:rPr lang="en-US" dirty="0" smtClean="0"/>
              <a:t>Mitigate (or reduce)</a:t>
            </a:r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ransfer</a:t>
            </a:r>
            <a:endParaRPr lang="en-US" dirty="0"/>
          </a:p>
          <a:p>
            <a:r>
              <a:rPr lang="en-US" dirty="0"/>
              <a:t>Accept</a:t>
            </a:r>
          </a:p>
          <a:p>
            <a:r>
              <a:rPr lang="en-US" dirty="0" smtClean="0"/>
              <a:t>Reject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057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Mitigation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Risk mitigation </a:t>
            </a:r>
            <a:r>
              <a:rPr lang="en-US" sz="2000" dirty="0"/>
              <a:t>is the implementation of safeguards </a:t>
            </a:r>
            <a:r>
              <a:rPr lang="en-US" sz="2000" dirty="0" smtClean="0"/>
              <a:t>and countermeasures </a:t>
            </a:r>
            <a:r>
              <a:rPr lang="en-US" sz="2000" dirty="0"/>
              <a:t>to eliminate vulnerabilities or block threats. </a:t>
            </a:r>
            <a:endParaRPr lang="en-US" sz="2000" dirty="0" smtClean="0"/>
          </a:p>
          <a:p>
            <a:pPr lvl="1"/>
            <a:r>
              <a:rPr lang="en-US" sz="1600" dirty="0" smtClean="0"/>
              <a:t>Picking </a:t>
            </a:r>
            <a:r>
              <a:rPr lang="en-US" sz="1600" dirty="0"/>
              <a:t>the most cost-effective </a:t>
            </a:r>
            <a:r>
              <a:rPr lang="en-US" sz="1600" dirty="0" smtClean="0"/>
              <a:t>or beneficial </a:t>
            </a:r>
            <a:r>
              <a:rPr lang="en-US" sz="1600" dirty="0"/>
              <a:t>countermeasure is part of risk management, but it is not an element of risk assessment.</a:t>
            </a:r>
          </a:p>
          <a:p>
            <a:pPr lvl="1"/>
            <a:r>
              <a:rPr lang="en-US" sz="1600" dirty="0" smtClean="0"/>
              <a:t>Safeguard selection </a:t>
            </a:r>
            <a:r>
              <a:rPr lang="en-US" sz="1600" dirty="0"/>
              <a:t>is a post-risk-assessment or post-risk-analysis activity. </a:t>
            </a:r>
            <a:endParaRPr lang="en-US" sz="1600" dirty="0" smtClean="0"/>
          </a:p>
          <a:p>
            <a:r>
              <a:rPr lang="en-US" sz="2000" dirty="0" smtClean="0"/>
              <a:t>Another potential </a:t>
            </a:r>
            <a:r>
              <a:rPr lang="en-US" sz="2000" dirty="0"/>
              <a:t>variation of risk mitigation is risk avoidance.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risk is avoided by eliminating the </a:t>
            </a:r>
            <a:r>
              <a:rPr lang="en-US" sz="2000" dirty="0" smtClean="0"/>
              <a:t>risk cause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i="1" dirty="0" smtClean="0">
                <a:solidFill>
                  <a:srgbClr val="FF0000"/>
                </a:solidFill>
              </a:rPr>
              <a:t>A </a:t>
            </a:r>
            <a:r>
              <a:rPr lang="en-US" sz="2000" i="1" dirty="0">
                <a:solidFill>
                  <a:srgbClr val="FF0000"/>
                </a:solidFill>
              </a:rPr>
              <a:t>simple example is removing the FTP protocol from a server to avoid FTP </a:t>
            </a:r>
            <a:r>
              <a:rPr lang="en-US" sz="2000" i="1" dirty="0" smtClean="0">
                <a:solidFill>
                  <a:srgbClr val="FF0000"/>
                </a:solidFill>
              </a:rPr>
              <a:t>attacks</a:t>
            </a:r>
            <a:endParaRPr lang="en-GB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0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Assignment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ransferring </a:t>
            </a:r>
            <a:r>
              <a:rPr lang="en-US" dirty="0"/>
              <a:t>risk is the placement of the cost of loss </a:t>
            </a:r>
            <a:r>
              <a:rPr lang="en-US" dirty="0" smtClean="0"/>
              <a:t>a risk </a:t>
            </a:r>
            <a:r>
              <a:rPr lang="en-US" dirty="0"/>
              <a:t>represents onto another entity or </a:t>
            </a:r>
            <a:r>
              <a:rPr lang="en-US" dirty="0" smtClean="0"/>
              <a:t>organisation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Purchasing </a:t>
            </a:r>
            <a:r>
              <a:rPr lang="en-US" dirty="0"/>
              <a:t>insurance and </a:t>
            </a:r>
            <a:r>
              <a:rPr lang="en-US" dirty="0" smtClean="0"/>
              <a:t>outsourcing are </a:t>
            </a:r>
            <a:r>
              <a:rPr lang="en-US" dirty="0"/>
              <a:t>common forms of </a:t>
            </a:r>
            <a:r>
              <a:rPr lang="en-US" dirty="0" smtClean="0"/>
              <a:t>transferring </a:t>
            </a:r>
            <a:r>
              <a:rPr lang="en-US" dirty="0"/>
              <a:t>risk.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77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Acceptance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838" y="1192555"/>
            <a:ext cx="10956324" cy="4540979"/>
          </a:xfrm>
        </p:spPr>
        <p:txBody>
          <a:bodyPr/>
          <a:lstStyle/>
          <a:p>
            <a:r>
              <a:rPr lang="en-US" sz="2000" dirty="0" smtClean="0"/>
              <a:t>Accepting </a:t>
            </a:r>
            <a:r>
              <a:rPr lang="en-US" sz="2000" dirty="0"/>
              <a:t>risk, </a:t>
            </a:r>
            <a:r>
              <a:rPr lang="en-US" sz="2000" dirty="0" smtClean="0"/>
              <a:t>is </a:t>
            </a:r>
            <a:r>
              <a:rPr lang="en-US" sz="2000" dirty="0"/>
              <a:t>the valuation by management </a:t>
            </a:r>
            <a:r>
              <a:rPr lang="en-US" sz="2000" dirty="0" smtClean="0"/>
              <a:t>of the cost/benefit </a:t>
            </a:r>
            <a:r>
              <a:rPr lang="en-US" sz="2000" dirty="0"/>
              <a:t>analysis of possible safeguards and the determination that the cost </a:t>
            </a:r>
            <a:r>
              <a:rPr lang="en-US" sz="2000" dirty="0" smtClean="0"/>
              <a:t>outweighs </a:t>
            </a:r>
            <a:r>
              <a:rPr lang="en-US" sz="2000" dirty="0"/>
              <a:t>the possible cost of loss due to a risk. </a:t>
            </a:r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also means </a:t>
            </a:r>
            <a:r>
              <a:rPr lang="en-US" sz="2000" dirty="0" smtClean="0"/>
              <a:t>that management </a:t>
            </a:r>
            <a:r>
              <a:rPr lang="en-US" sz="2000" dirty="0"/>
              <a:t>has agreed to accept the consequences and the loss if the risk is </a:t>
            </a:r>
            <a:r>
              <a:rPr lang="en-US" sz="2000" dirty="0" smtClean="0"/>
              <a:t>realised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In most cases</a:t>
            </a:r>
            <a:r>
              <a:rPr lang="en-US" sz="2000" dirty="0"/>
              <a:t>, accepting risk requires a clearly written statement that indicates why a safeguard was </a:t>
            </a:r>
            <a:r>
              <a:rPr lang="en-US" sz="2000" dirty="0" smtClean="0"/>
              <a:t>not implemented</a:t>
            </a:r>
            <a:r>
              <a:rPr lang="en-US" sz="2000" dirty="0"/>
              <a:t>, who is responsible for the decision, and who will be responsible for the loss if </a:t>
            </a:r>
            <a:r>
              <a:rPr lang="en-US" sz="2000" dirty="0" smtClean="0"/>
              <a:t>the risk </a:t>
            </a:r>
            <a:r>
              <a:rPr lang="en-US" sz="2000" dirty="0"/>
              <a:t>is </a:t>
            </a:r>
            <a:r>
              <a:rPr lang="en-US" sz="2000" dirty="0" smtClean="0"/>
              <a:t>realised</a:t>
            </a:r>
          </a:p>
          <a:p>
            <a:pPr lvl="1"/>
            <a:r>
              <a:rPr lang="en-US" sz="1800" dirty="0" smtClean="0"/>
              <a:t>usually </a:t>
            </a:r>
            <a:r>
              <a:rPr lang="en-US" sz="1800" dirty="0"/>
              <a:t>in the form of a sign-off letter. </a:t>
            </a:r>
          </a:p>
          <a:p>
            <a:r>
              <a:rPr lang="en-US" sz="2000" dirty="0" smtClean="0"/>
              <a:t>An </a:t>
            </a:r>
            <a:r>
              <a:rPr lang="en-US" sz="2000" dirty="0"/>
              <a:t>organization’s decision to accept </a:t>
            </a:r>
            <a:r>
              <a:rPr lang="en-US" sz="2000" dirty="0" smtClean="0"/>
              <a:t>risk is </a:t>
            </a:r>
            <a:r>
              <a:rPr lang="en-US" sz="2000" dirty="0"/>
              <a:t>based on its risk tolerance. </a:t>
            </a:r>
            <a:endParaRPr lang="en-US" sz="2000" dirty="0" smtClean="0"/>
          </a:p>
          <a:p>
            <a:r>
              <a:rPr lang="en-US" sz="2000" dirty="0" smtClean="0"/>
              <a:t>Risk </a:t>
            </a:r>
            <a:r>
              <a:rPr lang="en-US" sz="2000" dirty="0"/>
              <a:t>tolerance is the ability of an organization to absorb the </a:t>
            </a:r>
            <a:r>
              <a:rPr lang="en-US" sz="2000" dirty="0" smtClean="0"/>
              <a:t>losses associated </a:t>
            </a:r>
            <a:r>
              <a:rPr lang="en-US" sz="2000" dirty="0"/>
              <a:t>with </a:t>
            </a:r>
            <a:r>
              <a:rPr lang="en-US" sz="2000" dirty="0" smtClean="0"/>
              <a:t>realised </a:t>
            </a:r>
            <a:r>
              <a:rPr lang="en-US" sz="2000" dirty="0"/>
              <a:t>risks.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is also known as risk tolerance or risk appetite.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795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Rejection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final </a:t>
            </a:r>
            <a:r>
              <a:rPr lang="en-US" dirty="0"/>
              <a:t>but unacceptable possible response to risk is to reject or </a:t>
            </a:r>
            <a:r>
              <a:rPr lang="en-US" dirty="0" smtClean="0"/>
              <a:t>ignore risk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Denying </a:t>
            </a:r>
            <a:r>
              <a:rPr lang="en-US" dirty="0"/>
              <a:t>that a risk exists and hoping that it will never be </a:t>
            </a:r>
            <a:r>
              <a:rPr lang="en-US" dirty="0" smtClean="0"/>
              <a:t>realised </a:t>
            </a:r>
            <a:r>
              <a:rPr lang="en-US" dirty="0"/>
              <a:t>are not valid </a:t>
            </a:r>
            <a:r>
              <a:rPr lang="en-US" dirty="0" smtClean="0"/>
              <a:t>or prudent </a:t>
            </a:r>
            <a:r>
              <a:rPr lang="en-US" dirty="0"/>
              <a:t>due-care responses to risk.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02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Risk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with risk management in general, handling risk is not a one-time process.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must be continually maintained and </a:t>
            </a:r>
            <a:r>
              <a:rPr lang="en-US" dirty="0" smtClean="0"/>
              <a:t>reaffirmed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R</a:t>
            </a:r>
            <a:r>
              <a:rPr lang="en-US" dirty="0" smtClean="0"/>
              <a:t>epeating </a:t>
            </a:r>
            <a:r>
              <a:rPr lang="en-US" dirty="0"/>
              <a:t>the risk </a:t>
            </a:r>
            <a:r>
              <a:rPr lang="en-US" dirty="0" smtClean="0"/>
              <a:t>assessment and </a:t>
            </a:r>
            <a:r>
              <a:rPr lang="en-US" dirty="0"/>
              <a:t>analysis process is a mechanism to assess the completeness and effectiveness </a:t>
            </a:r>
            <a:r>
              <a:rPr lang="en-US" dirty="0" smtClean="0"/>
              <a:t>of the </a:t>
            </a:r>
            <a:r>
              <a:rPr lang="en-US" dirty="0"/>
              <a:t>security program over time.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20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sz="5400" dirty="0" smtClean="0">
              <a:effectLst>
                <a:glow rad="1778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pPr marL="0" indent="0" algn="ctr">
              <a:buNone/>
            </a:pPr>
            <a:r>
              <a:rPr lang="en-GB" sz="8000" dirty="0" smtClean="0">
                <a:effectLst>
                  <a:glow rad="1778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Questions ?</a:t>
            </a:r>
            <a:endParaRPr lang="en-GB" sz="8000" dirty="0">
              <a:effectLst>
                <a:glow rad="1778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754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3739</Words>
  <Application>Microsoft Office PowerPoint</Application>
  <PresentationFormat>Widescreen</PresentationFormat>
  <Paragraphs>371</Paragraphs>
  <Slides>56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Courier New</vt:lpstr>
      <vt:lpstr>Georgia</vt:lpstr>
      <vt:lpstr>Times New Roman</vt:lpstr>
      <vt:lpstr>Default Design</vt:lpstr>
      <vt:lpstr>1_Default Design</vt:lpstr>
      <vt:lpstr>Lecture 4 – Risk</vt:lpstr>
      <vt:lpstr>Risk</vt:lpstr>
      <vt:lpstr>Risk</vt:lpstr>
      <vt:lpstr>Risk management</vt:lpstr>
      <vt:lpstr>Risk management</vt:lpstr>
      <vt:lpstr>Risk management</vt:lpstr>
      <vt:lpstr>Risk analysis</vt:lpstr>
      <vt:lpstr>Risk Terminology</vt:lpstr>
      <vt:lpstr>Risk Terminology</vt:lpstr>
      <vt:lpstr>Risk Terminology</vt:lpstr>
      <vt:lpstr>Risk Terminology</vt:lpstr>
      <vt:lpstr>Risk Terminology</vt:lpstr>
      <vt:lpstr>Risk Terminology</vt:lpstr>
      <vt:lpstr>PowerPoint Presentation</vt:lpstr>
      <vt:lpstr>Identify Threats and Vulnerabilities</vt:lpstr>
      <vt:lpstr>PowerPoint Presentation</vt:lpstr>
      <vt:lpstr>Risk Assessment/Analysis</vt:lpstr>
      <vt:lpstr>Risk Assessment/Analysis</vt:lpstr>
      <vt:lpstr>Risk Assessment/Analysis</vt:lpstr>
      <vt:lpstr>Risk Assessment/Analysis</vt:lpstr>
      <vt:lpstr>Quantitative Risk Analysis </vt:lpstr>
      <vt:lpstr>Quantitative Risk Analysis</vt:lpstr>
      <vt:lpstr>PowerPoint Presentation</vt:lpstr>
      <vt:lpstr>PowerPoint Presentation</vt:lpstr>
      <vt:lpstr>Risk Assessment/Analysis</vt:lpstr>
      <vt:lpstr>Cost functions </vt:lpstr>
      <vt:lpstr>Exposure Factor (EF)</vt:lpstr>
      <vt:lpstr>Single Loss Expectancy (SLE)</vt:lpstr>
      <vt:lpstr>Single Loss Expectancy (SLE)</vt:lpstr>
      <vt:lpstr>Annualised Rate of Occurrence (ARO)</vt:lpstr>
      <vt:lpstr>Annualised Loss Expectancy (ALE)</vt:lpstr>
      <vt:lpstr>Annualised Loss Expectancy (ALE)</vt:lpstr>
      <vt:lpstr>Safeguards</vt:lpstr>
      <vt:lpstr>EF with Safeguard</vt:lpstr>
      <vt:lpstr>ARO with Safeguard</vt:lpstr>
      <vt:lpstr>Safeguard Costs</vt:lpstr>
      <vt:lpstr>Safeguard Costs</vt:lpstr>
      <vt:lpstr>Factors to consider</vt:lpstr>
      <vt:lpstr>Safeguard Cost/Benefit</vt:lpstr>
      <vt:lpstr>Safeguard Cost/Benefit</vt:lpstr>
      <vt:lpstr>PowerPoint Presentation</vt:lpstr>
      <vt:lpstr>Cost/Benefit</vt:lpstr>
      <vt:lpstr>Cost/Benefit …but..</vt:lpstr>
      <vt:lpstr>Qualitative Risk Analysis</vt:lpstr>
      <vt:lpstr>Qualitative Techniques</vt:lpstr>
      <vt:lpstr>Scenarios</vt:lpstr>
      <vt:lpstr>Scenarios</vt:lpstr>
      <vt:lpstr>Risk Assignment/Acceptance</vt:lpstr>
      <vt:lpstr>Risk Assignment/Acceptance</vt:lpstr>
      <vt:lpstr>Responses to risk</vt:lpstr>
      <vt:lpstr>Risk Mitigation</vt:lpstr>
      <vt:lpstr>Risk Assignment</vt:lpstr>
      <vt:lpstr>Risk Acceptance</vt:lpstr>
      <vt:lpstr>Risk Rejection</vt:lpstr>
      <vt:lpstr>Risk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Governance</dc:title>
  <dc:creator>Nigel Houlden</dc:creator>
  <cp:lastModifiedBy>Nigel Houlden</cp:lastModifiedBy>
  <cp:revision>100</cp:revision>
  <dcterms:created xsi:type="dcterms:W3CDTF">2019-01-03T16:39:29Z</dcterms:created>
  <dcterms:modified xsi:type="dcterms:W3CDTF">2019-09-19T09:42:13Z</dcterms:modified>
</cp:coreProperties>
</file>