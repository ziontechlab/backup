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36"/>
  </p:notesMasterIdLst>
  <p:sldIdLst>
    <p:sldId id="288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2" r:id="rId11"/>
    <p:sldId id="266" r:id="rId12"/>
    <p:sldId id="267" r:id="rId13"/>
    <p:sldId id="261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E8D928-7216-4829-A501-0E991346B9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7954C881-B566-4B80-833C-B65377579F88}">
      <dgm:prSet/>
      <dgm:spPr/>
      <dgm:t>
        <a:bodyPr/>
        <a:lstStyle/>
        <a:p>
          <a:pPr algn="ctr" rtl="0"/>
          <a:r>
            <a:rPr lang="en-GB" dirty="0" smtClean="0"/>
            <a:t>Questions?</a:t>
          </a:r>
          <a:endParaRPr lang="en-GB" dirty="0"/>
        </a:p>
      </dgm:t>
    </dgm:pt>
    <dgm:pt modelId="{1116499E-AE0A-41E4-ACA5-5128BC8B6AF9}" type="parTrans" cxnId="{15C4DD5A-DD03-4D83-BD9B-CC12B57BFE78}">
      <dgm:prSet/>
      <dgm:spPr/>
      <dgm:t>
        <a:bodyPr/>
        <a:lstStyle/>
        <a:p>
          <a:endParaRPr lang="en-GB"/>
        </a:p>
      </dgm:t>
    </dgm:pt>
    <dgm:pt modelId="{D75D494B-1F4E-4F29-AF5D-80A9047A6622}" type="sibTrans" cxnId="{15C4DD5A-DD03-4D83-BD9B-CC12B57BFE78}">
      <dgm:prSet/>
      <dgm:spPr/>
      <dgm:t>
        <a:bodyPr/>
        <a:lstStyle/>
        <a:p>
          <a:endParaRPr lang="en-GB"/>
        </a:p>
      </dgm:t>
    </dgm:pt>
    <dgm:pt modelId="{108C4DD0-6B72-442C-89BB-FAEC7E68700B}" type="pres">
      <dgm:prSet presAssocID="{E4E8D928-7216-4829-A501-0E991346B9F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775A0574-FC57-443E-9284-0EE25D82033F}" type="pres">
      <dgm:prSet presAssocID="{7954C881-B566-4B80-833C-B65377579F8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15C4DD5A-DD03-4D83-BD9B-CC12B57BFE78}" srcId="{E4E8D928-7216-4829-A501-0E991346B9F0}" destId="{7954C881-B566-4B80-833C-B65377579F88}" srcOrd="0" destOrd="0" parTransId="{1116499E-AE0A-41E4-ACA5-5128BC8B6AF9}" sibTransId="{D75D494B-1F4E-4F29-AF5D-80A9047A6622}"/>
    <dgm:cxn modelId="{870FA072-9064-443C-A850-F348191BABB4}" type="presOf" srcId="{7954C881-B566-4B80-833C-B65377579F88}" destId="{775A0574-FC57-443E-9284-0EE25D82033F}" srcOrd="0" destOrd="0" presId="urn:microsoft.com/office/officeart/2005/8/layout/vList2"/>
    <dgm:cxn modelId="{AAF0FF6A-6419-46EB-9EE3-F2BE62E7380D}" type="presOf" srcId="{E4E8D928-7216-4829-A501-0E991346B9F0}" destId="{108C4DD0-6B72-442C-89BB-FAEC7E68700B}" srcOrd="0" destOrd="0" presId="urn:microsoft.com/office/officeart/2005/8/layout/vList2"/>
    <dgm:cxn modelId="{7D245F05-1806-4BA1-9FBE-C6F6A12408C1}" type="presParOf" srcId="{108C4DD0-6B72-442C-89BB-FAEC7E68700B}" destId="{775A0574-FC57-443E-9284-0EE25D82033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A0574-FC57-443E-9284-0EE25D82033F}">
      <dsp:nvSpPr>
        <dsp:cNvPr id="0" name=""/>
        <dsp:cNvSpPr/>
      </dsp:nvSpPr>
      <dsp:spPr>
        <a:xfrm>
          <a:off x="0" y="1296900"/>
          <a:ext cx="10363200" cy="152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6500" kern="1200" dirty="0" smtClean="0"/>
            <a:t>Questions?</a:t>
          </a:r>
          <a:endParaRPr lang="en-GB" sz="6500" kern="1200" dirty="0"/>
        </a:p>
      </dsp:txBody>
      <dsp:txXfrm>
        <a:off x="74249" y="1371149"/>
        <a:ext cx="10214702" cy="13725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060A3-FB1B-4612-AEDE-6ADD6DDA353C}" type="datetimeFigureOut">
              <a:rPr lang="en-GB" smtClean="0"/>
              <a:t>08/10/2019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05C81-F1E5-4552-890E-CDE7C03957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2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1E9B611-79A5-4063-8624-6013F60C0F92}" type="slidenum">
              <a:rPr lang="en-GB" alt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GB" altLang="en-US" sz="12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284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475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484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747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18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92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311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954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225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876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293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607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829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A7DEB1-D7C8-3B49-8A71-75AFCE089D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083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943514"/>
      </p:ext>
    </p:extLst>
  </p:cSld>
  <p:clrMapOvr>
    <a:masterClrMapping/>
  </p:clrMapOvr>
  <p:transition advTm="5000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143934" y="5732463"/>
            <a:ext cx="140134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c</a:t>
            </a: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@</a:t>
            </a:r>
            <a:r>
              <a:rPr kumimoji="0" lang="en-GB" sz="6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744653"/>
      </p:ext>
    </p:extLst>
  </p:cSld>
  <p:clrMapOvr>
    <a:masterClrMapping/>
  </p:clrMapOvr>
  <p:transition advTm="5000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115272"/>
      </p:ext>
    </p:extLst>
  </p:cSld>
  <p:clrMapOvr>
    <a:masterClrMapping/>
  </p:clrMapOvr>
  <p:transition advTm="5000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475998"/>
      </p:ext>
    </p:extLst>
  </p:cSld>
  <p:clrMapOvr>
    <a:masterClrMapping/>
  </p:clrMapOvr>
  <p:transition advTm="5000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001944"/>
      </p:ext>
    </p:extLst>
  </p:cSld>
  <p:clrMapOvr>
    <a:masterClrMapping/>
  </p:clrMapOvr>
  <p:transition advTm="5000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327284"/>
      </p:ext>
    </p:extLst>
  </p:cSld>
  <p:clrMapOvr>
    <a:masterClrMapping/>
  </p:clrMapOvr>
  <p:transition advTm="5000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63496"/>
      </p:ext>
    </p:extLst>
  </p:cSld>
  <p:clrMapOvr>
    <a:masterClrMapping/>
  </p:clrMapOvr>
  <p:transition advTm="5000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178046"/>
      </p:ext>
    </p:extLst>
  </p:cSld>
  <p:clrMapOvr>
    <a:masterClrMapping/>
  </p:clrMapOvr>
  <p:transition advTm="5000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747359"/>
      </p:ext>
    </p:extLst>
  </p:cSld>
  <p:clrMapOvr>
    <a:masterClrMapping/>
  </p:clrMapOvr>
  <p:transition advTm="5000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859964"/>
      </p:ext>
    </p:extLst>
  </p:cSld>
  <p:clrMapOvr>
    <a:masterClrMapping/>
  </p:clrMapOvr>
  <p:transition advTm="5000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713520"/>
      </p:ext>
    </p:extLst>
  </p:cSld>
  <p:clrMapOvr>
    <a:masterClrMapping/>
  </p:clrMapOvr>
  <p:transition advTm="5000"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212226"/>
      </p:ext>
    </p:extLst>
  </p:cSld>
  <p:clrMapOvr>
    <a:masterClrMapping/>
  </p:clrMapOvr>
  <p:transition advTm="5000"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2875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357313"/>
            <a:ext cx="103632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496306"/>
      </p:ext>
    </p:extLst>
  </p:cSld>
  <p:clrMapOvr>
    <a:masterClrMapping/>
  </p:clrMapOvr>
  <p:transition advTm="5000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44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EEE6291-FC66-4C7E-B805-791E609FC7B6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884234"/>
      </p:ext>
    </p:extLst>
  </p:cSld>
  <p:clrMapOvr>
    <a:masterClrMapping/>
  </p:clrMapOvr>
  <p:transition advTm="5000">
    <p:dissolv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143934" y="5732463"/>
            <a:ext cx="140134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6000" smtClean="0">
                <a:solidFill>
                  <a:srgbClr val="FFFFFF"/>
                </a:solidFill>
                <a:latin typeface="Georgia" pitchFamily="18" charset="0"/>
              </a:rPr>
              <a:t>c</a:t>
            </a:r>
            <a:r>
              <a:rPr lang="en-GB" sz="4000" smtClean="0">
                <a:solidFill>
                  <a:srgbClr val="FFFFFF"/>
                </a:solidFill>
                <a:latin typeface="Georgia" pitchFamily="18" charset="0"/>
              </a:rPr>
              <a:t>@</a:t>
            </a:r>
            <a:r>
              <a:rPr lang="en-GB" sz="6000" smtClean="0">
                <a:solidFill>
                  <a:srgbClr val="FFFFFF"/>
                </a:solidFill>
                <a:latin typeface="Georgia" pitchFamily="18" charset="0"/>
              </a:rPr>
              <a:t>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FCC69CA-3F23-44CA-945B-0FA4477283F4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924111"/>
      </p:ext>
    </p:extLst>
  </p:cSld>
  <p:clrMapOvr>
    <a:masterClrMapping/>
  </p:clrMapOvr>
  <p:transition advTm="5000">
    <p:dissolv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1377758-8C37-4DF1-97AB-37A77D625D27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357982"/>
      </p:ext>
    </p:extLst>
  </p:cSld>
  <p:clrMapOvr>
    <a:masterClrMapping/>
  </p:clrMapOvr>
  <p:transition advTm="5000">
    <p:dissolv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AFDF3D6-0B4F-41BB-A2E9-5EE288C12E7D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542607"/>
      </p:ext>
    </p:extLst>
  </p:cSld>
  <p:clrMapOvr>
    <a:masterClrMapping/>
  </p:clrMapOvr>
  <p:transition advTm="5000">
    <p:dissolv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4005AFC-2604-42A5-BE75-ACBC63D550FA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871249"/>
      </p:ext>
    </p:extLst>
  </p:cSld>
  <p:clrMapOvr>
    <a:masterClrMapping/>
  </p:clrMapOvr>
  <p:transition advTm="5000">
    <p:dissolv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1E6357F-E285-4B03-9226-48D613FBC574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184440"/>
      </p:ext>
    </p:extLst>
  </p:cSld>
  <p:clrMapOvr>
    <a:masterClrMapping/>
  </p:clrMapOvr>
  <p:transition advTm="5000">
    <p:dissolv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15E10C-CC7A-417A-A2EE-23A0EFFC8E4D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773846"/>
      </p:ext>
    </p:extLst>
  </p:cSld>
  <p:clrMapOvr>
    <a:masterClrMapping/>
  </p:clrMapOvr>
  <p:transition advTm="5000">
    <p:dissolv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09E4A2D-E46C-4766-8C2E-027EBC5B508C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92917"/>
      </p:ext>
    </p:extLst>
  </p:cSld>
  <p:clrMapOvr>
    <a:masterClrMapping/>
  </p:clrMapOvr>
  <p:transition advTm="5000">
    <p:dissolv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37E9A74-7737-4008-93AE-82F7F5FA4879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760874"/>
      </p:ext>
    </p:extLst>
  </p:cSld>
  <p:clrMapOvr>
    <a:masterClrMapping/>
  </p:clrMapOvr>
  <p:transition advTm="5000">
    <p:dissolv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8B50079-DBA3-4EC3-9B8C-5C8B3B58FB43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090057"/>
      </p:ext>
    </p:extLst>
  </p:cSld>
  <p:clrMapOvr>
    <a:masterClrMapping/>
  </p:clrMapOvr>
  <p:transition advTm="5000">
    <p:dissolv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45E8AE7-88A0-4549-A1EA-61CBAAEBA1F3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88469"/>
      </p:ext>
    </p:extLst>
  </p:cSld>
  <p:clrMapOvr>
    <a:masterClrMapping/>
  </p:clrMapOvr>
  <p:transition advTm="5000">
    <p:dissolv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3B7A2F1-7C63-4914-A25E-31B95FAF134D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89248"/>
      </p:ext>
    </p:extLst>
  </p:cSld>
  <p:clrMapOvr>
    <a:masterClrMapping/>
  </p:clrMapOvr>
  <p:transition advTm="5000">
    <p:dissolv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2875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357313"/>
            <a:ext cx="103632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58EA372-0C85-4E5C-A78F-2E1B1B18CAB2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910835"/>
      </p:ext>
    </p:extLst>
  </p:cSld>
  <p:clrMapOvr>
    <a:masterClrMapping/>
  </p:clrMapOvr>
  <p:transition advTm="5000">
    <p:dissolv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7DD356B-E5CD-44F2-850A-F898D624950E}" type="datetime1">
              <a:rPr lang="en-US" smtClean="0">
                <a:solidFill>
                  <a:srgbClr val="000000"/>
                </a:solidFill>
                <a:latin typeface="Arial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10/8/2019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latin typeface="Arial"/>
              </a:rPr>
              <a:t>From Security in Computing, Fifth Edition, by Charles P. Pfleeger, et al. (ISBN: 9780134085043). Copyright 2015 by Pearson Education, Inc. All rights reserved.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D01F0F2-74A4-EF40-82B3-DFFDF0BA3880}" type="slidenum">
              <a:rPr lang="en-US" smtClean="0">
                <a:solidFill>
                  <a:srgbClr val="000000"/>
                </a:solidFill>
                <a:latin typeface="Arial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320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42875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573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4D1ED90-0827-4CB6-B597-69384EBF957E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7" y="4868864"/>
            <a:ext cx="12194117" cy="198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80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advTm="5000">
    <p:dissolv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42875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573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4D1ED90-0827-4CB6-B597-69384EBF957E}" type="slidenum">
              <a:rPr lang="en-GB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en-US">
              <a:solidFill>
                <a:srgbClr val="000000"/>
              </a:solidFill>
            </a:endParaRPr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7" y="4868864"/>
            <a:ext cx="12194117" cy="198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39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ransition advTm="5000">
    <p:dissolve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631950" y="869950"/>
            <a:ext cx="8928100" cy="1728788"/>
          </a:xfrm>
        </p:spPr>
        <p:txBody>
          <a:bodyPr/>
          <a:lstStyle/>
          <a:p>
            <a:pPr algn="r"/>
            <a:r>
              <a:rPr lang="en-US" altLang="en-US" sz="5400" dirty="0">
                <a:latin typeface="Georgia" panose="02040502050405020303" pitchFamily="18" charset="0"/>
              </a:rPr>
              <a:t>Lecture </a:t>
            </a:r>
            <a:r>
              <a:rPr lang="en-US" altLang="en-US" sz="5400" dirty="0" smtClean="0">
                <a:latin typeface="Georgia" panose="02040502050405020303" pitchFamily="18" charset="0"/>
              </a:rPr>
              <a:t>2 </a:t>
            </a:r>
            <a:r>
              <a:rPr lang="en-US" altLang="en-US" sz="5400" dirty="0">
                <a:latin typeface="Georgia" panose="02040502050405020303" pitchFamily="18" charset="0"/>
              </a:rPr>
              <a:t>– </a:t>
            </a:r>
            <a:r>
              <a:rPr lang="en-GB" sz="5400" dirty="0"/>
              <a:t>Security Governance</a:t>
            </a:r>
            <a:endParaRPr lang="en-GB" altLang="en-US" sz="5400" dirty="0">
              <a:latin typeface="Georgia" panose="02040502050405020303" pitchFamily="18" charset="0"/>
            </a:endParaRPr>
          </a:p>
        </p:txBody>
      </p:sp>
      <p:sp>
        <p:nvSpPr>
          <p:cNvPr id="6147" name="TextBox 3"/>
          <p:cNvSpPr txBox="1">
            <a:spLocks noChangeArrowheads="1"/>
          </p:cNvSpPr>
          <p:nvPr/>
        </p:nvSpPr>
        <p:spPr bwMode="auto">
          <a:xfrm>
            <a:off x="1393052" y="2714626"/>
            <a:ext cx="8928100" cy="213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9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COM744: Security and Risk Management</a:t>
            </a:r>
            <a:endParaRPr lang="en-GB" altLang="en-US" sz="19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9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Nigel Houlden / Denise Oram </a:t>
            </a:r>
            <a:endParaRPr lang="en-GB" altLang="en-US" sz="19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2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2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2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7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n.houlden@glyndwr.ac.uk / d.oram@Glyndwr.ac.uk</a:t>
            </a:r>
            <a:endParaRPr lang="en-GB" altLang="en-US" sz="17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34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357313"/>
            <a:ext cx="10363200" cy="4341122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Security management concepts and principles are inherent elements in a security policy and solution deployment. </a:t>
            </a:r>
          </a:p>
          <a:p>
            <a:r>
              <a:rPr lang="en-GB" dirty="0">
                <a:latin typeface="Georgia" panose="02040502050405020303" pitchFamily="18" charset="0"/>
              </a:rPr>
              <a:t>They define the basic parameters needed for a secure environment.</a:t>
            </a:r>
          </a:p>
          <a:p>
            <a:r>
              <a:rPr lang="en-GB" dirty="0">
                <a:latin typeface="Georgia" panose="02040502050405020303" pitchFamily="18" charset="0"/>
              </a:rPr>
              <a:t>They also define the goals and objectives that both policy designers and system implementers must achieve to create a secure solution.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44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C-I-A Triad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Georgia" panose="02040502050405020303" pitchFamily="18" charset="0"/>
              </a:rPr>
              <a:t>Confidentiality</a:t>
            </a:r>
          </a:p>
          <a:p>
            <a:r>
              <a:rPr lang="en-US" sz="2800" dirty="0">
                <a:latin typeface="Georgia" panose="02040502050405020303" pitchFamily="18" charset="0"/>
              </a:rPr>
              <a:t>Integrity</a:t>
            </a:r>
          </a:p>
          <a:p>
            <a:r>
              <a:rPr lang="en-US" sz="2800" dirty="0">
                <a:latin typeface="Georgia" panose="02040502050405020303" pitchFamily="18" charset="0"/>
              </a:rPr>
              <a:t>Availability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089" y="1988904"/>
            <a:ext cx="4046328" cy="348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1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357313"/>
            <a:ext cx="10363200" cy="4341122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The primary goals and objectives of security are contained within the CIA Triad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79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851038"/>
          </a:xfrm>
        </p:spPr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Confidentiality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286" y="878473"/>
            <a:ext cx="11741427" cy="4647683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If a security mechanism offers confidentiality, it offers a high level of assurance that data, objects, or resources are restricted from unauthorized subjects. </a:t>
            </a:r>
          </a:p>
          <a:p>
            <a:r>
              <a:rPr lang="en-GB" dirty="0">
                <a:latin typeface="Georgia" panose="02040502050405020303" pitchFamily="18" charset="0"/>
              </a:rPr>
              <a:t>If a threat exists against confidentiality, unauthorized disclosure could take place.</a:t>
            </a:r>
          </a:p>
          <a:p>
            <a:r>
              <a:rPr lang="en-GB" dirty="0">
                <a:latin typeface="Georgia" panose="02040502050405020303" pitchFamily="18" charset="0"/>
              </a:rPr>
              <a:t>In general, for confidentiality to be maintained on a network, data must be protected from unauthorized access, use, or disclosure while in storage, in process, and in transit.</a:t>
            </a:r>
          </a:p>
        </p:txBody>
      </p:sp>
    </p:spTree>
    <p:extLst>
      <p:ext uri="{BB962C8B-B14F-4D97-AF65-F5344CB8AC3E}">
        <p14:creationId xmlns:p14="http://schemas.microsoft.com/office/powerpoint/2010/main" val="259545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851038"/>
          </a:xfrm>
        </p:spPr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Confidentiality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286" y="745953"/>
            <a:ext cx="11741427" cy="43411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Numerous attacks focus on the violation of confidentiality.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These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  <a:ea typeface="+mn-ea"/>
                <a:cs typeface="+mn-cs"/>
              </a:rPr>
              <a:t>capturing network traffic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  <a:ea typeface="+mn-ea"/>
                <a:cs typeface="+mn-cs"/>
              </a:rPr>
              <a:t>stealing password files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  <a:ea typeface="+mn-ea"/>
                <a:cs typeface="+mn-cs"/>
              </a:rPr>
              <a:t>social engineering,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  <a:ea typeface="+mn-ea"/>
                <a:cs typeface="+mn-cs"/>
              </a:rPr>
              <a:t>port scanning,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  <a:ea typeface="+mn-ea"/>
                <a:cs typeface="+mn-cs"/>
              </a:rPr>
              <a:t>Shoulder surfing,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  <a:ea typeface="+mn-ea"/>
                <a:cs typeface="+mn-cs"/>
              </a:rPr>
              <a:t>eavesdropping,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  <a:ea typeface="+mn-ea"/>
                <a:cs typeface="+mn-cs"/>
              </a:rPr>
              <a:t>sniffing, and many others.</a:t>
            </a:r>
          </a:p>
        </p:txBody>
      </p:sp>
    </p:spTree>
    <p:extLst>
      <p:ext uri="{BB962C8B-B14F-4D97-AF65-F5344CB8AC3E}">
        <p14:creationId xmlns:p14="http://schemas.microsoft.com/office/powerpoint/2010/main" val="182279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851038"/>
          </a:xfrm>
        </p:spPr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Confidentiality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286" y="878474"/>
            <a:ext cx="11741427" cy="4341122"/>
          </a:xfrm>
        </p:spPr>
        <p:txBody>
          <a:bodyPr/>
          <a:lstStyle/>
          <a:p>
            <a:r>
              <a:rPr lang="en-GB" sz="2400" dirty="0">
                <a:latin typeface="Georgia" panose="02040502050405020303" pitchFamily="18" charset="0"/>
              </a:rPr>
              <a:t>Many instances of unauthorized disclosure of sensitive or confidential information are the result of human error, oversight, or ineptitude. </a:t>
            </a:r>
            <a:endParaRPr lang="en-GB" sz="2400" dirty="0" smtClean="0">
              <a:latin typeface="Georgia" panose="02040502050405020303" pitchFamily="18" charset="0"/>
            </a:endParaRPr>
          </a:p>
          <a:p>
            <a:endParaRPr lang="en-GB" sz="2400" dirty="0">
              <a:latin typeface="Georgia" panose="02040502050405020303" pitchFamily="18" charset="0"/>
            </a:endParaRPr>
          </a:p>
          <a:p>
            <a:r>
              <a:rPr lang="en-GB" sz="2400" dirty="0">
                <a:latin typeface="Georgia" panose="02040502050405020303" pitchFamily="18" charset="0"/>
              </a:rPr>
              <a:t>Events that lead to confidentiality breaches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latin typeface="Georgia" panose="02040502050405020303" pitchFamily="18" charset="0"/>
              </a:rPr>
              <a:t>failing to properly encrypt a transmission,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latin typeface="Georgia" panose="02040502050405020303" pitchFamily="18" charset="0"/>
              </a:rPr>
              <a:t>failing to fully authenticate a remote system before transferring data,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latin typeface="Georgia" panose="02040502050405020303" pitchFamily="18" charset="0"/>
              </a:rPr>
              <a:t>leaving open otherwise secured access points,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latin typeface="Georgia" panose="02040502050405020303" pitchFamily="18" charset="0"/>
              </a:rPr>
              <a:t>accessing malicious code that opens a back door,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latin typeface="Georgia" panose="02040502050405020303" pitchFamily="18" charset="0"/>
              </a:rPr>
              <a:t>documents left on printers,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>
                <a:latin typeface="Georgia" panose="02040502050405020303" pitchFamily="18" charset="0"/>
              </a:rPr>
              <a:t>not ‘locking’ a screen when unattended. </a:t>
            </a:r>
          </a:p>
        </p:txBody>
      </p:sp>
    </p:spTree>
    <p:extLst>
      <p:ext uri="{BB962C8B-B14F-4D97-AF65-F5344CB8AC3E}">
        <p14:creationId xmlns:p14="http://schemas.microsoft.com/office/powerpoint/2010/main" val="240777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851038"/>
          </a:xfrm>
        </p:spPr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Confidentiality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286" y="878474"/>
            <a:ext cx="11741427" cy="4341122"/>
          </a:xfrm>
        </p:spPr>
        <p:txBody>
          <a:bodyPr/>
          <a:lstStyle/>
          <a:p>
            <a:r>
              <a:rPr lang="en-GB" sz="2400" dirty="0">
                <a:latin typeface="Georgia" panose="02040502050405020303" pitchFamily="18" charset="0"/>
              </a:rPr>
              <a:t>Violations can also occur because of an oversight in a security policy or a misconfigured security control. </a:t>
            </a:r>
            <a:endParaRPr lang="en-GB" sz="2400" dirty="0" smtClean="0">
              <a:latin typeface="Georgia" panose="02040502050405020303" pitchFamily="18" charset="0"/>
            </a:endParaRPr>
          </a:p>
          <a:p>
            <a:endParaRPr lang="en-GB" sz="2400" dirty="0">
              <a:latin typeface="Georgia" panose="02040502050405020303" pitchFamily="18" charset="0"/>
            </a:endParaRPr>
          </a:p>
          <a:p>
            <a:r>
              <a:rPr lang="en-GB" sz="2400" dirty="0">
                <a:latin typeface="Georgia" panose="02040502050405020303" pitchFamily="18" charset="0"/>
              </a:rPr>
              <a:t>Confidentiality and integrity depend on each other. </a:t>
            </a:r>
            <a:endParaRPr lang="en-GB" sz="2400" dirty="0" smtClean="0">
              <a:latin typeface="Georgia" panose="02040502050405020303" pitchFamily="18" charset="0"/>
            </a:endParaRPr>
          </a:p>
          <a:p>
            <a:endParaRPr lang="en-GB" sz="2400" dirty="0">
              <a:latin typeface="Georgia" panose="02040502050405020303" pitchFamily="18" charset="0"/>
            </a:endParaRPr>
          </a:p>
          <a:p>
            <a:r>
              <a:rPr lang="en-GB" sz="2400" dirty="0">
                <a:latin typeface="Georgia" panose="02040502050405020303" pitchFamily="18" charset="0"/>
              </a:rPr>
              <a:t>Without object integrity, confidentiality cannot be maintained. </a:t>
            </a:r>
          </a:p>
        </p:txBody>
      </p:sp>
    </p:spTree>
    <p:extLst>
      <p:ext uri="{BB962C8B-B14F-4D97-AF65-F5344CB8AC3E}">
        <p14:creationId xmlns:p14="http://schemas.microsoft.com/office/powerpoint/2010/main" val="382614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Integrity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85465"/>
            <a:ext cx="10363200" cy="4341122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Integrity can be examined from three perspectives: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Preventing unauthorized subjects from making modifications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Preventing authorized subjects from making unauthorized modifications, such as mistakes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Maintaining the internal and external consistency of objects so that their data is a correct and true reflection of the real world and any relationship with any child, peer, or parent object is valid, consistent, and verifiable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68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Integrity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130" y="1026008"/>
            <a:ext cx="10363200" cy="4341122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For integrity to be maintained on a system, controls must be in place to restrict access to data, objects, and resources. </a:t>
            </a:r>
          </a:p>
          <a:p>
            <a:r>
              <a:rPr lang="en-GB" dirty="0">
                <a:latin typeface="Georgia" panose="02040502050405020303" pitchFamily="18" charset="0"/>
              </a:rPr>
              <a:t>Additionally, activity logging should be employed to ensure that only authorized users are able to access their respective resources. </a:t>
            </a:r>
          </a:p>
          <a:p>
            <a:r>
              <a:rPr lang="en-GB" dirty="0">
                <a:latin typeface="Georgia" panose="02040502050405020303" pitchFamily="18" charset="0"/>
              </a:rPr>
              <a:t>Maintaining and validating object integrity across storage, transport, and processing requires numerous variations of controls and oversight.</a:t>
            </a:r>
          </a:p>
        </p:txBody>
      </p:sp>
    </p:spTree>
    <p:extLst>
      <p:ext uri="{BB962C8B-B14F-4D97-AF65-F5344CB8AC3E}">
        <p14:creationId xmlns:p14="http://schemas.microsoft.com/office/powerpoint/2010/main" val="37970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730"/>
            <a:ext cx="10363200" cy="967823"/>
          </a:xfrm>
        </p:spPr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Integrity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866982"/>
            <a:ext cx="10363200" cy="4341122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Numerous attacks focus on the violation of integrity. These include: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viruses,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logic bombs,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unauthorized access,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errors in coding and applications,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malicious modification,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intentional replacement,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system back doors.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79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065765"/>
          </a:xfrm>
        </p:spPr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Accountability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839118"/>
            <a:ext cx="11144738" cy="478795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sz="2800" dirty="0">
                <a:latin typeface="Georgia" panose="02040502050405020303" pitchFamily="18" charset="0"/>
              </a:rPr>
              <a:t>An organisation’s security policy can be properly enforced only if accountability is maintained. </a:t>
            </a:r>
          </a:p>
          <a:p>
            <a:pPr>
              <a:spcAft>
                <a:spcPts val="600"/>
              </a:spcAft>
            </a:pPr>
            <a:r>
              <a:rPr lang="en-GB" sz="2800" dirty="0">
                <a:latin typeface="Georgia" panose="02040502050405020303" pitchFamily="18" charset="0"/>
              </a:rPr>
              <a:t>Effective accountability relies on the capability to prove a subject’s identity and track their activities. </a:t>
            </a:r>
            <a:endParaRPr lang="en-GB" sz="2800" dirty="0" smtClean="0">
              <a:latin typeface="Georgia" panose="02040502050405020303" pitchFamily="18" charset="0"/>
            </a:endParaRPr>
          </a:p>
          <a:p>
            <a:pPr>
              <a:spcAft>
                <a:spcPts val="600"/>
              </a:spcAft>
            </a:pPr>
            <a:r>
              <a:rPr lang="en-GB" sz="2800" dirty="0" smtClean="0">
                <a:latin typeface="Georgia" panose="02040502050405020303" pitchFamily="18" charset="0"/>
              </a:rPr>
              <a:t>It </a:t>
            </a:r>
            <a:r>
              <a:rPr lang="en-GB" sz="2800" dirty="0">
                <a:latin typeface="Georgia" panose="02040502050405020303" pitchFamily="18" charset="0"/>
              </a:rPr>
              <a:t>is established by linking a </a:t>
            </a:r>
            <a:r>
              <a:rPr lang="en-GB" sz="2800" dirty="0" smtClean="0">
                <a:latin typeface="Georgia" panose="02040502050405020303" pitchFamily="18" charset="0"/>
              </a:rPr>
              <a:t>person </a:t>
            </a:r>
            <a:r>
              <a:rPr lang="en-GB" sz="2800" dirty="0">
                <a:latin typeface="Georgia" panose="02040502050405020303" pitchFamily="18" charset="0"/>
              </a:rPr>
              <a:t>to the activities of an online identity through the security services and </a:t>
            </a:r>
            <a:r>
              <a:rPr lang="en-GB" sz="2800" dirty="0" smtClean="0">
                <a:latin typeface="Georgia" panose="02040502050405020303" pitchFamily="18" charset="0"/>
              </a:rPr>
              <a:t>the mechanisms of: </a:t>
            </a:r>
          </a:p>
          <a:p>
            <a:pPr lvl="1">
              <a:spcAft>
                <a:spcPts val="600"/>
              </a:spcAft>
            </a:pPr>
            <a:r>
              <a:rPr lang="en-GB" sz="2400" dirty="0" smtClean="0">
                <a:latin typeface="Georgia" panose="02040502050405020303" pitchFamily="18" charset="0"/>
              </a:rPr>
              <a:t>auditing</a:t>
            </a:r>
            <a:r>
              <a:rPr lang="en-GB" sz="2400" dirty="0">
                <a:latin typeface="Georgia" panose="02040502050405020303" pitchFamily="18" charset="0"/>
              </a:rPr>
              <a:t>, </a:t>
            </a:r>
            <a:endParaRPr lang="en-GB" sz="2400" dirty="0" smtClean="0">
              <a:latin typeface="Georgia" panose="02040502050405020303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GB" sz="2400" dirty="0" smtClean="0">
                <a:latin typeface="Georgia" panose="02040502050405020303" pitchFamily="18" charset="0"/>
              </a:rPr>
              <a:t>authorization</a:t>
            </a:r>
            <a:r>
              <a:rPr lang="en-GB" sz="2400" dirty="0">
                <a:latin typeface="Georgia" panose="02040502050405020303" pitchFamily="18" charset="0"/>
              </a:rPr>
              <a:t>, </a:t>
            </a:r>
            <a:endParaRPr lang="en-GB" sz="2400" dirty="0" smtClean="0">
              <a:latin typeface="Georgia" panose="02040502050405020303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GB" sz="2400" dirty="0" smtClean="0">
                <a:latin typeface="Georgia" panose="02040502050405020303" pitchFamily="18" charset="0"/>
              </a:rPr>
              <a:t>authentication</a:t>
            </a:r>
            <a:r>
              <a:rPr lang="en-GB" sz="2400" dirty="0">
                <a:latin typeface="Georgia" panose="02040502050405020303" pitchFamily="18" charset="0"/>
              </a:rPr>
              <a:t>, </a:t>
            </a:r>
            <a:endParaRPr lang="en-GB" sz="2400" dirty="0" smtClean="0">
              <a:latin typeface="Georgia" panose="02040502050405020303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GB" sz="2400" dirty="0" smtClean="0">
                <a:latin typeface="Georgia" panose="02040502050405020303" pitchFamily="18" charset="0"/>
              </a:rPr>
              <a:t>and </a:t>
            </a:r>
            <a:r>
              <a:rPr lang="en-GB" sz="2400" dirty="0">
                <a:latin typeface="Georgia" panose="02040502050405020303" pitchFamily="18" charset="0"/>
              </a:rPr>
              <a:t>identification</a:t>
            </a:r>
            <a:r>
              <a:rPr lang="en-GB" sz="2400" dirty="0" smtClean="0">
                <a:latin typeface="Georgia" panose="02040502050405020303" pitchFamily="18" charset="0"/>
              </a:rPr>
              <a:t>.</a:t>
            </a:r>
            <a:endParaRPr lang="en-GB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09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Accountability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357313"/>
            <a:ext cx="10363200" cy="4341122"/>
          </a:xfrm>
        </p:spPr>
        <p:txBody>
          <a:bodyPr/>
          <a:lstStyle/>
          <a:p>
            <a:r>
              <a:rPr lang="en-GB" sz="2800" dirty="0" smtClean="0">
                <a:latin typeface="Georgia" panose="02040502050405020303" pitchFamily="18" charset="0"/>
              </a:rPr>
              <a:t>Holding someone to </a:t>
            </a:r>
            <a:r>
              <a:rPr lang="en-GB" sz="2800" dirty="0">
                <a:latin typeface="Georgia" panose="02040502050405020303" pitchFamily="18" charset="0"/>
              </a:rPr>
              <a:t>accountability is ultimately dependent on the strength of the authentication process. </a:t>
            </a:r>
            <a:endParaRPr lang="en-GB" sz="2800" dirty="0" smtClean="0">
              <a:latin typeface="Georgia" panose="02040502050405020303" pitchFamily="18" charset="0"/>
            </a:endParaRPr>
          </a:p>
          <a:p>
            <a:r>
              <a:rPr lang="en-GB" sz="2800" dirty="0" smtClean="0">
                <a:latin typeface="Georgia" panose="02040502050405020303" pitchFamily="18" charset="0"/>
              </a:rPr>
              <a:t>Without </a:t>
            </a:r>
            <a:r>
              <a:rPr lang="en-GB" sz="2800" dirty="0">
                <a:latin typeface="Georgia" panose="02040502050405020303" pitchFamily="18" charset="0"/>
              </a:rPr>
              <a:t>a strong </a:t>
            </a:r>
            <a:r>
              <a:rPr lang="en-GB" sz="2800" dirty="0" smtClean="0">
                <a:latin typeface="Georgia" panose="02040502050405020303" pitchFamily="18" charset="0"/>
              </a:rPr>
              <a:t>authentication</a:t>
            </a:r>
            <a:r>
              <a:rPr lang="en-US" sz="2800" dirty="0" smtClean="0">
                <a:latin typeface="Georgia" panose="02040502050405020303" pitchFamily="18" charset="0"/>
              </a:rPr>
              <a:t> </a:t>
            </a:r>
            <a:r>
              <a:rPr lang="en-GB" sz="2800" dirty="0" smtClean="0">
                <a:latin typeface="Georgia" panose="02040502050405020303" pitchFamily="18" charset="0"/>
              </a:rPr>
              <a:t>process</a:t>
            </a:r>
            <a:r>
              <a:rPr lang="en-GB" sz="2800" dirty="0">
                <a:latin typeface="Georgia" panose="02040502050405020303" pitchFamily="18" charset="0"/>
              </a:rPr>
              <a:t>, there is doubt that the human associated with a </a:t>
            </a:r>
            <a:r>
              <a:rPr lang="en-GB" sz="2800" dirty="0" smtClean="0">
                <a:latin typeface="Georgia" panose="02040502050405020303" pitchFamily="18" charset="0"/>
              </a:rPr>
              <a:t>specific </a:t>
            </a:r>
            <a:r>
              <a:rPr lang="en-GB" sz="2800" dirty="0">
                <a:latin typeface="Georgia" panose="02040502050405020303" pitchFamily="18" charset="0"/>
              </a:rPr>
              <a:t>user account was </a:t>
            </a:r>
            <a:r>
              <a:rPr lang="en-GB" sz="2800" dirty="0" smtClean="0">
                <a:latin typeface="Georgia" panose="02040502050405020303" pitchFamily="18" charset="0"/>
              </a:rPr>
              <a:t>the actual </a:t>
            </a:r>
            <a:r>
              <a:rPr lang="en-GB" sz="2800" dirty="0">
                <a:latin typeface="Georgia" panose="02040502050405020303" pitchFamily="18" charset="0"/>
              </a:rPr>
              <a:t>entity controlling that user account when the undesired action took place</a:t>
            </a:r>
            <a:r>
              <a:rPr lang="en-GB" sz="2800" dirty="0" smtClean="0">
                <a:latin typeface="Georgia" panose="02040502050405020303" pitchFamily="18" charset="0"/>
              </a:rPr>
              <a:t>.</a:t>
            </a:r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95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357313"/>
            <a:ext cx="10363200" cy="4341122"/>
          </a:xfrm>
        </p:spPr>
        <p:txBody>
          <a:bodyPr/>
          <a:lstStyle/>
          <a:p>
            <a:r>
              <a:rPr lang="en-GB" dirty="0"/>
              <a:t>The point of security is to keep bad things from happening while supporting the occurrence of good things. </a:t>
            </a:r>
          </a:p>
          <a:p>
            <a:r>
              <a:rPr lang="en-GB" dirty="0"/>
              <a:t>When bad things do happen, organisations often desire assistance from law enforcement and the legal system.</a:t>
            </a:r>
          </a:p>
          <a:p>
            <a:r>
              <a:rPr lang="en-GB" sz="2800" dirty="0">
                <a:latin typeface="Georgia" panose="02040502050405020303" pitchFamily="18" charset="0"/>
              </a:rPr>
              <a:t>Conversely you may also need to state all reasonable steps were taken to defend your organisation</a:t>
            </a:r>
            <a:r>
              <a:rPr lang="en-GB" sz="2800" dirty="0" smtClean="0">
                <a:latin typeface="Georgia" panose="02040502050405020303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GB" sz="2800" i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As the legal system may be coming after you!! </a:t>
            </a:r>
            <a:endParaRPr lang="en-US" sz="2800" i="1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4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Nonrepudiation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357313"/>
            <a:ext cx="10363200" cy="4341122"/>
          </a:xfrm>
        </p:spPr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Nonrepudiation ensures that the subject of an activity or event cannot deny that the </a:t>
            </a:r>
            <a:r>
              <a:rPr lang="en-US" sz="2800" dirty="0" smtClean="0">
                <a:latin typeface="Georgia" panose="02040502050405020303" pitchFamily="18" charset="0"/>
              </a:rPr>
              <a:t>event occurred</a:t>
            </a:r>
            <a:r>
              <a:rPr lang="en-US" sz="2800" dirty="0">
                <a:latin typeface="Georgia" panose="02040502050405020303" pitchFamily="18" charset="0"/>
              </a:rPr>
              <a:t>. </a:t>
            </a:r>
            <a:endParaRPr lang="en-US" sz="2800" dirty="0" smtClean="0">
              <a:latin typeface="Georgia" panose="0204050205040502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Georgia" panose="02040502050405020303" pitchFamily="18" charset="0"/>
              </a:rPr>
              <a:t>prevents </a:t>
            </a:r>
            <a:r>
              <a:rPr lang="en-US" sz="2400" dirty="0">
                <a:latin typeface="Georgia" panose="02040502050405020303" pitchFamily="18" charset="0"/>
              </a:rPr>
              <a:t>a subject from claiming not to have sent a </a:t>
            </a:r>
            <a:r>
              <a:rPr lang="en-US" sz="2400" dirty="0" smtClean="0">
                <a:latin typeface="Georgia" panose="02040502050405020303" pitchFamily="18" charset="0"/>
              </a:rPr>
              <a:t>message, not </a:t>
            </a:r>
            <a:r>
              <a:rPr lang="en-US" sz="2400" dirty="0">
                <a:latin typeface="Georgia" panose="02040502050405020303" pitchFamily="18" charset="0"/>
              </a:rPr>
              <a:t>to have performed an action, or not to have been the cause of an event. </a:t>
            </a:r>
            <a:endParaRPr lang="en-US" sz="2400" dirty="0" smtClean="0">
              <a:latin typeface="Georgia" panose="0204050205040502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Georgia" panose="02040502050405020303" pitchFamily="18" charset="0"/>
              </a:rPr>
              <a:t>made possible through identification</a:t>
            </a:r>
            <a:r>
              <a:rPr lang="en-US" sz="2400" dirty="0">
                <a:latin typeface="Georgia" panose="02040502050405020303" pitchFamily="18" charset="0"/>
              </a:rPr>
              <a:t>, authentication, authorization, accountability, and auditing.</a:t>
            </a:r>
          </a:p>
          <a:p>
            <a:r>
              <a:rPr lang="en-US" sz="2800" dirty="0">
                <a:latin typeface="Georgia" panose="02040502050405020303" pitchFamily="18" charset="0"/>
              </a:rPr>
              <a:t>Nonrepudiation can be established using digital </a:t>
            </a:r>
            <a:r>
              <a:rPr lang="en-US" sz="2800" dirty="0" smtClean="0">
                <a:latin typeface="Georgia" panose="02040502050405020303" pitchFamily="18" charset="0"/>
              </a:rPr>
              <a:t>certificates</a:t>
            </a:r>
            <a:r>
              <a:rPr lang="en-US" sz="2800" dirty="0">
                <a:latin typeface="Georgia" panose="02040502050405020303" pitchFamily="18" charset="0"/>
              </a:rPr>
              <a:t>, session </a:t>
            </a:r>
            <a:r>
              <a:rPr lang="en-US" sz="2800" dirty="0" smtClean="0">
                <a:latin typeface="Georgia" panose="02040502050405020303" pitchFamily="18" charset="0"/>
              </a:rPr>
              <a:t>identifiers</a:t>
            </a:r>
            <a:r>
              <a:rPr lang="en-US" sz="2800" dirty="0">
                <a:latin typeface="Georgia" panose="02040502050405020303" pitchFamily="18" charset="0"/>
              </a:rPr>
              <a:t>, </a:t>
            </a:r>
            <a:r>
              <a:rPr lang="en-US" sz="2800" dirty="0" smtClean="0">
                <a:latin typeface="Georgia" panose="02040502050405020303" pitchFamily="18" charset="0"/>
              </a:rPr>
              <a:t>transaction logs</a:t>
            </a:r>
            <a:r>
              <a:rPr lang="en-US" sz="2800" dirty="0">
                <a:latin typeface="Georgia" panose="02040502050405020303" pitchFamily="18" charset="0"/>
              </a:rPr>
              <a:t>, and numerous other transactional and access control mechanisms.</a:t>
            </a:r>
          </a:p>
        </p:txBody>
      </p:sp>
    </p:spTree>
    <p:extLst>
      <p:ext uri="{BB962C8B-B14F-4D97-AF65-F5344CB8AC3E}">
        <p14:creationId xmlns:p14="http://schemas.microsoft.com/office/powerpoint/2010/main" val="123389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Nonrepudiation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>
                <a:latin typeface="Georgia" panose="02040502050405020303" pitchFamily="18" charset="0"/>
              </a:rPr>
              <a:t>Nonrepudiation is essential for accountability.</a:t>
            </a:r>
          </a:p>
          <a:p>
            <a:r>
              <a:rPr lang="en-GB" dirty="0" smtClean="0">
                <a:latin typeface="Georgia" panose="02040502050405020303" pitchFamily="18" charset="0"/>
              </a:rPr>
              <a:t>If someone can repudiate your evidence then they can not be held accountable.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660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539" y="0"/>
            <a:ext cx="10363200" cy="4114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1400" dirty="0"/>
              <a:t>I tell you I didn't do it</a:t>
            </a:r>
          </a:p>
          <a:p>
            <a:pPr marL="0" indent="0" algn="ctr">
              <a:buNone/>
            </a:pPr>
            <a:r>
              <a:rPr lang="en-US" sz="1400" dirty="0"/>
              <a:t>'Cause I wasn't there</a:t>
            </a:r>
          </a:p>
          <a:p>
            <a:pPr marL="0" indent="0" algn="ctr">
              <a:buNone/>
            </a:pPr>
            <a:r>
              <a:rPr lang="en-US" sz="1400" dirty="0"/>
              <a:t>Don't blame me, it just isn't fair</a:t>
            </a:r>
          </a:p>
          <a:p>
            <a:pPr marL="0" indent="0" algn="ctr">
              <a:buNone/>
            </a:pPr>
            <a:r>
              <a:rPr lang="en-US" sz="1400" dirty="0"/>
              <a:t>You listen to their side</a:t>
            </a:r>
          </a:p>
          <a:p>
            <a:pPr marL="0" indent="0" algn="ctr">
              <a:buNone/>
            </a:pPr>
            <a:r>
              <a:rPr lang="en-US" sz="1400" dirty="0"/>
              <a:t>Now listen to mine</a:t>
            </a:r>
          </a:p>
          <a:p>
            <a:pPr marL="0" indent="0" algn="ctr">
              <a:buNone/>
            </a:pPr>
            <a:r>
              <a:rPr lang="en-US" sz="1400" dirty="0"/>
              <a:t>Can't think of a story</a:t>
            </a:r>
          </a:p>
          <a:p>
            <a:pPr marL="0" indent="0" algn="ctr">
              <a:buNone/>
            </a:pPr>
            <a:r>
              <a:rPr lang="en-US" sz="1400" dirty="0"/>
              <a:t>Sure you'll find me </a:t>
            </a:r>
            <a:r>
              <a:rPr lang="en-US" sz="1400" dirty="0" smtClean="0"/>
              <a:t>sometime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/>
              <a:t>Now pass the blame and don't blame me</a:t>
            </a:r>
          </a:p>
          <a:p>
            <a:pPr marL="0" indent="0" algn="ctr">
              <a:buNone/>
            </a:pPr>
            <a:r>
              <a:rPr lang="en-US" sz="1400" dirty="0"/>
              <a:t>Just close your eyes and count to three</a:t>
            </a:r>
          </a:p>
          <a:p>
            <a:pPr marL="0" indent="0" algn="ctr">
              <a:buNone/>
            </a:pPr>
            <a:r>
              <a:rPr lang="en-US" sz="1400" dirty="0"/>
              <a:t>(One two three</a:t>
            </a:r>
            <a:r>
              <a:rPr lang="en-US" sz="1400" dirty="0" smtClean="0"/>
              <a:t>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/>
              <a:t>Then I'll be gone and you'll forget</a:t>
            </a:r>
          </a:p>
          <a:p>
            <a:pPr marL="0" indent="0" algn="ctr">
              <a:buNone/>
            </a:pPr>
            <a:r>
              <a:rPr lang="en-US" sz="1400" dirty="0"/>
              <a:t>The broken window, </a:t>
            </a:r>
            <a:r>
              <a:rPr lang="en-US" sz="1400" dirty="0" err="1"/>
              <a:t>t.v</a:t>
            </a:r>
            <a:r>
              <a:rPr lang="en-US" sz="1400" dirty="0"/>
              <a:t>. </a:t>
            </a:r>
            <a:r>
              <a:rPr lang="en-US" sz="1400" dirty="0" smtClean="0"/>
              <a:t>set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/>
              <a:t>It wasn't me either, I'm just his mate</a:t>
            </a:r>
          </a:p>
          <a:p>
            <a:pPr marL="0" indent="0" algn="ctr">
              <a:buNone/>
            </a:pPr>
            <a:r>
              <a:rPr lang="en-US" sz="1400" dirty="0"/>
              <a:t>He told me to stand here and watch the gate</a:t>
            </a:r>
          </a:p>
          <a:p>
            <a:pPr marL="0" indent="0" algn="ctr">
              <a:buNone/>
            </a:pPr>
            <a:r>
              <a:rPr lang="en-US" sz="1400" dirty="0"/>
              <a:t>I've got a wife and three kids you know</a:t>
            </a:r>
          </a:p>
          <a:p>
            <a:pPr marL="0" indent="0" algn="ctr">
              <a:buNone/>
            </a:pPr>
            <a:r>
              <a:rPr lang="en-US" sz="1400" dirty="0"/>
              <a:t>They'll tell you I'm straight, at least I think so</a:t>
            </a:r>
          </a:p>
          <a:p>
            <a:pPr marL="0" indent="0" algn="ctr">
              <a:buNone/>
            </a:pPr>
            <a:r>
              <a:rPr lang="en-US" sz="1400" dirty="0"/>
              <a:t>I'm as honest as the day is long,</a:t>
            </a:r>
          </a:p>
          <a:p>
            <a:pPr marL="0" indent="0" algn="ctr">
              <a:buNone/>
            </a:pPr>
            <a:r>
              <a:rPr lang="en-US" sz="1400" dirty="0"/>
              <a:t>The longer the daylight, the less I do </a:t>
            </a:r>
            <a:r>
              <a:rPr lang="en-US" sz="1400" dirty="0" smtClean="0"/>
              <a:t>wrong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/>
              <a:t>Pass the blame and don't blame me</a:t>
            </a:r>
          </a:p>
          <a:p>
            <a:pPr marL="0" indent="0" algn="ctr">
              <a:buNone/>
            </a:pPr>
            <a:r>
              <a:rPr lang="en-US" sz="1400" dirty="0"/>
              <a:t>Just close your eyes and count to </a:t>
            </a:r>
            <a:r>
              <a:rPr lang="en-US" sz="1400" dirty="0" smtClean="0"/>
              <a:t>three</a:t>
            </a:r>
            <a:endParaRPr lang="en-US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9784861" y="5064370"/>
            <a:ext cx="2203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FF0000"/>
                </a:solidFill>
              </a:rPr>
              <a:t>Shut </a:t>
            </a:r>
            <a:r>
              <a:rPr lang="en-GB" i="1" dirty="0" smtClean="0">
                <a:solidFill>
                  <a:srgbClr val="FF0000"/>
                </a:solidFill>
              </a:rPr>
              <a:t>Up</a:t>
            </a:r>
          </a:p>
          <a:p>
            <a:r>
              <a:rPr lang="en-GB" i="1" dirty="0" smtClean="0">
                <a:solidFill>
                  <a:srgbClr val="FF0000"/>
                </a:solidFill>
              </a:rPr>
              <a:t>by</a:t>
            </a:r>
            <a:endParaRPr lang="en-GB" i="1" dirty="0">
              <a:solidFill>
                <a:srgbClr val="FF0000"/>
              </a:solidFill>
            </a:endParaRPr>
          </a:p>
          <a:p>
            <a:r>
              <a:rPr lang="en-GB" i="1" dirty="0">
                <a:solidFill>
                  <a:srgbClr val="FF0000"/>
                </a:solidFill>
              </a:rPr>
              <a:t>Madness</a:t>
            </a:r>
          </a:p>
        </p:txBody>
      </p:sp>
    </p:spTree>
    <p:extLst>
      <p:ext uri="{BB962C8B-B14F-4D97-AF65-F5344CB8AC3E}">
        <p14:creationId xmlns:p14="http://schemas.microsoft.com/office/powerpoint/2010/main" val="306012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Protection Mechanisms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Protection mechanisms are common </a:t>
            </a:r>
            <a:r>
              <a:rPr lang="en-US" dirty="0" smtClean="0"/>
              <a:t>characteristics of </a:t>
            </a:r>
            <a:r>
              <a:rPr lang="en-US" dirty="0"/>
              <a:t>security controls. 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i="1" dirty="0" smtClean="0"/>
              <a:t>Not </a:t>
            </a:r>
            <a:r>
              <a:rPr lang="en-US" i="1" dirty="0"/>
              <a:t>all security controls must have </a:t>
            </a:r>
            <a:r>
              <a:rPr lang="en-US" i="1" dirty="0" smtClean="0"/>
              <a:t>them </a:t>
            </a:r>
          </a:p>
          <a:p>
            <a:r>
              <a:rPr lang="en-US" dirty="0" smtClean="0"/>
              <a:t>These </a:t>
            </a:r>
            <a:r>
              <a:rPr lang="en-US" dirty="0"/>
              <a:t>mechanisms </a:t>
            </a:r>
            <a:r>
              <a:rPr lang="en-US" dirty="0" smtClean="0"/>
              <a:t>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multiple </a:t>
            </a:r>
            <a:r>
              <a:rPr lang="en-US" dirty="0"/>
              <a:t>layers (</a:t>
            </a:r>
            <a:r>
              <a:rPr lang="en-US" dirty="0" smtClean="0"/>
              <a:t>levels </a:t>
            </a:r>
            <a:r>
              <a:rPr lang="en-US" dirty="0"/>
              <a:t>of </a:t>
            </a:r>
            <a:r>
              <a:rPr lang="en-US" dirty="0" smtClean="0"/>
              <a:t>access)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abstraction,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hiding </a:t>
            </a:r>
            <a:r>
              <a:rPr lang="en-US" dirty="0"/>
              <a:t>data, 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encryption</a:t>
            </a:r>
            <a:r>
              <a:rPr lang="en-US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28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Layering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AKA Defence in Depth</a:t>
            </a:r>
          </a:p>
          <a:p>
            <a:r>
              <a:rPr lang="en-GB" dirty="0" smtClean="0"/>
              <a:t>Multiple controls in series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Cloud 3"/>
          <p:cNvSpPr/>
          <p:nvPr/>
        </p:nvSpPr>
        <p:spPr bwMode="auto">
          <a:xfrm>
            <a:off x="797169" y="3313723"/>
            <a:ext cx="1352062" cy="1078523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Internet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190" y="2837493"/>
            <a:ext cx="1350603" cy="20309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808" y="3324380"/>
            <a:ext cx="1161467" cy="9678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37808" y="4392246"/>
            <a:ext cx="116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ACL’s</a:t>
            </a:r>
            <a:endParaRPr lang="en-GB" dirty="0"/>
          </a:p>
        </p:txBody>
      </p:sp>
      <p:sp>
        <p:nvSpPr>
          <p:cNvPr id="10" name="Left-Right Arrow 9"/>
          <p:cNvSpPr/>
          <p:nvPr/>
        </p:nvSpPr>
        <p:spPr bwMode="auto">
          <a:xfrm>
            <a:off x="2413536" y="3603602"/>
            <a:ext cx="932873" cy="49876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" name="Left-Right Arrow 10"/>
          <p:cNvSpPr/>
          <p:nvPr/>
        </p:nvSpPr>
        <p:spPr bwMode="auto">
          <a:xfrm>
            <a:off x="4305584" y="3603602"/>
            <a:ext cx="932873" cy="49876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569" y="3256033"/>
            <a:ext cx="1542751" cy="1193901"/>
          </a:xfrm>
          <a:prstGeom prst="rect">
            <a:avLst/>
          </a:prstGeom>
        </p:spPr>
      </p:pic>
      <p:sp>
        <p:nvSpPr>
          <p:cNvPr id="13" name="Left-Right Arrow 12"/>
          <p:cNvSpPr/>
          <p:nvPr/>
        </p:nvSpPr>
        <p:spPr bwMode="auto">
          <a:xfrm>
            <a:off x="6816506" y="3603602"/>
            <a:ext cx="932873" cy="49876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49210" y="4407025"/>
            <a:ext cx="116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VLAN’s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028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Using layers in a series rather than in parallel is </a:t>
            </a:r>
            <a:r>
              <a:rPr lang="en-US" dirty="0" smtClean="0"/>
              <a:t>important.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Performing </a:t>
            </a:r>
            <a:r>
              <a:rPr lang="en-US" dirty="0"/>
              <a:t>security </a:t>
            </a:r>
            <a:r>
              <a:rPr lang="en-US" dirty="0" smtClean="0"/>
              <a:t>restrictions in </a:t>
            </a:r>
            <a:r>
              <a:rPr lang="en-US" dirty="0"/>
              <a:t>a series means to perform one after the other in a linear fashion. </a:t>
            </a: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Only </a:t>
            </a:r>
            <a:r>
              <a:rPr lang="en-US" dirty="0"/>
              <a:t>through </a:t>
            </a:r>
            <a:r>
              <a:rPr lang="en-US" dirty="0" smtClean="0"/>
              <a:t>a series configuration </a:t>
            </a:r>
            <a:r>
              <a:rPr lang="en-US" dirty="0"/>
              <a:t>will each attack be scanned, evaluated, or mitigated by </a:t>
            </a:r>
            <a:r>
              <a:rPr lang="en-US" dirty="0" smtClean="0"/>
              <a:t>every security control.</a:t>
            </a:r>
          </a:p>
          <a:p>
            <a:r>
              <a:rPr lang="en-US" dirty="0"/>
              <a:t>F</a:t>
            </a:r>
            <a:r>
              <a:rPr lang="en-US" dirty="0" smtClean="0"/>
              <a:t>ailure </a:t>
            </a:r>
            <a:r>
              <a:rPr lang="en-US" dirty="0"/>
              <a:t>of a single security control does not render </a:t>
            </a:r>
            <a:r>
              <a:rPr lang="en-US" dirty="0" smtClean="0"/>
              <a:t>the </a:t>
            </a:r>
            <a:r>
              <a:rPr lang="en-GB" dirty="0" smtClean="0"/>
              <a:t>entire </a:t>
            </a:r>
            <a:r>
              <a:rPr lang="en-GB" dirty="0"/>
              <a:t>solution ineffective.</a:t>
            </a:r>
          </a:p>
        </p:txBody>
      </p:sp>
    </p:spTree>
    <p:extLst>
      <p:ext uri="{BB962C8B-B14F-4D97-AF65-F5344CB8AC3E}">
        <p14:creationId xmlns:p14="http://schemas.microsoft.com/office/powerpoint/2010/main" val="98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Abstraction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Abstraction is used for </a:t>
            </a:r>
            <a:r>
              <a:rPr lang="en-US" dirty="0" smtClean="0"/>
              <a:t>efficiency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Similar </a:t>
            </a:r>
            <a:r>
              <a:rPr lang="en-US" dirty="0"/>
              <a:t>elements are put into groups, classes, or roles </a:t>
            </a:r>
            <a:r>
              <a:rPr lang="en-US" dirty="0" smtClean="0"/>
              <a:t>that are </a:t>
            </a:r>
            <a:r>
              <a:rPr lang="en-US" dirty="0"/>
              <a:t>assigned security controls, restrictions, or permissions as a collective.</a:t>
            </a:r>
            <a:endParaRPr lang="en-GB" dirty="0"/>
          </a:p>
        </p:txBody>
      </p:sp>
      <p:sp>
        <p:nvSpPr>
          <p:cNvPr id="4" name="Smiley Face 3"/>
          <p:cNvSpPr/>
          <p:nvPr/>
        </p:nvSpPr>
        <p:spPr bwMode="auto">
          <a:xfrm>
            <a:off x="2981038" y="4710544"/>
            <a:ext cx="720436" cy="729673"/>
          </a:xfrm>
          <a:prstGeom prst="smileyF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Smiley Face 4"/>
          <p:cNvSpPr/>
          <p:nvPr/>
        </p:nvSpPr>
        <p:spPr bwMode="auto">
          <a:xfrm>
            <a:off x="4084783" y="4710544"/>
            <a:ext cx="720436" cy="729673"/>
          </a:xfrm>
          <a:prstGeom prst="smileyF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Smiley Face 5"/>
          <p:cNvSpPr/>
          <p:nvPr/>
        </p:nvSpPr>
        <p:spPr bwMode="auto">
          <a:xfrm>
            <a:off x="5163128" y="4747058"/>
            <a:ext cx="720436" cy="729673"/>
          </a:xfrm>
          <a:prstGeom prst="smileyF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7" name="Smiley Face 6"/>
          <p:cNvSpPr/>
          <p:nvPr/>
        </p:nvSpPr>
        <p:spPr bwMode="auto">
          <a:xfrm>
            <a:off x="6266873" y="4710544"/>
            <a:ext cx="720436" cy="729673"/>
          </a:xfrm>
          <a:prstGeom prst="smileyF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" name="Smiley Face 7"/>
          <p:cNvSpPr/>
          <p:nvPr/>
        </p:nvSpPr>
        <p:spPr bwMode="auto">
          <a:xfrm>
            <a:off x="7308273" y="4747058"/>
            <a:ext cx="720436" cy="729673"/>
          </a:xfrm>
          <a:prstGeom prst="smileyF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3341256" y="3629891"/>
            <a:ext cx="4518889" cy="80356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Finance Group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600" dirty="0" smtClean="0">
                <a:latin typeface="Tahoma" pitchFamily="34" charset="0"/>
              </a:rPr>
              <a:t>Rights, Permissions </a:t>
            </a:r>
            <a:r>
              <a:rPr lang="en-GB" sz="1600" dirty="0" err="1" smtClean="0">
                <a:latin typeface="Tahoma" pitchFamily="34" charset="0"/>
              </a:rPr>
              <a:t>etc</a:t>
            </a:r>
            <a:r>
              <a:rPr lang="en-GB" sz="1600" dirty="0" smtClean="0">
                <a:latin typeface="Tahoma" pitchFamily="34" charset="0"/>
              </a:rPr>
              <a:t> set at group level</a:t>
            </a:r>
            <a:endParaRPr kumimoji="0" lang="en-GB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29202" y="4580823"/>
            <a:ext cx="63882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                                }</a:t>
            </a:r>
            <a:endParaRPr lang="en-GB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785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Abstraction</a:t>
            </a:r>
            <a:endParaRPr lang="en-GB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smtClean="0"/>
              <a:t>Abstraction is </a:t>
            </a:r>
            <a:r>
              <a:rPr lang="en-US" dirty="0"/>
              <a:t>used to </a:t>
            </a:r>
            <a:r>
              <a:rPr lang="en-US" dirty="0" smtClean="0"/>
              <a:t>define </a:t>
            </a:r>
            <a:r>
              <a:rPr lang="en-US" dirty="0"/>
              <a:t>what types of data an object can contain, what types of functions can </a:t>
            </a:r>
            <a:r>
              <a:rPr lang="en-US" dirty="0" smtClean="0"/>
              <a:t>be performed </a:t>
            </a:r>
            <a:r>
              <a:rPr lang="en-US" dirty="0"/>
              <a:t>on or by that object, and what capabilities that object has. </a:t>
            </a: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Security becomes simplified by </a:t>
            </a:r>
            <a:r>
              <a:rPr lang="en-US" dirty="0"/>
              <a:t>enabling you to assign security controls to a group of objects collected by </a:t>
            </a:r>
            <a:r>
              <a:rPr lang="en-US" dirty="0" smtClean="0"/>
              <a:t>type or </a:t>
            </a:r>
            <a:r>
              <a:rPr lang="en-US" dirty="0"/>
              <a:t>function.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006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Data Hiding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29066"/>
            <a:ext cx="10363200" cy="4114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Preventing </a:t>
            </a:r>
            <a:r>
              <a:rPr lang="en-US" dirty="0"/>
              <a:t>data from being discovered </a:t>
            </a:r>
            <a:r>
              <a:rPr lang="en-US" dirty="0" smtClean="0"/>
              <a:t>or accessed </a:t>
            </a:r>
            <a:r>
              <a:rPr lang="en-US" dirty="0"/>
              <a:t>by a subject by positioning the data in a logical storage compartment that is </a:t>
            </a:r>
            <a:r>
              <a:rPr lang="en-US" dirty="0" smtClean="0"/>
              <a:t>not accessible </a:t>
            </a:r>
            <a:r>
              <a:rPr lang="en-US" dirty="0"/>
              <a:t>or seen by the </a:t>
            </a:r>
            <a:r>
              <a:rPr lang="en-US" dirty="0" smtClean="0"/>
              <a:t>subject.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Forms </a:t>
            </a:r>
            <a:r>
              <a:rPr lang="en-US" dirty="0"/>
              <a:t>of data hiding include keeping a database </a:t>
            </a:r>
            <a:r>
              <a:rPr lang="en-US" dirty="0" smtClean="0"/>
              <a:t>from being </a:t>
            </a:r>
            <a:r>
              <a:rPr lang="en-US" dirty="0"/>
              <a:t>accessed by unauthorized visitors and restricting a subject at a lower </a:t>
            </a:r>
            <a:r>
              <a:rPr lang="en-US" dirty="0" smtClean="0"/>
              <a:t>classification level </a:t>
            </a:r>
            <a:r>
              <a:rPr lang="en-US" dirty="0"/>
              <a:t>from accessing data at a higher </a:t>
            </a:r>
            <a:r>
              <a:rPr lang="en-US" dirty="0" smtClean="0"/>
              <a:t>classification </a:t>
            </a:r>
            <a:r>
              <a:rPr lang="en-US" dirty="0"/>
              <a:t>level. </a:t>
            </a:r>
            <a:endParaRPr lang="en-US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Preventing </a:t>
            </a:r>
            <a:r>
              <a:rPr lang="en-US" dirty="0"/>
              <a:t>an application </a:t>
            </a:r>
            <a:r>
              <a:rPr lang="en-US" dirty="0" smtClean="0"/>
              <a:t>from accessing </a:t>
            </a:r>
            <a:r>
              <a:rPr lang="en-US" dirty="0"/>
              <a:t>hardware directly is also a form of data hiding.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72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917454"/>
          </a:xfrm>
        </p:spPr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Encryption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538" y="747714"/>
            <a:ext cx="10839938" cy="4114800"/>
          </a:xfrm>
        </p:spPr>
        <p:txBody>
          <a:bodyPr/>
          <a:lstStyle/>
          <a:p>
            <a:r>
              <a:rPr lang="en-US" dirty="0"/>
              <a:t>Encryption is </a:t>
            </a:r>
            <a:r>
              <a:rPr lang="en-US" dirty="0" smtClean="0"/>
              <a:t>system of </a:t>
            </a:r>
            <a:r>
              <a:rPr lang="en-US" dirty="0"/>
              <a:t>hiding the meaning or intent of a communication </a:t>
            </a:r>
            <a:r>
              <a:rPr lang="en-US" dirty="0" smtClean="0"/>
              <a:t>from unintended </a:t>
            </a:r>
            <a:r>
              <a:rPr lang="en-US" dirty="0"/>
              <a:t>recipients. </a:t>
            </a:r>
            <a:endParaRPr lang="en-US" dirty="0" smtClean="0"/>
          </a:p>
          <a:p>
            <a:r>
              <a:rPr lang="en-US" dirty="0" smtClean="0"/>
              <a:t>Encryption </a:t>
            </a:r>
            <a:r>
              <a:rPr lang="en-US" dirty="0"/>
              <a:t>can take many forms and be applied to every type </a:t>
            </a:r>
            <a:r>
              <a:rPr lang="en-US" dirty="0" smtClean="0"/>
              <a:t>of electronic </a:t>
            </a:r>
            <a:r>
              <a:rPr lang="en-US" dirty="0"/>
              <a:t>communication, including text, audio, and video </a:t>
            </a:r>
            <a:r>
              <a:rPr lang="en-US" dirty="0" smtClean="0"/>
              <a:t>files </a:t>
            </a:r>
            <a:r>
              <a:rPr lang="en-US" dirty="0"/>
              <a:t>as well as </a:t>
            </a:r>
            <a:r>
              <a:rPr lang="en-US" dirty="0" smtClean="0"/>
              <a:t>applications themselves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Encryption </a:t>
            </a:r>
            <a:r>
              <a:rPr lang="en-US" dirty="0"/>
              <a:t>is an important element in security controls, especially in </a:t>
            </a:r>
            <a:r>
              <a:rPr lang="en-US" dirty="0" smtClean="0"/>
              <a:t>regard to </a:t>
            </a:r>
            <a:r>
              <a:rPr lang="en-US" dirty="0"/>
              <a:t>the transmission of data between systems.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various strengths of </a:t>
            </a:r>
            <a:r>
              <a:rPr lang="en-US" dirty="0" smtClean="0"/>
              <a:t>encryption, each </a:t>
            </a:r>
            <a:r>
              <a:rPr lang="en-US" dirty="0"/>
              <a:t>of which is designed and/or appropriate for a </a:t>
            </a:r>
            <a:r>
              <a:rPr lang="en-US" dirty="0" smtClean="0"/>
              <a:t>specific </a:t>
            </a:r>
            <a:r>
              <a:rPr lang="en-US" dirty="0"/>
              <a:t>use or purpose.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31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 smtClean="0">
                <a:latin typeface="Georgia" panose="02040502050405020303" pitchFamily="18" charset="0"/>
              </a:rPr>
              <a:t>Applying </a:t>
            </a:r>
            <a:r>
              <a:rPr lang="en-GB" sz="3600" dirty="0">
                <a:latin typeface="Georgia" panose="02040502050405020303" pitchFamily="18" charset="0"/>
              </a:rPr>
              <a:t>Security Governance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governance is the collection of practices related to supporting, </a:t>
            </a:r>
            <a:r>
              <a:rPr lang="en-US" dirty="0" smtClean="0"/>
              <a:t>defining</a:t>
            </a:r>
            <a:r>
              <a:rPr lang="en-US" dirty="0"/>
              <a:t>, and </a:t>
            </a:r>
            <a:r>
              <a:rPr lang="en-US" dirty="0" smtClean="0"/>
              <a:t>directing the </a:t>
            </a:r>
            <a:r>
              <a:rPr lang="en-US" dirty="0"/>
              <a:t>security efforts of an organization. </a:t>
            </a:r>
            <a:endParaRPr lang="en-US" dirty="0" smtClean="0"/>
          </a:p>
          <a:p>
            <a:r>
              <a:rPr lang="en-US" dirty="0" smtClean="0"/>
              <a:t>Security </a:t>
            </a:r>
            <a:r>
              <a:rPr lang="en-US" dirty="0"/>
              <a:t>governance is closely related </a:t>
            </a:r>
            <a:r>
              <a:rPr lang="en-US" dirty="0" smtClean="0"/>
              <a:t>to: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Corporate </a:t>
            </a:r>
            <a:r>
              <a:rPr lang="en-US" dirty="0"/>
              <a:t>governance</a:t>
            </a:r>
            <a:r>
              <a:rPr lang="en-US" dirty="0" smtClean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governance.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goals of these three </a:t>
            </a:r>
            <a:r>
              <a:rPr lang="en-US" dirty="0" smtClean="0"/>
              <a:t>governance agendas </a:t>
            </a:r>
            <a:r>
              <a:rPr lang="en-US" dirty="0"/>
              <a:t>are often the same or interrelated.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28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Applying Security Governance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not and should not be treated as </a:t>
            </a:r>
            <a:r>
              <a:rPr lang="en-US" dirty="0" smtClean="0"/>
              <a:t>an IT </a:t>
            </a:r>
            <a:r>
              <a:rPr lang="en-US" dirty="0"/>
              <a:t>issue only. </a:t>
            </a:r>
            <a:endParaRPr lang="en-US" dirty="0" smtClean="0"/>
          </a:p>
          <a:p>
            <a:r>
              <a:rPr lang="en-US" dirty="0"/>
              <a:t>S</a:t>
            </a:r>
            <a:r>
              <a:rPr lang="en-US" dirty="0" smtClean="0"/>
              <a:t>ecurity </a:t>
            </a:r>
            <a:r>
              <a:rPr lang="en-US" dirty="0"/>
              <a:t>affects every aspect of an </a:t>
            </a:r>
            <a:r>
              <a:rPr lang="en-US" dirty="0" err="1" smtClean="0"/>
              <a:t>organisation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no longer </a:t>
            </a:r>
            <a:r>
              <a:rPr lang="en-US" dirty="0" smtClean="0"/>
              <a:t>just something </a:t>
            </a:r>
            <a:r>
              <a:rPr lang="en-US" dirty="0"/>
              <a:t>the IT staff can handle on their own. </a:t>
            </a:r>
            <a:endParaRPr lang="en-US" dirty="0" smtClean="0"/>
          </a:p>
          <a:p>
            <a:r>
              <a:rPr lang="en-US" dirty="0" smtClean="0"/>
              <a:t>Security </a:t>
            </a:r>
            <a:r>
              <a:rPr lang="en-US" dirty="0"/>
              <a:t>is a business operations issue.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167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Top down responsibility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234831" y="2508739"/>
            <a:ext cx="9519138" cy="67993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Strategic plan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234831" y="3384061"/>
            <a:ext cx="1578707" cy="5548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Tactical Plan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180858" y="3384061"/>
            <a:ext cx="1578707" cy="5548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Tactical Plan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5165969" y="3384061"/>
            <a:ext cx="1578707" cy="5548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Tactical Plan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7151080" y="3384061"/>
            <a:ext cx="1578707" cy="5548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Tactical Plan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9175262" y="3384061"/>
            <a:ext cx="1578707" cy="5548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Tactical Plan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1234831" y="4228123"/>
            <a:ext cx="554892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1905001" y="4224214"/>
            <a:ext cx="459154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204669" y="4216397"/>
            <a:ext cx="554892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526325" y="4224214"/>
            <a:ext cx="250092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989380" y="4224214"/>
            <a:ext cx="980831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7815387" y="4216396"/>
            <a:ext cx="250092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957271" y="4224214"/>
            <a:ext cx="250092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385157" y="4224214"/>
            <a:ext cx="250092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6717330" y="4224214"/>
            <a:ext cx="980831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876787" y="4216396"/>
            <a:ext cx="980831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8970118" y="4215786"/>
            <a:ext cx="554892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8217861" y="4224213"/>
            <a:ext cx="554892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9673503" y="4224213"/>
            <a:ext cx="980831" cy="46110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5078" y="4609068"/>
            <a:ext cx="9419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Operational Plans</a:t>
            </a:r>
            <a:endParaRPr lang="en-GB" dirty="0"/>
          </a:p>
        </p:txBody>
      </p:sp>
      <p:sp>
        <p:nvSpPr>
          <p:cNvPr id="24" name="Right Arrow 23"/>
          <p:cNvSpPr/>
          <p:nvPr/>
        </p:nvSpPr>
        <p:spPr bwMode="auto">
          <a:xfrm>
            <a:off x="1234831" y="1571135"/>
            <a:ext cx="9519138" cy="867265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Year 0 								Year</a:t>
            </a:r>
            <a:r>
              <a:rPr kumimoji="0" lang="en-GB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 5</a:t>
            </a:r>
            <a:endParaRPr kumimoji="0" lang="en-GB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437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841863"/>
          </a:xfrm>
        </p:spPr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Strategic Plan</a:t>
            </a:r>
            <a:endParaRPr lang="en-GB" sz="36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785" y="778974"/>
            <a:ext cx="11199446" cy="4114800"/>
          </a:xfrm>
        </p:spPr>
        <p:txBody>
          <a:bodyPr/>
          <a:lstStyle/>
          <a:p>
            <a:r>
              <a:rPr lang="en-US" sz="3000" dirty="0" smtClean="0"/>
              <a:t>A </a:t>
            </a:r>
            <a:r>
              <a:rPr lang="en-US" sz="3000" dirty="0"/>
              <a:t>strategic plan is a long-term plan that is fairly stable. </a:t>
            </a:r>
            <a:endParaRPr lang="en-US" sz="3000" dirty="0" smtClean="0"/>
          </a:p>
          <a:p>
            <a:pPr lvl="1"/>
            <a:r>
              <a:rPr lang="en-US" sz="2600" dirty="0" smtClean="0"/>
              <a:t>defines the organisation’s </a:t>
            </a:r>
            <a:r>
              <a:rPr lang="en-US" sz="2600" dirty="0"/>
              <a:t>security purpose. </a:t>
            </a:r>
            <a:endParaRPr lang="en-US" sz="2600" dirty="0" smtClean="0"/>
          </a:p>
          <a:p>
            <a:r>
              <a:rPr lang="en-US" sz="3000" dirty="0" smtClean="0"/>
              <a:t>It </a:t>
            </a:r>
            <a:r>
              <a:rPr lang="en-US" sz="3000" dirty="0"/>
              <a:t>also helps to understand security function and align </a:t>
            </a:r>
            <a:r>
              <a:rPr lang="en-US" sz="3000" dirty="0" smtClean="0"/>
              <a:t>it to </a:t>
            </a:r>
            <a:r>
              <a:rPr lang="en-US" sz="3000" dirty="0"/>
              <a:t>goals, mission, and objectives of the organization. </a:t>
            </a:r>
            <a:endParaRPr lang="en-US" sz="3000" dirty="0" smtClean="0"/>
          </a:p>
          <a:p>
            <a:r>
              <a:rPr lang="en-US" sz="3000" dirty="0" smtClean="0"/>
              <a:t>Has a useful life </a:t>
            </a:r>
            <a:r>
              <a:rPr lang="en-US" sz="3000" dirty="0"/>
              <a:t>for about </a:t>
            </a:r>
            <a:r>
              <a:rPr lang="en-US" sz="3000" dirty="0" smtClean="0"/>
              <a:t>five </a:t>
            </a:r>
            <a:r>
              <a:rPr lang="en-US" sz="3000" dirty="0"/>
              <a:t>years if it </a:t>
            </a:r>
            <a:r>
              <a:rPr lang="en-US" sz="3000" dirty="0" smtClean="0"/>
              <a:t>is maintained </a:t>
            </a:r>
            <a:r>
              <a:rPr lang="en-US" sz="3000" dirty="0"/>
              <a:t>and updated annually. </a:t>
            </a:r>
            <a:endParaRPr lang="en-US" sz="3000" dirty="0" smtClean="0"/>
          </a:p>
          <a:p>
            <a:r>
              <a:rPr lang="en-US" sz="3000" dirty="0" smtClean="0"/>
              <a:t>The </a:t>
            </a:r>
            <a:r>
              <a:rPr lang="en-US" sz="3000" dirty="0"/>
              <a:t>strategic plan also serves as the planning horizon.</a:t>
            </a:r>
          </a:p>
          <a:p>
            <a:pPr lvl="1"/>
            <a:r>
              <a:rPr lang="en-US" sz="2600" dirty="0"/>
              <a:t>Long-term goals and visions for the future are discussed in a strategic plan. </a:t>
            </a:r>
            <a:endParaRPr lang="en-US" sz="2600" dirty="0" smtClean="0"/>
          </a:p>
          <a:p>
            <a:r>
              <a:rPr lang="en-US" sz="3000" dirty="0" smtClean="0"/>
              <a:t>A </a:t>
            </a:r>
            <a:r>
              <a:rPr lang="en-US" sz="3000" dirty="0"/>
              <a:t>strategic </a:t>
            </a:r>
            <a:r>
              <a:rPr lang="en-US" sz="3000" dirty="0" smtClean="0"/>
              <a:t>plan should </a:t>
            </a:r>
            <a:r>
              <a:rPr lang="en-US" sz="3000" dirty="0"/>
              <a:t>include a risk assessment.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192306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Tactical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83774"/>
            <a:ext cx="10824308" cy="4114800"/>
          </a:xfrm>
        </p:spPr>
        <p:txBody>
          <a:bodyPr/>
          <a:lstStyle/>
          <a:p>
            <a:r>
              <a:rPr lang="en-US" dirty="0"/>
              <a:t>The tactical plan is a midterm plan 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developed </a:t>
            </a:r>
            <a:r>
              <a:rPr lang="en-US" dirty="0"/>
              <a:t>to provide more details </a:t>
            </a:r>
            <a:r>
              <a:rPr lang="en-US" dirty="0" smtClean="0"/>
              <a:t>on accomplishing </a:t>
            </a:r>
            <a:r>
              <a:rPr lang="en-US" dirty="0"/>
              <a:t>the goals set </a:t>
            </a:r>
            <a:r>
              <a:rPr lang="en-US" dirty="0" smtClean="0"/>
              <a:t>out in </a:t>
            </a:r>
            <a:r>
              <a:rPr lang="en-US" dirty="0"/>
              <a:t>the strategic plan 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can </a:t>
            </a:r>
            <a:r>
              <a:rPr lang="en-US" dirty="0"/>
              <a:t>be </a:t>
            </a:r>
            <a:r>
              <a:rPr lang="en-US" dirty="0" smtClean="0"/>
              <a:t>ad-hoc </a:t>
            </a:r>
            <a:r>
              <a:rPr lang="en-US" dirty="0"/>
              <a:t>based </a:t>
            </a:r>
            <a:r>
              <a:rPr lang="en-US" dirty="0" smtClean="0"/>
              <a:t>upon unpredicted </a:t>
            </a:r>
            <a:r>
              <a:rPr lang="en-US" dirty="0"/>
              <a:t>events. </a:t>
            </a:r>
            <a:endParaRPr lang="en-US" dirty="0" smtClean="0"/>
          </a:p>
          <a:p>
            <a:r>
              <a:rPr lang="en-US" dirty="0" smtClean="0"/>
              <a:t>It is </a:t>
            </a:r>
            <a:r>
              <a:rPr lang="en-US" dirty="0"/>
              <a:t>typically useful for about a year and often </a:t>
            </a:r>
            <a:r>
              <a:rPr lang="en-US" dirty="0" smtClean="0"/>
              <a:t>prescribes and </a:t>
            </a:r>
            <a:r>
              <a:rPr lang="en-US" dirty="0"/>
              <a:t>schedules the tasks necessary to </a:t>
            </a:r>
            <a:r>
              <a:rPr lang="en-US" dirty="0" smtClean="0"/>
              <a:t>accomplish organizational </a:t>
            </a:r>
            <a:r>
              <a:rPr lang="en-US" dirty="0"/>
              <a:t>goals.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816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Operational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operational plan is a short-term, highly detailed plan based on </a:t>
            </a:r>
            <a:r>
              <a:rPr lang="en-US" dirty="0" smtClean="0"/>
              <a:t>the strategic </a:t>
            </a:r>
            <a:r>
              <a:rPr lang="en-US" dirty="0"/>
              <a:t>and tactical plans.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valid or useful only for a short time. </a:t>
            </a:r>
            <a:endParaRPr lang="en-US" dirty="0" smtClean="0"/>
          </a:p>
          <a:p>
            <a:r>
              <a:rPr lang="en-US" dirty="0" smtClean="0"/>
              <a:t>Operational </a:t>
            </a:r>
            <a:r>
              <a:rPr lang="en-US" dirty="0"/>
              <a:t>plans </a:t>
            </a:r>
            <a:r>
              <a:rPr lang="en-US" dirty="0" smtClean="0"/>
              <a:t>must be </a:t>
            </a:r>
            <a:r>
              <a:rPr lang="en-US" dirty="0"/>
              <a:t>updated </a:t>
            </a:r>
            <a:r>
              <a:rPr lang="en-US" dirty="0" smtClean="0"/>
              <a:t>frequently </a:t>
            </a:r>
          </a:p>
          <a:p>
            <a:r>
              <a:rPr lang="en-US" dirty="0"/>
              <a:t>Operational plans include details on how </a:t>
            </a:r>
            <a:r>
              <a:rPr lang="en-US" dirty="0" smtClean="0"/>
              <a:t>the implementation </a:t>
            </a:r>
            <a:r>
              <a:rPr lang="en-US" dirty="0"/>
              <a:t>processes are in compliance with the </a:t>
            </a:r>
            <a:r>
              <a:rPr lang="en-US" dirty="0" smtClean="0"/>
              <a:t>organisation’s </a:t>
            </a:r>
            <a:r>
              <a:rPr lang="en-US" dirty="0"/>
              <a:t>security policy.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81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2875"/>
            <a:ext cx="10363200" cy="927833"/>
          </a:xfrm>
        </p:spPr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Change Control/Management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70708"/>
            <a:ext cx="10363200" cy="4114800"/>
          </a:xfrm>
        </p:spPr>
        <p:txBody>
          <a:bodyPr/>
          <a:lstStyle/>
          <a:p>
            <a:r>
              <a:rPr lang="en-GB" dirty="0" smtClean="0"/>
              <a:t>Change can introduce new security vulnerabilities</a:t>
            </a:r>
          </a:p>
          <a:p>
            <a:r>
              <a:rPr lang="en-US" dirty="0"/>
              <a:t>The only way to maintain security </a:t>
            </a:r>
            <a:r>
              <a:rPr lang="en-US" dirty="0" smtClean="0"/>
              <a:t>when change is required </a:t>
            </a:r>
            <a:r>
              <a:rPr lang="en-US" dirty="0"/>
              <a:t>is to systematically manage change</a:t>
            </a:r>
            <a:r>
              <a:rPr lang="en-US" dirty="0" smtClean="0"/>
              <a:t>.</a:t>
            </a:r>
          </a:p>
          <a:p>
            <a:r>
              <a:rPr lang="en-US" dirty="0"/>
              <a:t>This usually </a:t>
            </a:r>
            <a:r>
              <a:rPr lang="en-US" dirty="0" smtClean="0"/>
              <a:t>involves:</a:t>
            </a:r>
          </a:p>
          <a:p>
            <a:pPr lvl="1"/>
            <a:r>
              <a:rPr lang="en-US" dirty="0" smtClean="0"/>
              <a:t>extensive </a:t>
            </a:r>
            <a:r>
              <a:rPr lang="en-US" dirty="0"/>
              <a:t>planning,</a:t>
            </a:r>
          </a:p>
          <a:p>
            <a:pPr lvl="1"/>
            <a:r>
              <a:rPr lang="en-US" dirty="0"/>
              <a:t>testing, </a:t>
            </a:r>
            <a:endParaRPr lang="en-US" dirty="0" smtClean="0"/>
          </a:p>
          <a:p>
            <a:pPr lvl="1"/>
            <a:r>
              <a:rPr lang="en-US" dirty="0" smtClean="0"/>
              <a:t>logging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auditing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monitoring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364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Control/Management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Implement changes in a monitored and orderly manner. </a:t>
            </a:r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dirty="0" err="1" smtClean="0"/>
              <a:t>formalised</a:t>
            </a:r>
            <a:r>
              <a:rPr lang="en-US" sz="2400" dirty="0" smtClean="0"/>
              <a:t> </a:t>
            </a:r>
            <a:r>
              <a:rPr lang="en-US" sz="2400" dirty="0"/>
              <a:t>testing process is included to verify that a change produces expected results.</a:t>
            </a:r>
          </a:p>
          <a:p>
            <a:r>
              <a:rPr lang="en-US" sz="2400" dirty="0" smtClean="0"/>
              <a:t>All </a:t>
            </a:r>
            <a:r>
              <a:rPr lang="en-US" sz="2400" dirty="0"/>
              <a:t>changes can be reversed (also known as </a:t>
            </a:r>
            <a:r>
              <a:rPr lang="en-US" sz="2400" dirty="0" err="1"/>
              <a:t>backout</a:t>
            </a:r>
            <a:r>
              <a:rPr lang="en-US" sz="2400" dirty="0"/>
              <a:t> </a:t>
            </a:r>
            <a:r>
              <a:rPr lang="en-US" sz="2400" dirty="0" smtClean="0"/>
              <a:t>or rollback </a:t>
            </a:r>
            <a:r>
              <a:rPr lang="en-US" sz="2400" dirty="0"/>
              <a:t>plans/procedures</a:t>
            </a:r>
            <a:r>
              <a:rPr lang="en-US" sz="2400" dirty="0" smtClean="0"/>
              <a:t>).</a:t>
            </a:r>
          </a:p>
          <a:p>
            <a:r>
              <a:rPr lang="en-US" sz="2400" dirty="0"/>
              <a:t>Users are informed of changes before they occur to prevent loss of productivity.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effects of changes are systematically </a:t>
            </a:r>
            <a:r>
              <a:rPr lang="en-US" sz="2400" dirty="0" err="1" smtClean="0"/>
              <a:t>analysed</a:t>
            </a:r>
            <a:r>
              <a:rPr lang="en-US" sz="2400" dirty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negative impact of changes on capabilities, functionality, and performance </a:t>
            </a:r>
            <a:r>
              <a:rPr lang="en-US" sz="2400" dirty="0" smtClean="0"/>
              <a:t>is </a:t>
            </a:r>
            <a:r>
              <a:rPr lang="en-GB" sz="2400" dirty="0" smtClean="0"/>
              <a:t>minimized</a:t>
            </a:r>
            <a:r>
              <a:rPr lang="en-GB" sz="2400" dirty="0"/>
              <a:t>.</a:t>
            </a:r>
          </a:p>
          <a:p>
            <a:r>
              <a:rPr lang="en-US" sz="2400" dirty="0" smtClean="0"/>
              <a:t>Changes </a:t>
            </a:r>
            <a:r>
              <a:rPr lang="en-US" sz="2400" dirty="0"/>
              <a:t>are reviewed and approved by a C</a:t>
            </a:r>
            <a:r>
              <a:rPr lang="en-US" sz="2400" dirty="0" smtClean="0"/>
              <a:t>hange </a:t>
            </a:r>
            <a:r>
              <a:rPr lang="en-US" sz="2400" dirty="0"/>
              <a:t>A</a:t>
            </a:r>
            <a:r>
              <a:rPr lang="en-US" sz="2400" dirty="0" smtClean="0"/>
              <a:t>pproval </a:t>
            </a:r>
            <a:r>
              <a:rPr lang="en-US" sz="2400" dirty="0"/>
              <a:t>B</a:t>
            </a:r>
            <a:r>
              <a:rPr lang="en-US" sz="2400" dirty="0" smtClean="0"/>
              <a:t>oard (CAB).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1369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565841454"/>
              </p:ext>
            </p:extLst>
          </p:nvPr>
        </p:nvGraphicFramePr>
        <p:xfrm>
          <a:off x="914400" y="1357313"/>
          <a:ext cx="10363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097270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1755</Words>
  <Application>Microsoft Office PowerPoint</Application>
  <PresentationFormat>Widescreen</PresentationFormat>
  <Paragraphs>222</Paragraphs>
  <Slides>33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Courier New</vt:lpstr>
      <vt:lpstr>Georgia</vt:lpstr>
      <vt:lpstr>Tahoma</vt:lpstr>
      <vt:lpstr>Times New Roman</vt:lpstr>
      <vt:lpstr>Default Design</vt:lpstr>
      <vt:lpstr>1_Default Design</vt:lpstr>
      <vt:lpstr>Lecture 2 – Security Governance</vt:lpstr>
      <vt:lpstr>PowerPoint Presentation</vt:lpstr>
      <vt:lpstr>C-I-A Triad</vt:lpstr>
      <vt:lpstr>PowerPoint Presentation</vt:lpstr>
      <vt:lpstr>Confidentiality</vt:lpstr>
      <vt:lpstr>Confidentiality</vt:lpstr>
      <vt:lpstr>Confidentiality</vt:lpstr>
      <vt:lpstr>Confidentiality</vt:lpstr>
      <vt:lpstr>Integrity</vt:lpstr>
      <vt:lpstr>Integrity</vt:lpstr>
      <vt:lpstr>Integrity</vt:lpstr>
      <vt:lpstr>Accountability</vt:lpstr>
      <vt:lpstr>Accountability</vt:lpstr>
      <vt:lpstr>PowerPoint Presentation</vt:lpstr>
      <vt:lpstr>Nonrepudiation</vt:lpstr>
      <vt:lpstr>Nonrepudiation</vt:lpstr>
      <vt:lpstr>PowerPoint Presentation</vt:lpstr>
      <vt:lpstr>Protection Mechanisms</vt:lpstr>
      <vt:lpstr>Layering</vt:lpstr>
      <vt:lpstr>Layering</vt:lpstr>
      <vt:lpstr>Abstraction</vt:lpstr>
      <vt:lpstr>Abstraction</vt:lpstr>
      <vt:lpstr>Data Hiding</vt:lpstr>
      <vt:lpstr>Encryption</vt:lpstr>
      <vt:lpstr>Applying Security Governance Principles</vt:lpstr>
      <vt:lpstr>Applying Security Governance Principles</vt:lpstr>
      <vt:lpstr>Top down responsibility</vt:lpstr>
      <vt:lpstr>Strategic Plan</vt:lpstr>
      <vt:lpstr>Tactical plan</vt:lpstr>
      <vt:lpstr>Operational Plan</vt:lpstr>
      <vt:lpstr>Change Control/Management</vt:lpstr>
      <vt:lpstr>Change Control/Management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Governance</dc:title>
  <dc:creator>Nigel Houlden</dc:creator>
  <cp:lastModifiedBy>Nigel Houlden</cp:lastModifiedBy>
  <cp:revision>47</cp:revision>
  <dcterms:created xsi:type="dcterms:W3CDTF">2019-01-03T16:39:29Z</dcterms:created>
  <dcterms:modified xsi:type="dcterms:W3CDTF">2019-10-08T09:15:43Z</dcterms:modified>
</cp:coreProperties>
</file>