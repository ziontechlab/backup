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97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1" r:id="rId36"/>
    <p:sldId id="292" r:id="rId37"/>
    <p:sldId id="293" r:id="rId38"/>
    <p:sldId id="294" r:id="rId39"/>
    <p:sldId id="295" r:id="rId40"/>
    <p:sldId id="296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2714" autoAdjust="0"/>
  </p:normalViewPr>
  <p:slideViewPr>
    <p:cSldViewPr snapToGrid="0">
      <p:cViewPr varScale="1">
        <p:scale>
          <a:sx n="106" d="100"/>
          <a:sy n="106" d="100"/>
        </p:scale>
        <p:origin x="7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835DF8-6261-41F6-990E-30E6CB397752}" type="datetimeFigureOut">
              <a:rPr lang="en-GB" smtClean="0"/>
              <a:t>10/12/2019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7DF904-CC25-4751-AAFB-A5558FF028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1798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1E9B611-79A5-4063-8624-6013F60C0F92}" type="slidenum">
              <a:rPr lang="en-GB" altLang="en-US" sz="120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1</a:t>
            </a:fld>
            <a:endParaRPr lang="en-GB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3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155FF4-E2EE-4F46-9653-C19B48FDD340}" type="slidenum">
              <a:rPr lang="en-AU">
                <a:solidFill>
                  <a:srgbClr val="000000"/>
                </a:solidFill>
              </a:rPr>
              <a:pPr/>
              <a:t>3</a:t>
            </a:fld>
            <a:endParaRPr lang="en-AU">
              <a:solidFill>
                <a:srgbClr val="000000"/>
              </a:solidFill>
            </a:endParaRPr>
          </a:p>
        </p:txBody>
      </p:sp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6257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155FF4-E2EE-4F46-9653-C19B48FDD340}" type="slidenum">
              <a:rPr lang="en-AU">
                <a:solidFill>
                  <a:srgbClr val="000000"/>
                </a:solidFill>
              </a:rPr>
              <a:pPr/>
              <a:t>4</a:t>
            </a:fld>
            <a:endParaRPr lang="en-AU">
              <a:solidFill>
                <a:srgbClr val="000000"/>
              </a:solidFill>
            </a:endParaRPr>
          </a:p>
        </p:txBody>
      </p:sp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928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3C66C8-CD2A-E348-85EE-ED94F9548A35}" type="slidenum">
              <a:rPr lang="en-AU">
                <a:solidFill>
                  <a:srgbClr val="000000"/>
                </a:solidFill>
              </a:rPr>
              <a:pPr/>
              <a:t>5</a:t>
            </a:fld>
            <a:endParaRPr lang="en-AU">
              <a:solidFill>
                <a:srgbClr val="000000"/>
              </a:solidFill>
            </a:endParaRPr>
          </a:p>
        </p:txBody>
      </p:sp>
      <p:sp>
        <p:nvSpPr>
          <p:cNvPr id="209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610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EA96AA-BF81-B841-B7A8-0C2606A0C1E3}" type="slidenum">
              <a:rPr lang="en-AU">
                <a:solidFill>
                  <a:srgbClr val="000000"/>
                </a:solidFill>
              </a:rPr>
              <a:pPr/>
              <a:t>6</a:t>
            </a:fld>
            <a:endParaRPr lang="en-AU">
              <a:solidFill>
                <a:srgbClr val="000000"/>
              </a:solidFill>
            </a:endParaRPr>
          </a:p>
        </p:txBody>
      </p:sp>
      <p:sp>
        <p:nvSpPr>
          <p:cNvPr id="212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5621645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06690B-981F-DE4C-B898-F2BF3F90CDA5}" type="slidenum">
              <a:rPr lang="en-AU">
                <a:solidFill>
                  <a:srgbClr val="000000"/>
                </a:solidFill>
              </a:rPr>
              <a:pPr/>
              <a:t>7</a:t>
            </a:fld>
            <a:endParaRPr lang="en-AU">
              <a:solidFill>
                <a:srgbClr val="000000"/>
              </a:solidFill>
            </a:endParaRPr>
          </a:p>
        </p:txBody>
      </p:sp>
      <p:sp>
        <p:nvSpPr>
          <p:cNvPr id="218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3961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C26E00-EEE8-124F-8524-3255E29AA7FA}" type="slidenum">
              <a:rPr lang="en-US" smtClean="0">
                <a:solidFill>
                  <a:srgbClr val="000000"/>
                </a:solidFill>
              </a:rPr>
              <a:pPr/>
              <a:t>8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0793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88A58A-2B5B-BC41-9105-AEFAD7F28AC4}" type="slidenum">
              <a:rPr lang="en-AU">
                <a:solidFill>
                  <a:srgbClr val="000000"/>
                </a:solidFill>
              </a:rPr>
              <a:pPr/>
              <a:t>10</a:t>
            </a:fld>
            <a:endParaRPr lang="en-AU">
              <a:solidFill>
                <a:srgbClr val="000000"/>
              </a:solidFill>
            </a:endParaRPr>
          </a:p>
        </p:txBody>
      </p:sp>
      <p:sp>
        <p:nvSpPr>
          <p:cNvPr id="216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0212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A848DE-2947-634B-AF46-5D76327CB10E}" type="slidenum">
              <a:rPr lang="en-AU">
                <a:solidFill>
                  <a:srgbClr val="000000"/>
                </a:solidFill>
              </a:rPr>
              <a:pPr/>
              <a:t>11</a:t>
            </a:fld>
            <a:endParaRPr lang="en-AU">
              <a:solidFill>
                <a:srgbClr val="000000"/>
              </a:solidFill>
            </a:endParaRPr>
          </a:p>
        </p:txBody>
      </p:sp>
      <p:sp>
        <p:nvSpPr>
          <p:cNvPr id="222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884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A848DE-2947-634B-AF46-5D76327CB10E}" type="slidenum">
              <a:rPr lang="en-AU">
                <a:solidFill>
                  <a:srgbClr val="000000"/>
                </a:solidFill>
              </a:rPr>
              <a:pPr/>
              <a:t>12</a:t>
            </a:fld>
            <a:endParaRPr lang="en-AU">
              <a:solidFill>
                <a:srgbClr val="000000"/>
              </a:solidFill>
            </a:endParaRPr>
          </a:p>
        </p:txBody>
      </p:sp>
      <p:sp>
        <p:nvSpPr>
          <p:cNvPr id="222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6726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A848DE-2947-634B-AF46-5D76327CB10E}" type="slidenum">
              <a:rPr lang="en-AU">
                <a:solidFill>
                  <a:srgbClr val="000000"/>
                </a:solidFill>
              </a:rPr>
              <a:pPr/>
              <a:t>13</a:t>
            </a:fld>
            <a:endParaRPr lang="en-AU">
              <a:solidFill>
                <a:srgbClr val="000000"/>
              </a:solidFill>
            </a:endParaRPr>
          </a:p>
        </p:txBody>
      </p:sp>
      <p:sp>
        <p:nvSpPr>
          <p:cNvPr id="222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302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AE0A37-7DB2-DE49-9353-066250C30972}" type="slidenum">
              <a:rPr lang="en-AU">
                <a:solidFill>
                  <a:srgbClr val="000000"/>
                </a:solidFill>
              </a:rPr>
              <a:pPr/>
              <a:t>14</a:t>
            </a:fld>
            <a:endParaRPr lang="en-AU">
              <a:solidFill>
                <a:srgbClr val="000000"/>
              </a:solidFill>
            </a:endParaRPr>
          </a:p>
        </p:txBody>
      </p:sp>
      <p:sp>
        <p:nvSpPr>
          <p:cNvPr id="24064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064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5830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EDB2F7-0D7F-D14C-9D0A-BD8807884EB9}" type="slidenum">
              <a:rPr lang="en-AU">
                <a:solidFill>
                  <a:srgbClr val="000000"/>
                </a:solidFill>
              </a:rPr>
              <a:pPr/>
              <a:t>15</a:t>
            </a:fld>
            <a:endParaRPr lang="en-AU">
              <a:solidFill>
                <a:srgbClr val="000000"/>
              </a:solidFill>
            </a:endParaRPr>
          </a:p>
        </p:txBody>
      </p:sp>
      <p:sp>
        <p:nvSpPr>
          <p:cNvPr id="242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0448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CC1934-E2C2-EA4F-99B7-6C8B1C2672E6}" type="slidenum">
              <a:rPr lang="en-AU">
                <a:solidFill>
                  <a:srgbClr val="000000"/>
                </a:solidFill>
              </a:rPr>
              <a:pPr/>
              <a:t>16</a:t>
            </a:fld>
            <a:endParaRPr lang="en-AU">
              <a:solidFill>
                <a:srgbClr val="000000"/>
              </a:solidFill>
            </a:endParaRPr>
          </a:p>
        </p:txBody>
      </p:sp>
      <p:sp>
        <p:nvSpPr>
          <p:cNvPr id="244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6677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55D425-5E7C-3F47-BBD4-2FC22DB881FE}" type="slidenum">
              <a:rPr lang="en-AU">
                <a:solidFill>
                  <a:srgbClr val="000000"/>
                </a:solidFill>
              </a:rPr>
              <a:pPr/>
              <a:t>17</a:t>
            </a:fld>
            <a:endParaRPr lang="en-AU">
              <a:solidFill>
                <a:srgbClr val="000000"/>
              </a:solidFill>
            </a:endParaRPr>
          </a:p>
        </p:txBody>
      </p:sp>
      <p:sp>
        <p:nvSpPr>
          <p:cNvPr id="24678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997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520F06-D840-7F4C-AE18-295CF857179A}" type="slidenum">
              <a:rPr lang="en-AU">
                <a:solidFill>
                  <a:srgbClr val="000000"/>
                </a:solidFill>
              </a:rPr>
              <a:pPr/>
              <a:t>18</a:t>
            </a:fld>
            <a:endParaRPr lang="en-AU">
              <a:solidFill>
                <a:srgbClr val="000000"/>
              </a:solidFill>
            </a:endParaRPr>
          </a:p>
        </p:txBody>
      </p:sp>
      <p:sp>
        <p:nvSpPr>
          <p:cNvPr id="24883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88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3301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AA5F86D-9406-154D-A1CC-E9A4EB2C4BAD}" type="slidenum">
              <a:rPr lang="en-AU">
                <a:solidFill>
                  <a:srgbClr val="000000"/>
                </a:solidFill>
              </a:rPr>
              <a:pPr/>
              <a:t>19</a:t>
            </a:fld>
            <a:endParaRPr lang="en-AU">
              <a:solidFill>
                <a:srgbClr val="000000"/>
              </a:solidFill>
            </a:endParaRPr>
          </a:p>
        </p:txBody>
      </p:sp>
      <p:sp>
        <p:nvSpPr>
          <p:cNvPr id="25088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08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9016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A487CF-0FD0-2440-A35B-E9ED04C4D0E0}" type="slidenum">
              <a:rPr lang="en-AU">
                <a:solidFill>
                  <a:srgbClr val="000000"/>
                </a:solidFill>
              </a:rPr>
              <a:pPr/>
              <a:t>20</a:t>
            </a:fld>
            <a:endParaRPr lang="en-AU">
              <a:solidFill>
                <a:srgbClr val="000000"/>
              </a:solidFill>
            </a:endParaRPr>
          </a:p>
        </p:txBody>
      </p:sp>
      <p:sp>
        <p:nvSpPr>
          <p:cNvPr id="25293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29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b="0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081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FF1951D-C0BC-F849-A16A-A55E127DF1F0}" type="slidenum">
              <a:rPr lang="en-AU">
                <a:solidFill>
                  <a:srgbClr val="000000"/>
                </a:solidFill>
              </a:rPr>
              <a:pPr/>
              <a:t>21</a:t>
            </a:fld>
            <a:endParaRPr lang="en-AU">
              <a:solidFill>
                <a:srgbClr val="000000"/>
              </a:solidFill>
            </a:endParaRPr>
          </a:p>
        </p:txBody>
      </p:sp>
      <p:sp>
        <p:nvSpPr>
          <p:cNvPr id="25497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49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8579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8D4C3A-9F86-AF4A-B6DF-2F6D8A073576}" type="slidenum">
              <a:rPr lang="en-AU">
                <a:solidFill>
                  <a:srgbClr val="000000"/>
                </a:solidFill>
              </a:rPr>
              <a:pPr/>
              <a:t>22</a:t>
            </a:fld>
            <a:endParaRPr lang="en-AU">
              <a:solidFill>
                <a:srgbClr val="000000"/>
              </a:solidFill>
            </a:endParaRPr>
          </a:p>
        </p:txBody>
      </p:sp>
      <p:sp>
        <p:nvSpPr>
          <p:cNvPr id="265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5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16187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48039A-B14D-124D-9448-19C73C68AF57}" type="slidenum">
              <a:rPr lang="en-AU">
                <a:solidFill>
                  <a:srgbClr val="000000"/>
                </a:solidFill>
              </a:rPr>
              <a:pPr/>
              <a:t>23</a:t>
            </a:fld>
            <a:endParaRPr lang="en-AU">
              <a:solidFill>
                <a:srgbClr val="000000"/>
              </a:solidFill>
            </a:endParaRPr>
          </a:p>
        </p:txBody>
      </p:sp>
      <p:sp>
        <p:nvSpPr>
          <p:cNvPr id="257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7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5210495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C26E00-EEE8-124F-8524-3255E29AA7FA}" type="slidenum">
              <a:rPr lang="en-US" smtClean="0">
                <a:solidFill>
                  <a:srgbClr val="000000"/>
                </a:solidFill>
              </a:rPr>
              <a:pPr/>
              <a:t>24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28723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C26E00-EEE8-124F-8524-3255E29AA7FA}" type="slidenum">
              <a:rPr lang="en-US" smtClean="0">
                <a:solidFill>
                  <a:srgbClr val="000000"/>
                </a:solidFill>
              </a:rPr>
              <a:pPr/>
              <a:t>25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76544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584BBF-1618-CB42-A7DD-893D9449ED6F}" type="slidenum">
              <a:rPr lang="en-AU">
                <a:solidFill>
                  <a:srgbClr val="000000"/>
                </a:solidFill>
              </a:rPr>
              <a:pPr/>
              <a:t>26</a:t>
            </a:fld>
            <a:endParaRPr lang="en-AU">
              <a:solidFill>
                <a:srgbClr val="000000"/>
              </a:solidFill>
            </a:endParaRPr>
          </a:p>
        </p:txBody>
      </p:sp>
      <p:sp>
        <p:nvSpPr>
          <p:cNvPr id="275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4996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87EE17-C1DC-6C45-B857-F14F532937C8}" type="slidenum">
              <a:rPr lang="en-AU">
                <a:solidFill>
                  <a:srgbClr val="000000"/>
                </a:solidFill>
              </a:rPr>
              <a:pPr/>
              <a:t>29</a:t>
            </a:fld>
            <a:endParaRPr lang="en-AU">
              <a:solidFill>
                <a:srgbClr val="000000"/>
              </a:solidFill>
            </a:endParaRPr>
          </a:p>
        </p:txBody>
      </p:sp>
      <p:sp>
        <p:nvSpPr>
          <p:cNvPr id="226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516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87EE17-C1DC-6C45-B857-F14F532937C8}" type="slidenum">
              <a:rPr lang="en-AU">
                <a:solidFill>
                  <a:srgbClr val="000000"/>
                </a:solidFill>
              </a:rPr>
              <a:pPr/>
              <a:t>30</a:t>
            </a:fld>
            <a:endParaRPr lang="en-AU">
              <a:solidFill>
                <a:srgbClr val="000000"/>
              </a:solidFill>
            </a:endParaRPr>
          </a:p>
        </p:txBody>
      </p:sp>
      <p:sp>
        <p:nvSpPr>
          <p:cNvPr id="226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1395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52F3A3-06A8-7949-9295-FC80A6E4392B}" type="slidenum">
              <a:rPr lang="en-AU">
                <a:solidFill>
                  <a:srgbClr val="000000"/>
                </a:solidFill>
              </a:rPr>
              <a:pPr/>
              <a:t>33</a:t>
            </a:fld>
            <a:endParaRPr lang="en-AU">
              <a:solidFill>
                <a:srgbClr val="000000"/>
              </a:solidFill>
            </a:endParaRPr>
          </a:p>
        </p:txBody>
      </p:sp>
      <p:sp>
        <p:nvSpPr>
          <p:cNvPr id="242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2513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442E9B-2AEF-A843-A3C4-7CE345426EEE}" type="slidenum">
              <a:rPr lang="en-AU">
                <a:solidFill>
                  <a:srgbClr val="000000"/>
                </a:solidFill>
              </a:rPr>
              <a:pPr/>
              <a:t>34</a:t>
            </a:fld>
            <a:endParaRPr lang="en-AU">
              <a:solidFill>
                <a:srgbClr val="000000"/>
              </a:solidFill>
            </a:endParaRPr>
          </a:p>
        </p:txBody>
      </p:sp>
      <p:sp>
        <p:nvSpPr>
          <p:cNvPr id="244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41105418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A961A2-2FAC-124D-81BD-A737F6AADEC4}" type="slidenum">
              <a:rPr lang="en-AU">
                <a:solidFill>
                  <a:srgbClr val="000000"/>
                </a:solidFill>
              </a:rPr>
              <a:pPr/>
              <a:t>35</a:t>
            </a:fld>
            <a:endParaRPr lang="en-AU">
              <a:solidFill>
                <a:srgbClr val="000000"/>
              </a:solidFill>
            </a:endParaRPr>
          </a:p>
        </p:txBody>
      </p:sp>
      <p:sp>
        <p:nvSpPr>
          <p:cNvPr id="259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9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2209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04DFA35-2B9F-1C44-8C2E-7F869A927F01}" type="slidenum">
              <a:rPr lang="en-AU">
                <a:solidFill>
                  <a:srgbClr val="000000"/>
                </a:solidFill>
              </a:rPr>
              <a:pPr/>
              <a:t>36</a:t>
            </a:fld>
            <a:endParaRPr lang="en-AU">
              <a:solidFill>
                <a:srgbClr val="000000"/>
              </a:solidFill>
            </a:endParaRPr>
          </a:p>
        </p:txBody>
      </p:sp>
      <p:sp>
        <p:nvSpPr>
          <p:cNvPr id="261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1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7170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549EAD-85AB-3747-BAAB-24C35BF6112D}" type="slidenum">
              <a:rPr lang="en-AU">
                <a:solidFill>
                  <a:srgbClr val="000000"/>
                </a:solidFill>
              </a:rPr>
              <a:pPr/>
              <a:t>37</a:t>
            </a:fld>
            <a:endParaRPr lang="en-AU">
              <a:solidFill>
                <a:srgbClr val="000000"/>
              </a:solidFill>
            </a:endParaRPr>
          </a:p>
        </p:txBody>
      </p:sp>
      <p:sp>
        <p:nvSpPr>
          <p:cNvPr id="267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7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7371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DDC367-C9FF-CE4D-BCBA-E083BB08657C}" type="slidenum">
              <a:rPr lang="en-AU">
                <a:solidFill>
                  <a:srgbClr val="000000"/>
                </a:solidFill>
              </a:rPr>
              <a:pPr/>
              <a:t>38</a:t>
            </a:fld>
            <a:endParaRPr lang="en-AU">
              <a:solidFill>
                <a:srgbClr val="000000"/>
              </a:solidFill>
            </a:endParaRPr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5878003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4FD430-4273-0C45-BCD0-0DC702BF8757}" type="slidenum">
              <a:rPr lang="en-AU">
                <a:solidFill>
                  <a:srgbClr val="000000"/>
                </a:solidFill>
              </a:rPr>
              <a:pPr/>
              <a:t>39</a:t>
            </a:fld>
            <a:endParaRPr lang="en-AU">
              <a:solidFill>
                <a:srgbClr val="000000"/>
              </a:solidFill>
            </a:endParaRPr>
          </a:p>
        </p:txBody>
      </p:sp>
      <p:sp>
        <p:nvSpPr>
          <p:cNvPr id="28160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160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7559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AF8046-0263-F74C-BDB1-E6E78A850B0B}" type="slidenum">
              <a:rPr lang="en-AU">
                <a:solidFill>
                  <a:srgbClr val="000000"/>
                </a:solidFill>
              </a:rPr>
              <a:pPr/>
              <a:t>40</a:t>
            </a:fld>
            <a:endParaRPr lang="en-AU" dirty="0">
              <a:solidFill>
                <a:srgbClr val="000000"/>
              </a:solidFill>
            </a:endParaRPr>
          </a:p>
        </p:txBody>
      </p:sp>
      <p:sp>
        <p:nvSpPr>
          <p:cNvPr id="206852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itchFamily="-107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866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EE6291-FC66-4C7E-B805-791E609FC7B6}" type="slidenum">
              <a:rPr lang="en-GB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464151"/>
      </p:ext>
    </p:extLst>
  </p:cSld>
  <p:clrMapOvr>
    <a:masterClrMapping/>
  </p:clrMapOvr>
  <p:transition advTm="5000"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143934" y="5732463"/>
            <a:ext cx="140134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6000">
                <a:solidFill>
                  <a:srgbClr val="FFFFFF"/>
                </a:solidFill>
                <a:latin typeface="Georgia" pitchFamily="18" charset="0"/>
              </a:rPr>
              <a:t>c</a:t>
            </a:r>
            <a:r>
              <a:rPr lang="en-GB" sz="4000">
                <a:solidFill>
                  <a:srgbClr val="FFFFFF"/>
                </a:solidFill>
                <a:latin typeface="Georgia" pitchFamily="18" charset="0"/>
              </a:rPr>
              <a:t>@</a:t>
            </a:r>
            <a:r>
              <a:rPr lang="en-GB" sz="6000">
                <a:solidFill>
                  <a:srgbClr val="FFFFFF"/>
                </a:solidFill>
                <a:latin typeface="Georgia" pitchFamily="18" charset="0"/>
              </a:rPr>
              <a:t>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CC69CA-3F23-44CA-945B-0FA4477283F4}" type="slidenum">
              <a:rPr lang="en-GB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046775"/>
      </p:ext>
    </p:extLst>
  </p:cSld>
  <p:clrMapOvr>
    <a:masterClrMapping/>
  </p:clrMapOvr>
  <p:transition advTm="5000"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77758-8C37-4DF1-97AB-37A77D625D27}" type="slidenum">
              <a:rPr lang="en-GB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620488"/>
      </p:ext>
    </p:extLst>
  </p:cSld>
  <p:clrMapOvr>
    <a:masterClrMapping/>
  </p:clrMapOvr>
  <p:transition advTm="5000"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FDF3D6-0B4F-41BB-A2E9-5EE288C12E7D}" type="slidenum">
              <a:rPr lang="en-GB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211701"/>
      </p:ext>
    </p:extLst>
  </p:cSld>
  <p:clrMapOvr>
    <a:masterClrMapping/>
  </p:clrMapOvr>
  <p:transition advTm="5000"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005AFC-2604-42A5-BE75-ACBC63D550FA}" type="slidenum">
              <a:rPr lang="en-GB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877440"/>
      </p:ext>
    </p:extLst>
  </p:cSld>
  <p:clrMapOvr>
    <a:masterClrMapping/>
  </p:clrMapOvr>
  <p:transition advTm="5000"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E6357F-E285-4B03-9226-48D613FBC574}" type="slidenum">
              <a:rPr lang="en-GB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826524"/>
      </p:ext>
    </p:extLst>
  </p:cSld>
  <p:clrMapOvr>
    <a:masterClrMapping/>
  </p:clrMapOvr>
  <p:transition advTm="5000"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15E10C-CC7A-417A-A2EE-23A0EFFC8E4D}" type="slidenum">
              <a:rPr lang="en-GB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691653"/>
      </p:ext>
    </p:extLst>
  </p:cSld>
  <p:clrMapOvr>
    <a:masterClrMapping/>
  </p:clrMapOvr>
  <p:transition advTm="5000"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9E4A2D-E46C-4766-8C2E-027EBC5B508C}" type="slidenum">
              <a:rPr lang="en-GB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62189"/>
      </p:ext>
    </p:extLst>
  </p:cSld>
  <p:clrMapOvr>
    <a:masterClrMapping/>
  </p:clrMapOvr>
  <p:transition advTm="5000"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7E9A74-7737-4008-93AE-82F7F5FA4879}" type="slidenum">
              <a:rPr lang="en-GB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8683665"/>
      </p:ext>
    </p:extLst>
  </p:cSld>
  <p:clrMapOvr>
    <a:masterClrMapping/>
  </p:clrMapOvr>
  <p:transition advTm="5000"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B50079-DBA3-4EC3-9B8C-5C8B3B58FB43}" type="slidenum">
              <a:rPr lang="en-GB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02898"/>
      </p:ext>
    </p:extLst>
  </p:cSld>
  <p:clrMapOvr>
    <a:masterClrMapping/>
  </p:clrMapOvr>
  <p:transition advTm="5000"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5E8AE7-88A0-4549-A1EA-61CBAAEBA1F3}" type="slidenum">
              <a:rPr lang="en-GB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252839"/>
      </p:ext>
    </p:extLst>
  </p:cSld>
  <p:clrMapOvr>
    <a:masterClrMapping/>
  </p:clrMapOvr>
  <p:transition advTm="5000">
    <p:dissolv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B7A2F1-7C63-4914-A25E-31B95FAF134D}" type="slidenum">
              <a:rPr lang="en-GB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14427"/>
      </p:ext>
    </p:extLst>
  </p:cSld>
  <p:clrMapOvr>
    <a:masterClrMapping/>
  </p:clrMapOvr>
  <p:transition advTm="5000">
    <p:dissolv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42875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357313"/>
            <a:ext cx="10363200" cy="4114800"/>
          </a:xfrm>
        </p:spPr>
        <p:txBody>
          <a:bodyPr/>
          <a:lstStyle/>
          <a:p>
            <a:pPr lvl="0"/>
            <a:endParaRPr lang="en-GB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8EA372-0C85-4E5C-A78F-2E1B1B18CAB2}" type="slidenum">
              <a:rPr lang="en-GB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6800119"/>
      </p:ext>
    </p:extLst>
  </p:cSld>
  <p:clrMapOvr>
    <a:masterClrMapping/>
  </p:clrMapOvr>
  <p:transition advTm="5000">
    <p:dissolv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B0B03-4470-42C2-9D9E-438D81831551}" type="datetime1">
              <a:rPr lang="en-US" smtClean="0">
                <a:solidFill>
                  <a:srgbClr val="000000"/>
                </a:solidFill>
                <a:latin typeface="Arial"/>
              </a:rPr>
              <a:pPr/>
              <a:t>12/10/2019</a:t>
            </a:fld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1F0F2-74A4-EF40-82B3-DFFDF0BA3880}" type="slidenum">
              <a:rPr lang="en-US" smtClean="0">
                <a:solidFill>
                  <a:srgbClr val="000000"/>
                </a:solidFill>
                <a:latin typeface="Arial"/>
              </a:rPr>
              <a:pPr/>
              <a:t>‹#›</a:t>
            </a:fld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544582"/>
            <a:ext cx="12192000" cy="329184"/>
          </a:xfrm>
        </p:spPr>
        <p:txBody>
          <a:bodyPr/>
          <a:lstStyle>
            <a:lvl1pPr>
              <a:defRPr sz="95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From </a:t>
            </a:r>
            <a:r>
              <a:rPr lang="en-US" i="1" dirty="0">
                <a:solidFill>
                  <a:srgbClr val="000000"/>
                </a:solidFill>
              </a:rPr>
              <a:t>Security in Computing, Fifth Edition</a:t>
            </a:r>
            <a:r>
              <a:rPr lang="en-US" dirty="0">
                <a:solidFill>
                  <a:srgbClr val="000000"/>
                </a:solidFill>
              </a:rPr>
              <a:t>, by Charles P. </a:t>
            </a:r>
            <a:r>
              <a:rPr lang="en-US" dirty="0" err="1">
                <a:solidFill>
                  <a:srgbClr val="000000"/>
                </a:solidFill>
              </a:rPr>
              <a:t>Pfleeger</a:t>
            </a:r>
            <a:r>
              <a:rPr lang="en-US" dirty="0">
                <a:solidFill>
                  <a:srgbClr val="000000"/>
                </a:solidFill>
              </a:rPr>
              <a:t>, et al. (ISBN: 9780134085043). Copyright 2015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76784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142875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357313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4D1ED90-0827-4CB6-B597-69384EBF957E}" type="slidenum">
              <a:rPr lang="en-GB" altLang="en-US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  <p:pic>
        <p:nvPicPr>
          <p:cNvPr id="1031" name="Picture 65" descr="Glyndwr PPT-4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17" y="4868864"/>
            <a:ext cx="12194117" cy="198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2189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ransition advTm="5000">
    <p:dissolv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1631950" y="869950"/>
            <a:ext cx="8928100" cy="1728788"/>
          </a:xfrm>
        </p:spPr>
        <p:txBody>
          <a:bodyPr/>
          <a:lstStyle/>
          <a:p>
            <a:pPr algn="r"/>
            <a:r>
              <a:rPr lang="en-GB" altLang="en-US" sz="5400">
                <a:latin typeface="Georgia" panose="02040502050405020303" pitchFamily="18" charset="0"/>
              </a:rPr>
              <a:t>Lecture 9 </a:t>
            </a:r>
            <a:r>
              <a:rPr lang="en-GB" altLang="en-US" sz="5400" dirty="0">
                <a:latin typeface="Georgia" panose="02040502050405020303" pitchFamily="18" charset="0"/>
              </a:rPr>
              <a:t>– Software Security</a:t>
            </a:r>
          </a:p>
        </p:txBody>
      </p:sp>
      <p:sp>
        <p:nvSpPr>
          <p:cNvPr id="6147" name="TextBox 3"/>
          <p:cNvSpPr txBox="1">
            <a:spLocks noChangeArrowheads="1"/>
          </p:cNvSpPr>
          <p:nvPr/>
        </p:nvSpPr>
        <p:spPr bwMode="auto">
          <a:xfrm>
            <a:off x="1631950" y="2714626"/>
            <a:ext cx="8928100" cy="2139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GB" altLang="en-US" sz="1900" dirty="0">
                <a:solidFill>
                  <a:srgbClr val="000000"/>
                </a:solidFill>
                <a:latin typeface="Georgia" panose="02040502050405020303" pitchFamily="18" charset="0"/>
              </a:rPr>
              <a:t>COM744: Security and Risk Management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GB" altLang="en-US" sz="1900" dirty="0">
                <a:solidFill>
                  <a:srgbClr val="000000"/>
                </a:solidFill>
                <a:latin typeface="Georgia" panose="02040502050405020303" pitchFamily="18" charset="0"/>
              </a:rPr>
              <a:t>Nigel Houlden / Denise Oram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GB" altLang="en-US" sz="12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GB" altLang="en-US" sz="20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GB" altLang="en-US" sz="20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GB" altLang="en-US" sz="18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GB" altLang="en-US" sz="8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GB" altLang="en-US" sz="17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n.houlden@glyndwr.ac.uk / d.oram@Glyndwr.ac.uk</a:t>
            </a:r>
          </a:p>
        </p:txBody>
      </p:sp>
    </p:spTree>
    <p:extLst>
      <p:ext uri="{BB962C8B-B14F-4D97-AF65-F5344CB8AC3E}">
        <p14:creationId xmlns:p14="http://schemas.microsoft.com/office/powerpoint/2010/main" val="3058857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Georgia" panose="02040502050405020303" pitchFamily="18" charset="0"/>
              </a:rPr>
              <a:t>Test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Georgia" panose="02040502050405020303" pitchFamily="18" charset="0"/>
              </a:rPr>
              <a:t>Tuesday 14</a:t>
            </a:r>
            <a:r>
              <a:rPr lang="en-US" sz="2800" baseline="30000" dirty="0">
                <a:latin typeface="Georgia" panose="02040502050405020303" pitchFamily="18" charset="0"/>
              </a:rPr>
              <a:t>th</a:t>
            </a:r>
            <a:r>
              <a:rPr lang="en-US" sz="2800" dirty="0">
                <a:latin typeface="Georgia" panose="02040502050405020303" pitchFamily="18" charset="0"/>
              </a:rPr>
              <a:t> January 2020</a:t>
            </a:r>
          </a:p>
          <a:p>
            <a:r>
              <a:rPr lang="en-US" sz="2800" dirty="0">
                <a:latin typeface="Georgia" panose="02040502050405020303" pitchFamily="18" charset="0"/>
              </a:rPr>
              <a:t>Room TBA – Please check Moodle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endParaRPr 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391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Software Security Issues</a:t>
            </a:r>
            <a:endParaRPr lang="en-AU" dirty="0">
              <a:latin typeface="Georgia" panose="02040502050405020303" pitchFamily="18" charset="0"/>
            </a:endParaRPr>
          </a:p>
        </p:txBody>
      </p:sp>
      <p:sp>
        <p:nvSpPr>
          <p:cNvPr id="200707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1831254" y="1484785"/>
            <a:ext cx="8297194" cy="4495799"/>
          </a:xfrm>
        </p:spPr>
        <p:txBody>
          <a:bodyPr>
            <a:normAutofit lnSpcReduction="10000"/>
          </a:bodyPr>
          <a:lstStyle/>
          <a:p>
            <a:r>
              <a:rPr lang="en-AU" dirty="0">
                <a:latin typeface="Georgia" panose="02040502050405020303" pitchFamily="18" charset="0"/>
              </a:rPr>
              <a:t>Many vulnerabilities result from poor programming practices</a:t>
            </a:r>
          </a:p>
          <a:p>
            <a:r>
              <a:rPr lang="en-AU" dirty="0">
                <a:latin typeface="Georgia" panose="02040502050405020303" pitchFamily="18" charset="0"/>
              </a:rPr>
              <a:t>Consequence from insufficient checking and validation of data and error codes</a:t>
            </a:r>
          </a:p>
          <a:p>
            <a:pPr lvl="1">
              <a:buClr>
                <a:schemeClr val="accent2">
                  <a:lumMod val="60000"/>
                  <a:lumOff val="40000"/>
                </a:schemeClr>
              </a:buClr>
            </a:pPr>
            <a:r>
              <a:rPr lang="en-AU" dirty="0">
                <a:latin typeface="Georgia" panose="02040502050405020303" pitchFamily="18" charset="0"/>
              </a:rPr>
              <a:t>Awareness of these issues is a critical initial step in writing more secure program code</a:t>
            </a:r>
          </a:p>
          <a:p>
            <a:pPr>
              <a:buClr>
                <a:schemeClr val="accent2">
                  <a:lumMod val="60000"/>
                  <a:lumOff val="40000"/>
                </a:schemeClr>
              </a:buClr>
            </a:pPr>
            <a:r>
              <a:rPr lang="en-AU" dirty="0">
                <a:latin typeface="Georgia" panose="02040502050405020303" pitchFamily="18" charset="0"/>
              </a:rPr>
              <a:t>Error Categories</a:t>
            </a:r>
          </a:p>
          <a:p>
            <a:pPr lvl="1">
              <a:buChar char="•"/>
            </a:pPr>
            <a:r>
              <a:rPr lang="en-AU" dirty="0">
                <a:latin typeface="Georgia" panose="02040502050405020303" pitchFamily="18" charset="0"/>
              </a:rPr>
              <a:t>Insecure interaction between components</a:t>
            </a:r>
          </a:p>
          <a:p>
            <a:pPr lvl="1">
              <a:buChar char="•"/>
            </a:pPr>
            <a:r>
              <a:rPr lang="en-AU" dirty="0">
                <a:latin typeface="Georgia" panose="02040502050405020303" pitchFamily="18" charset="0"/>
              </a:rPr>
              <a:t>Risky resource management</a:t>
            </a:r>
          </a:p>
          <a:p>
            <a:pPr lvl="1">
              <a:buChar char="•"/>
            </a:pPr>
            <a:r>
              <a:rPr lang="en-AU" dirty="0">
                <a:latin typeface="Georgia" panose="02040502050405020303" pitchFamily="18" charset="0"/>
              </a:rPr>
              <a:t>Porous defences</a:t>
            </a:r>
            <a:endParaRPr lang="en-AU" dirty="0">
              <a:effectLst/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012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42875"/>
            <a:ext cx="9144000" cy="1143000"/>
          </a:xfrm>
        </p:spPr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Top most dangerous software errors</a:t>
            </a:r>
            <a:endParaRPr lang="en-AU" dirty="0">
              <a:latin typeface="Georgia" panose="020405020504050203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1EE17D-80A9-40D8-8047-56CADD9CA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075" y="1285876"/>
            <a:ext cx="5323851" cy="461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896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>
          <a:xfrm>
            <a:off x="1533164" y="116632"/>
            <a:ext cx="9144000" cy="1600200"/>
          </a:xfrm>
        </p:spPr>
        <p:txBody>
          <a:bodyPr>
            <a:normAutofit/>
          </a:bodyPr>
          <a:lstStyle/>
          <a:p>
            <a:r>
              <a:rPr lang="en-GB" dirty="0">
                <a:latin typeface="Georgia" panose="02040502050405020303" pitchFamily="18" charset="0"/>
              </a:rPr>
              <a:t>Software Security, </a:t>
            </a:r>
            <a:br>
              <a:rPr lang="en-GB" dirty="0">
                <a:latin typeface="Georgia" panose="02040502050405020303" pitchFamily="18" charset="0"/>
              </a:rPr>
            </a:br>
            <a:r>
              <a:rPr lang="en-GB" dirty="0">
                <a:latin typeface="Georgia" panose="02040502050405020303" pitchFamily="18" charset="0"/>
              </a:rPr>
              <a:t>Quality and Reliability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208899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1847528" y="1716833"/>
            <a:ext cx="8352928" cy="4343399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latin typeface="Georgia" panose="02040502050405020303" pitchFamily="18" charset="0"/>
              </a:rPr>
              <a:t>Software quality and reliability:</a:t>
            </a:r>
          </a:p>
          <a:p>
            <a:pPr lvl="1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</a:pPr>
            <a:r>
              <a:rPr lang="en-US" dirty="0">
                <a:latin typeface="Georgia" panose="02040502050405020303" pitchFamily="18" charset="0"/>
              </a:rPr>
              <a:t>Concerned with the accidental failure of program as a result of some theoretically random, unanticipated input, system interaction, or use of incorrect code</a:t>
            </a:r>
          </a:p>
          <a:p>
            <a:pPr lvl="1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</a:pPr>
            <a:r>
              <a:rPr lang="en-US" dirty="0">
                <a:latin typeface="Georgia" panose="02040502050405020303" pitchFamily="18" charset="0"/>
              </a:rPr>
              <a:t>Improve using structured design and testing to identify and eliminate as many bugs as possible from a program</a:t>
            </a:r>
          </a:p>
          <a:p>
            <a:pPr lvl="1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</a:pPr>
            <a:r>
              <a:rPr lang="en-US" dirty="0">
                <a:latin typeface="Georgia" panose="02040502050405020303" pitchFamily="18" charset="0"/>
              </a:rPr>
              <a:t>Concern is not how many bugs, but how often they are triggered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latin typeface="Georgia" panose="02040502050405020303" pitchFamily="18" charset="0"/>
              </a:rPr>
              <a:t>Software security:</a:t>
            </a:r>
          </a:p>
          <a:p>
            <a:pPr lvl="1">
              <a:spcAft>
                <a:spcPts val="600"/>
              </a:spcAft>
              <a:buClr>
                <a:schemeClr val="accent2"/>
              </a:buClr>
            </a:pPr>
            <a:r>
              <a:rPr lang="en-US" sz="1800" dirty="0">
                <a:latin typeface="Georgia" panose="02040502050405020303" pitchFamily="18" charset="0"/>
              </a:rPr>
              <a:t>Attacker chooses probability distribution, specifically targeting bugs that result in a failure that can be exploited by the attacker</a:t>
            </a:r>
          </a:p>
          <a:p>
            <a:pPr lvl="1">
              <a:spcAft>
                <a:spcPts val="600"/>
              </a:spcAft>
              <a:buClr>
                <a:schemeClr val="accent2"/>
              </a:buClr>
            </a:pPr>
            <a:r>
              <a:rPr lang="en-US" sz="1800" dirty="0">
                <a:latin typeface="Georgia" panose="02040502050405020303" pitchFamily="18" charset="0"/>
              </a:rPr>
              <a:t>Triggered by inputs that differ dramatically from what is usually expected</a:t>
            </a:r>
          </a:p>
          <a:p>
            <a:pPr lvl="1">
              <a:spcAft>
                <a:spcPts val="600"/>
              </a:spcAft>
              <a:buClr>
                <a:schemeClr val="accent2"/>
              </a:buClr>
            </a:pPr>
            <a:r>
              <a:rPr lang="en-US" sz="1800" dirty="0">
                <a:latin typeface="Georgia" panose="02040502050405020303" pitchFamily="18" charset="0"/>
              </a:rPr>
              <a:t>Unlikely to be identified by common testing approaches</a:t>
            </a:r>
          </a:p>
          <a:p>
            <a:pPr lvl="1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</a:pPr>
            <a:endParaRPr 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910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Defensive Programming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idx="1"/>
          </p:nvPr>
        </p:nvSpPr>
        <p:spPr>
          <a:xfrm>
            <a:off x="1991544" y="1772816"/>
            <a:ext cx="8229600" cy="4896544"/>
          </a:xfrm>
        </p:spPr>
        <p:txBody>
          <a:bodyPr/>
          <a:lstStyle/>
          <a:p>
            <a:r>
              <a:rPr lang="en-US" sz="2400" dirty="0">
                <a:latin typeface="Georgia" panose="02040502050405020303" pitchFamily="18" charset="0"/>
              </a:rPr>
              <a:t>Designing and implementing software so that it continues to function even when under attack</a:t>
            </a:r>
          </a:p>
          <a:p>
            <a:r>
              <a:rPr lang="en-US" sz="2400" dirty="0">
                <a:latin typeface="Georgia" panose="02040502050405020303" pitchFamily="18" charset="0"/>
              </a:rPr>
              <a:t>Requires attention to all aspects of program execution, environment, and type of data it processes</a:t>
            </a:r>
          </a:p>
          <a:p>
            <a:r>
              <a:rPr lang="en-US" sz="2400" dirty="0">
                <a:latin typeface="Georgia" panose="02040502050405020303" pitchFamily="18" charset="0"/>
              </a:rPr>
              <a:t>Software is able to detect erroneous conditions resulting from some attack</a:t>
            </a:r>
          </a:p>
          <a:p>
            <a:r>
              <a:rPr lang="en-US" sz="2400" dirty="0">
                <a:latin typeface="Georgia" panose="02040502050405020303" pitchFamily="18" charset="0"/>
              </a:rPr>
              <a:t>Also referred to as secure programming</a:t>
            </a:r>
          </a:p>
          <a:p>
            <a:r>
              <a:rPr lang="en-US" sz="2400" dirty="0">
                <a:latin typeface="Georgia" panose="02040502050405020303" pitchFamily="18" charset="0"/>
              </a:rPr>
              <a:t>Key rule is to never assume anything, check all assumptions and handle any possible error states</a:t>
            </a:r>
          </a:p>
        </p:txBody>
      </p:sp>
    </p:spTree>
    <p:extLst>
      <p:ext uri="{BB962C8B-B14F-4D97-AF65-F5344CB8AC3E}">
        <p14:creationId xmlns:p14="http://schemas.microsoft.com/office/powerpoint/2010/main" val="2721898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512168"/>
          </a:xfrm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Handling Program Input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00CD31-7704-4481-9329-1BAB7D723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rtl="0"/>
            <a:r>
              <a:rPr lang="en-US" sz="2800">
                <a:latin typeface="Georgia" panose="02040502050405020303" pitchFamily="18" charset="0"/>
              </a:rPr>
              <a:t>Incorrect handling is a very common failing</a:t>
            </a:r>
            <a:endParaRPr lang="en-US" sz="2800" dirty="0">
              <a:latin typeface="Georgia" panose="02040502050405020303" pitchFamily="18" charset="0"/>
            </a:endParaRPr>
          </a:p>
          <a:p>
            <a:pPr lvl="0" rtl="0"/>
            <a:r>
              <a:rPr lang="en-US" sz="2800" dirty="0">
                <a:latin typeface="Georgia" panose="02040502050405020303" pitchFamily="18" charset="0"/>
              </a:rPr>
              <a:t>Input is any source of data from outside and whose value is not explicitly known by the programmer when the code was written</a:t>
            </a:r>
          </a:p>
          <a:p>
            <a:pPr lvl="0" rtl="0"/>
            <a:r>
              <a:rPr lang="en-US" sz="2800">
                <a:latin typeface="Georgia" panose="02040502050405020303" pitchFamily="18" charset="0"/>
              </a:rPr>
              <a:t>Must identify all data sources</a:t>
            </a:r>
            <a:endParaRPr lang="en-US" sz="2800" dirty="0">
              <a:latin typeface="Georgia" panose="02040502050405020303" pitchFamily="18" charset="0"/>
            </a:endParaRPr>
          </a:p>
          <a:p>
            <a:pPr lvl="0" rtl="0"/>
            <a:r>
              <a:rPr lang="en-US" sz="2800">
                <a:latin typeface="Georgia" panose="02040502050405020303" pitchFamily="18" charset="0"/>
              </a:rPr>
              <a:t>Explicitly validate assumptions on size and type of values before use</a:t>
            </a:r>
            <a:endParaRPr lang="en-US" sz="28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053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1544" y="116632"/>
            <a:ext cx="8496944" cy="6741368"/>
          </a:xfrm>
          <a:solidFill>
            <a:schemeClr val="bg1"/>
          </a:solidFill>
        </p:spPr>
        <p:txBody>
          <a:bodyPr/>
          <a:lstStyle/>
          <a:p>
            <a:pPr marL="0" indent="0">
              <a:buNone/>
            </a:pPr>
            <a:r>
              <a:rPr lang="en-US" sz="1050" dirty="0">
                <a:solidFill>
                  <a:srgbClr val="008000"/>
                </a:solidFill>
                <a:latin typeface="Courier New"/>
                <a:cs typeface="Courier New"/>
              </a:rPr>
              <a:t>// A C program to demonstrate buffer overflow </a:t>
            </a:r>
          </a:p>
          <a:p>
            <a:pPr marL="0" indent="0">
              <a:buNone/>
            </a:pPr>
            <a:r>
              <a:rPr lang="en-US" sz="1050" dirty="0">
                <a:latin typeface="Courier New"/>
                <a:cs typeface="Courier New"/>
              </a:rPr>
              <a:t>#include &lt;</a:t>
            </a:r>
            <a:r>
              <a:rPr lang="en-US" sz="1050" dirty="0" err="1">
                <a:latin typeface="Courier New"/>
                <a:cs typeface="Courier New"/>
              </a:rPr>
              <a:t>stdio.h</a:t>
            </a:r>
            <a:r>
              <a:rPr lang="en-US" sz="1050" dirty="0">
                <a:latin typeface="Courier New"/>
                <a:cs typeface="Courier New"/>
              </a:rPr>
              <a:t>&gt; </a:t>
            </a:r>
          </a:p>
          <a:p>
            <a:pPr marL="0" indent="0">
              <a:buNone/>
            </a:pPr>
            <a:r>
              <a:rPr lang="en-US" sz="1050" dirty="0">
                <a:latin typeface="Courier New"/>
                <a:cs typeface="Courier New"/>
              </a:rPr>
              <a:t>#include &lt;</a:t>
            </a:r>
            <a:r>
              <a:rPr lang="en-US" sz="1050" dirty="0" err="1">
                <a:latin typeface="Courier New"/>
                <a:cs typeface="Courier New"/>
              </a:rPr>
              <a:t>string.h</a:t>
            </a:r>
            <a:r>
              <a:rPr lang="en-US" sz="1050" dirty="0">
                <a:latin typeface="Courier New"/>
                <a:cs typeface="Courier New"/>
              </a:rPr>
              <a:t>&gt; </a:t>
            </a:r>
          </a:p>
          <a:p>
            <a:pPr marL="0" indent="0">
              <a:buNone/>
            </a:pPr>
            <a:r>
              <a:rPr lang="en-US" sz="1050" dirty="0">
                <a:latin typeface="Courier New"/>
                <a:cs typeface="Courier New"/>
              </a:rPr>
              <a:t>#include &lt;</a:t>
            </a:r>
            <a:r>
              <a:rPr lang="en-US" sz="1050" dirty="0" err="1">
                <a:latin typeface="Courier New"/>
                <a:cs typeface="Courier New"/>
              </a:rPr>
              <a:t>stdlib.h</a:t>
            </a:r>
            <a:r>
              <a:rPr lang="en-US" sz="1050" dirty="0">
                <a:latin typeface="Courier New"/>
                <a:cs typeface="Courier New"/>
              </a:rPr>
              <a:t>&gt; </a:t>
            </a:r>
          </a:p>
          <a:p>
            <a:pPr marL="0" indent="0">
              <a:buNone/>
            </a:pPr>
            <a:endParaRPr lang="en-US" sz="1050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1050" dirty="0" err="1">
                <a:latin typeface="Courier New"/>
                <a:cs typeface="Courier New"/>
              </a:rPr>
              <a:t>int</a:t>
            </a:r>
            <a:r>
              <a:rPr lang="en-US" sz="1050" dirty="0">
                <a:latin typeface="Courier New"/>
                <a:cs typeface="Courier New"/>
              </a:rPr>
              <a:t> main(</a:t>
            </a:r>
            <a:r>
              <a:rPr lang="en-US" sz="1050" dirty="0" err="1">
                <a:latin typeface="Courier New"/>
                <a:cs typeface="Courier New"/>
              </a:rPr>
              <a:t>int</a:t>
            </a:r>
            <a:r>
              <a:rPr lang="en-US" sz="1050" dirty="0">
                <a:latin typeface="Courier New"/>
                <a:cs typeface="Courier New"/>
              </a:rPr>
              <a:t> </a:t>
            </a:r>
            <a:r>
              <a:rPr lang="en-US" sz="1050" dirty="0" err="1">
                <a:latin typeface="Courier New"/>
                <a:cs typeface="Courier New"/>
              </a:rPr>
              <a:t>argc</a:t>
            </a:r>
            <a:r>
              <a:rPr lang="en-US" sz="1050" dirty="0">
                <a:latin typeface="Courier New"/>
                <a:cs typeface="Courier New"/>
              </a:rPr>
              <a:t>, char *</a:t>
            </a:r>
            <a:r>
              <a:rPr lang="en-US" sz="1050" dirty="0" err="1">
                <a:latin typeface="Courier New"/>
                <a:cs typeface="Courier New"/>
              </a:rPr>
              <a:t>argv</a:t>
            </a:r>
            <a:r>
              <a:rPr lang="en-US" sz="1050" dirty="0">
                <a:latin typeface="Courier New"/>
                <a:cs typeface="Courier New"/>
              </a:rPr>
              <a:t>[]) </a:t>
            </a:r>
          </a:p>
          <a:p>
            <a:pPr marL="0" indent="0">
              <a:buNone/>
            </a:pPr>
            <a:r>
              <a:rPr lang="en-US" sz="1050" dirty="0">
                <a:latin typeface="Courier New"/>
                <a:cs typeface="Courier New"/>
              </a:rPr>
              <a:t>{ </a:t>
            </a:r>
          </a:p>
          <a:p>
            <a:pPr marL="0" indent="0">
              <a:buNone/>
            </a:pPr>
            <a:endParaRPr lang="en-US" sz="1050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1050" dirty="0">
                <a:latin typeface="Courier New"/>
                <a:cs typeface="Courier New"/>
              </a:rPr>
              <a:t>	</a:t>
            </a:r>
            <a:r>
              <a:rPr lang="en-US" sz="1050" dirty="0">
                <a:solidFill>
                  <a:srgbClr val="008000"/>
                </a:solidFill>
                <a:latin typeface="Courier New"/>
                <a:cs typeface="Courier New"/>
              </a:rPr>
              <a:t>// Reserve 5 byte of buffer plus the terminating NULL.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8000"/>
                </a:solidFill>
                <a:latin typeface="Courier New"/>
                <a:cs typeface="Courier New"/>
              </a:rPr>
              <a:t>	// should allocate 8 bytes = 2 double words,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8000"/>
                </a:solidFill>
                <a:latin typeface="Courier New"/>
                <a:cs typeface="Courier New"/>
              </a:rPr>
              <a:t>	// To overflow, need more than 8 bytes... </a:t>
            </a:r>
          </a:p>
          <a:p>
            <a:pPr marL="0" indent="0">
              <a:buNone/>
            </a:pPr>
            <a:r>
              <a:rPr lang="en-US" sz="1050" dirty="0">
                <a:latin typeface="Courier New"/>
                <a:cs typeface="Courier New"/>
              </a:rPr>
              <a:t>	char buffer[5]; </a:t>
            </a:r>
            <a:r>
              <a:rPr lang="en-US" sz="1050" dirty="0">
                <a:solidFill>
                  <a:srgbClr val="008000"/>
                </a:solidFill>
                <a:latin typeface="Courier New"/>
                <a:cs typeface="Courier New"/>
              </a:rPr>
              <a:t>// If more than 8 characters input </a:t>
            </a:r>
          </a:p>
          <a:p>
            <a:pPr marL="0" indent="0">
              <a:buNone/>
            </a:pPr>
            <a:r>
              <a:rPr lang="en-US" sz="1050" dirty="0">
                <a:latin typeface="Courier New"/>
                <a:cs typeface="Courier New"/>
              </a:rPr>
              <a:t>		    </a:t>
            </a:r>
            <a:r>
              <a:rPr lang="en-US" sz="1050" dirty="0">
                <a:solidFill>
                  <a:srgbClr val="008000"/>
                </a:solidFill>
                <a:latin typeface="Courier New"/>
                <a:cs typeface="Courier New"/>
              </a:rPr>
              <a:t>// by user, there will be access violation, segmentation fault </a:t>
            </a:r>
          </a:p>
          <a:p>
            <a:pPr marL="0" indent="0">
              <a:buNone/>
            </a:pPr>
            <a:endParaRPr lang="en-US" sz="1050" dirty="0">
              <a:solidFill>
                <a:srgbClr val="008000"/>
              </a:solidFill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008000"/>
                </a:solidFill>
                <a:latin typeface="Courier New"/>
                <a:cs typeface="Courier New"/>
              </a:rPr>
              <a:t>	// a prompt how to execute the program... </a:t>
            </a:r>
          </a:p>
          <a:p>
            <a:pPr marL="0" indent="0">
              <a:buNone/>
            </a:pPr>
            <a:r>
              <a:rPr lang="en-US" sz="1050" dirty="0">
                <a:latin typeface="Courier New"/>
                <a:cs typeface="Courier New"/>
              </a:rPr>
              <a:t>	if (</a:t>
            </a:r>
            <a:r>
              <a:rPr lang="en-US" sz="1050" dirty="0" err="1">
                <a:latin typeface="Courier New"/>
                <a:cs typeface="Courier New"/>
              </a:rPr>
              <a:t>argc</a:t>
            </a:r>
            <a:r>
              <a:rPr lang="en-US" sz="1050" dirty="0">
                <a:latin typeface="Courier New"/>
                <a:cs typeface="Courier New"/>
              </a:rPr>
              <a:t> &lt; 2) </a:t>
            </a:r>
          </a:p>
          <a:p>
            <a:pPr marL="0" indent="0">
              <a:buNone/>
            </a:pPr>
            <a:r>
              <a:rPr lang="en-US" sz="1050" dirty="0">
                <a:latin typeface="Courier New"/>
                <a:cs typeface="Courier New"/>
              </a:rPr>
              <a:t>	{ </a:t>
            </a:r>
          </a:p>
          <a:p>
            <a:pPr marL="0" indent="0">
              <a:buNone/>
            </a:pPr>
            <a:r>
              <a:rPr lang="en-US" sz="1050" dirty="0">
                <a:latin typeface="Courier New"/>
                <a:cs typeface="Courier New"/>
              </a:rPr>
              <a:t>			</a:t>
            </a:r>
            <a:r>
              <a:rPr lang="en-US" sz="1050" dirty="0" err="1">
                <a:solidFill>
                  <a:srgbClr val="FF0066"/>
                </a:solidFill>
                <a:latin typeface="Courier New"/>
                <a:cs typeface="Courier New"/>
              </a:rPr>
              <a:t>printf</a:t>
            </a:r>
            <a:r>
              <a:rPr lang="en-US" sz="1050" dirty="0">
                <a:latin typeface="Courier New"/>
                <a:cs typeface="Courier New"/>
              </a:rPr>
              <a:t>("</a:t>
            </a:r>
            <a:r>
              <a:rPr lang="en-US" sz="1050" dirty="0" err="1">
                <a:latin typeface="Courier New"/>
                <a:cs typeface="Courier New"/>
              </a:rPr>
              <a:t>strcpy</a:t>
            </a:r>
            <a:r>
              <a:rPr lang="en-US" sz="1050" dirty="0">
                <a:latin typeface="Courier New"/>
                <a:cs typeface="Courier New"/>
              </a:rPr>
              <a:t>() NOT executed....\n"); </a:t>
            </a:r>
          </a:p>
          <a:p>
            <a:pPr marL="0" indent="0">
              <a:buNone/>
            </a:pPr>
            <a:r>
              <a:rPr lang="en-US" sz="1050" dirty="0">
                <a:latin typeface="Courier New"/>
                <a:cs typeface="Courier New"/>
              </a:rPr>
              <a:t>			</a:t>
            </a:r>
            <a:r>
              <a:rPr lang="en-US" sz="1050" dirty="0" err="1">
                <a:solidFill>
                  <a:srgbClr val="FF0066"/>
                </a:solidFill>
                <a:latin typeface="Courier New"/>
                <a:cs typeface="Courier New"/>
              </a:rPr>
              <a:t>printf</a:t>
            </a:r>
            <a:r>
              <a:rPr lang="en-US" sz="1050" dirty="0">
                <a:latin typeface="Courier New"/>
                <a:cs typeface="Courier New"/>
              </a:rPr>
              <a:t>("Syntax: %s &lt;characters&gt;\n", </a:t>
            </a:r>
            <a:r>
              <a:rPr lang="en-US" sz="1050" dirty="0" err="1">
                <a:latin typeface="Courier New"/>
                <a:cs typeface="Courier New"/>
              </a:rPr>
              <a:t>argv</a:t>
            </a:r>
            <a:r>
              <a:rPr lang="en-US" sz="1050" dirty="0">
                <a:latin typeface="Courier New"/>
                <a:cs typeface="Courier New"/>
              </a:rPr>
              <a:t>[0]); </a:t>
            </a:r>
          </a:p>
          <a:p>
            <a:pPr marL="0" indent="0">
              <a:buNone/>
            </a:pPr>
            <a:r>
              <a:rPr lang="en-US" sz="1050" dirty="0">
                <a:latin typeface="Courier New"/>
                <a:cs typeface="Courier New"/>
              </a:rPr>
              <a:t>			</a:t>
            </a:r>
            <a:r>
              <a:rPr lang="en-US" sz="1050" dirty="0">
                <a:solidFill>
                  <a:srgbClr val="FF0066"/>
                </a:solidFill>
                <a:latin typeface="Courier New"/>
                <a:cs typeface="Courier New"/>
              </a:rPr>
              <a:t>exit</a:t>
            </a:r>
            <a:r>
              <a:rPr lang="en-US" sz="1050" dirty="0">
                <a:latin typeface="Courier New"/>
                <a:cs typeface="Courier New"/>
              </a:rPr>
              <a:t>(0); </a:t>
            </a:r>
          </a:p>
          <a:p>
            <a:pPr marL="0" indent="0">
              <a:buNone/>
            </a:pPr>
            <a:r>
              <a:rPr lang="en-US" sz="1050" dirty="0">
                <a:latin typeface="Courier New"/>
                <a:cs typeface="Courier New"/>
              </a:rPr>
              <a:t>	} </a:t>
            </a:r>
          </a:p>
          <a:p>
            <a:pPr marL="0" indent="0">
              <a:buNone/>
            </a:pPr>
            <a:endParaRPr lang="en-US" sz="1050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1050" dirty="0">
                <a:latin typeface="Courier New"/>
                <a:cs typeface="Courier New"/>
              </a:rPr>
              <a:t>	</a:t>
            </a:r>
            <a:r>
              <a:rPr lang="en-US" sz="1050" dirty="0">
                <a:solidFill>
                  <a:srgbClr val="008000"/>
                </a:solidFill>
                <a:latin typeface="Courier New"/>
                <a:cs typeface="Courier New"/>
              </a:rPr>
              <a:t>// copy the user input to </a:t>
            </a:r>
            <a:r>
              <a:rPr lang="en-US" sz="1050" dirty="0" err="1">
                <a:solidFill>
                  <a:srgbClr val="008000"/>
                </a:solidFill>
                <a:latin typeface="Courier New"/>
                <a:cs typeface="Courier New"/>
              </a:rPr>
              <a:t>mybuffer</a:t>
            </a:r>
            <a:r>
              <a:rPr lang="en-US" sz="1050" dirty="0">
                <a:solidFill>
                  <a:srgbClr val="008000"/>
                </a:solidFill>
                <a:latin typeface="Courier New"/>
                <a:cs typeface="Courier New"/>
              </a:rPr>
              <a:t>, without any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8000"/>
                </a:solidFill>
                <a:latin typeface="Courier New"/>
                <a:cs typeface="Courier New"/>
              </a:rPr>
              <a:t>	// bound checking a secure version is </a:t>
            </a:r>
            <a:r>
              <a:rPr lang="en-US" sz="1050" dirty="0" err="1">
                <a:solidFill>
                  <a:srgbClr val="008000"/>
                </a:solidFill>
                <a:latin typeface="Courier New"/>
                <a:cs typeface="Courier New"/>
              </a:rPr>
              <a:t>srtcpy_s</a:t>
            </a:r>
            <a:r>
              <a:rPr lang="en-US" sz="1050" dirty="0">
                <a:solidFill>
                  <a:srgbClr val="008000"/>
                </a:solidFill>
                <a:latin typeface="Courier New"/>
                <a:cs typeface="Courier New"/>
              </a:rPr>
              <a:t>() </a:t>
            </a:r>
          </a:p>
          <a:p>
            <a:pPr marL="0" indent="0">
              <a:buNone/>
            </a:pPr>
            <a:r>
              <a:rPr lang="en-US" sz="1050" dirty="0">
                <a:latin typeface="Courier New"/>
                <a:cs typeface="Courier New"/>
              </a:rPr>
              <a:t>	</a:t>
            </a:r>
            <a:r>
              <a:rPr lang="en-US" sz="1050" dirty="0" err="1">
                <a:solidFill>
                  <a:srgbClr val="FF0066"/>
                </a:solidFill>
                <a:latin typeface="Courier New"/>
                <a:cs typeface="Courier New"/>
              </a:rPr>
              <a:t>strcpy</a:t>
            </a:r>
            <a:r>
              <a:rPr lang="en-US" sz="1050" dirty="0">
                <a:latin typeface="Courier New"/>
                <a:cs typeface="Courier New"/>
              </a:rPr>
              <a:t>(buffer, </a:t>
            </a:r>
            <a:r>
              <a:rPr lang="en-US" sz="1050" dirty="0" err="1">
                <a:latin typeface="Courier New"/>
                <a:cs typeface="Courier New"/>
              </a:rPr>
              <a:t>argv</a:t>
            </a:r>
            <a:r>
              <a:rPr lang="en-US" sz="1050" dirty="0">
                <a:latin typeface="Courier New"/>
                <a:cs typeface="Courier New"/>
              </a:rPr>
              <a:t>[1]); </a:t>
            </a:r>
          </a:p>
          <a:p>
            <a:pPr marL="0" indent="0">
              <a:buNone/>
            </a:pPr>
            <a:r>
              <a:rPr lang="en-US" sz="1050" dirty="0">
                <a:latin typeface="Courier New"/>
                <a:cs typeface="Courier New"/>
              </a:rPr>
              <a:t>	</a:t>
            </a:r>
            <a:r>
              <a:rPr lang="en-US" sz="1050" dirty="0" err="1">
                <a:solidFill>
                  <a:srgbClr val="FF0066"/>
                </a:solidFill>
                <a:latin typeface="Courier New"/>
                <a:cs typeface="Courier New"/>
              </a:rPr>
              <a:t>printf</a:t>
            </a:r>
            <a:r>
              <a:rPr lang="en-US" sz="1050" dirty="0">
                <a:latin typeface="Courier New"/>
                <a:cs typeface="Courier New"/>
              </a:rPr>
              <a:t>("buffer content= %s\n", buffer); </a:t>
            </a:r>
          </a:p>
          <a:p>
            <a:pPr marL="0" indent="0">
              <a:buNone/>
            </a:pPr>
            <a:endParaRPr lang="en-US" sz="1050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1050" dirty="0">
                <a:latin typeface="Courier New"/>
                <a:cs typeface="Courier New"/>
              </a:rPr>
              <a:t>	</a:t>
            </a:r>
            <a:r>
              <a:rPr lang="en-US" sz="1050" dirty="0">
                <a:solidFill>
                  <a:srgbClr val="008000"/>
                </a:solidFill>
                <a:latin typeface="Courier New"/>
                <a:cs typeface="Courier New"/>
              </a:rPr>
              <a:t>// you may want to try </a:t>
            </a:r>
            <a:r>
              <a:rPr lang="en-US" sz="1050" dirty="0" err="1">
                <a:solidFill>
                  <a:srgbClr val="008000"/>
                </a:solidFill>
                <a:latin typeface="Courier New"/>
                <a:cs typeface="Courier New"/>
              </a:rPr>
              <a:t>strcpy_s</a:t>
            </a:r>
            <a:r>
              <a:rPr lang="en-US" sz="1050" dirty="0">
                <a:solidFill>
                  <a:srgbClr val="008000"/>
                </a:solidFill>
                <a:latin typeface="Courier New"/>
                <a:cs typeface="Courier New"/>
              </a:rPr>
              <a:t>() </a:t>
            </a:r>
          </a:p>
          <a:p>
            <a:pPr marL="0" indent="0">
              <a:buNone/>
            </a:pPr>
            <a:r>
              <a:rPr lang="en-US" sz="1050" dirty="0">
                <a:latin typeface="Courier New"/>
                <a:cs typeface="Courier New"/>
              </a:rPr>
              <a:t>	</a:t>
            </a:r>
            <a:r>
              <a:rPr lang="en-US" sz="1050" dirty="0" err="1">
                <a:solidFill>
                  <a:srgbClr val="FF0066"/>
                </a:solidFill>
                <a:latin typeface="Courier New"/>
                <a:cs typeface="Courier New"/>
              </a:rPr>
              <a:t>printf</a:t>
            </a:r>
            <a:r>
              <a:rPr lang="en-US" sz="1050" dirty="0">
                <a:latin typeface="Courier New"/>
                <a:cs typeface="Courier New"/>
              </a:rPr>
              <a:t>("</a:t>
            </a:r>
            <a:r>
              <a:rPr lang="en-US" sz="1050" dirty="0" err="1">
                <a:latin typeface="Courier New"/>
                <a:cs typeface="Courier New"/>
              </a:rPr>
              <a:t>strcpy</a:t>
            </a:r>
            <a:r>
              <a:rPr lang="en-US" sz="1050" dirty="0">
                <a:latin typeface="Courier New"/>
                <a:cs typeface="Courier New"/>
              </a:rPr>
              <a:t>() executed...\n"); </a:t>
            </a:r>
          </a:p>
          <a:p>
            <a:pPr marL="0" indent="0">
              <a:buNone/>
            </a:pPr>
            <a:endParaRPr lang="en-US" sz="1050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1050" dirty="0">
                <a:latin typeface="Courier New"/>
                <a:cs typeface="Courier New"/>
              </a:rPr>
              <a:t>	return 0; </a:t>
            </a:r>
          </a:p>
          <a:p>
            <a:pPr marL="0" indent="0">
              <a:buNone/>
            </a:pPr>
            <a:r>
              <a:rPr lang="en-US" sz="1050" dirty="0">
                <a:latin typeface="Courier New"/>
                <a:cs typeface="Courier New"/>
              </a:rPr>
              <a:t>} </a:t>
            </a:r>
          </a:p>
          <a:p>
            <a:pPr marL="0" indent="0">
              <a:buNone/>
            </a:pPr>
            <a:endParaRPr lang="en-US" sz="1050" dirty="0">
              <a:latin typeface="Courier New"/>
              <a:cs typeface="Courier New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5776" y="404664"/>
            <a:ext cx="4102224" cy="1143000"/>
          </a:xfrm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How Buffer Overflows Happen</a:t>
            </a:r>
          </a:p>
        </p:txBody>
      </p:sp>
    </p:spTree>
    <p:extLst>
      <p:ext uri="{BB962C8B-B14F-4D97-AF65-F5344CB8AC3E}">
        <p14:creationId xmlns:p14="http://schemas.microsoft.com/office/powerpoint/2010/main" val="3639451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Harm from Buffer Overflows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Georgia" panose="02040502050405020303" pitchFamily="18" charset="0"/>
              </a:rPr>
              <a:t>Overwrite: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  <a:ea typeface="+mn-ea"/>
                <a:cs typeface="+mn-cs"/>
              </a:rPr>
              <a:t>Another piece of your program’s data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  <a:ea typeface="+mn-ea"/>
                <a:cs typeface="+mn-cs"/>
              </a:rPr>
              <a:t>An instruction in your program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  <a:ea typeface="+mn-ea"/>
                <a:cs typeface="+mn-cs"/>
              </a:rPr>
              <a:t>Data or code belonging to another program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  <a:ea typeface="+mn-ea"/>
                <a:cs typeface="+mn-cs"/>
              </a:rPr>
              <a:t>Data or code belonging to the operating system</a:t>
            </a:r>
          </a:p>
          <a:p>
            <a:r>
              <a:rPr lang="en-US" sz="2400" dirty="0">
                <a:latin typeface="Georgia" panose="02040502050405020303" pitchFamily="18" charset="0"/>
              </a:rPr>
              <a:t>Overwriting a program’s instructions gives attackers that program’s execution privileges</a:t>
            </a:r>
          </a:p>
          <a:p>
            <a:r>
              <a:rPr lang="en-US" sz="2400" dirty="0">
                <a:latin typeface="Georgia" panose="02040502050405020303" pitchFamily="18" charset="0"/>
              </a:rPr>
              <a:t>Overwriting operating system instructions gives attackers the operating system’s execution privileges</a:t>
            </a:r>
          </a:p>
        </p:txBody>
      </p:sp>
    </p:spTree>
    <p:extLst>
      <p:ext uri="{BB962C8B-B14F-4D97-AF65-F5344CB8AC3E}">
        <p14:creationId xmlns:p14="http://schemas.microsoft.com/office/powerpoint/2010/main" val="1817939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552" y="-243408"/>
            <a:ext cx="8229600" cy="1600200"/>
          </a:xfrm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Buffer Overflow Attacks</a:t>
            </a:r>
          </a:p>
        </p:txBody>
      </p:sp>
      <p:sp>
        <p:nvSpPr>
          <p:cNvPr id="215043" name="Rectangle 3"/>
          <p:cNvSpPr>
            <a:spLocks noGrp="1" noChangeArrowheads="1"/>
          </p:cNvSpPr>
          <p:nvPr>
            <p:ph idx="1"/>
          </p:nvPr>
        </p:nvSpPr>
        <p:spPr>
          <a:xfrm>
            <a:off x="1919536" y="1196752"/>
            <a:ext cx="8229600" cy="4896544"/>
          </a:xfrm>
        </p:spPr>
        <p:txBody>
          <a:bodyPr>
            <a:normAutofit/>
          </a:bodyPr>
          <a:lstStyle/>
          <a:p>
            <a:pPr marL="342900" lvl="1" indent="-342900">
              <a:buSzPct val="150000"/>
              <a:buFont typeface="Arial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To exploit a buffer overflow an attacker needs:</a:t>
            </a:r>
          </a:p>
          <a:p>
            <a:pPr lvl="1">
              <a:buSzPct val="150000"/>
              <a:buFont typeface="Arial"/>
              <a:buChar char="•"/>
            </a:pPr>
            <a:r>
              <a:rPr lang="en-US" sz="2200" dirty="0">
                <a:latin typeface="Georgia" panose="02040502050405020303" pitchFamily="18" charset="0"/>
              </a:rPr>
              <a:t>To identify a buffer overflow vulnerability in some program that can be triggered using externally sourced data under the attacker’s control</a:t>
            </a:r>
          </a:p>
          <a:p>
            <a:pPr lvl="1">
              <a:buSzPct val="150000"/>
              <a:buFont typeface="Arial"/>
              <a:buChar char="•"/>
            </a:pPr>
            <a:r>
              <a:rPr lang="en-US" sz="2200" dirty="0">
                <a:latin typeface="Georgia" panose="02040502050405020303" pitchFamily="18" charset="0"/>
              </a:rPr>
              <a:t>To understand how that buffer is stored in memory and determine potential for corruption </a:t>
            </a:r>
          </a:p>
          <a:p>
            <a:pPr marL="342900" lvl="1" indent="-342900">
              <a:buSzPct val="150000"/>
              <a:buFont typeface="Arial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Identifying vulnerable programs can be done by:</a:t>
            </a:r>
          </a:p>
          <a:p>
            <a:pPr lvl="1">
              <a:buSzPct val="150000"/>
              <a:buFont typeface="Arial"/>
              <a:buChar char="•"/>
            </a:pPr>
            <a:r>
              <a:rPr lang="en-US" sz="2200" dirty="0">
                <a:latin typeface="Georgia" panose="02040502050405020303" pitchFamily="18" charset="0"/>
              </a:rPr>
              <a:t>Inspection of program source</a:t>
            </a:r>
          </a:p>
          <a:p>
            <a:pPr lvl="1">
              <a:buSzPct val="150000"/>
              <a:buFont typeface="Arial"/>
              <a:buChar char="•"/>
            </a:pPr>
            <a:r>
              <a:rPr lang="en-US" sz="2200" dirty="0">
                <a:latin typeface="Georgia" panose="02040502050405020303" pitchFamily="18" charset="0"/>
              </a:rPr>
              <a:t>Tracing the execution of programs as they process oversized input</a:t>
            </a:r>
          </a:p>
          <a:p>
            <a:pPr lvl="1">
              <a:buSzPct val="150000"/>
              <a:buFont typeface="Arial"/>
              <a:buChar char="•"/>
            </a:pPr>
            <a:r>
              <a:rPr lang="en-US" sz="2200" dirty="0">
                <a:latin typeface="Georgia" panose="02040502050405020303" pitchFamily="18" charset="0"/>
              </a:rPr>
              <a:t>Using tools such as fuzzing to automatically identify potentially vulnerable programs</a:t>
            </a:r>
          </a:p>
        </p:txBody>
      </p:sp>
    </p:spTree>
    <p:extLst>
      <p:ext uri="{BB962C8B-B14F-4D97-AF65-F5344CB8AC3E}">
        <p14:creationId xmlns:p14="http://schemas.microsoft.com/office/powerpoint/2010/main" val="332774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91544" y="10319"/>
            <a:ext cx="8229600" cy="1224136"/>
          </a:xfrm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Stack Buffer Overflows</a:t>
            </a:r>
          </a:p>
        </p:txBody>
      </p:sp>
      <p:sp>
        <p:nvSpPr>
          <p:cNvPr id="221187" name="Rectangle 3"/>
          <p:cNvSpPr>
            <a:spLocks noGrp="1" noChangeArrowheads="1"/>
          </p:cNvSpPr>
          <p:nvPr>
            <p:ph idx="1"/>
          </p:nvPr>
        </p:nvSpPr>
        <p:spPr>
          <a:xfrm>
            <a:off x="1919536" y="1484784"/>
            <a:ext cx="8229600" cy="45720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latin typeface="Georgia" panose="02040502050405020303" pitchFamily="18" charset="0"/>
              </a:rPr>
              <a:t>Occur when buffer is located on stack</a:t>
            </a:r>
          </a:p>
          <a:p>
            <a:pPr lvl="1">
              <a:lnSpc>
                <a:spcPct val="90000"/>
              </a:lnSpc>
              <a:buSzPct val="120000"/>
              <a:buFont typeface="Arial"/>
              <a:buChar char="•"/>
            </a:pPr>
            <a:r>
              <a:rPr lang="en-US" sz="2000" dirty="0">
                <a:latin typeface="Georgia" panose="02040502050405020303" pitchFamily="18" charset="0"/>
              </a:rPr>
              <a:t>Also referred to as </a:t>
            </a:r>
            <a:r>
              <a:rPr lang="en-US" sz="2000" i="1" dirty="0">
                <a:latin typeface="Georgia" panose="02040502050405020303" pitchFamily="18" charset="0"/>
              </a:rPr>
              <a:t>stack smashing</a:t>
            </a:r>
          </a:p>
          <a:p>
            <a:pPr lvl="1">
              <a:lnSpc>
                <a:spcPct val="90000"/>
              </a:lnSpc>
              <a:buSzPct val="120000"/>
              <a:buFont typeface="Arial"/>
              <a:buChar char="•"/>
            </a:pPr>
            <a:r>
              <a:rPr lang="en-US" sz="2000" dirty="0">
                <a:latin typeface="Georgia" panose="02040502050405020303" pitchFamily="18" charset="0"/>
              </a:rPr>
              <a:t>Used by Morris Worm</a:t>
            </a:r>
          </a:p>
          <a:p>
            <a:pPr lvl="1">
              <a:lnSpc>
                <a:spcPct val="90000"/>
              </a:lnSpc>
              <a:buSzPct val="120000"/>
              <a:buFont typeface="Arial"/>
              <a:buChar char="•"/>
            </a:pPr>
            <a:r>
              <a:rPr lang="en-US" sz="2000" dirty="0">
                <a:latin typeface="Georgia" panose="02040502050405020303" pitchFamily="18" charset="0"/>
              </a:rPr>
              <a:t>Exploits included an unchecked buffer overflow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Georgia" panose="02040502050405020303" pitchFamily="18" charset="0"/>
              </a:rPr>
              <a:t>Are still being widely exploited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Georgia" panose="02040502050405020303" pitchFamily="18" charset="0"/>
              </a:rPr>
              <a:t>Stack frame</a:t>
            </a:r>
          </a:p>
          <a:p>
            <a:pPr lvl="1">
              <a:lnSpc>
                <a:spcPct val="90000"/>
              </a:lnSpc>
              <a:buSzPct val="120000"/>
              <a:buFont typeface="Arial"/>
              <a:buChar char="•"/>
            </a:pPr>
            <a:r>
              <a:rPr lang="en-US" sz="2000" dirty="0">
                <a:latin typeface="Georgia" panose="02040502050405020303" pitchFamily="18" charset="0"/>
              </a:rPr>
              <a:t>When one function calls another it needs somewhere to save the return address</a:t>
            </a:r>
          </a:p>
          <a:p>
            <a:pPr lvl="1">
              <a:lnSpc>
                <a:spcPct val="90000"/>
              </a:lnSpc>
              <a:buSzPct val="120000"/>
              <a:buFont typeface="Arial"/>
              <a:buChar char="•"/>
            </a:pPr>
            <a:r>
              <a:rPr lang="en-US" sz="2000" dirty="0">
                <a:latin typeface="Georgia" panose="02040502050405020303" pitchFamily="18" charset="0"/>
              </a:rPr>
              <a:t>Also needs locations to save the parameters to be passed in to the called function and to possibly save register values</a:t>
            </a:r>
          </a:p>
        </p:txBody>
      </p:sp>
    </p:spTree>
    <p:extLst>
      <p:ext uri="{BB962C8B-B14F-4D97-AF65-F5344CB8AC3E}">
        <p14:creationId xmlns:p14="http://schemas.microsoft.com/office/powerpoint/2010/main" val="3057653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0319"/>
            <a:ext cx="9144000" cy="1224136"/>
          </a:xfrm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Unsafe C Standard Library Routines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13672"/>
          <a:stretch/>
        </p:blipFill>
        <p:spPr>
          <a:xfrm>
            <a:off x="1808755" y="2420888"/>
            <a:ext cx="8574491" cy="2004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775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0319"/>
            <a:ext cx="9144000" cy="1224136"/>
          </a:xfrm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Shellcode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234455"/>
            <a:ext cx="8229600" cy="4648200"/>
          </a:xfrm>
        </p:spPr>
        <p:txBody>
          <a:bodyPr>
            <a:normAutofit fontScale="92500"/>
          </a:bodyPr>
          <a:lstStyle/>
          <a:p>
            <a:r>
              <a:rPr lang="en-US" sz="2800" dirty="0">
                <a:latin typeface="Georgia" panose="02040502050405020303" pitchFamily="18" charset="0"/>
              </a:rPr>
              <a:t>Code supplied by attacker</a:t>
            </a:r>
          </a:p>
          <a:p>
            <a:pPr lvl="1">
              <a:buFont typeface="Arial"/>
              <a:buChar char="•"/>
            </a:pPr>
            <a:r>
              <a:rPr lang="en-US" sz="1800" dirty="0">
                <a:latin typeface="Georgia" panose="02040502050405020303" pitchFamily="18" charset="0"/>
              </a:rPr>
              <a:t>Often saved in buffer being overflowed</a:t>
            </a:r>
          </a:p>
          <a:p>
            <a:pPr lvl="1">
              <a:buFont typeface="Arial"/>
              <a:buChar char="•"/>
            </a:pPr>
            <a:r>
              <a:rPr lang="en-US" sz="1800" dirty="0">
                <a:latin typeface="Georgia" panose="02040502050405020303" pitchFamily="18" charset="0"/>
              </a:rPr>
              <a:t>Traditionally transferred control to a user command-line interpreter (shell)</a:t>
            </a:r>
          </a:p>
          <a:p>
            <a:r>
              <a:rPr lang="en-US" sz="2800" dirty="0">
                <a:latin typeface="Georgia" panose="02040502050405020303" pitchFamily="18" charset="0"/>
              </a:rPr>
              <a:t>Machine code</a:t>
            </a:r>
          </a:p>
          <a:p>
            <a:pPr lvl="1">
              <a:buFont typeface="Arial"/>
              <a:buChar char="•"/>
            </a:pPr>
            <a:r>
              <a:rPr lang="en-US" sz="1800" dirty="0">
                <a:latin typeface="Georgia" panose="02040502050405020303" pitchFamily="18" charset="0"/>
              </a:rPr>
              <a:t>Specific to processor and operating system</a:t>
            </a:r>
          </a:p>
          <a:p>
            <a:pPr lvl="1">
              <a:buFont typeface="Arial"/>
              <a:buChar char="•"/>
            </a:pPr>
            <a:r>
              <a:rPr lang="en-US" sz="1800" dirty="0">
                <a:latin typeface="Georgia" panose="02040502050405020303" pitchFamily="18" charset="0"/>
              </a:rPr>
              <a:t>Traditionally needed good assembly language skills to create</a:t>
            </a:r>
          </a:p>
          <a:p>
            <a:pPr lvl="1">
              <a:buFont typeface="Arial"/>
              <a:buChar char="•"/>
            </a:pPr>
            <a:r>
              <a:rPr lang="en-US" sz="1800" dirty="0">
                <a:latin typeface="Georgia" panose="02040502050405020303" pitchFamily="18" charset="0"/>
              </a:rPr>
              <a:t>More recently a number of sites and tools have been developed that automate this process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dirty="0" err="1">
                <a:latin typeface="Georgia" panose="02040502050405020303" pitchFamily="18" charset="0"/>
              </a:rPr>
              <a:t>Metasploit</a:t>
            </a:r>
            <a:r>
              <a:rPr lang="en-US" dirty="0">
                <a:latin typeface="Georgia" panose="02040502050405020303" pitchFamily="18" charset="0"/>
              </a:rPr>
              <a:t> Project</a:t>
            </a:r>
          </a:p>
          <a:p>
            <a:pPr marL="692150" lvl="2" indent="-342900">
              <a:spcBef>
                <a:spcPts val="2000"/>
              </a:spcBef>
            </a:pPr>
            <a:r>
              <a:rPr lang="en-US" sz="2200" dirty="0">
                <a:latin typeface="Georgia" panose="02040502050405020303" pitchFamily="18" charset="0"/>
              </a:rPr>
              <a:t>Provides useful information to people who perform penetration, IDS signature development</a:t>
            </a:r>
            <a:r>
              <a:rPr lang="en-US" sz="3000" dirty="0">
                <a:latin typeface="Georgia" panose="02040502050405020303" pitchFamily="18" charset="0"/>
              </a:rPr>
              <a:t>,</a:t>
            </a:r>
            <a:r>
              <a:rPr lang="en-US" sz="2200" dirty="0">
                <a:latin typeface="Georgia" panose="02040502050405020303" pitchFamily="18" charset="0"/>
              </a:rPr>
              <a:t> and exploit research</a:t>
            </a:r>
          </a:p>
          <a:p>
            <a:pPr lvl="2"/>
            <a:endParaRPr 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1808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-304800"/>
            <a:ext cx="9144000" cy="1295400"/>
          </a:xfrm>
        </p:spPr>
        <p:txBody>
          <a:bodyPr>
            <a:noAutofit/>
          </a:bodyPr>
          <a:lstStyle/>
          <a:p>
            <a:br>
              <a:rPr lang="en-US" dirty="0">
                <a:latin typeface="Georgia" panose="02040502050405020303" pitchFamily="18" charset="0"/>
              </a:rPr>
            </a:br>
            <a:r>
              <a:rPr lang="en-US" dirty="0">
                <a:latin typeface="Georgia" panose="02040502050405020303" pitchFamily="18" charset="0"/>
              </a:rPr>
              <a:t>Stack Overflow Variants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392DD4-1CC1-4768-9AAF-8ECBF154B7B6}"/>
              </a:ext>
            </a:extLst>
          </p:cNvPr>
          <p:cNvSpPr/>
          <p:nvPr/>
        </p:nvSpPr>
        <p:spPr>
          <a:xfrm>
            <a:off x="2135560" y="1412776"/>
            <a:ext cx="8136904" cy="4658072"/>
          </a:xfrm>
          <a:prstGeom prst="rect">
            <a:avLst/>
          </a:prstGeom>
        </p:spPr>
        <p:txBody>
          <a:bodyPr/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Georgia" panose="02040502050405020303" pitchFamily="18" charset="0"/>
              </a:rPr>
              <a:t>Target program can be: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Georgia" panose="02040502050405020303" pitchFamily="18" charset="0"/>
              </a:rPr>
              <a:t>A trusted system utility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Georgia" panose="02040502050405020303" pitchFamily="18" charset="0"/>
              </a:rPr>
              <a:t>Network service daemon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Georgia" panose="02040502050405020303" pitchFamily="18" charset="0"/>
              </a:rPr>
              <a:t>Commonly used library code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solidFill>
                  <a:srgbClr val="000000"/>
                </a:solidFill>
                <a:latin typeface="Georgia" panose="02040502050405020303" pitchFamily="18" charset="0"/>
              </a:rPr>
              <a:t>Shellcode functions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solidFill>
                  <a:srgbClr val="000000"/>
                </a:solidFill>
                <a:latin typeface="Georgia" panose="02040502050405020303" pitchFamily="18" charset="0"/>
              </a:rPr>
              <a:t>Launch a remote shell when connected to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solidFill>
                  <a:srgbClr val="000000"/>
                </a:solidFill>
                <a:latin typeface="Georgia" panose="02040502050405020303" pitchFamily="18" charset="0"/>
              </a:rPr>
              <a:t>Create a reverse shell that connects back to the hacker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solidFill>
                  <a:srgbClr val="000000"/>
                </a:solidFill>
                <a:latin typeface="Georgia" panose="02040502050405020303" pitchFamily="18" charset="0"/>
              </a:rPr>
              <a:t>Use local exploits that establish a shell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solidFill>
                  <a:srgbClr val="000000"/>
                </a:solidFill>
                <a:latin typeface="Georgia" panose="02040502050405020303" pitchFamily="18" charset="0"/>
              </a:rPr>
              <a:t>Flush firewall rules that currently block other attacks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solidFill>
                  <a:srgbClr val="000000"/>
                </a:solidFill>
                <a:latin typeface="Georgia" panose="02040502050405020303" pitchFamily="18" charset="0"/>
              </a:rPr>
              <a:t>Break out of a chroot (restricted execution) environment, giving full access to the system</a:t>
            </a:r>
          </a:p>
        </p:txBody>
      </p:sp>
    </p:spTree>
    <p:extLst>
      <p:ext uri="{BB962C8B-B14F-4D97-AF65-F5344CB8AC3E}">
        <p14:creationId xmlns:p14="http://schemas.microsoft.com/office/powerpoint/2010/main" val="2338358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91544" y="-315416"/>
            <a:ext cx="8229600" cy="1600200"/>
          </a:xfrm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Buffer Overflow </a:t>
            </a:r>
            <a:r>
              <a:rPr lang="en-US" dirty="0" err="1">
                <a:latin typeface="Georgia" panose="02040502050405020303" pitchFamily="18" charset="0"/>
              </a:rPr>
              <a:t>Defences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D42061-577A-4CA1-94E8-0D5B4070C698}"/>
              </a:ext>
            </a:extLst>
          </p:cNvPr>
          <p:cNvSpPr/>
          <p:nvPr/>
        </p:nvSpPr>
        <p:spPr>
          <a:xfrm>
            <a:off x="551935" y="1058256"/>
            <a:ext cx="9932820" cy="4292352"/>
          </a:xfrm>
          <a:prstGeom prst="rect">
            <a:avLst/>
          </a:prstGeo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>
                <a:solidFill>
                  <a:srgbClr val="000000"/>
                </a:solidFill>
                <a:latin typeface="Georgia" panose="02040502050405020303" pitchFamily="18" charset="0"/>
              </a:rPr>
              <a:t>Buffer overflows are widely exploited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>
                <a:solidFill>
                  <a:srgbClr val="000000"/>
                </a:solidFill>
                <a:latin typeface="Georgia" panose="02040502050405020303" pitchFamily="18" charset="0"/>
              </a:rPr>
              <a:t>Two broad defense approaches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>
                <a:solidFill>
                  <a:srgbClr val="000000"/>
                </a:solidFill>
                <a:latin typeface="Georgia" panose="02040502050405020303" pitchFamily="18" charset="0"/>
              </a:rPr>
              <a:t>Compile-time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>
                <a:solidFill>
                  <a:srgbClr val="000000"/>
                </a:solidFill>
                <a:latin typeface="Georgia" panose="02040502050405020303" pitchFamily="18" charset="0"/>
              </a:rPr>
              <a:t>Aim to harden programs to resist attacks in new programs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>
                <a:solidFill>
                  <a:srgbClr val="000000"/>
                </a:solidFill>
                <a:latin typeface="Georgia" panose="02040502050405020303" pitchFamily="18" charset="0"/>
              </a:rPr>
              <a:t>Run-time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>
                <a:solidFill>
                  <a:srgbClr val="000000"/>
                </a:solidFill>
                <a:latin typeface="Georgia" panose="02040502050405020303" pitchFamily="18" charset="0"/>
              </a:rPr>
              <a:t>Aim to detect and abort attacks in existing programs</a:t>
            </a:r>
          </a:p>
        </p:txBody>
      </p:sp>
    </p:spTree>
    <p:extLst>
      <p:ext uri="{BB962C8B-B14F-4D97-AF65-F5344CB8AC3E}">
        <p14:creationId xmlns:p14="http://schemas.microsoft.com/office/powerpoint/2010/main" val="494729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1996"/>
            <a:ext cx="9144000" cy="1040741"/>
          </a:xfrm>
        </p:spPr>
        <p:txBody>
          <a:bodyPr>
            <a:norm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Programming Languages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23E9D4-885A-48D3-82A2-E90B219E5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6119" y="1371600"/>
            <a:ext cx="10247870" cy="4114800"/>
          </a:xfrm>
        </p:spPr>
        <p:txBody>
          <a:bodyPr/>
          <a:lstStyle/>
          <a:p>
            <a:r>
              <a:rPr lang="en-US" sz="2400" dirty="0">
                <a:latin typeface="Georgia" panose="02040502050405020303" pitchFamily="18" charset="0"/>
              </a:rPr>
              <a:t>Use a modern high-level language</a:t>
            </a:r>
          </a:p>
          <a:p>
            <a:r>
              <a:rPr lang="en-US" sz="2400" dirty="0">
                <a:latin typeface="Georgia" panose="02040502050405020303" pitchFamily="18" charset="0"/>
              </a:rPr>
              <a:t>Not vulnerable to buffer overflow attacks</a:t>
            </a:r>
          </a:p>
          <a:p>
            <a:r>
              <a:rPr lang="en-US" sz="2400" dirty="0">
                <a:latin typeface="Georgia" panose="02040502050405020303" pitchFamily="18" charset="0"/>
              </a:rPr>
              <a:t>Compiler enforces range checks and permissible operations on variables</a:t>
            </a:r>
          </a:p>
          <a:p>
            <a:r>
              <a:rPr lang="en-US" sz="2400" dirty="0">
                <a:latin typeface="Georgia" panose="02040502050405020303" pitchFamily="18" charset="0"/>
              </a:rPr>
              <a:t>Disadvantages</a:t>
            </a:r>
          </a:p>
          <a:p>
            <a:pPr lvl="1"/>
            <a:r>
              <a:rPr lang="en-US" sz="1800" dirty="0">
                <a:latin typeface="Georgia" panose="02040502050405020303" pitchFamily="18" charset="0"/>
              </a:rPr>
              <a:t>Additional code must be executed at run time to impose checks</a:t>
            </a:r>
          </a:p>
          <a:p>
            <a:pPr lvl="1"/>
            <a:r>
              <a:rPr lang="en-US" sz="1800" dirty="0">
                <a:latin typeface="Georgia" panose="02040502050405020303" pitchFamily="18" charset="0"/>
              </a:rPr>
              <a:t>Flexibility and safety comes at a cost in resource use</a:t>
            </a:r>
          </a:p>
          <a:p>
            <a:pPr lvl="1"/>
            <a:r>
              <a:rPr lang="en-US" sz="1800" dirty="0">
                <a:latin typeface="Georgia" panose="02040502050405020303" pitchFamily="18" charset="0"/>
              </a:rPr>
              <a:t>Distance from the underlying machine language and architecture means that access to some instructions and hardware resources is lost</a:t>
            </a:r>
          </a:p>
          <a:p>
            <a:pPr lvl="1"/>
            <a:r>
              <a:rPr lang="en-US" sz="1800" dirty="0">
                <a:latin typeface="Georgia" panose="02040502050405020303" pitchFamily="18" charset="0"/>
              </a:rPr>
              <a:t>Limits their usefulness in writing code, such as device drivers, that must interact with such resources</a:t>
            </a:r>
          </a:p>
          <a:p>
            <a:endParaRPr lang="en-GB" sz="24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705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>
          <a:xfrm>
            <a:off x="1271464" y="0"/>
            <a:ext cx="9971584" cy="1052736"/>
          </a:xfrm>
        </p:spPr>
        <p:txBody>
          <a:bodyPr>
            <a:norm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Safe Coding Techniques</a:t>
            </a:r>
          </a:p>
        </p:txBody>
      </p:sp>
      <p:sp>
        <p:nvSpPr>
          <p:cNvPr id="245763" name="Rectangle 3"/>
          <p:cNvSpPr>
            <a:spLocks noGrp="1" noChangeArrowheads="1"/>
          </p:cNvSpPr>
          <p:nvPr>
            <p:ph idx="1"/>
          </p:nvPr>
        </p:nvSpPr>
        <p:spPr>
          <a:xfrm>
            <a:off x="700216" y="1181825"/>
            <a:ext cx="10542832" cy="44196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C designers placed much more emphasis on space efficiency and performance considerations than on type safety</a:t>
            </a:r>
          </a:p>
          <a:p>
            <a:pPr lvl="1">
              <a:buFont typeface="Arial"/>
              <a:buChar char="•"/>
            </a:pPr>
            <a:r>
              <a:rPr lang="en-US" sz="2000" dirty="0">
                <a:latin typeface="Georgia" panose="02040502050405020303" pitchFamily="18" charset="0"/>
              </a:rPr>
              <a:t>Assumed programmers would exercise due care in writing code</a:t>
            </a:r>
          </a:p>
          <a:p>
            <a:r>
              <a:rPr lang="en-US" sz="2400" dirty="0">
                <a:latin typeface="Georgia" panose="02040502050405020303" pitchFamily="18" charset="0"/>
              </a:rPr>
              <a:t>Programmers need to inspect the code and rewrite any unsafe coding</a:t>
            </a:r>
          </a:p>
          <a:p>
            <a:pPr lvl="1">
              <a:buFont typeface="Arial"/>
              <a:buChar char="•"/>
            </a:pPr>
            <a:r>
              <a:rPr lang="en-US" sz="2000" dirty="0">
                <a:latin typeface="Georgia" panose="02040502050405020303" pitchFamily="18" charset="0"/>
              </a:rPr>
              <a:t>An example of this is the </a:t>
            </a:r>
            <a:r>
              <a:rPr lang="en-US" sz="2000" dirty="0" err="1">
                <a:latin typeface="Georgia" panose="02040502050405020303" pitchFamily="18" charset="0"/>
              </a:rPr>
              <a:t>OpenBSD</a:t>
            </a:r>
            <a:r>
              <a:rPr lang="en-US" sz="2000" dirty="0">
                <a:latin typeface="Georgia" panose="02040502050405020303" pitchFamily="18" charset="0"/>
              </a:rPr>
              <a:t> project</a:t>
            </a:r>
          </a:p>
          <a:p>
            <a:r>
              <a:rPr lang="en-US" sz="2400" dirty="0">
                <a:latin typeface="Georgia" panose="02040502050405020303" pitchFamily="18" charset="0"/>
              </a:rPr>
              <a:t>Programmers have audited the existing code base, including the operating system, standard libraries, and common utilities</a:t>
            </a:r>
          </a:p>
          <a:p>
            <a:pPr lvl="1">
              <a:buFont typeface="Arial"/>
              <a:buChar char="•"/>
            </a:pPr>
            <a:r>
              <a:rPr lang="en-US" sz="2000" dirty="0">
                <a:latin typeface="Georgia" panose="02040502050405020303" pitchFamily="18" charset="0"/>
              </a:rPr>
              <a:t>This has resulted in what is widely regarded as one of the safest operating systems in widespread use</a:t>
            </a:r>
          </a:p>
        </p:txBody>
      </p:sp>
    </p:spTree>
    <p:extLst>
      <p:ext uri="{BB962C8B-B14F-4D97-AF65-F5344CB8AC3E}">
        <p14:creationId xmlns:p14="http://schemas.microsoft.com/office/powerpoint/2010/main" val="1403854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2"/>
            <a:ext cx="9144000" cy="1447799"/>
          </a:xfrm>
        </p:spPr>
        <p:txBody>
          <a:bodyPr>
            <a:no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Language Extensions/Safe Libraries</a:t>
            </a:r>
          </a:p>
        </p:txBody>
      </p:sp>
      <p:sp>
        <p:nvSpPr>
          <p:cNvPr id="247811" name="Rectangle 3"/>
          <p:cNvSpPr>
            <a:spLocks noGrp="1" noChangeArrowheads="1"/>
          </p:cNvSpPr>
          <p:nvPr>
            <p:ph idx="1"/>
          </p:nvPr>
        </p:nvSpPr>
        <p:spPr>
          <a:xfrm>
            <a:off x="654908" y="1447801"/>
            <a:ext cx="10882184" cy="5037099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sz="2800" dirty="0">
                <a:latin typeface="Georgia" panose="02040502050405020303" pitchFamily="18" charset="0"/>
              </a:rPr>
              <a:t>Handling dynamically allocated memory is more problematic because the size information is not available at compile time</a:t>
            </a:r>
          </a:p>
          <a:p>
            <a:pPr lvl="1">
              <a:spcBef>
                <a:spcPts val="1200"/>
              </a:spcBef>
            </a:pPr>
            <a:r>
              <a:rPr lang="en-US" dirty="0">
                <a:latin typeface="Georgia" panose="02040502050405020303" pitchFamily="18" charset="0"/>
              </a:rPr>
              <a:t>Requires an extension and the use of library routines</a:t>
            </a:r>
          </a:p>
          <a:p>
            <a:pPr lvl="2"/>
            <a:r>
              <a:rPr lang="en-US" dirty="0">
                <a:latin typeface="Georgia" panose="02040502050405020303" pitchFamily="18" charset="0"/>
              </a:rPr>
              <a:t>Programs and libraries need to be recompiled</a:t>
            </a:r>
          </a:p>
          <a:p>
            <a:pPr lvl="2">
              <a:spcBef>
                <a:spcPts val="0"/>
              </a:spcBef>
              <a:spcAft>
                <a:spcPts val="1200"/>
              </a:spcAft>
            </a:pPr>
            <a:r>
              <a:rPr lang="en-US" dirty="0">
                <a:latin typeface="Georgia" panose="02040502050405020303" pitchFamily="18" charset="0"/>
              </a:rPr>
              <a:t>Likely to have problems with third-party applications</a:t>
            </a:r>
          </a:p>
        </p:txBody>
      </p:sp>
    </p:spTree>
    <p:extLst>
      <p:ext uri="{BB962C8B-B14F-4D97-AF65-F5344CB8AC3E}">
        <p14:creationId xmlns:p14="http://schemas.microsoft.com/office/powerpoint/2010/main" val="3154586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>
          <a:xfrm>
            <a:off x="1991544" y="116633"/>
            <a:ext cx="8305800" cy="1080120"/>
          </a:xfrm>
        </p:spPr>
        <p:txBody>
          <a:bodyPr>
            <a:norm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Stack Protection</a:t>
            </a:r>
          </a:p>
        </p:txBody>
      </p:sp>
      <p:sp>
        <p:nvSpPr>
          <p:cNvPr id="249859" name="Rectangle 3"/>
          <p:cNvSpPr>
            <a:spLocks noGrp="1" noChangeArrowheads="1"/>
          </p:cNvSpPr>
          <p:nvPr>
            <p:ph idx="1"/>
          </p:nvPr>
        </p:nvSpPr>
        <p:spPr>
          <a:xfrm>
            <a:off x="337752" y="1196753"/>
            <a:ext cx="10927492" cy="456973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Georgia" panose="02040502050405020303" pitchFamily="18" charset="0"/>
              </a:rPr>
              <a:t>Add function entry and exit code to check stack for signs of corruption</a:t>
            </a:r>
          </a:p>
          <a:p>
            <a:r>
              <a:rPr lang="en-US" sz="2000" dirty="0">
                <a:latin typeface="Georgia" panose="02040502050405020303" pitchFamily="18" charset="0"/>
              </a:rPr>
              <a:t>Use random canary</a:t>
            </a: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Value needs to be unpredictable</a:t>
            </a: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Should be different on different systems</a:t>
            </a:r>
          </a:p>
          <a:p>
            <a:pPr marL="342900" lvl="1" indent="-342900">
              <a:buClr>
                <a:schemeClr val="tx1"/>
              </a:buClr>
              <a:buFont typeface="Arial" pitchFamily="34" charset="0"/>
              <a:buChar char="•"/>
            </a:pPr>
            <a:r>
              <a:rPr lang="en-US" sz="2000" dirty="0" err="1">
                <a:latin typeface="Georgia" panose="02040502050405020303" pitchFamily="18" charset="0"/>
              </a:rPr>
              <a:t>Stackshield</a:t>
            </a:r>
            <a:r>
              <a:rPr lang="en-US" sz="2000" dirty="0">
                <a:latin typeface="Georgia" panose="02040502050405020303" pitchFamily="18" charset="0"/>
              </a:rPr>
              <a:t> and Return Address Defender (RAD)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Function entry writes a copy of the return address to a safe region of memory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Function exit code checks the return address in the stack frame against the saved copy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If change is found, aborts the program</a:t>
            </a:r>
          </a:p>
          <a:p>
            <a:pPr marL="1377950" lvl="4" indent="-342900">
              <a:spcBef>
                <a:spcPts val="2000"/>
              </a:spcBef>
            </a:pPr>
            <a:endParaRPr lang="en-US" sz="1800" dirty="0">
              <a:latin typeface="Georgia" panose="02040502050405020303" pitchFamily="18" charset="0"/>
            </a:endParaRPr>
          </a:p>
          <a:p>
            <a:pPr marL="1377950" lvl="4" indent="-342900">
              <a:spcBef>
                <a:spcPts val="2000"/>
              </a:spcBef>
            </a:pPr>
            <a:endParaRPr lang="en-US" sz="18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327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271464" y="29136"/>
            <a:ext cx="9649072" cy="1627187"/>
          </a:xfrm>
        </p:spPr>
        <p:txBody>
          <a:bodyPr>
            <a:norm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Executable Address Space Protection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0AA129-9904-4B45-A11F-20986B7DF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070" y="1772816"/>
            <a:ext cx="10478530" cy="4114800"/>
          </a:xfrm>
        </p:spPr>
        <p:txBody>
          <a:bodyPr/>
          <a:lstStyle/>
          <a:p>
            <a:pPr lvl="0" rtl="0"/>
            <a:r>
              <a:rPr lang="en-US" dirty="0">
                <a:solidFill>
                  <a:schemeClr val="tx1"/>
                </a:solidFill>
                <a:latin typeface="Georgia" panose="02040502050405020303" pitchFamily="18" charset="0"/>
              </a:rPr>
              <a:t>Use virtual memory support to make some regions of memory non-executable</a:t>
            </a:r>
          </a:p>
          <a:p>
            <a:pPr lvl="1" rtl="0"/>
            <a:r>
              <a:rPr lang="en-US" dirty="0">
                <a:latin typeface="Georgia" panose="02040502050405020303" pitchFamily="18" charset="0"/>
              </a:rPr>
              <a:t>Requires support from memory management unit (MMU)</a:t>
            </a:r>
          </a:p>
          <a:p>
            <a:pPr lvl="0" rtl="0"/>
            <a:r>
              <a:rPr lang="en-US" dirty="0">
                <a:solidFill>
                  <a:schemeClr val="tx1"/>
                </a:solidFill>
                <a:latin typeface="Georgia" panose="02040502050405020303" pitchFamily="18" charset="0"/>
              </a:rPr>
              <a:t>Issues</a:t>
            </a:r>
          </a:p>
          <a:p>
            <a:pPr lvl="1" rtl="0"/>
            <a:r>
              <a:rPr lang="en-US" dirty="0">
                <a:latin typeface="Georgia" panose="02040502050405020303" pitchFamily="18" charset="0"/>
              </a:rPr>
              <a:t>Support for executable stack code</a:t>
            </a:r>
          </a:p>
          <a:p>
            <a:pPr lvl="1" rtl="0"/>
            <a:r>
              <a:rPr lang="en-US" dirty="0">
                <a:latin typeface="Georgia" panose="02040502050405020303" pitchFamily="18" charset="0"/>
              </a:rPr>
              <a:t>Special provisions are needed</a:t>
            </a:r>
          </a:p>
        </p:txBody>
      </p:sp>
    </p:spTree>
    <p:extLst>
      <p:ext uri="{BB962C8B-B14F-4D97-AF65-F5344CB8AC3E}">
        <p14:creationId xmlns:p14="http://schemas.microsoft.com/office/powerpoint/2010/main" val="2565126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"/>
            <a:ext cx="9144000" cy="1124744"/>
          </a:xfrm>
        </p:spPr>
        <p:txBody>
          <a:bodyPr/>
          <a:lstStyle/>
          <a:p>
            <a:r>
              <a:rPr lang="en-US" sz="4000" dirty="0">
                <a:latin typeface="Georgia" panose="02040502050405020303" pitchFamily="18" charset="0"/>
              </a:rPr>
              <a:t>Address Space </a:t>
            </a:r>
            <a:r>
              <a:rPr lang="en-US" sz="4000" dirty="0" err="1">
                <a:latin typeface="Georgia" panose="02040502050405020303" pitchFamily="18" charset="0"/>
              </a:rPr>
              <a:t>Randomisation</a:t>
            </a:r>
            <a:endParaRPr lang="en-US" sz="4000" dirty="0">
              <a:latin typeface="Georgia" panose="02040502050405020303" pitchFamily="18" charset="0"/>
            </a:endParaRPr>
          </a:p>
        </p:txBody>
      </p:sp>
      <p:sp>
        <p:nvSpPr>
          <p:cNvPr id="253955" name="Rectangle 3"/>
          <p:cNvSpPr>
            <a:spLocks noGrp="1" noChangeArrowheads="1"/>
          </p:cNvSpPr>
          <p:nvPr>
            <p:ph idx="1"/>
          </p:nvPr>
        </p:nvSpPr>
        <p:spPr>
          <a:xfrm>
            <a:off x="510745" y="1619516"/>
            <a:ext cx="10412627" cy="4420344"/>
          </a:xfrm>
        </p:spPr>
        <p:txBody>
          <a:bodyPr>
            <a:normAutofit/>
          </a:bodyPr>
          <a:lstStyle/>
          <a:p>
            <a:r>
              <a:rPr lang="en-US" sz="3500" dirty="0">
                <a:latin typeface="Georgia" panose="02040502050405020303" pitchFamily="18" charset="0"/>
              </a:rPr>
              <a:t>Manipulate location of key data structures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Stack, heap, global data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Using random shift for each process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Large address range on modern systems means wasting some has negligible impact</a:t>
            </a:r>
          </a:p>
          <a:p>
            <a:r>
              <a:rPr lang="en-US" sz="3500" dirty="0" err="1">
                <a:latin typeface="Georgia" panose="02040502050405020303" pitchFamily="18" charset="0"/>
              </a:rPr>
              <a:t>Randomise</a:t>
            </a:r>
            <a:r>
              <a:rPr lang="en-US" sz="3500" dirty="0">
                <a:latin typeface="Georgia" panose="02040502050405020303" pitchFamily="18" charset="0"/>
              </a:rPr>
              <a:t> location of heap buffers </a:t>
            </a:r>
          </a:p>
          <a:p>
            <a:r>
              <a:rPr lang="en-US" sz="3500" dirty="0">
                <a:latin typeface="Georgia" panose="02040502050405020303" pitchFamily="18" charset="0"/>
              </a:rPr>
              <a:t>Random location of standard library functions</a:t>
            </a:r>
          </a:p>
        </p:txBody>
      </p:sp>
    </p:spTree>
    <p:extLst>
      <p:ext uri="{BB962C8B-B14F-4D97-AF65-F5344CB8AC3E}">
        <p14:creationId xmlns:p14="http://schemas.microsoft.com/office/powerpoint/2010/main" val="3873596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91544" y="-315416"/>
            <a:ext cx="8229600" cy="1600200"/>
          </a:xfrm>
        </p:spPr>
        <p:txBody>
          <a:bodyPr/>
          <a:lstStyle/>
          <a:p>
            <a:r>
              <a:rPr lang="en-US" sz="4000" dirty="0">
                <a:latin typeface="Georgia" panose="02040502050405020303" pitchFamily="18" charset="0"/>
              </a:rPr>
              <a:t>Heap Overflow</a:t>
            </a:r>
          </a:p>
        </p:txBody>
      </p:sp>
      <p:sp>
        <p:nvSpPr>
          <p:cNvPr id="264195" name="Rectangle 3"/>
          <p:cNvSpPr>
            <a:spLocks noGrp="1" noChangeArrowheads="1"/>
          </p:cNvSpPr>
          <p:nvPr>
            <p:ph idx="1"/>
          </p:nvPr>
        </p:nvSpPr>
        <p:spPr>
          <a:xfrm>
            <a:off x="650789" y="1260701"/>
            <a:ext cx="10700952" cy="2895600"/>
          </a:xfrm>
        </p:spPr>
        <p:txBody>
          <a:bodyPr>
            <a:noAutofit/>
          </a:bodyPr>
          <a:lstStyle/>
          <a:p>
            <a:r>
              <a:rPr lang="en-US" sz="2000" dirty="0">
                <a:latin typeface="Georgia" panose="02040502050405020303" pitchFamily="18" charset="0"/>
              </a:rPr>
              <a:t>Attack buffer located in heap</a:t>
            </a: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Typically located above program code</a:t>
            </a: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Memory is requested by programs to use in dynamic data structures (such as linked lists of records)</a:t>
            </a:r>
          </a:p>
          <a:p>
            <a:r>
              <a:rPr lang="en-US" sz="2000" dirty="0">
                <a:latin typeface="Georgia" panose="02040502050405020303" pitchFamily="18" charset="0"/>
              </a:rPr>
              <a:t>No return address</a:t>
            </a: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Hence no easy transfer of control</a:t>
            </a: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May have function pointers can exploit</a:t>
            </a: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Or manipulate management data structures</a:t>
            </a:r>
          </a:p>
          <a:p>
            <a:pPr lvl="0"/>
            <a:r>
              <a:rPr lang="en-US" sz="2000" dirty="0" err="1">
                <a:latin typeface="Georgia" panose="02040502050405020303" pitchFamily="18" charset="0"/>
              </a:rPr>
              <a:t>Defences</a:t>
            </a:r>
            <a:endParaRPr lang="en-US" sz="2000" dirty="0">
              <a:latin typeface="Georgia" panose="02040502050405020303" pitchFamily="18" charset="0"/>
            </a:endParaRPr>
          </a:p>
          <a:p>
            <a:pPr lvl="1">
              <a:buChar char="•"/>
            </a:pPr>
            <a:r>
              <a:rPr lang="en-US" sz="2000" dirty="0">
                <a:latin typeface="Georgia" panose="02040502050405020303" pitchFamily="18" charset="0"/>
              </a:rPr>
              <a:t>Making the heap non-executable</a:t>
            </a:r>
          </a:p>
          <a:p>
            <a:pPr lvl="1">
              <a:buChar char="•"/>
            </a:pPr>
            <a:r>
              <a:rPr lang="en-US" sz="2000" dirty="0" err="1">
                <a:latin typeface="Georgia" panose="02040502050405020303" pitchFamily="18" charset="0"/>
              </a:rPr>
              <a:t>Randomising</a:t>
            </a:r>
            <a:r>
              <a:rPr lang="en-US" sz="2000" dirty="0">
                <a:latin typeface="Georgia" panose="02040502050405020303" pitchFamily="18" charset="0"/>
              </a:rPr>
              <a:t> the allocation of memory on the heap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8884DF-BA83-465D-B430-1ED96B665DB2}"/>
              </a:ext>
            </a:extLst>
          </p:cNvPr>
          <p:cNvSpPr/>
          <p:nvPr/>
        </p:nvSpPr>
        <p:spPr>
          <a:xfrm>
            <a:off x="3058344" y="4005064"/>
            <a:ext cx="6096000" cy="1981200"/>
          </a:xfrm>
          <a:prstGeom prst="rect">
            <a:avLst/>
          </a:prstGeo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400" dirty="0">
              <a:solidFill>
                <a:srgbClr val="000000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38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"/>
            <a:ext cx="9144000" cy="90872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Georgia" panose="02040502050405020303" pitchFamily="18" charset="0"/>
              </a:rPr>
              <a:t>Race Conditions</a:t>
            </a:r>
          </a:p>
        </p:txBody>
      </p:sp>
      <p:sp>
        <p:nvSpPr>
          <p:cNvPr id="256003" name="Rectangle 3"/>
          <p:cNvSpPr>
            <a:spLocks noGrp="1" noChangeArrowheads="1"/>
          </p:cNvSpPr>
          <p:nvPr>
            <p:ph idx="1"/>
          </p:nvPr>
        </p:nvSpPr>
        <p:spPr>
          <a:xfrm>
            <a:off x="881449" y="1141737"/>
            <a:ext cx="10495005" cy="4572000"/>
          </a:xfrm>
        </p:spPr>
        <p:txBody>
          <a:bodyPr>
            <a:normAutofit/>
          </a:bodyPr>
          <a:lstStyle/>
          <a:p>
            <a:pPr>
              <a:buSzPct val="130000"/>
            </a:pPr>
            <a:r>
              <a:rPr lang="en-US" dirty="0">
                <a:latin typeface="Georgia" panose="02040502050405020303" pitchFamily="18" charset="0"/>
              </a:rPr>
              <a:t>Without </a:t>
            </a:r>
            <a:r>
              <a:rPr lang="en-US" dirty="0" err="1">
                <a:latin typeface="Georgia" panose="02040502050405020303" pitchFamily="18" charset="0"/>
              </a:rPr>
              <a:t>synchronisation</a:t>
            </a:r>
            <a:r>
              <a:rPr lang="en-US" dirty="0">
                <a:latin typeface="Georgia" panose="02040502050405020303" pitchFamily="18" charset="0"/>
              </a:rPr>
              <a:t> of accesses it is possible that values may be corrupted or changes lost due to overlapping access</a:t>
            </a:r>
          </a:p>
          <a:p>
            <a:pPr>
              <a:buSzPct val="130000"/>
            </a:pPr>
            <a:r>
              <a:rPr lang="en-US" dirty="0">
                <a:latin typeface="Georgia" panose="02040502050405020303" pitchFamily="18" charset="0"/>
              </a:rPr>
              <a:t>Arise when writing concurrent code</a:t>
            </a:r>
          </a:p>
        </p:txBody>
      </p:sp>
    </p:spTree>
    <p:extLst>
      <p:ext uri="{BB962C8B-B14F-4D97-AF65-F5344CB8AC3E}">
        <p14:creationId xmlns:p14="http://schemas.microsoft.com/office/powerpoint/2010/main" val="71046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Race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for a moment that two processes need to perform a bit flip at a specific memory location. </a:t>
            </a:r>
          </a:p>
          <a:p>
            <a:r>
              <a:rPr lang="en-US" dirty="0"/>
              <a:t>Under normal circumstances the operation should work like this:</a:t>
            </a:r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265462"/>
              </p:ext>
            </p:extLst>
          </p:nvPr>
        </p:nvGraphicFramePr>
        <p:xfrm>
          <a:off x="1562442" y="3545244"/>
          <a:ext cx="4747742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2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4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Process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Process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Memory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Read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Flip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Read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Flip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71718" y="3492843"/>
            <a:ext cx="3319849" cy="17543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 this example, Process 1 performs a bit flip, changing the memory value from 0 to 1. Process 2 then performs a bit flip and changes the memory value from 1 to 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6461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Race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race condition occurred causing these two processes to overlap, the sequence could potentially look more like this:</a:t>
            </a:r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625145"/>
              </p:ext>
            </p:extLst>
          </p:nvPr>
        </p:nvGraphicFramePr>
        <p:xfrm>
          <a:off x="1397685" y="2622606"/>
          <a:ext cx="4747742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2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4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Process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Process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Memory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Read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Read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Flip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Flip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71718" y="2899719"/>
            <a:ext cx="3319849" cy="17543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 this example, the bit has an ending value of 1 when its value should be 0. This occurs because Process 2 is unaware that Process 1 is performing a simultaneous bit flip.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3944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957264" y="11266"/>
            <a:ext cx="8229600" cy="1041470"/>
          </a:xfrm>
        </p:spPr>
        <p:txBody>
          <a:bodyPr/>
          <a:lstStyle/>
          <a:p>
            <a:r>
              <a:rPr lang="en-US" sz="4000" dirty="0">
                <a:latin typeface="Georgia" panose="02040502050405020303" pitchFamily="18" charset="0"/>
              </a:rPr>
              <a:t>Preventing Race Conditions</a:t>
            </a:r>
          </a:p>
        </p:txBody>
      </p:sp>
      <p:sp>
        <p:nvSpPr>
          <p:cNvPr id="274435" name="Rectangle 3"/>
          <p:cNvSpPr>
            <a:spLocks noGrp="1" noChangeArrowheads="1"/>
          </p:cNvSpPr>
          <p:nvPr>
            <p:ph idx="1"/>
          </p:nvPr>
        </p:nvSpPr>
        <p:spPr>
          <a:xfrm>
            <a:off x="362465" y="1340768"/>
            <a:ext cx="11186984" cy="4219773"/>
          </a:xfrm>
        </p:spPr>
        <p:txBody>
          <a:bodyPr/>
          <a:lstStyle/>
          <a:p>
            <a:pPr>
              <a:lnSpc>
                <a:spcPct val="90000"/>
              </a:lnSpc>
              <a:buSzPct val="130000"/>
            </a:pPr>
            <a:r>
              <a:rPr lang="en-US" sz="2400" dirty="0">
                <a:latin typeface="Georgia" panose="02040502050405020303" pitchFamily="18" charset="0"/>
              </a:rPr>
              <a:t>Need suitable synchronization mechanisms</a:t>
            </a:r>
          </a:p>
          <a:p>
            <a:pPr lvl="1">
              <a:lnSpc>
                <a:spcPct val="90000"/>
              </a:lnSpc>
              <a:buClr>
                <a:schemeClr val="accent2"/>
              </a:buClr>
            </a:pPr>
            <a:r>
              <a:rPr lang="en-US" sz="2400" dirty="0">
                <a:latin typeface="Georgia" panose="02040502050405020303" pitchFamily="18" charset="0"/>
              </a:rPr>
              <a:t> Most common technique is to acquire a lock on the shared file</a:t>
            </a:r>
          </a:p>
          <a:p>
            <a:pPr>
              <a:lnSpc>
                <a:spcPct val="90000"/>
              </a:lnSpc>
              <a:buSzPct val="130000"/>
            </a:pPr>
            <a:r>
              <a:rPr lang="en-US" sz="2400" dirty="0" err="1">
                <a:latin typeface="Georgia" panose="02040502050405020303" pitchFamily="18" charset="0"/>
              </a:rPr>
              <a:t>Lockfile</a:t>
            </a:r>
            <a:endParaRPr lang="en-US" sz="2400" dirty="0">
              <a:latin typeface="Georgia" panose="02040502050405020303" pitchFamily="18" charset="0"/>
            </a:endParaRPr>
          </a:p>
          <a:p>
            <a:pPr lvl="1">
              <a:lnSpc>
                <a:spcPct val="90000"/>
              </a:lnSpc>
              <a:buClr>
                <a:schemeClr val="accent2"/>
              </a:buClr>
            </a:pPr>
            <a:r>
              <a:rPr lang="en-US" sz="2400" dirty="0">
                <a:latin typeface="Georgia" panose="02040502050405020303" pitchFamily="18" charset="0"/>
              </a:rPr>
              <a:t>Process must create and own the </a:t>
            </a:r>
            <a:r>
              <a:rPr lang="en-US" sz="2400" dirty="0" err="1">
                <a:latin typeface="Georgia" panose="02040502050405020303" pitchFamily="18" charset="0"/>
              </a:rPr>
              <a:t>lockfile</a:t>
            </a:r>
            <a:r>
              <a:rPr lang="en-US" sz="2400" dirty="0">
                <a:latin typeface="Georgia" panose="02040502050405020303" pitchFamily="18" charset="0"/>
              </a:rPr>
              <a:t> in order to gain access to the shared resource</a:t>
            </a:r>
          </a:p>
          <a:p>
            <a:pPr lvl="2">
              <a:lnSpc>
                <a:spcPct val="90000"/>
              </a:lnSpc>
            </a:pPr>
            <a:r>
              <a:rPr lang="en-US" dirty="0">
                <a:latin typeface="Georgia" panose="02040502050405020303" pitchFamily="18" charset="0"/>
              </a:rPr>
              <a:t>If a program chooses to ignore the existence of the </a:t>
            </a:r>
            <a:r>
              <a:rPr lang="en-US" dirty="0" err="1">
                <a:latin typeface="Georgia" panose="02040502050405020303" pitchFamily="18" charset="0"/>
              </a:rPr>
              <a:t>lockfile</a:t>
            </a:r>
            <a:r>
              <a:rPr lang="en-US" dirty="0">
                <a:latin typeface="Georgia" panose="02040502050405020303" pitchFamily="18" charset="0"/>
              </a:rPr>
              <a:t> and access the shared resource the system will not prevent this</a:t>
            </a:r>
          </a:p>
          <a:p>
            <a:pPr lvl="2">
              <a:lnSpc>
                <a:spcPct val="90000"/>
              </a:lnSpc>
            </a:pPr>
            <a:r>
              <a:rPr lang="en-US" dirty="0">
                <a:latin typeface="Georgia" panose="02040502050405020303" pitchFamily="18" charset="0"/>
              </a:rPr>
              <a:t>All programs using this form of synchronization must cooperate</a:t>
            </a:r>
          </a:p>
        </p:txBody>
      </p:sp>
    </p:spTree>
    <p:extLst>
      <p:ext uri="{BB962C8B-B14F-4D97-AF65-F5344CB8AC3E}">
        <p14:creationId xmlns:p14="http://schemas.microsoft.com/office/powerpoint/2010/main" val="2384719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Deadlock</a:t>
            </a:r>
            <a:br>
              <a:rPr lang="en-US" dirty="0">
                <a:latin typeface="Georgia" panose="02040502050405020303" pitchFamily="18" charset="0"/>
              </a:rPr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Processes or threads wait on a resource held by the other</a:t>
            </a:r>
          </a:p>
          <a:p>
            <a:pP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One or more programs has to be terminated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1852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42875"/>
            <a:ext cx="9144000" cy="1143000"/>
          </a:xfrm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Other Programming Oversights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Undocumented access points (backdoors)</a:t>
            </a:r>
          </a:p>
          <a:p>
            <a:r>
              <a:rPr lang="en-US" dirty="0">
                <a:latin typeface="Georgia" panose="02040502050405020303" pitchFamily="18" charset="0"/>
              </a:rPr>
              <a:t>Off-by-one errors</a:t>
            </a:r>
          </a:p>
          <a:p>
            <a:r>
              <a:rPr lang="en-US" dirty="0">
                <a:latin typeface="Georgia" panose="02040502050405020303" pitchFamily="18" charset="0"/>
              </a:rPr>
              <a:t>Integer overflows</a:t>
            </a:r>
          </a:p>
          <a:p>
            <a:r>
              <a:rPr lang="en-US" dirty="0" err="1">
                <a:latin typeface="Georgia" panose="02040502050405020303" pitchFamily="18" charset="0"/>
              </a:rPr>
              <a:t>Unterminated</a:t>
            </a:r>
            <a:r>
              <a:rPr lang="en-US" dirty="0">
                <a:latin typeface="Georgia" panose="02040502050405020303" pitchFamily="18" charset="0"/>
              </a:rPr>
              <a:t> null-terminated string</a:t>
            </a:r>
          </a:p>
          <a:p>
            <a:r>
              <a:rPr lang="en-US" dirty="0">
                <a:latin typeface="Georgia" panose="02040502050405020303" pitchFamily="18" charset="0"/>
              </a:rPr>
              <a:t>Parameter length, type, or number errors</a:t>
            </a:r>
          </a:p>
          <a:p>
            <a:r>
              <a:rPr lang="en-US" dirty="0">
                <a:latin typeface="Georgia" panose="02040502050405020303" pitchFamily="18" charset="0"/>
              </a:rPr>
              <a:t>Unsafe utility libraries</a:t>
            </a:r>
          </a:p>
        </p:txBody>
      </p:sp>
    </p:spTree>
    <p:extLst>
      <p:ext uri="{BB962C8B-B14F-4D97-AF65-F5344CB8AC3E}">
        <p14:creationId xmlns:p14="http://schemas.microsoft.com/office/powerpoint/2010/main" val="95823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>
          <a:xfrm>
            <a:off x="1991544" y="-171400"/>
            <a:ext cx="8229600" cy="1600200"/>
          </a:xfrm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Injection Attacks</a:t>
            </a:r>
          </a:p>
        </p:txBody>
      </p:sp>
      <p:sp>
        <p:nvSpPr>
          <p:cNvPr id="223235" name="Rectangle 3"/>
          <p:cNvSpPr>
            <a:spLocks noGrp="1" noChangeArrowheads="1"/>
          </p:cNvSpPr>
          <p:nvPr>
            <p:ph idx="1"/>
          </p:nvPr>
        </p:nvSpPr>
        <p:spPr>
          <a:xfrm>
            <a:off x="230659" y="1472281"/>
            <a:ext cx="11442357" cy="2057400"/>
          </a:xfrm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Flaws relating to invalid handling of input data, specifically when program input data can accidentally or deliberately influence the flow of execution of the program</a:t>
            </a:r>
          </a:p>
          <a:p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Most often occur in scripting languages</a:t>
            </a:r>
          </a:p>
          <a:p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CFBCD7-39C4-4ECF-A5AD-DF313ED3D22C}"/>
              </a:ext>
            </a:extLst>
          </p:cNvPr>
          <p:cNvSpPr/>
          <p:nvPr/>
        </p:nvSpPr>
        <p:spPr>
          <a:xfrm>
            <a:off x="230659" y="3551159"/>
            <a:ext cx="9609757" cy="2160240"/>
          </a:xfrm>
          <a:prstGeom prst="rect">
            <a:avLst/>
          </a:prstGeo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3200" dirty="0">
              <a:solidFill>
                <a:srgbClr val="000000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706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>
          <a:xfrm>
            <a:off x="1991544" y="-171400"/>
            <a:ext cx="8229600" cy="1600200"/>
          </a:xfrm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SQL Injection Example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96778" y="1334530"/>
            <a:ext cx="958060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txtUserid</a:t>
            </a:r>
            <a:r>
              <a:rPr lang="en-GB" dirty="0"/>
              <a:t> = </a:t>
            </a:r>
            <a:r>
              <a:rPr lang="en-GB" dirty="0" err="1"/>
              <a:t>getRequestString</a:t>
            </a:r>
            <a:r>
              <a:rPr lang="en-GB" dirty="0"/>
              <a:t>(</a:t>
            </a:r>
            <a:r>
              <a:rPr lang="en-GB" dirty="0" err="1"/>
              <a:t>UserID</a:t>
            </a:r>
            <a:r>
              <a:rPr lang="en-GB" dirty="0"/>
              <a:t>)</a:t>
            </a:r>
          </a:p>
          <a:p>
            <a:r>
              <a:rPr lang="en-GB" dirty="0" err="1"/>
              <a:t>txtSQL</a:t>
            </a:r>
            <a:r>
              <a:rPr lang="en-GB" dirty="0"/>
              <a:t> = “Select * from users where </a:t>
            </a:r>
            <a:r>
              <a:rPr lang="en-GB" dirty="0" err="1"/>
              <a:t>UserID</a:t>
            </a:r>
            <a:r>
              <a:rPr lang="en-GB" dirty="0"/>
              <a:t> = “ + </a:t>
            </a:r>
            <a:r>
              <a:rPr lang="en-GB" dirty="0" err="1"/>
              <a:t>txtUserid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For </a:t>
            </a:r>
            <a:r>
              <a:rPr lang="en-GB" dirty="0" err="1"/>
              <a:t>Userid</a:t>
            </a:r>
            <a:r>
              <a:rPr lang="en-GB" dirty="0"/>
              <a:t> if we enter : 105 or 1=1</a:t>
            </a:r>
          </a:p>
          <a:p>
            <a:endParaRPr lang="en-GB" dirty="0"/>
          </a:p>
          <a:p>
            <a:r>
              <a:rPr lang="en-GB" dirty="0">
                <a:solidFill>
                  <a:srgbClr val="0070C0"/>
                </a:solidFill>
              </a:rPr>
              <a:t>Select * from users where </a:t>
            </a:r>
            <a:r>
              <a:rPr lang="en-GB" dirty="0" err="1">
                <a:solidFill>
                  <a:srgbClr val="0070C0"/>
                </a:solidFill>
              </a:rPr>
              <a:t>UserID</a:t>
            </a:r>
            <a:r>
              <a:rPr lang="en-GB" dirty="0">
                <a:solidFill>
                  <a:srgbClr val="0070C0"/>
                </a:solidFill>
              </a:rPr>
              <a:t> = 105 or 1=1</a:t>
            </a:r>
          </a:p>
          <a:p>
            <a:endParaRPr lang="en-GB" dirty="0"/>
          </a:p>
          <a:p>
            <a:r>
              <a:rPr lang="en-US" dirty="0"/>
              <a:t>The SQL above is valid and will return ALL rows from the "Users" table, since </a:t>
            </a:r>
            <a:r>
              <a:rPr lang="en-US" b="1" dirty="0"/>
              <a:t>OR 1=1</a:t>
            </a:r>
            <a:r>
              <a:rPr lang="en-US" dirty="0"/>
              <a:t> is always TRUE.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3132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42875"/>
            <a:ext cx="9144000" cy="1143000"/>
          </a:xfrm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Countermeasures for Developers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>
                <a:latin typeface="Georgia" panose="02040502050405020303" pitchFamily="18" charset="0"/>
              </a:rPr>
              <a:t>Modular code: Each code module should be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  <a:ea typeface="+mn-ea"/>
                <a:cs typeface="+mn-cs"/>
              </a:rPr>
              <a:t>Single-purpose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  <a:ea typeface="+mn-ea"/>
                <a:cs typeface="+mn-cs"/>
              </a:rPr>
              <a:t>Small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  <a:ea typeface="+mn-ea"/>
                <a:cs typeface="+mn-cs"/>
              </a:rPr>
              <a:t>Simple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  <a:ea typeface="+mn-ea"/>
                <a:cs typeface="+mn-cs"/>
              </a:rPr>
              <a:t>Independent</a:t>
            </a:r>
          </a:p>
          <a:p>
            <a:r>
              <a:rPr lang="en-US" sz="2400" dirty="0">
                <a:latin typeface="Georgia" panose="02040502050405020303" pitchFamily="18" charset="0"/>
              </a:rPr>
              <a:t>Encapsulation</a:t>
            </a:r>
          </a:p>
          <a:p>
            <a:r>
              <a:rPr lang="en-US" sz="2400" dirty="0">
                <a:latin typeface="Georgia" panose="02040502050405020303" pitchFamily="18" charset="0"/>
              </a:rPr>
              <a:t>Information hiding</a:t>
            </a:r>
          </a:p>
        </p:txBody>
      </p:sp>
    </p:spTree>
    <p:extLst>
      <p:ext uri="{BB962C8B-B14F-4D97-AF65-F5344CB8AC3E}">
        <p14:creationId xmlns:p14="http://schemas.microsoft.com/office/powerpoint/2010/main" val="1139221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Code Testing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>
                <a:latin typeface="Georgia" panose="02040502050405020303" pitchFamily="18" charset="0"/>
              </a:rPr>
              <a:t>Unit testing</a:t>
            </a:r>
          </a:p>
          <a:p>
            <a:r>
              <a:rPr lang="en-US" sz="2800" dirty="0">
                <a:latin typeface="Georgia" panose="02040502050405020303" pitchFamily="18" charset="0"/>
              </a:rPr>
              <a:t>Integration testing</a:t>
            </a:r>
          </a:p>
          <a:p>
            <a:r>
              <a:rPr lang="en-US" sz="2800" dirty="0">
                <a:latin typeface="Georgia" panose="02040502050405020303" pitchFamily="18" charset="0"/>
              </a:rPr>
              <a:t>Function testing</a:t>
            </a:r>
          </a:p>
          <a:p>
            <a:r>
              <a:rPr lang="en-US" sz="2800" dirty="0">
                <a:latin typeface="Georgia" panose="02040502050405020303" pitchFamily="18" charset="0"/>
              </a:rPr>
              <a:t>Performance testing</a:t>
            </a:r>
          </a:p>
          <a:p>
            <a:r>
              <a:rPr lang="en-US" sz="2800" dirty="0">
                <a:latin typeface="Georgia" panose="02040502050405020303" pitchFamily="18" charset="0"/>
              </a:rPr>
              <a:t>Acceptance testing</a:t>
            </a:r>
          </a:p>
          <a:p>
            <a:r>
              <a:rPr lang="en-US" sz="2800" dirty="0">
                <a:latin typeface="Georgia" panose="02040502050405020303" pitchFamily="18" charset="0"/>
              </a:rPr>
              <a:t>Penetration testing</a:t>
            </a:r>
          </a:p>
        </p:txBody>
      </p:sp>
    </p:spTree>
    <p:extLst>
      <p:ext uri="{BB962C8B-B14F-4D97-AF65-F5344CB8AC3E}">
        <p14:creationId xmlns:p14="http://schemas.microsoft.com/office/powerpoint/2010/main" val="1313231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Validating Numeric Input</a:t>
            </a:r>
          </a:p>
        </p:txBody>
      </p:sp>
      <p:sp>
        <p:nvSpPr>
          <p:cNvPr id="241667" name="Rectangle 3"/>
          <p:cNvSpPr>
            <a:spLocks noGrp="1" noChangeArrowheads="1"/>
          </p:cNvSpPr>
          <p:nvPr>
            <p:ph idx="1"/>
          </p:nvPr>
        </p:nvSpPr>
        <p:spPr>
          <a:xfrm>
            <a:off x="370703" y="1382581"/>
            <a:ext cx="10709189" cy="4724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Georgia" panose="02040502050405020303" pitchFamily="18" charset="0"/>
              </a:rPr>
              <a:t>Additional concern when input data represents numeric values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Georgia" panose="02040502050405020303" pitchFamily="18" charset="0"/>
              </a:rPr>
              <a:t>Internally stored in fixed sized value</a:t>
            </a:r>
          </a:p>
          <a:p>
            <a:pPr lvl="1">
              <a:lnSpc>
                <a:spcPct val="90000"/>
              </a:lnSpc>
              <a:buClr>
                <a:schemeClr val="accent6">
                  <a:lumMod val="60000"/>
                  <a:lumOff val="40000"/>
                </a:schemeClr>
              </a:buClr>
            </a:pPr>
            <a:r>
              <a:rPr lang="en-US" sz="2400" dirty="0">
                <a:latin typeface="Georgia" panose="02040502050405020303" pitchFamily="18" charset="0"/>
              </a:rPr>
              <a:t>8, 16, 32, 64-bit integers</a:t>
            </a:r>
          </a:p>
          <a:p>
            <a:pPr lvl="1">
              <a:lnSpc>
                <a:spcPct val="90000"/>
              </a:lnSpc>
              <a:buClr>
                <a:schemeClr val="accent6">
                  <a:lumMod val="60000"/>
                  <a:lumOff val="40000"/>
                </a:schemeClr>
              </a:buClr>
            </a:pPr>
            <a:r>
              <a:rPr lang="en-US" sz="2400" dirty="0">
                <a:latin typeface="Georgia" panose="02040502050405020303" pitchFamily="18" charset="0"/>
              </a:rPr>
              <a:t>Floating point numbers depend on the processor used</a:t>
            </a:r>
          </a:p>
          <a:p>
            <a:pPr lvl="1">
              <a:lnSpc>
                <a:spcPct val="90000"/>
              </a:lnSpc>
              <a:buClr>
                <a:schemeClr val="accent6">
                  <a:lumMod val="60000"/>
                  <a:lumOff val="40000"/>
                </a:schemeClr>
              </a:buClr>
            </a:pPr>
            <a:r>
              <a:rPr lang="en-US" sz="2400" dirty="0">
                <a:latin typeface="Georgia" panose="02040502050405020303" pitchFamily="18" charset="0"/>
              </a:rPr>
              <a:t>Values may be signed or unsigned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Georgia" panose="02040502050405020303" pitchFamily="18" charset="0"/>
              </a:rPr>
              <a:t>Must correctly interpret text form and process consistently</a:t>
            </a:r>
          </a:p>
          <a:p>
            <a:pPr lvl="1">
              <a:lnSpc>
                <a:spcPct val="90000"/>
              </a:lnSpc>
              <a:buClr>
                <a:schemeClr val="accent6">
                  <a:lumMod val="60000"/>
                  <a:lumOff val="40000"/>
                </a:schemeClr>
              </a:buClr>
            </a:pPr>
            <a:r>
              <a:rPr lang="en-US" sz="2400" dirty="0">
                <a:latin typeface="Georgia" panose="02040502050405020303" pitchFamily="18" charset="0"/>
              </a:rPr>
              <a:t>Have issues comparing signed to unsigned </a:t>
            </a:r>
          </a:p>
          <a:p>
            <a:pPr lvl="1">
              <a:lnSpc>
                <a:spcPct val="90000"/>
              </a:lnSpc>
              <a:buClr>
                <a:schemeClr val="accent6">
                  <a:lumMod val="60000"/>
                  <a:lumOff val="40000"/>
                </a:schemeClr>
              </a:buClr>
            </a:pPr>
            <a:r>
              <a:rPr lang="en-US" sz="2400" dirty="0">
                <a:latin typeface="Georgia" panose="02040502050405020303" pitchFamily="18" charset="0"/>
              </a:rPr>
              <a:t>Could be used to thwart buffer overflow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66932" y="629127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002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>
          <a:xfrm>
            <a:off x="1991544" y="-243408"/>
            <a:ext cx="8229600" cy="1600200"/>
          </a:xfrm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Input Fuzzing</a:t>
            </a:r>
          </a:p>
        </p:txBody>
      </p:sp>
      <p:sp>
        <p:nvSpPr>
          <p:cNvPr id="243715" name="Rectangle 3"/>
          <p:cNvSpPr>
            <a:spLocks noGrp="1" noChangeArrowheads="1"/>
          </p:cNvSpPr>
          <p:nvPr>
            <p:ph idx="1"/>
          </p:nvPr>
        </p:nvSpPr>
        <p:spPr>
          <a:xfrm>
            <a:off x="708454" y="1354219"/>
            <a:ext cx="10791568" cy="4800600"/>
          </a:xfrm>
        </p:spPr>
        <p:txBody>
          <a:bodyPr>
            <a:norm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Software testing technique that uses randomly generated data as inputs to a program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Range of inputs is very large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Intent is to determine if the program or function correctly handles abnormal inputs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Assists with reliability as well as security</a:t>
            </a:r>
          </a:p>
        </p:txBody>
      </p:sp>
    </p:spTree>
    <p:extLst>
      <p:ext uri="{BB962C8B-B14F-4D97-AF65-F5344CB8AC3E}">
        <p14:creationId xmlns:p14="http://schemas.microsoft.com/office/powerpoint/2010/main" val="2180405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91544" y="16078"/>
            <a:ext cx="8229600" cy="1108667"/>
          </a:xfrm>
        </p:spPr>
        <p:txBody>
          <a:bodyPr/>
          <a:lstStyle/>
          <a:p>
            <a:r>
              <a:rPr lang="en-US" sz="4000" dirty="0">
                <a:latin typeface="Georgia" panose="02040502050405020303" pitchFamily="18" charset="0"/>
              </a:rPr>
              <a:t>Operating System Interaction</a:t>
            </a:r>
          </a:p>
        </p:txBody>
      </p:sp>
      <p:sp>
        <p:nvSpPr>
          <p:cNvPr id="258051" name="Rectangle 3"/>
          <p:cNvSpPr>
            <a:spLocks noGrp="1" noChangeArrowheads="1"/>
          </p:cNvSpPr>
          <p:nvPr>
            <p:ph idx="1"/>
          </p:nvPr>
        </p:nvSpPr>
        <p:spPr>
          <a:xfrm>
            <a:off x="535459" y="1137855"/>
            <a:ext cx="11252887" cy="4724400"/>
          </a:xfrm>
        </p:spPr>
        <p:txBody>
          <a:bodyPr>
            <a:normAutofit/>
          </a:bodyPr>
          <a:lstStyle/>
          <a:p>
            <a:pPr>
              <a:buSzPct val="130000"/>
            </a:pPr>
            <a:r>
              <a:rPr lang="en-US" dirty="0">
                <a:latin typeface="Georgia" panose="02040502050405020303" pitchFamily="18" charset="0"/>
              </a:rPr>
              <a:t>Systems have a concept of multiple users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Resources are owned by a user and have permissions granting access with various rights to different categories of users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Programs need access to various resources, however excessive levels of access are dangerous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Concerns when multiple programs access shared resources such as a common file</a:t>
            </a:r>
          </a:p>
        </p:txBody>
      </p:sp>
    </p:spTree>
    <p:extLst>
      <p:ext uri="{BB962C8B-B14F-4D97-AF65-F5344CB8AC3E}">
        <p14:creationId xmlns:p14="http://schemas.microsoft.com/office/powerpoint/2010/main" val="1513890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91544" y="-171400"/>
            <a:ext cx="8229600" cy="1224136"/>
          </a:xfrm>
        </p:spPr>
        <p:txBody>
          <a:bodyPr/>
          <a:lstStyle/>
          <a:p>
            <a:r>
              <a:rPr lang="en-US" sz="4000" dirty="0">
                <a:latin typeface="Georgia" panose="02040502050405020303" pitchFamily="18" charset="0"/>
              </a:rPr>
              <a:t>Environment Variables</a:t>
            </a:r>
          </a:p>
        </p:txBody>
      </p:sp>
      <p:sp>
        <p:nvSpPr>
          <p:cNvPr id="260099" name="Rectangle 3"/>
          <p:cNvSpPr>
            <a:spLocks noGrp="1" noChangeArrowheads="1"/>
          </p:cNvSpPr>
          <p:nvPr>
            <p:ph idx="1"/>
          </p:nvPr>
        </p:nvSpPr>
        <p:spPr>
          <a:xfrm>
            <a:off x="832021" y="1052736"/>
            <a:ext cx="10972800" cy="4784576"/>
          </a:xfrm>
        </p:spPr>
        <p:txBody>
          <a:bodyPr>
            <a:normAutofit fontScale="92500" lnSpcReduction="20000"/>
          </a:bodyPr>
          <a:lstStyle/>
          <a:p>
            <a:pPr>
              <a:buSzPct val="130000"/>
            </a:pPr>
            <a:r>
              <a:rPr lang="en-US" dirty="0">
                <a:latin typeface="Georgia" panose="02040502050405020303" pitchFamily="18" charset="0"/>
              </a:rPr>
              <a:t>Collection of string values inherited by each process from its parent</a:t>
            </a:r>
          </a:p>
          <a:p>
            <a:pPr lvl="1">
              <a:buClr>
                <a:schemeClr val="accent2"/>
              </a:buClr>
            </a:pPr>
            <a:r>
              <a:rPr lang="en-US" dirty="0">
                <a:latin typeface="Georgia" panose="02040502050405020303" pitchFamily="18" charset="0"/>
              </a:rPr>
              <a:t>Can affect the way a running process behaves</a:t>
            </a:r>
          </a:p>
          <a:p>
            <a:pPr lvl="1">
              <a:buClr>
                <a:schemeClr val="accent2"/>
              </a:buClr>
            </a:pPr>
            <a:r>
              <a:rPr lang="en-US" dirty="0">
                <a:latin typeface="Georgia" panose="02040502050405020303" pitchFamily="18" charset="0"/>
              </a:rPr>
              <a:t>Included in memory when it is constructed</a:t>
            </a:r>
          </a:p>
          <a:p>
            <a:pPr>
              <a:buSzPct val="130000"/>
            </a:pPr>
            <a:r>
              <a:rPr lang="en-US" dirty="0">
                <a:latin typeface="Georgia" panose="02040502050405020303" pitchFamily="18" charset="0"/>
              </a:rPr>
              <a:t>Can be modified by the program process at any time</a:t>
            </a:r>
          </a:p>
          <a:p>
            <a:pPr lvl="1">
              <a:buClr>
                <a:schemeClr val="accent2"/>
              </a:buClr>
            </a:pPr>
            <a:r>
              <a:rPr lang="en-US" dirty="0">
                <a:latin typeface="Georgia" panose="02040502050405020303" pitchFamily="18" charset="0"/>
              </a:rPr>
              <a:t>Modifications will be passed to its children</a:t>
            </a:r>
          </a:p>
          <a:p>
            <a:pPr>
              <a:buSzPct val="130000"/>
            </a:pPr>
            <a:r>
              <a:rPr lang="en-US" dirty="0">
                <a:latin typeface="Georgia" panose="02040502050405020303" pitchFamily="18" charset="0"/>
              </a:rPr>
              <a:t>Another source of untrusted program input</a:t>
            </a:r>
          </a:p>
          <a:p>
            <a:pPr>
              <a:buSzPct val="130000"/>
            </a:pPr>
            <a:r>
              <a:rPr lang="en-US" dirty="0">
                <a:latin typeface="Georgia" panose="02040502050405020303" pitchFamily="18" charset="0"/>
              </a:rPr>
              <a:t>Most common use is by a local user attempting to gain increased privileges</a:t>
            </a:r>
          </a:p>
          <a:p>
            <a:pPr lvl="1">
              <a:buClr>
                <a:schemeClr val="accent2"/>
              </a:buClr>
            </a:pPr>
            <a:r>
              <a:rPr lang="en-US" dirty="0">
                <a:latin typeface="Georgia" panose="02040502050405020303" pitchFamily="18" charset="0"/>
              </a:rPr>
              <a:t>Goal is to subvert a program that grants superuser or                  administrator privileges</a:t>
            </a:r>
          </a:p>
        </p:txBody>
      </p:sp>
    </p:spTree>
    <p:extLst>
      <p:ext uri="{BB962C8B-B14F-4D97-AF65-F5344CB8AC3E}">
        <p14:creationId xmlns:p14="http://schemas.microsoft.com/office/powerpoint/2010/main" val="1714149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1544" y="-99392"/>
            <a:ext cx="8229600" cy="1268760"/>
          </a:xfrm>
        </p:spPr>
        <p:txBody>
          <a:bodyPr/>
          <a:lstStyle/>
          <a:p>
            <a:r>
              <a:rPr lang="en-US" sz="4000" dirty="0">
                <a:latin typeface="Georgia" panose="02040502050405020303" pitchFamily="18" charset="0"/>
              </a:rPr>
              <a:t>Use of Least Privilege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2308" y="715364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E658AC-3C7D-4D49-8BDD-41F0979A4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rtl="0"/>
            <a:r>
              <a:rPr lang="en-US" sz="2400" dirty="0">
                <a:latin typeface="Georgia" panose="02040502050405020303" pitchFamily="18" charset="0"/>
              </a:rPr>
              <a:t>Privilege escalation</a:t>
            </a:r>
          </a:p>
          <a:p>
            <a:pPr lvl="1" rtl="0"/>
            <a:r>
              <a:rPr lang="en-US" sz="2000" dirty="0">
                <a:latin typeface="Georgia" panose="02040502050405020303" pitchFamily="18" charset="0"/>
              </a:rPr>
              <a:t>Exploit of flaws may give attacker greater privileges</a:t>
            </a:r>
          </a:p>
          <a:p>
            <a:pPr lvl="0" rtl="0"/>
            <a:r>
              <a:rPr lang="en-US" sz="2400" dirty="0">
                <a:latin typeface="Georgia" panose="02040502050405020303" pitchFamily="18" charset="0"/>
              </a:rPr>
              <a:t>Least privilege</a:t>
            </a:r>
          </a:p>
          <a:p>
            <a:pPr lvl="1" rtl="0"/>
            <a:r>
              <a:rPr lang="en-US" sz="2000" dirty="0">
                <a:latin typeface="Georgia" panose="02040502050405020303" pitchFamily="18" charset="0"/>
              </a:rPr>
              <a:t>Run programs with least privilege needed to complete their function</a:t>
            </a:r>
          </a:p>
          <a:p>
            <a:pPr lvl="0" rtl="0"/>
            <a:r>
              <a:rPr lang="en-US" sz="2400" dirty="0">
                <a:latin typeface="Georgia" panose="02040502050405020303" pitchFamily="18" charset="0"/>
              </a:rPr>
              <a:t>Determine appropriate user and group privileges required</a:t>
            </a:r>
          </a:p>
          <a:p>
            <a:pPr lvl="1" rtl="0"/>
            <a:r>
              <a:rPr lang="en-US" sz="2000" dirty="0">
                <a:latin typeface="Georgia" panose="02040502050405020303" pitchFamily="18" charset="0"/>
              </a:rPr>
              <a:t>Decide whether to grant extra user or just group privileges</a:t>
            </a:r>
          </a:p>
          <a:p>
            <a:pPr lvl="0" rtl="0"/>
            <a:r>
              <a:rPr lang="en-US" sz="2400" dirty="0">
                <a:latin typeface="Georgia" panose="02040502050405020303" pitchFamily="18" charset="0"/>
              </a:rPr>
              <a:t>Ensure that privileged program can modify only those files and directories necessary</a:t>
            </a:r>
          </a:p>
        </p:txBody>
      </p:sp>
    </p:spTree>
    <p:extLst>
      <p:ext uri="{BB962C8B-B14F-4D97-AF65-F5344CB8AC3E}">
        <p14:creationId xmlns:p14="http://schemas.microsoft.com/office/powerpoint/2010/main" val="296857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1052736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Georgia" panose="02040502050405020303" pitchFamily="18" charset="0"/>
              </a:rPr>
              <a:t>Root/Administrator Privileges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E7C3B0-54D4-4248-96B1-1C209D55B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rtl="0"/>
            <a:r>
              <a:rPr lang="en-US" sz="2400" dirty="0">
                <a:latin typeface="Georgia" panose="02040502050405020303" pitchFamily="18" charset="0"/>
              </a:rPr>
              <a:t>Programs with root/ administrator privileges are a major target of attackers</a:t>
            </a:r>
          </a:p>
          <a:p>
            <a:pPr lvl="1" rtl="0"/>
            <a:r>
              <a:rPr lang="en-US" sz="1800">
                <a:latin typeface="Georgia" panose="02040502050405020303" pitchFamily="18" charset="0"/>
              </a:rPr>
              <a:t>They provide highest levels of system access and control</a:t>
            </a:r>
          </a:p>
          <a:p>
            <a:pPr lvl="1" rtl="0"/>
            <a:r>
              <a:rPr lang="en-US" sz="1800" dirty="0">
                <a:latin typeface="Georgia" panose="02040502050405020303" pitchFamily="18" charset="0"/>
              </a:rPr>
              <a:t>Are needed to manage access to protected system resources</a:t>
            </a:r>
          </a:p>
          <a:p>
            <a:pPr lvl="0" rtl="0"/>
            <a:r>
              <a:rPr lang="en-US" sz="2400">
                <a:latin typeface="Georgia" panose="02040502050405020303" pitchFamily="18" charset="0"/>
              </a:rPr>
              <a:t>Often privilege is only needed at start</a:t>
            </a:r>
          </a:p>
          <a:p>
            <a:pPr lvl="1" rtl="0"/>
            <a:r>
              <a:rPr lang="en-US" sz="1800" dirty="0">
                <a:latin typeface="Georgia" panose="02040502050405020303" pitchFamily="18" charset="0"/>
              </a:rPr>
              <a:t>Can then run as normal user</a:t>
            </a:r>
          </a:p>
          <a:p>
            <a:pPr lvl="0" rtl="0"/>
            <a:r>
              <a:rPr lang="en-US" sz="2400">
                <a:latin typeface="Georgia" panose="02040502050405020303" pitchFamily="18" charset="0"/>
              </a:rPr>
              <a:t>Good design partitions complex programs in smaller modules with needed privileges</a:t>
            </a:r>
          </a:p>
          <a:p>
            <a:pPr lvl="1" rtl="0"/>
            <a:r>
              <a:rPr lang="en-US" sz="1800" dirty="0">
                <a:latin typeface="Georgia" panose="02040502050405020303" pitchFamily="18" charset="0"/>
              </a:rPr>
              <a:t>Provides a greater degree of isolation between the components</a:t>
            </a:r>
          </a:p>
          <a:p>
            <a:pPr lvl="1" rtl="0"/>
            <a:r>
              <a:rPr lang="en-US" sz="1800">
                <a:latin typeface="Georgia" panose="02040502050405020303" pitchFamily="18" charset="0"/>
              </a:rPr>
              <a:t>Reduces the consequences of a security breach in one component</a:t>
            </a:r>
          </a:p>
          <a:p>
            <a:pPr lvl="1" rtl="0"/>
            <a:r>
              <a:rPr lang="en-US" sz="1800" dirty="0">
                <a:latin typeface="Georgia" panose="02040502050405020303" pitchFamily="18" charset="0"/>
              </a:rPr>
              <a:t>Easier to test and verify</a:t>
            </a:r>
          </a:p>
        </p:txBody>
      </p:sp>
    </p:spTree>
    <p:extLst>
      <p:ext uri="{BB962C8B-B14F-4D97-AF65-F5344CB8AC3E}">
        <p14:creationId xmlns:p14="http://schemas.microsoft.com/office/powerpoint/2010/main" val="2609883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16632"/>
            <a:ext cx="8229600" cy="1152128"/>
          </a:xfrm>
        </p:spPr>
        <p:txBody>
          <a:bodyPr/>
          <a:lstStyle/>
          <a:p>
            <a:r>
              <a:rPr lang="en-US" sz="4000" dirty="0">
                <a:latin typeface="Georgia" panose="02040502050405020303" pitchFamily="18" charset="0"/>
              </a:rPr>
              <a:t>Handling Program Output</a:t>
            </a:r>
          </a:p>
        </p:txBody>
      </p:sp>
      <p:sp>
        <p:nvSpPr>
          <p:cNvPr id="28057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345551"/>
            <a:ext cx="10964562" cy="4581128"/>
          </a:xfrm>
        </p:spPr>
        <p:txBody>
          <a:bodyPr/>
          <a:lstStyle/>
          <a:p>
            <a:pPr>
              <a:lnSpc>
                <a:spcPct val="90000"/>
              </a:lnSpc>
              <a:spcAft>
                <a:spcPts val="600"/>
              </a:spcAft>
              <a:buSzPct val="130000"/>
            </a:pPr>
            <a:r>
              <a:rPr lang="en-US" sz="2800" dirty="0">
                <a:latin typeface="Georgia" panose="02040502050405020303" pitchFamily="18" charset="0"/>
              </a:rPr>
              <a:t>Final component is program output</a:t>
            </a:r>
          </a:p>
          <a:p>
            <a:pPr lvl="1">
              <a:lnSpc>
                <a:spcPct val="90000"/>
              </a:lnSpc>
              <a:spcAft>
                <a:spcPts val="600"/>
              </a:spcAft>
            </a:pPr>
            <a:r>
              <a:rPr lang="en-US" sz="1600" dirty="0">
                <a:latin typeface="Georgia" panose="02040502050405020303" pitchFamily="18" charset="0"/>
              </a:rPr>
              <a:t>May be stored for future use, sent over net, displayed</a:t>
            </a:r>
          </a:p>
          <a:p>
            <a:pPr lvl="1">
              <a:lnSpc>
                <a:spcPct val="90000"/>
              </a:lnSpc>
              <a:spcAft>
                <a:spcPts val="600"/>
              </a:spcAft>
            </a:pPr>
            <a:r>
              <a:rPr lang="en-US" sz="1600" dirty="0">
                <a:latin typeface="Georgia" panose="02040502050405020303" pitchFamily="18" charset="0"/>
              </a:rPr>
              <a:t>May be binary or text</a:t>
            </a:r>
          </a:p>
          <a:p>
            <a:pPr>
              <a:lnSpc>
                <a:spcPct val="90000"/>
              </a:lnSpc>
              <a:spcAft>
                <a:spcPts val="600"/>
              </a:spcAft>
              <a:buSzPct val="130000"/>
            </a:pPr>
            <a:r>
              <a:rPr lang="en-US" sz="2800" dirty="0">
                <a:latin typeface="Georgia" panose="02040502050405020303" pitchFamily="18" charset="0"/>
              </a:rPr>
              <a:t>Important from a program security perspective that the output conform to the expected form and interpretation</a:t>
            </a:r>
          </a:p>
          <a:p>
            <a:pPr>
              <a:lnSpc>
                <a:spcPct val="90000"/>
              </a:lnSpc>
              <a:spcAft>
                <a:spcPts val="600"/>
              </a:spcAft>
              <a:buSzPct val="130000"/>
            </a:pPr>
            <a:r>
              <a:rPr lang="en-US" sz="2800" dirty="0">
                <a:latin typeface="Georgia" panose="02040502050405020303" pitchFamily="18" charset="0"/>
              </a:rPr>
              <a:t>Programs must identify what is permissible output content and filter any possibly untrusted data to ensure that only valid output is displayed</a:t>
            </a:r>
          </a:p>
          <a:p>
            <a:pPr>
              <a:lnSpc>
                <a:spcPct val="90000"/>
              </a:lnSpc>
              <a:spcAft>
                <a:spcPts val="600"/>
              </a:spcAft>
              <a:buSzPct val="130000"/>
            </a:pPr>
            <a:r>
              <a:rPr lang="en-US" sz="2800" dirty="0">
                <a:latin typeface="Georgia" panose="02040502050405020303" pitchFamily="18" charset="0"/>
              </a:rPr>
              <a:t>Character set should be specified</a:t>
            </a:r>
          </a:p>
          <a:p>
            <a:pPr>
              <a:lnSpc>
                <a:spcPct val="90000"/>
              </a:lnSpc>
            </a:pPr>
            <a:endParaRPr lang="en-US" sz="2800" dirty="0">
              <a:latin typeface="Georgia" panose="02040502050405020303" pitchFamily="18" charset="0"/>
            </a:endParaRPr>
          </a:p>
        </p:txBody>
      </p:sp>
      <p:sp>
        <p:nvSpPr>
          <p:cNvPr id="280580" name="Rectangle 4"/>
          <p:cNvSpPr>
            <a:spLocks noChangeArrowheads="1"/>
          </p:cNvSpPr>
          <p:nvPr/>
        </p:nvSpPr>
        <p:spPr bwMode="auto">
          <a:xfrm>
            <a:off x="3170239" y="5915026"/>
            <a:ext cx="1847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717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>
          <a:xfrm>
            <a:off x="1631504" y="2708920"/>
            <a:ext cx="8928992" cy="1368152"/>
          </a:xfrm>
        </p:spPr>
        <p:txBody>
          <a:bodyPr/>
          <a:lstStyle/>
          <a:p>
            <a:r>
              <a:rPr lang="en-US">
                <a:latin typeface="Georgia" panose="02040502050405020303" pitchFamily="18" charset="0"/>
              </a:rPr>
              <a:t>Questions?</a:t>
            </a:r>
            <a:endParaRPr lang="en-AU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4927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2275</Words>
  <Application>Microsoft Office PowerPoint</Application>
  <PresentationFormat>Widescreen</PresentationFormat>
  <Paragraphs>347</Paragraphs>
  <Slides>40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Arial</vt:lpstr>
      <vt:lpstr>Calibri</vt:lpstr>
      <vt:lpstr>Courier New</vt:lpstr>
      <vt:lpstr>Georgia</vt:lpstr>
      <vt:lpstr>Tahoma</vt:lpstr>
      <vt:lpstr>Times</vt:lpstr>
      <vt:lpstr>Times New Roman</vt:lpstr>
      <vt:lpstr>Default Design</vt:lpstr>
      <vt:lpstr>Lecture 9 – Software Security</vt:lpstr>
      <vt:lpstr>Test</vt:lpstr>
      <vt:lpstr>Software Security Issues</vt:lpstr>
      <vt:lpstr>Top most dangerous software errors</vt:lpstr>
      <vt:lpstr>Software Security,  Quality and Reliability</vt:lpstr>
      <vt:lpstr>Defensive Programming</vt:lpstr>
      <vt:lpstr>Handling Program Input</vt:lpstr>
      <vt:lpstr>How Buffer Overflows Happen</vt:lpstr>
      <vt:lpstr>Harm from Buffer Overflows</vt:lpstr>
      <vt:lpstr>Buffer Overflow Attacks</vt:lpstr>
      <vt:lpstr>Stack Buffer Overflows</vt:lpstr>
      <vt:lpstr>Unsafe C Standard Library Routines</vt:lpstr>
      <vt:lpstr>Shellcode</vt:lpstr>
      <vt:lpstr> Stack Overflow Variants</vt:lpstr>
      <vt:lpstr>Buffer Overflow Defences</vt:lpstr>
      <vt:lpstr>Programming Languages</vt:lpstr>
      <vt:lpstr>Safe Coding Techniques</vt:lpstr>
      <vt:lpstr>Language Extensions/Safe Libraries</vt:lpstr>
      <vt:lpstr>Stack Protection</vt:lpstr>
      <vt:lpstr>Executable Address Space Protection</vt:lpstr>
      <vt:lpstr>Address Space Randomisation</vt:lpstr>
      <vt:lpstr>Heap Overflow</vt:lpstr>
      <vt:lpstr>Race Conditions</vt:lpstr>
      <vt:lpstr>Race Conditions</vt:lpstr>
      <vt:lpstr>Race Conditions</vt:lpstr>
      <vt:lpstr>Preventing Race Conditions</vt:lpstr>
      <vt:lpstr>Deadlock </vt:lpstr>
      <vt:lpstr>Other Programming Oversights</vt:lpstr>
      <vt:lpstr>Injection Attacks</vt:lpstr>
      <vt:lpstr>SQL Injection Example</vt:lpstr>
      <vt:lpstr>Countermeasures for Developers</vt:lpstr>
      <vt:lpstr>Code Testing</vt:lpstr>
      <vt:lpstr>Validating Numeric Input</vt:lpstr>
      <vt:lpstr>Input Fuzzing</vt:lpstr>
      <vt:lpstr>Operating System Interaction</vt:lpstr>
      <vt:lpstr>Environment Variables</vt:lpstr>
      <vt:lpstr>Use of Least Privilege</vt:lpstr>
      <vt:lpstr>Root/Administrator Privileges</vt:lpstr>
      <vt:lpstr>Handling Program Output</vt:lpstr>
      <vt:lpstr>Questions?</vt:lpstr>
    </vt:vector>
  </TitlesOfParts>
  <Company>GU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8 – Software Security</dc:title>
  <dc:creator>Nigel Houlden</dc:creator>
  <cp:lastModifiedBy>Donna_Houlden</cp:lastModifiedBy>
  <cp:revision>14</cp:revision>
  <dcterms:created xsi:type="dcterms:W3CDTF">2019-04-01T09:35:10Z</dcterms:created>
  <dcterms:modified xsi:type="dcterms:W3CDTF">2019-12-10T10:51:43Z</dcterms:modified>
</cp:coreProperties>
</file>