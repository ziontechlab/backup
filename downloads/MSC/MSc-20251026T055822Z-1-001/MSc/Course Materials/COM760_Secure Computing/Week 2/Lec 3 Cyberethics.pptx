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4" r:id="rId2"/>
  </p:sldMasterIdLst>
  <p:notesMasterIdLst>
    <p:notesMasterId r:id="rId28"/>
  </p:notesMasterIdLst>
  <p:handoutMasterIdLst>
    <p:handoutMasterId r:id="rId29"/>
  </p:handoutMasterIdLst>
  <p:sldIdLst>
    <p:sldId id="341" r:id="rId3"/>
    <p:sldId id="345" r:id="rId4"/>
    <p:sldId id="357" r:id="rId5"/>
    <p:sldId id="359" r:id="rId6"/>
    <p:sldId id="350" r:id="rId7"/>
    <p:sldId id="343" r:id="rId8"/>
    <p:sldId id="351" r:id="rId9"/>
    <p:sldId id="352" r:id="rId10"/>
    <p:sldId id="353" r:id="rId11"/>
    <p:sldId id="354" r:id="rId12"/>
    <p:sldId id="355" r:id="rId13"/>
    <p:sldId id="349" r:id="rId14"/>
    <p:sldId id="356" r:id="rId15"/>
    <p:sldId id="277" r:id="rId16"/>
    <p:sldId id="348" r:id="rId17"/>
    <p:sldId id="337" r:id="rId18"/>
    <p:sldId id="317" r:id="rId19"/>
    <p:sldId id="318" r:id="rId20"/>
    <p:sldId id="336" r:id="rId21"/>
    <p:sldId id="360" r:id="rId22"/>
    <p:sldId id="361" r:id="rId23"/>
    <p:sldId id="362" r:id="rId24"/>
    <p:sldId id="358" r:id="rId25"/>
    <p:sldId id="363" r:id="rId26"/>
    <p:sldId id="364" r:id="rId27"/>
  </p:sldIdLst>
  <p:sldSz cx="9144000" cy="6858000" type="screen4x3"/>
  <p:notesSz cx="6781800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111" d="100"/>
          <a:sy n="111" d="100"/>
        </p:scale>
        <p:origin x="100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78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1451" y="0"/>
            <a:ext cx="293878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B279D-BBD4-4678-9DB8-518913C96FB7}" type="datetimeFigureOut">
              <a:rPr lang="en-GB" smtClean="0"/>
              <a:t>15/10/2019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3878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1451" y="9428584"/>
            <a:ext cx="293878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07383-6A79-495C-9761-17C531D169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792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878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1451" y="0"/>
            <a:ext cx="2938780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F607F-A8CB-4C0E-8902-49C3DFBA1D0A}" type="datetimeFigureOut">
              <a:rPr lang="en-GB" smtClean="0"/>
              <a:t>15/10/2019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96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8180" y="4715153"/>
            <a:ext cx="54254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3878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1451" y="9428583"/>
            <a:ext cx="2938780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C5218-18F4-4139-A5A6-A18D760DFF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840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1E9B611-79A5-4063-8624-6013F60C0F92}" type="slidenum">
              <a:rPr lang="en-GB" alt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GB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884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04862"/>
      </p:ext>
    </p:extLst>
  </p:cSld>
  <p:clrMapOvr>
    <a:masterClrMapping/>
  </p:clrMapOvr>
  <p:transition advTm="5000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63403"/>
      </p:ext>
    </p:extLst>
  </p:cSld>
  <p:clrMapOvr>
    <a:masterClrMapping/>
  </p:clrMapOvr>
  <p:transition advTm="5000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65956"/>
      </p:ext>
    </p:extLst>
  </p:cSld>
  <p:clrMapOvr>
    <a:masterClrMapping/>
  </p:clrMapOvr>
  <p:transition advTm="5000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7501"/>
      </p:ext>
    </p:extLst>
  </p:cSld>
  <p:clrMapOvr>
    <a:masterClrMapping/>
  </p:clrMapOvr>
  <p:transition advTm="5000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11596"/>
      </p:ext>
    </p:extLst>
  </p:cSld>
  <p:clrMapOvr>
    <a:masterClrMapping/>
  </p:clrMapOvr>
  <p:transition advTm="5000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66045"/>
      </p:ext>
    </p:extLst>
  </p:cSld>
  <p:clrMapOvr>
    <a:masterClrMapping/>
  </p:clrMapOvr>
  <p:transition advTm="5000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93667"/>
      </p:ext>
    </p:extLst>
  </p:cSld>
  <p:clrMapOvr>
    <a:masterClrMapping/>
  </p:clrMapOvr>
  <p:transition advTm="5000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038969"/>
      </p:ext>
    </p:extLst>
  </p:cSld>
  <p:clrMapOvr>
    <a:masterClrMapping/>
  </p:clrMapOvr>
  <p:transition advTm="5000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8426"/>
      </p:ext>
    </p:extLst>
  </p:cSld>
  <p:clrMapOvr>
    <a:masterClrMapping/>
  </p:clrMapOvr>
  <p:transition advTm="5000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10456"/>
      </p:ext>
    </p:extLst>
  </p:cSld>
  <p:clrMapOvr>
    <a:masterClrMapping/>
  </p:clrMapOvr>
  <p:transition advTm="5000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11347"/>
      </p:ext>
    </p:extLst>
  </p:cSld>
  <p:clrMapOvr>
    <a:masterClrMapping/>
  </p:clrMapOvr>
  <p:transition advTm="5000">
    <p:dissolv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53572"/>
      </p:ext>
    </p:extLst>
  </p:cSld>
  <p:clrMapOvr>
    <a:masterClrMapping/>
  </p:clrMapOvr>
  <p:transition advTm="5000"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357313"/>
            <a:ext cx="77724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90150"/>
      </p:ext>
    </p:extLst>
  </p:cSld>
  <p:clrMapOvr>
    <a:masterClrMapping/>
  </p:clrMapOvr>
  <p:transition advTm="5000">
    <p:dissolv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316503"/>
      </p:ext>
    </p:extLst>
  </p:cSld>
  <p:clrMapOvr>
    <a:masterClrMapping/>
  </p:clrMapOvr>
  <p:transition advTm="5000">
    <p:dissolv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567531"/>
      </p:ext>
    </p:extLst>
  </p:cSld>
  <p:clrMapOvr>
    <a:masterClrMapping/>
  </p:clrMapOvr>
  <p:transition advTm="5000">
    <p:dissolv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223466"/>
      </p:ext>
    </p:extLst>
  </p:cSld>
  <p:clrMapOvr>
    <a:masterClrMapping/>
  </p:clrMapOvr>
  <p:transition advTm="5000">
    <p:dissolv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133200"/>
      </p:ext>
    </p:extLst>
  </p:cSld>
  <p:clrMapOvr>
    <a:masterClrMapping/>
  </p:clrMapOvr>
  <p:transition advTm="5000">
    <p:dissolv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261666"/>
      </p:ext>
    </p:extLst>
  </p:cSld>
  <p:clrMapOvr>
    <a:masterClrMapping/>
  </p:clrMapOvr>
  <p:transition advTm="5000">
    <p:dissolv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626220"/>
      </p:ext>
    </p:extLst>
  </p:cSld>
  <p:clrMapOvr>
    <a:masterClrMapping/>
  </p:clrMapOvr>
  <p:transition advTm="5000">
    <p:dissolv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136689"/>
      </p:ext>
    </p:extLst>
  </p:cSld>
  <p:clrMapOvr>
    <a:masterClrMapping/>
  </p:clrMapOvr>
  <p:transition advTm="5000">
    <p:dissolv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593672"/>
      </p:ext>
    </p:extLst>
  </p:cSld>
  <p:clrMapOvr>
    <a:masterClrMapping/>
  </p:clrMapOvr>
  <p:transition advTm="5000">
    <p:dissolv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682661"/>
      </p:ext>
    </p:extLst>
  </p:cSld>
  <p:clrMapOvr>
    <a:masterClrMapping/>
  </p:clrMapOvr>
  <p:transition advTm="5000">
    <p:dissolv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85158"/>
      </p:ext>
    </p:extLst>
  </p:cSld>
  <p:clrMapOvr>
    <a:masterClrMapping/>
  </p:clrMapOvr>
  <p:transition advTm="5000">
    <p:dissolv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611906"/>
      </p:ext>
    </p:extLst>
  </p:cSld>
  <p:clrMapOvr>
    <a:masterClrMapping/>
  </p:clrMapOvr>
  <p:transition advTm="5000">
    <p:dissolv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860881"/>
      </p:ext>
    </p:extLst>
  </p:cSld>
  <p:clrMapOvr>
    <a:masterClrMapping/>
  </p:clrMapOvr>
  <p:transition advTm="5000">
    <p:dissolv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357313"/>
            <a:ext cx="7772400" cy="41148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471934"/>
      </p:ext>
    </p:extLst>
  </p:cSld>
  <p:clrMapOvr>
    <a:masterClrMapping/>
  </p:clrMapOvr>
  <p:transition advTm="5000">
    <p:dissolv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17DD356B-E5CD-44F2-850A-F898D624950E}" type="datetime1">
              <a:rPr lang="en-US" smtClean="0">
                <a:solidFill>
                  <a:srgbClr val="000000"/>
                </a:solidFill>
                <a:latin typeface="Arial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10/15/2019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latin typeface="Arial"/>
              </a:rPr>
              <a:t>From Security in Computing, Fifth Edition, by Charles P. Pfleeger, et al. (ISBN: 9780134085043). Copyright 2015 by Pearson Education, Inc. All rights reserved.</a:t>
            </a:r>
            <a:endParaRPr lang="en-US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D01F0F2-74A4-EF40-82B3-DFFDF0BA3880}" type="slidenum">
              <a:rPr lang="en-US" smtClean="0">
                <a:solidFill>
                  <a:srgbClr val="000000"/>
                </a:solidFill>
                <a:latin typeface="Arial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570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42875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573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>
                <a:latin typeface="+mn-lt"/>
              </a:defRPr>
            </a:lvl1pPr>
          </a:lstStyle>
          <a:p>
            <a:fld id="{C38D81F5-BCB9-4E4E-8DD0-830A5063C0E9}" type="datetimeFigureOut">
              <a:rPr lang="en-US" smtClean="0"/>
              <a:pPr/>
              <a:t>10/15/2019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+mn-lt"/>
              </a:defRPr>
            </a:lvl1pPr>
          </a:lstStyle>
          <a:p>
            <a:fld id="{2EF09475-F7F7-1D47-BA3F-6600EC01B5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-1588" y="4868865"/>
            <a:ext cx="9145588" cy="198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Powerpoint 4x3 (inside).jpg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83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advTm="5000">
    <p:dissolv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42875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573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50">
                <a:latin typeface="+mn-lt"/>
              </a:defRPr>
            </a:lvl1pPr>
          </a:lstStyle>
          <a:p>
            <a:fld id="{EA8A833F-2814-4079-BC79-BFE80033B204}" type="datetimeFigureOut">
              <a:rPr lang="en-GB" smtClean="0">
                <a:solidFill>
                  <a:srgbClr val="000000"/>
                </a:solidFill>
              </a:rPr>
              <a:pPr/>
              <a:t>15/10/2019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50">
                <a:latin typeface="+mn-lt"/>
              </a:defRPr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50">
                <a:latin typeface="+mn-lt"/>
              </a:defRPr>
            </a:lvl1pPr>
          </a:lstStyle>
          <a:p>
            <a:fld id="{C7D65C3B-8BB6-4EFA-B7CB-FBD88C7A4B71}" type="slidenum">
              <a:rPr lang="en-GB" smtClean="0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  <p:pic>
        <p:nvPicPr>
          <p:cNvPr id="1031" name="Picture 65" descr="Glyndwr PPT-4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1588" y="4868865"/>
            <a:ext cx="9145588" cy="198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3834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transition advTm="5000">
    <p:dissolve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223963" y="1509713"/>
            <a:ext cx="6696075" cy="1296591"/>
          </a:xfrm>
        </p:spPr>
        <p:txBody>
          <a:bodyPr/>
          <a:lstStyle/>
          <a:p>
            <a:pPr algn="r"/>
            <a:r>
              <a:rPr lang="en-US" altLang="en-US" sz="4050" dirty="0">
                <a:latin typeface="Georgia" panose="02040502050405020303" pitchFamily="18" charset="0"/>
              </a:rPr>
              <a:t>Lecture </a:t>
            </a:r>
            <a:r>
              <a:rPr lang="en-US" altLang="en-US" sz="4050" dirty="0" smtClean="0">
                <a:latin typeface="Georgia" panose="02040502050405020303" pitchFamily="18" charset="0"/>
              </a:rPr>
              <a:t>3 </a:t>
            </a:r>
            <a:r>
              <a:rPr lang="en-US" altLang="en-US" sz="4050" dirty="0">
                <a:latin typeface="Georgia" panose="02040502050405020303" pitchFamily="18" charset="0"/>
              </a:rPr>
              <a:t>– </a:t>
            </a:r>
            <a:r>
              <a:rPr lang="en-GB" altLang="en-US" sz="4050" dirty="0" err="1" smtClean="0">
                <a:latin typeface="Georgia" panose="02040502050405020303" pitchFamily="18" charset="0"/>
              </a:rPr>
              <a:t>Cyberethics</a:t>
            </a:r>
            <a:r>
              <a:rPr lang="en-GB" altLang="en-US" sz="4050" dirty="0" smtClean="0">
                <a:latin typeface="Georgia" panose="02040502050405020303" pitchFamily="18" charset="0"/>
              </a:rPr>
              <a:t> and Policy management </a:t>
            </a:r>
            <a:endParaRPr lang="en-GB" altLang="en-US" sz="4050" dirty="0">
              <a:latin typeface="Georgia" panose="02040502050405020303" pitchFamily="18" charset="0"/>
            </a:endParaRPr>
          </a:p>
        </p:txBody>
      </p:sp>
      <p:sp>
        <p:nvSpPr>
          <p:cNvPr id="6147" name="TextBox 3"/>
          <p:cNvSpPr txBox="1">
            <a:spLocks noChangeArrowheads="1"/>
          </p:cNvSpPr>
          <p:nvPr/>
        </p:nvSpPr>
        <p:spPr bwMode="auto">
          <a:xfrm>
            <a:off x="971600" y="3356992"/>
            <a:ext cx="6696075" cy="1627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425" dirty="0">
                <a:solidFill>
                  <a:srgbClr val="000000"/>
                </a:solidFill>
                <a:latin typeface="Georgia" panose="02040502050405020303" pitchFamily="18" charset="0"/>
              </a:rPr>
              <a:t>COM744: Security and Risk Management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425" dirty="0">
                <a:solidFill>
                  <a:srgbClr val="000000"/>
                </a:solidFill>
                <a:latin typeface="Georgia" panose="02040502050405020303" pitchFamily="18" charset="0"/>
              </a:rPr>
              <a:t>Nigel Houlden / Denise Oram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9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5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50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135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GB" altLang="en-US" sz="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GB" altLang="en-US" sz="1275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n.houlden@glyndwr.ac.uk / d.oram@Glyndwr.ac.uk</a:t>
            </a:r>
          </a:p>
        </p:txBody>
      </p:sp>
    </p:spTree>
    <p:extLst>
      <p:ext uri="{BB962C8B-B14F-4D97-AF65-F5344CB8AC3E}">
        <p14:creationId xmlns:p14="http://schemas.microsoft.com/office/powerpoint/2010/main" val="66753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81869"/>
          </a:xfrm>
        </p:spPr>
        <p:txBody>
          <a:bodyPr/>
          <a:lstStyle/>
          <a:p>
            <a:r>
              <a:rPr lang="en-US" sz="3200" dirty="0">
                <a:latin typeface="Georgia" panose="02040502050405020303" pitchFamily="18" charset="0"/>
              </a:rPr>
              <a:t>Risk </a:t>
            </a:r>
            <a:r>
              <a:rPr lang="en-US" sz="3200" dirty="0" smtClean="0">
                <a:latin typeface="Georgia" panose="02040502050405020303" pitchFamily="18" charset="0"/>
              </a:rPr>
              <a:t>Management?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064" y="1484784"/>
            <a:ext cx="8816546" cy="3380303"/>
          </a:xfrm>
        </p:spPr>
        <p:txBody>
          <a:bodyPr/>
          <a:lstStyle/>
          <a:p>
            <a:r>
              <a:rPr lang="en-US" sz="2100" dirty="0" smtClean="0">
                <a:latin typeface="Georgia" panose="02040502050405020303" pitchFamily="18" charset="0"/>
              </a:rPr>
              <a:t>To sustain a secure environment</a:t>
            </a:r>
          </a:p>
          <a:p>
            <a:endParaRPr lang="en-US" sz="2100" dirty="0" smtClean="0">
              <a:latin typeface="Georgia" panose="02040502050405020303" pitchFamily="18" charset="0"/>
            </a:endParaRPr>
          </a:p>
          <a:p>
            <a:r>
              <a:rPr lang="en-US" sz="2100" dirty="0" smtClean="0">
                <a:latin typeface="Georgia" panose="02040502050405020303" pitchFamily="18" charset="0"/>
              </a:rPr>
              <a:t>A process of identifying factors damaging or disclosing data, mitigating/reducing risk</a:t>
            </a:r>
          </a:p>
          <a:p>
            <a:endParaRPr lang="en-US" sz="2100" dirty="0" smtClean="0">
              <a:latin typeface="Georgia" panose="02040502050405020303" pitchFamily="18" charset="0"/>
            </a:endParaRPr>
          </a:p>
          <a:p>
            <a:r>
              <a:rPr lang="en-US" sz="2100" dirty="0">
                <a:latin typeface="Georgia" panose="02040502050405020303" pitchFamily="18" charset="0"/>
              </a:rPr>
              <a:t>T</a:t>
            </a:r>
            <a:r>
              <a:rPr lang="en-US" sz="2100" dirty="0" smtClean="0">
                <a:latin typeface="Georgia" panose="02040502050405020303" pitchFamily="18" charset="0"/>
              </a:rPr>
              <a:t>o </a:t>
            </a:r>
            <a:r>
              <a:rPr lang="en-US" sz="2100" dirty="0">
                <a:latin typeface="Georgia" panose="02040502050405020303" pitchFamily="18" charset="0"/>
              </a:rPr>
              <a:t>develop and implement information security </a:t>
            </a:r>
            <a:r>
              <a:rPr lang="en-US" sz="2100" dirty="0" smtClean="0">
                <a:latin typeface="Georgia" panose="02040502050405020303" pitchFamily="18" charset="0"/>
              </a:rPr>
              <a:t>strategies to reduce risk and support the </a:t>
            </a:r>
            <a:r>
              <a:rPr lang="en-US" sz="2100" dirty="0" err="1" smtClean="0">
                <a:latin typeface="Georgia" panose="02040502050405020303" pitchFamily="18" charset="0"/>
              </a:rPr>
              <a:t>organisational</a:t>
            </a:r>
            <a:r>
              <a:rPr lang="en-US" sz="2100" dirty="0" smtClean="0">
                <a:latin typeface="Georgia" panose="02040502050405020303" pitchFamily="18" charset="0"/>
              </a:rPr>
              <a:t> mission and objectives </a:t>
            </a:r>
            <a:endParaRPr lang="en-US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65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09861"/>
          </a:xfrm>
        </p:spPr>
        <p:txBody>
          <a:bodyPr/>
          <a:lstStyle/>
          <a:p>
            <a:r>
              <a:rPr lang="en-GB" sz="3200" dirty="0" smtClean="0">
                <a:latin typeface="Georgia" panose="02040502050405020303" pitchFamily="18" charset="0"/>
              </a:rPr>
              <a:t>Considerations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12776"/>
            <a:ext cx="7772400" cy="4320479"/>
          </a:xfrm>
        </p:spPr>
        <p:txBody>
          <a:bodyPr/>
          <a:lstStyle/>
          <a:p>
            <a:r>
              <a:rPr lang="en-GB" sz="2100" dirty="0" smtClean="0">
                <a:latin typeface="Georgia" panose="02040502050405020303" pitchFamily="18" charset="0"/>
              </a:rPr>
              <a:t>Professionalism – </a:t>
            </a:r>
            <a:r>
              <a:rPr lang="en-GB" sz="2100" i="1" dirty="0" smtClean="0">
                <a:latin typeface="Georgia" panose="02040502050405020303" pitchFamily="18" charset="0"/>
              </a:rPr>
              <a:t>acting to meet the standards set by a profession in terms of individual conduct, competence and integrity</a:t>
            </a:r>
          </a:p>
          <a:p>
            <a:endParaRPr lang="en-GB" sz="2100" i="1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Social responsibility and accountability – </a:t>
            </a:r>
            <a:r>
              <a:rPr lang="en-GB" sz="2100" i="1" dirty="0" smtClean="0">
                <a:latin typeface="Georgia" panose="02040502050405020303" pitchFamily="18" charset="0"/>
              </a:rPr>
              <a:t>a computer professional is a moral individual therefore standards and evidence of transparency and accountability should be maintained</a:t>
            </a:r>
          </a:p>
          <a:p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Due diligence – </a:t>
            </a:r>
            <a:r>
              <a:rPr lang="en-GB" sz="2100" i="1" dirty="0" smtClean="0">
                <a:latin typeface="Georgia" panose="02040502050405020303" pitchFamily="18" charset="0"/>
              </a:rPr>
              <a:t>management and execution of due care – </a:t>
            </a:r>
            <a:r>
              <a:rPr lang="en-GB" sz="2100" dirty="0" smtClean="0">
                <a:latin typeface="Georgia" panose="02040502050405020303" pitchFamily="18" charset="0"/>
              </a:rPr>
              <a:t>a constant</a:t>
            </a:r>
          </a:p>
        </p:txBody>
      </p:sp>
    </p:spTree>
    <p:extLst>
      <p:ext uri="{BB962C8B-B14F-4D97-AF65-F5344CB8AC3E}">
        <p14:creationId xmlns:p14="http://schemas.microsoft.com/office/powerpoint/2010/main" val="4139475464"/>
      </p:ext>
    </p:extLst>
  </p:cSld>
  <p:clrMapOvr>
    <a:masterClrMapping/>
  </p:clrMapOvr>
  <p:transition advTm="5000"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765845"/>
          </a:xfrm>
        </p:spPr>
        <p:txBody>
          <a:bodyPr/>
          <a:lstStyle/>
          <a:p>
            <a:r>
              <a:rPr lang="en-GB" sz="3200" dirty="0" smtClean="0">
                <a:latin typeface="Georgia" panose="02040502050405020303" pitchFamily="18" charset="0"/>
              </a:rPr>
              <a:t>What is ethics/cyber ethics?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6712"/>
            <a:ext cx="7772400" cy="5040560"/>
          </a:xfrm>
        </p:spPr>
        <p:txBody>
          <a:bodyPr/>
          <a:lstStyle/>
          <a:p>
            <a:r>
              <a:rPr lang="en-GB" sz="2100" dirty="0">
                <a:latin typeface="Georgia" panose="02040502050405020303" pitchFamily="18" charset="0"/>
              </a:rPr>
              <a:t>Ethics </a:t>
            </a:r>
            <a:r>
              <a:rPr lang="en-GB" sz="2100" dirty="0" smtClean="0">
                <a:latin typeface="Georgia" panose="02040502050405020303" pitchFamily="18" charset="0"/>
              </a:rPr>
              <a:t>involves </a:t>
            </a:r>
            <a:r>
              <a:rPr lang="en-GB" sz="2100" dirty="0">
                <a:latin typeface="Georgia" panose="02040502050405020303" pitchFamily="18" charset="0"/>
              </a:rPr>
              <a:t>the principle of </a:t>
            </a:r>
            <a:r>
              <a:rPr lang="en-GB" sz="2100" dirty="0" smtClean="0">
                <a:latin typeface="Georgia" panose="02040502050405020303" pitchFamily="18" charset="0"/>
              </a:rPr>
              <a:t>morality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the discipline dealing with what is good and bad and right and </a:t>
            </a:r>
            <a:r>
              <a:rPr lang="en-GB" sz="2100" dirty="0" smtClean="0">
                <a:latin typeface="Georgia" panose="02040502050405020303" pitchFamily="18" charset="0"/>
              </a:rPr>
              <a:t>wrong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based </a:t>
            </a:r>
            <a:r>
              <a:rPr lang="en-GB" sz="2100" dirty="0">
                <a:latin typeface="Georgia" panose="02040502050405020303" pitchFamily="18" charset="0"/>
              </a:rPr>
              <a:t>on our understanding and reasonable thinking with moral duty and </a:t>
            </a:r>
            <a:r>
              <a:rPr lang="en-GB" sz="2100" dirty="0" smtClean="0">
                <a:latin typeface="Georgia" panose="02040502050405020303" pitchFamily="18" charset="0"/>
              </a:rPr>
              <a:t>obligation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it concerns individual human opinions and beliefs, values and norms that apply to our daily </a:t>
            </a:r>
            <a:r>
              <a:rPr lang="en-GB" sz="2100" dirty="0" smtClean="0">
                <a:latin typeface="Georgia" panose="02040502050405020303" pitchFamily="18" charset="0"/>
              </a:rPr>
              <a:t>lives</a:t>
            </a:r>
          </a:p>
          <a:p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The digital revolution – social &amp; ethical issues can no longer be considered in isolation from the nation and international context</a:t>
            </a:r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520346"/>
      </p:ext>
    </p:extLst>
  </p:cSld>
  <p:clrMapOvr>
    <a:masterClrMapping/>
  </p:clrMapOvr>
  <p:transition advTm="5000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837853"/>
          </a:xfrm>
        </p:spPr>
        <p:txBody>
          <a:bodyPr/>
          <a:lstStyle/>
          <a:p>
            <a:r>
              <a:rPr lang="en-GB" sz="3600" dirty="0" smtClean="0"/>
              <a:t>Laws in </a:t>
            </a:r>
            <a:r>
              <a:rPr lang="en-GB" sz="3600" dirty="0" smtClean="0">
                <a:latin typeface="Georgia" panose="02040502050405020303" pitchFamily="18" charset="0"/>
              </a:rPr>
              <a:t>Cyberspace</a:t>
            </a:r>
            <a:endParaRPr lang="en-GB" sz="36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Does cyberspace require a new set of laws?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What role does ethics play in regulatory frameworks?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Do the fundamental principles of ethics remain the same in cyberspace</a:t>
            </a:r>
            <a:r>
              <a:rPr lang="en-GB" dirty="0" smtClean="0">
                <a:latin typeface="Georgia" panose="02040502050405020303" pitchFamily="18" charset="0"/>
              </a:rPr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9555238"/>
      </p:ext>
    </p:extLst>
  </p:cSld>
  <p:clrMapOvr>
    <a:masterClrMapping/>
  </p:clrMapOvr>
  <p:transition advTm="5000"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837853"/>
          </a:xfrm>
        </p:spPr>
        <p:txBody>
          <a:bodyPr/>
          <a:lstStyle/>
          <a:p>
            <a:r>
              <a:rPr lang="en-US" sz="3200" dirty="0">
                <a:latin typeface="Georgia" panose="02040502050405020303" pitchFamily="18" charset="0"/>
              </a:rPr>
              <a:t>C-I-A Triad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 smtClean="0">
                <a:latin typeface="Georgia" panose="02040502050405020303" pitchFamily="18" charset="0"/>
              </a:rPr>
              <a:t>Forms the basis of information security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 smtClean="0">
                <a:latin typeface="Georgia" panose="02040502050405020303" pitchFamily="18" charset="0"/>
              </a:rPr>
              <a:t>Confidentiality</a:t>
            </a:r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>
                <a:latin typeface="Georgia" panose="02040502050405020303" pitchFamily="18" charset="0"/>
              </a:rPr>
              <a:t>Integrity</a:t>
            </a:r>
          </a:p>
          <a:p>
            <a:r>
              <a:rPr lang="en-US" sz="2100" dirty="0">
                <a:latin typeface="Georgia" panose="02040502050405020303" pitchFamily="18" charset="0"/>
              </a:rPr>
              <a:t>Availability</a:t>
            </a:r>
          </a:p>
          <a:p>
            <a:r>
              <a:rPr lang="en-US" sz="2100" dirty="0">
                <a:latin typeface="Georgia" panose="02040502050405020303" pitchFamily="18" charset="0"/>
              </a:rPr>
              <a:t>Sometimes two other desirable characteristics: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Authentication</a:t>
            </a:r>
          </a:p>
          <a:p>
            <a:pPr lvl="1"/>
            <a:r>
              <a:rPr lang="en-US" sz="1800" dirty="0">
                <a:latin typeface="Georgia" panose="02040502050405020303" pitchFamily="18" charset="0"/>
              </a:rPr>
              <a:t>Nonrepudiation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D01F0F2-74A4-EF40-82B3-DFFDF0BA3880}" type="slidenum">
              <a:rPr lang="en-US">
                <a:solidFill>
                  <a:srgbClr val="000000"/>
                </a:solidFill>
                <a:latin typeface="Arial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489" y="3295278"/>
            <a:ext cx="2273573" cy="195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053877"/>
          </a:xfrm>
        </p:spPr>
        <p:txBody>
          <a:bodyPr/>
          <a:lstStyle/>
          <a:p>
            <a:r>
              <a:rPr lang="en-US" sz="3200" dirty="0">
                <a:latin typeface="Georgia" panose="02040502050405020303" pitchFamily="18" charset="0"/>
              </a:rPr>
              <a:t>C-I-A Triad</a:t>
            </a:r>
            <a:endParaRPr lang="en-GB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Confidentiality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" panose="02040502050405020303" pitchFamily="18" charset="0"/>
              </a:rPr>
              <a:t>Ensures authorised access to information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Integrity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" panose="02040502050405020303" pitchFamily="18" charset="0"/>
              </a:rPr>
              <a:t>Provides assurance of accuracy of information processing methods</a:t>
            </a:r>
          </a:p>
          <a:p>
            <a:pPr marL="342900" lvl="1" indent="0">
              <a:buNone/>
            </a:pPr>
            <a:endParaRPr lang="en-GB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Availability</a:t>
            </a:r>
            <a:endParaRPr lang="en-GB" sz="2100" dirty="0">
              <a:latin typeface="Georgia" panose="0204050205040502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Provides </a:t>
            </a:r>
            <a:r>
              <a:rPr lang="en-GB" dirty="0" smtClean="0">
                <a:latin typeface="Georgia" panose="02040502050405020303" pitchFamily="18" charset="0"/>
              </a:rPr>
              <a:t>timely and reliable access to information to those who have authorised access</a:t>
            </a:r>
            <a:endParaRPr lang="en-GB" dirty="0">
              <a:latin typeface="Georgia" panose="0204050205040502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620618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3789"/>
            <a:ext cx="7772400" cy="958987"/>
          </a:xfrm>
        </p:spPr>
        <p:txBody>
          <a:bodyPr/>
          <a:lstStyle/>
          <a:p>
            <a:r>
              <a:rPr lang="en-GB" sz="3200" dirty="0" smtClean="0"/>
              <a:t>Responsibility and Accountability</a:t>
            </a:r>
            <a:endParaRPr lang="en-GB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268760"/>
            <a:ext cx="7772400" cy="4203353"/>
          </a:xfrm>
        </p:spPr>
        <p:txBody>
          <a:bodyPr/>
          <a:lstStyle/>
          <a:p>
            <a:pPr marL="0" indent="0">
              <a:buNone/>
            </a:pPr>
            <a:endParaRPr lang="en-GB" dirty="0" smtClean="0"/>
          </a:p>
          <a:p>
            <a:r>
              <a:rPr lang="en-GB" sz="2100" dirty="0" smtClean="0">
                <a:latin typeface="Georgia" panose="02040502050405020303" pitchFamily="18" charset="0"/>
              </a:rPr>
              <a:t>Organisational security policies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It is everyone’s responsibility 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Compliance with security requirements designated by the organisation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Awareness of suspicious activity, security violation and concerns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726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81869"/>
          </a:xfrm>
        </p:spPr>
        <p:txBody>
          <a:bodyPr/>
          <a:lstStyle/>
          <a:p>
            <a:pPr marL="0" indent="0">
              <a:buNone/>
            </a:pPr>
            <a:r>
              <a:rPr lang="en-GB" sz="3200" dirty="0">
                <a:latin typeface="Georgia" panose="02040502050405020303" pitchFamily="18" charset="0"/>
              </a:rPr>
              <a:t>Security Frameworks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772815"/>
            <a:ext cx="7772400" cy="3699297"/>
          </a:xfrm>
        </p:spPr>
        <p:txBody>
          <a:bodyPr/>
          <a:lstStyle/>
          <a:p>
            <a:pPr marL="342900" lvl="1" indent="0">
              <a:buNone/>
            </a:pPr>
            <a:r>
              <a:rPr lang="en-GB" dirty="0" smtClean="0">
                <a:latin typeface="Georgia" panose="02040502050405020303" pitchFamily="18" charset="0"/>
              </a:rPr>
              <a:t>Control Objectives for Information and Related Technologies (COBIT)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>
              <a:latin typeface="Georgia" panose="0204050205040502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" panose="02040502050405020303" pitchFamily="18" charset="0"/>
              </a:rPr>
              <a:t>A framework for good practice </a:t>
            </a:r>
          </a:p>
          <a:p>
            <a:pPr marL="342900" lvl="1" indent="0">
              <a:buNone/>
            </a:pPr>
            <a:endParaRPr lang="en-GB" dirty="0" smtClean="0">
              <a:latin typeface="Georgia" panose="0204050205040502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E</a:t>
            </a:r>
            <a:r>
              <a:rPr lang="en-GB" dirty="0" smtClean="0">
                <a:latin typeface="Georgia" panose="02040502050405020303" pitchFamily="18" charset="0"/>
              </a:rPr>
              <a:t>nables </a:t>
            </a:r>
            <a:r>
              <a:rPr lang="en-GB" dirty="0">
                <a:latin typeface="Georgia" panose="02040502050405020303" pitchFamily="18" charset="0"/>
              </a:rPr>
              <a:t>clear policy </a:t>
            </a:r>
            <a:r>
              <a:rPr lang="en-GB" dirty="0" smtClean="0">
                <a:latin typeface="Georgia" panose="02040502050405020303" pitchFamily="18" charset="0"/>
              </a:rPr>
              <a:t>development, good </a:t>
            </a:r>
            <a:r>
              <a:rPr lang="en-GB" dirty="0">
                <a:latin typeface="Georgia" panose="02040502050405020303" pitchFamily="18" charset="0"/>
              </a:rPr>
              <a:t>practice for IT </a:t>
            </a:r>
            <a:r>
              <a:rPr lang="en-GB" dirty="0" smtClean="0">
                <a:latin typeface="Georgia" panose="02040502050405020303" pitchFamily="18" charset="0"/>
              </a:rPr>
              <a:t>control and emphasises </a:t>
            </a:r>
            <a:r>
              <a:rPr lang="en-GB" dirty="0">
                <a:latin typeface="Georgia" panose="02040502050405020303" pitchFamily="18" charset="0"/>
              </a:rPr>
              <a:t>regulatory </a:t>
            </a:r>
            <a:r>
              <a:rPr lang="en-GB" dirty="0" smtClean="0">
                <a:latin typeface="Georgia" panose="02040502050405020303" pitchFamily="18" charset="0"/>
              </a:rPr>
              <a:t>compliance</a:t>
            </a:r>
          </a:p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49560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09861"/>
          </a:xfrm>
        </p:spPr>
        <p:txBody>
          <a:bodyPr/>
          <a:lstStyle/>
          <a:p>
            <a:r>
              <a:rPr lang="en-GB" sz="3200" dirty="0" smtClean="0"/>
              <a:t>Globalisation and Culture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Laws and regulations relevant to information security differ throughout the world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Awareness of these issues is essential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Many computer crime and information security laws were made some time ago and their relevance today may be questionable.</a:t>
            </a:r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629892"/>
      </p:ext>
    </p:extLst>
  </p:cSld>
  <p:clrMapOvr>
    <a:masterClrMapping/>
  </p:clrMapOvr>
  <p:transition advTm="5000"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>
                <a:latin typeface="Georgia" panose="02040502050405020303" pitchFamily="18" charset="0"/>
              </a:rPr>
              <a:t>Challenges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sz="2100" dirty="0" smtClean="0">
                <a:latin typeface="Georgia" panose="02040502050405020303" pitchFamily="18" charset="0"/>
              </a:rPr>
              <a:t>Privacy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Data breaches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Identification of threats and vulnerabilities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Risk assessments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Compliance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929080"/>
      </p:ext>
    </p:extLst>
  </p:cSld>
  <p:clrMapOvr>
    <a:masterClrMapping/>
  </p:clrMapOvr>
  <p:transition advTm="5000"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09861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Security Policy Management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What is a policy?</a:t>
            </a: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A business requirement on actions or processes performed by an organisation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Security policies require placement of controls in processes specific to the system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COBIT 5 (2012) specifically related to information security </a:t>
            </a:r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3966646391"/>
      </p:ext>
    </p:extLst>
  </p:cSld>
  <p:clrMapOvr>
    <a:masterClrMapping/>
  </p:clrMapOvr>
  <p:transition advTm="5000"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053877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Security Policy Management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84783"/>
            <a:ext cx="7772400" cy="3987329"/>
          </a:xfrm>
        </p:spPr>
        <p:txBody>
          <a:bodyPr/>
          <a:lstStyle/>
          <a:p>
            <a:r>
              <a:rPr lang="en-GB" sz="2100" dirty="0">
                <a:latin typeface="Georgia" panose="02040502050405020303" pitchFamily="18" charset="0"/>
              </a:rPr>
              <a:t>Standards</a:t>
            </a:r>
          </a:p>
          <a:p>
            <a:r>
              <a:rPr lang="en-GB" sz="2100" dirty="0" smtClean="0">
                <a:latin typeface="Georgia" panose="02040502050405020303" pitchFamily="18" charset="0"/>
              </a:rPr>
              <a:t>Policies</a:t>
            </a:r>
          </a:p>
          <a:p>
            <a:r>
              <a:rPr lang="en-GB" sz="2100" dirty="0" smtClean="0">
                <a:latin typeface="Georgia" panose="02040502050405020303" pitchFamily="18" charset="0"/>
              </a:rPr>
              <a:t>Risk frameworks</a:t>
            </a: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Legislation</a:t>
            </a:r>
          </a:p>
          <a:p>
            <a:r>
              <a:rPr lang="en-GB" sz="2100" dirty="0" smtClean="0">
                <a:latin typeface="Georgia" panose="02040502050405020303" pitchFamily="18" charset="0"/>
              </a:rPr>
              <a:t>Guidelines</a:t>
            </a:r>
          </a:p>
          <a:p>
            <a:r>
              <a:rPr lang="en-GB" sz="2100" dirty="0" smtClean="0">
                <a:latin typeface="Georgia" panose="02040502050405020303" pitchFamily="18" charset="0"/>
              </a:rPr>
              <a:t>Codes of practice/conduct</a:t>
            </a: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Professional ethics</a:t>
            </a:r>
          </a:p>
          <a:p>
            <a:r>
              <a:rPr lang="en-GB" sz="2100" dirty="0">
                <a:latin typeface="Georgia" panose="02040502050405020303" pitchFamily="18" charset="0"/>
              </a:rPr>
              <a:t>Codes of ethics </a:t>
            </a:r>
            <a:r>
              <a:rPr lang="en-GB" sz="2100" dirty="0" smtClean="0">
                <a:latin typeface="Georgia" panose="02040502050405020303" pitchFamily="18" charset="0"/>
              </a:rPr>
              <a:t>– ACM </a:t>
            </a:r>
            <a:r>
              <a:rPr lang="en-GB" sz="1200" dirty="0" smtClean="0">
                <a:latin typeface="Georgia" panose="02040502050405020303" pitchFamily="18" charset="0"/>
              </a:rPr>
              <a:t>(1)</a:t>
            </a:r>
          </a:p>
          <a:p>
            <a:r>
              <a:rPr lang="en-GB" sz="2100" dirty="0" smtClean="0">
                <a:latin typeface="Georgia" panose="02040502050405020303" pitchFamily="18" charset="0"/>
              </a:rPr>
              <a:t>Enforcement of policies, codes and procedures</a:t>
            </a:r>
            <a:endParaRPr lang="en-GB" sz="2100" dirty="0">
              <a:latin typeface="Georgia" panose="02040502050405020303" pitchFamily="18" charset="0"/>
            </a:endParaRP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4539930"/>
      </p:ext>
    </p:extLst>
  </p:cSld>
  <p:clrMapOvr>
    <a:masterClrMapping/>
  </p:clrMapOvr>
  <p:transition advTm="5000"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09861"/>
          </a:xfrm>
        </p:spPr>
        <p:txBody>
          <a:bodyPr/>
          <a:lstStyle/>
          <a:p>
            <a:r>
              <a:rPr lang="en-GB" sz="3200" dirty="0" smtClean="0">
                <a:latin typeface="Georgia" panose="02040502050405020303" pitchFamily="18" charset="0"/>
              </a:rPr>
              <a:t>Security Policy Management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0769"/>
            <a:ext cx="7772400" cy="4536504"/>
          </a:xfrm>
        </p:spPr>
        <p:txBody>
          <a:bodyPr/>
          <a:lstStyle/>
          <a:p>
            <a:pPr marL="0" indent="0">
              <a:buNone/>
            </a:pPr>
            <a:r>
              <a:rPr lang="en-GB" sz="2100" dirty="0">
                <a:latin typeface="Georgia" panose="02040502050405020303" pitchFamily="18" charset="0"/>
              </a:rPr>
              <a:t>A</a:t>
            </a:r>
            <a:r>
              <a:rPr lang="en-GB" sz="2100" dirty="0" smtClean="0">
                <a:latin typeface="Georgia" panose="02040502050405020303" pitchFamily="18" charset="0"/>
              </a:rPr>
              <a:t> perfect world!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Policies and procedures should produce the perfect product</a:t>
            </a:r>
          </a:p>
          <a:p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Employees should follow policies and procedures at all time</a:t>
            </a:r>
          </a:p>
          <a:p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Business processes need timely information</a:t>
            </a:r>
          </a:p>
          <a:p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Good decision making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Control</a:t>
            </a:r>
            <a:endParaRPr lang="en-GB" sz="2100" dirty="0">
              <a:latin typeface="Georgia" panose="02040502050405020303" pitchFamily="18" charset="0"/>
            </a:endParaRPr>
          </a:p>
          <a:p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18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477813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Security Policy </a:t>
            </a:r>
            <a:r>
              <a:rPr lang="en-GB" sz="3200" dirty="0" smtClean="0">
                <a:latin typeface="Georgia" panose="02040502050405020303" pitchFamily="18" charset="0"/>
              </a:rPr>
              <a:t>Management Challenges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764704"/>
            <a:ext cx="7772400" cy="4896543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 smtClean="0">
                <a:latin typeface="Georgia" panose="02040502050405020303" pitchFamily="18" charset="0"/>
              </a:rPr>
              <a:t>Creating a </a:t>
            </a:r>
            <a:r>
              <a:rPr lang="en-GB" sz="2000" dirty="0">
                <a:latin typeface="Georgia" panose="02040502050405020303" pitchFamily="18" charset="0"/>
              </a:rPr>
              <a:t>perfect </a:t>
            </a:r>
            <a:r>
              <a:rPr lang="en-GB" sz="2000" dirty="0" smtClean="0">
                <a:latin typeface="Georgia" panose="02040502050405020303" pitchFamily="18" charset="0"/>
              </a:rPr>
              <a:t>world is difficult:</a:t>
            </a:r>
            <a:endParaRPr lang="en-GB" sz="20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GB" sz="2000" dirty="0">
              <a:latin typeface="Georgia" panose="02040502050405020303" pitchFamily="18" charset="0"/>
            </a:endParaRPr>
          </a:p>
          <a:p>
            <a:r>
              <a:rPr lang="en-GB" sz="2000" dirty="0" smtClean="0">
                <a:latin typeface="Georgia" panose="02040502050405020303" pitchFamily="18" charset="0"/>
              </a:rPr>
              <a:t>Increasingly complex technologies instigate more vulnerability and disruptions</a:t>
            </a:r>
            <a:endParaRPr lang="en-GB" sz="2000" dirty="0">
              <a:latin typeface="Georgia" panose="02040502050405020303" pitchFamily="18" charset="0"/>
            </a:endParaRPr>
          </a:p>
          <a:p>
            <a:r>
              <a:rPr lang="en-GB" sz="2000" dirty="0" smtClean="0">
                <a:latin typeface="Georgia" panose="02040502050405020303" pitchFamily="18" charset="0"/>
              </a:rPr>
              <a:t>Reliance on technologies instigates increased vulnerability</a:t>
            </a:r>
          </a:p>
          <a:p>
            <a:r>
              <a:rPr lang="en-GB" sz="2000" dirty="0" smtClean="0">
                <a:latin typeface="Georgia" panose="02040502050405020303" pitchFamily="18" charset="0"/>
              </a:rPr>
              <a:t>The cost of keeping pace with ever-changing technology</a:t>
            </a:r>
          </a:p>
          <a:p>
            <a:r>
              <a:rPr lang="en-GB" sz="2000" dirty="0" smtClean="0">
                <a:latin typeface="Georgia" panose="02040502050405020303" pitchFamily="18" charset="0"/>
              </a:rPr>
              <a:t>Keeping policies up to date</a:t>
            </a:r>
          </a:p>
          <a:p>
            <a:r>
              <a:rPr lang="en-GB" sz="2000" dirty="0" smtClean="0">
                <a:latin typeface="Georgia" panose="02040502050405020303" pitchFamily="18" charset="0"/>
              </a:rPr>
              <a:t>Weakness in failure to keep up to date create weaknesses that make business processes vulnerable to loss/theft</a:t>
            </a:r>
          </a:p>
          <a:p>
            <a:r>
              <a:rPr lang="en-GB" sz="2000" dirty="0" smtClean="0">
                <a:latin typeface="Georgia" panose="02040502050405020303" pitchFamily="18" charset="0"/>
              </a:rPr>
              <a:t>Technical and human challenges facing implementing policies and procedures</a:t>
            </a:r>
          </a:p>
          <a:p>
            <a:r>
              <a:rPr lang="en-GB" sz="2000" dirty="0" smtClean="0">
                <a:latin typeface="Georgia" panose="02040502050405020303" pitchFamily="18" charset="0"/>
              </a:rPr>
              <a:t>Enforcement issues</a:t>
            </a:r>
          </a:p>
          <a:p>
            <a:r>
              <a:rPr lang="en-GB" sz="2000" dirty="0" smtClean="0">
                <a:latin typeface="Georgia" panose="02040502050405020303" pitchFamily="18" charset="0"/>
              </a:rPr>
              <a:t>Understanding the risk</a:t>
            </a:r>
          </a:p>
          <a:p>
            <a:r>
              <a:rPr lang="en-GB" sz="2000" dirty="0" smtClean="0">
                <a:latin typeface="Georgia" panose="02040502050405020303" pitchFamily="18" charset="0"/>
              </a:rPr>
              <a:t>The struggle between government control &amp; individual rights</a:t>
            </a:r>
            <a:endParaRPr lang="en-GB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136827"/>
      </p:ext>
    </p:extLst>
  </p:cSld>
  <p:clrMapOvr>
    <a:masterClrMapping/>
  </p:clrMapOvr>
  <p:transition advTm="5000"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7190" y="319061"/>
            <a:ext cx="4923626" cy="1143000"/>
          </a:xfrm>
        </p:spPr>
        <p:txBody>
          <a:bodyPr/>
          <a:lstStyle/>
          <a:p>
            <a:r>
              <a:rPr lang="en-GB" dirty="0"/>
              <a:t>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40" y="640957"/>
            <a:ext cx="3813750" cy="14848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98" y="2314179"/>
            <a:ext cx="3762900" cy="8376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3428091"/>
            <a:ext cx="4017150" cy="10153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7802" y="4715466"/>
            <a:ext cx="3966300" cy="18910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346" y="2036492"/>
            <a:ext cx="4017150" cy="217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6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197893"/>
          </a:xfrm>
        </p:spPr>
        <p:txBody>
          <a:bodyPr/>
          <a:lstStyle/>
          <a:p>
            <a:r>
              <a:rPr lang="en-GB" sz="3200" dirty="0" smtClean="0">
                <a:latin typeface="Georgia" panose="02040502050405020303" pitchFamily="18" charset="0"/>
              </a:rPr>
              <a:t>Cloud Technology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894" y="1268760"/>
            <a:ext cx="8455578" cy="3898776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What are the security challenges and any ethical issues?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029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765845"/>
          </a:xfrm>
        </p:spPr>
        <p:txBody>
          <a:bodyPr/>
          <a:lstStyle/>
          <a:p>
            <a:r>
              <a:rPr lang="en-GB" sz="3200" dirty="0" smtClean="0">
                <a:latin typeface="Georgia" panose="02040502050405020303" pitchFamily="18" charset="0"/>
              </a:rPr>
              <a:t>Current &amp; Future Challenges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00808"/>
            <a:ext cx="7772400" cy="3466728"/>
          </a:xfrm>
        </p:spPr>
        <p:txBody>
          <a:bodyPr/>
          <a:lstStyle/>
          <a:p>
            <a:r>
              <a:rPr lang="en-US" sz="2100" dirty="0" smtClean="0">
                <a:latin typeface="Georgia" panose="02040502050405020303" pitchFamily="18" charset="0"/>
              </a:rPr>
              <a:t>AI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 err="1" smtClean="0">
                <a:latin typeface="Georgia" panose="02040502050405020303" pitchFamily="18" charset="0"/>
              </a:rPr>
              <a:t>IoT</a:t>
            </a:r>
            <a:r>
              <a:rPr lang="en-US" sz="2100" dirty="0" smtClean="0">
                <a:latin typeface="Georgia" panose="02040502050405020303" pitchFamily="18" charset="0"/>
              </a:rPr>
              <a:t>/IoE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 smtClean="0">
                <a:latin typeface="Georgia" panose="02040502050405020303" pitchFamily="18" charset="0"/>
              </a:rPr>
              <a:t>The landscape of cyberspace is constantly changing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 smtClean="0">
                <a:latin typeface="Georgia" panose="02040502050405020303" pitchFamily="18" charset="0"/>
              </a:rPr>
              <a:t>Social media, cyberbullying, terrorist threats</a:t>
            </a:r>
          </a:p>
          <a:p>
            <a:endParaRPr lang="en-US" sz="2100" dirty="0">
              <a:latin typeface="Georgia" panose="02040502050405020303" pitchFamily="18" charset="0"/>
            </a:endParaRPr>
          </a:p>
          <a:p>
            <a:r>
              <a:rPr lang="en-US" sz="2100" dirty="0" smtClean="0">
                <a:latin typeface="Georgia" panose="02040502050405020303" pitchFamily="18" charset="0"/>
              </a:rPr>
              <a:t>The new ‘</a:t>
            </a:r>
            <a:r>
              <a:rPr lang="en-US" sz="2100" dirty="0" err="1" smtClean="0">
                <a:latin typeface="Georgia" panose="02040502050405020303" pitchFamily="18" charset="0"/>
              </a:rPr>
              <a:t>cryptowar</a:t>
            </a:r>
            <a:r>
              <a:rPr lang="en-US" sz="2100" dirty="0" smtClean="0">
                <a:latin typeface="Georgia" panose="02040502050405020303" pitchFamily="18" charset="0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278959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6055" y="333642"/>
            <a:ext cx="3341473" cy="1143000"/>
          </a:xfrm>
        </p:spPr>
        <p:txBody>
          <a:bodyPr/>
          <a:lstStyle/>
          <a:p>
            <a:r>
              <a:rPr lang="en-GB" dirty="0"/>
              <a:t>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691"/>
            <a:ext cx="5135850" cy="17641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303" y="2132108"/>
            <a:ext cx="4881600" cy="15864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4077072"/>
            <a:ext cx="5237550" cy="242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5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837853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Current &amp; Future Challenges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GB" dirty="0" smtClean="0"/>
              <a:t>Easy to publish truthful and valuable information</a:t>
            </a:r>
          </a:p>
          <a:p>
            <a:pPr lvl="2"/>
            <a:r>
              <a:rPr lang="en-GB" dirty="0"/>
              <a:t>a</a:t>
            </a:r>
            <a:r>
              <a:rPr lang="en-GB" dirty="0" smtClean="0"/>
              <a:t>lso then to publish false, libellous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" panose="02040502050405020303" pitchFamily="18" charset="0"/>
              </a:rPr>
              <a:t>Cybercrime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" panose="02040502050405020303" pitchFamily="18" charset="0"/>
              </a:rPr>
              <a:t>Threats to personal privacy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" panose="02040502050405020303" pitchFamily="18" charset="0"/>
              </a:rPr>
              <a:t>Cyber governance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" panose="02040502050405020303" pitchFamily="18" charset="0"/>
              </a:rPr>
              <a:t>Free speech censorship </a:t>
            </a:r>
            <a:endParaRPr lang="en-US" dirty="0">
              <a:latin typeface="Georgia" panose="020405020504050203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" panose="02040502050405020303" pitchFamily="18" charset="0"/>
              </a:rPr>
              <a:t>Intellectual property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" panose="02040502050405020303" pitchFamily="18" charset="0"/>
              </a:rPr>
              <a:t>Potential to cause harm and undermine basic human rights and values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" panose="02040502050405020303" pitchFamily="18" charset="0"/>
              </a:rPr>
              <a:t>Respect for justice and fairness</a:t>
            </a:r>
            <a:endParaRPr lang="en-US" dirty="0">
              <a:latin typeface="Georgia" panose="02040502050405020303" pitchFamily="18" charset="0"/>
            </a:endParaRPr>
          </a:p>
          <a:p>
            <a:pPr marL="342900" lvl="1" indent="0">
              <a:buNone/>
            </a:pPr>
            <a:endParaRPr lang="en-GB" dirty="0" smtClean="0"/>
          </a:p>
          <a:p>
            <a:pPr marL="3429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8056821"/>
      </p:ext>
    </p:extLst>
  </p:cSld>
  <p:clrMapOvr>
    <a:masterClrMapping/>
  </p:clrMapOvr>
  <p:transition advTm="5000"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1125885"/>
          </a:xfrm>
        </p:spPr>
        <p:txBody>
          <a:bodyPr/>
          <a:lstStyle/>
          <a:p>
            <a:r>
              <a:rPr lang="en-GB" sz="3200" dirty="0" smtClean="0">
                <a:latin typeface="Georgia" panose="02040502050405020303" pitchFamily="18" charset="0"/>
              </a:rPr>
              <a:t>What can be done?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Is there a need for a ‘</a:t>
            </a:r>
            <a:r>
              <a:rPr lang="en-GB" sz="2100" i="1" dirty="0" smtClean="0">
                <a:latin typeface="Georgia" panose="02040502050405020303" pitchFamily="18" charset="0"/>
              </a:rPr>
              <a:t>law of cyberspace</a:t>
            </a:r>
            <a:r>
              <a:rPr lang="en-GB" sz="2100" dirty="0" smtClean="0">
                <a:latin typeface="Georgia" panose="02040502050405020303" pitchFamily="18" charset="0"/>
              </a:rPr>
              <a:t>’?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133659"/>
      </p:ext>
    </p:extLst>
  </p:cSld>
  <p:clrMapOvr>
    <a:masterClrMapping/>
  </p:clrMapOvr>
  <p:transition advTm="5000"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981869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What can be done?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The Golden Rule?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Should those writing programs - formulate laws to regulate cyberspace rely on ethics as a guide?</a:t>
            </a: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i="1" dirty="0" smtClean="0">
                <a:latin typeface="Georgia" panose="02040502050405020303" pitchFamily="18" charset="0"/>
              </a:rPr>
              <a:t>“Technology is only a tool and it does not ..determine our destiny ..it is up to us whether this powerful force is used for good or ill purpose”. </a:t>
            </a:r>
            <a:r>
              <a:rPr lang="en-GB" sz="1200" dirty="0" smtClean="0">
                <a:latin typeface="Georgia" panose="02040502050405020303" pitchFamily="18" charset="0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683212316"/>
      </p:ext>
    </p:extLst>
  </p:cSld>
  <p:clrMapOvr>
    <a:masterClrMapping/>
  </p:clrMapOvr>
  <p:transition advTm="5000"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>
                <a:latin typeface="Georgia" panose="02040502050405020303" pitchFamily="18" charset="0"/>
              </a:rPr>
              <a:t>Cyber ethics and Culture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100" dirty="0" smtClean="0">
                <a:latin typeface="Georgia" panose="02040502050405020303" pitchFamily="18" charset="0"/>
              </a:rPr>
              <a:t>Formal Codes of Conduct, Codes of Ethics and organisational policies should assist the practitioner in maintaining professional standards within their work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An individual’s attitudes and values are informed by their cultural, religious, political, and economic circumstances, as well as whatever laws obtain </a:t>
            </a:r>
            <a:r>
              <a:rPr lang="en-GB" sz="2100" dirty="0" smtClean="0">
                <a:latin typeface="Georgia" panose="02040502050405020303" pitchFamily="18" charset="0"/>
              </a:rPr>
              <a:t>locally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>
                <a:latin typeface="Georgia" panose="02040502050405020303" pitchFamily="18" charset="0"/>
              </a:rPr>
              <a:t>S</a:t>
            </a:r>
            <a:r>
              <a:rPr lang="en-GB" sz="2100" dirty="0" smtClean="0">
                <a:latin typeface="Georgia" panose="02040502050405020303" pitchFamily="18" charset="0"/>
              </a:rPr>
              <a:t>ystems </a:t>
            </a:r>
            <a:r>
              <a:rPr lang="en-GB" sz="2100" dirty="0">
                <a:latin typeface="Georgia" panose="02040502050405020303" pitchFamily="18" charset="0"/>
              </a:rPr>
              <a:t>of ethics may be culture-based, globalisation means that requirements need to be determined among individuals subscribing to differing ethical systems.  These differences need to be </a:t>
            </a:r>
            <a:r>
              <a:rPr lang="en-GB" sz="2100" dirty="0" smtClean="0">
                <a:latin typeface="Georgia" panose="02040502050405020303" pitchFamily="18" charset="0"/>
              </a:rPr>
              <a:t>reconciled</a:t>
            </a:r>
            <a:endParaRPr lang="en-GB" sz="2100" dirty="0">
              <a:latin typeface="Georgia" panose="02040502050405020303" pitchFamily="18" charset="0"/>
            </a:endParaRPr>
          </a:p>
          <a:p>
            <a:endParaRPr lang="en-GB" sz="2100" dirty="0">
              <a:latin typeface="Georgia" panose="02040502050405020303" pitchFamily="18" charset="0"/>
            </a:endParaRPr>
          </a:p>
          <a:p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085626"/>
      </p:ext>
    </p:extLst>
  </p:cSld>
  <p:clrMapOvr>
    <a:masterClrMapping/>
  </p:clrMapOvr>
  <p:transition advTm="5000"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2875"/>
            <a:ext cx="7772400" cy="621829"/>
          </a:xfrm>
        </p:spPr>
        <p:txBody>
          <a:bodyPr/>
          <a:lstStyle/>
          <a:p>
            <a:r>
              <a:rPr lang="en-GB" sz="3200" dirty="0">
                <a:latin typeface="Georgia" panose="02040502050405020303" pitchFamily="18" charset="0"/>
              </a:rPr>
              <a:t>What can be done?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6712"/>
            <a:ext cx="7772400" cy="4968552"/>
          </a:xfrm>
        </p:spPr>
        <p:txBody>
          <a:bodyPr/>
          <a:lstStyle/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Policy groups:</a:t>
            </a:r>
          </a:p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World Wide Web Consortium – an International standards setting body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dirty="0" smtClean="0">
                <a:latin typeface="Georgia" panose="02040502050405020303" pitchFamily="18" charset="0"/>
              </a:rPr>
              <a:t>Internet Engineering Task Force (IETF) – develops technical standards such as communication protocols</a:t>
            </a:r>
          </a:p>
          <a:p>
            <a:endParaRPr lang="en-GB" sz="2100" dirty="0">
              <a:latin typeface="Georgia" panose="02040502050405020303" pitchFamily="18" charset="0"/>
            </a:endParaRPr>
          </a:p>
          <a:p>
            <a:r>
              <a:rPr lang="en-GB" sz="2100" i="1" dirty="0" smtClean="0">
                <a:latin typeface="Georgia" panose="02040502050405020303" pitchFamily="18" charset="0"/>
              </a:rPr>
              <a:t>“Despite the use of firewalls, security scans, intrusion prevention products and sophisticated encryptions – website continue to be a major target for hackers”. </a:t>
            </a:r>
            <a:r>
              <a:rPr lang="en-GB" sz="1200" dirty="0" smtClean="0">
                <a:latin typeface="Georgia" panose="02040502050405020303" pitchFamily="18" charset="0"/>
              </a:rPr>
              <a:t>(3)</a:t>
            </a:r>
          </a:p>
          <a:p>
            <a:pPr marL="0" indent="0">
              <a:buNone/>
            </a:pPr>
            <a:endParaRPr lang="en-GB" sz="2100" i="1" dirty="0" smtClean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GB" sz="2100" dirty="0" smtClean="0">
                <a:latin typeface="Georgia" panose="02040502050405020303" pitchFamily="18" charset="0"/>
              </a:rPr>
              <a:t>What can be done for the future?</a:t>
            </a:r>
            <a:endParaRPr lang="en-GB" sz="2100" dirty="0">
              <a:latin typeface="Georgia" panose="02040502050405020303" pitchFamily="18" charset="0"/>
            </a:endParaRPr>
          </a:p>
          <a:p>
            <a:endParaRPr lang="en-GB" sz="2100" i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62095"/>
      </p:ext>
    </p:extLst>
  </p:cSld>
  <p:clrMapOvr>
    <a:masterClrMapping/>
  </p:clrMapOvr>
  <p:transition advTm="5000"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>
                <a:latin typeface="Georgia" panose="02040502050405020303" pitchFamily="18" charset="0"/>
              </a:rPr>
              <a:t>References</a:t>
            </a:r>
            <a:endParaRPr lang="en-GB" sz="32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sz="2100" dirty="0" smtClean="0">
              <a:latin typeface="Georgia" panose="02040502050405020303" pitchFamily="18" charset="0"/>
            </a:endParaRPr>
          </a:p>
          <a:p>
            <a:pPr marL="228600" lvl="0" indent="-228600" eaLnBrk="0" hangingPunct="0">
              <a:spcBef>
                <a:spcPct val="0"/>
              </a:spcBef>
              <a:buAutoNum type="arabicPeriod"/>
            </a:pPr>
            <a:r>
              <a:rPr lang="en-GB" altLang="en-US" sz="11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ACM </a:t>
            </a:r>
            <a:r>
              <a:rPr lang="en-GB" altLang="en-US" sz="1100" kern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Code of Ethics and Professional Conduct. </a:t>
            </a:r>
            <a:r>
              <a:rPr lang="en-GB" altLang="en-US" sz="1100" u="sng" kern="1200" dirty="0">
                <a:solidFill>
                  <a:srgbClr val="00808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2018 “Revision”. </a:t>
            </a:r>
            <a:r>
              <a:rPr lang="en-GB" altLang="en-US" sz="1100" kern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Available at: https://www.acm.org/code-of-ethics</a:t>
            </a:r>
            <a:r>
              <a:rPr lang="en-GB" altLang="en-US" sz="700" kern="12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GB" altLang="en-US" sz="700" kern="12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lvl="0" indent="-228600" eaLnBrk="0" hangingPunct="0">
              <a:spcBef>
                <a:spcPct val="0"/>
              </a:spcBef>
              <a:buAutoNum type="arabicPeriod"/>
            </a:pPr>
            <a:endParaRPr lang="en-GB" altLang="en-US" sz="700" kern="12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28600" indent="-228600" eaLnBrk="0" hangingPunct="0">
              <a:spcBef>
                <a:spcPct val="0"/>
              </a:spcBef>
              <a:buAutoNum type="arabicPeriod" startAt="2"/>
            </a:pPr>
            <a:r>
              <a:rPr lang="en-GB" sz="11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Spinello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, R. 2017. </a:t>
            </a:r>
            <a:r>
              <a:rPr lang="en-GB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Cyberethics</a:t>
            </a:r>
            <a:r>
              <a:rPr lang="en-GB" sz="1100" i="1" dirty="0">
                <a:latin typeface="Arial" panose="020B0604020202020204" pitchFamily="34" charset="0"/>
                <a:cs typeface="Arial" panose="020B0604020202020204" pitchFamily="34" charset="0"/>
              </a:rPr>
              <a:t>: Morality and Law in Cyberspace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(6</a:t>
            </a:r>
            <a:r>
              <a:rPr lang="en-GB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edn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). Burlington, MA: Jones and Bartlett Learning</a:t>
            </a:r>
            <a:r>
              <a:rPr lang="en-GB" sz="1100" dirty="0" smtClean="0"/>
              <a:t>.</a:t>
            </a:r>
          </a:p>
          <a:p>
            <a:pPr marL="228600" indent="-228600" eaLnBrk="0" hangingPunct="0">
              <a:spcBef>
                <a:spcPct val="0"/>
              </a:spcBef>
              <a:buAutoNum type="arabicPeriod" startAt="2"/>
            </a:pPr>
            <a:endParaRPr lang="en-GB" sz="1100" dirty="0"/>
          </a:p>
          <a:p>
            <a:pPr marL="228600" indent="-228600" eaLnBrk="0" hangingPunct="0">
              <a:spcBef>
                <a:spcPct val="0"/>
              </a:spcBef>
              <a:buAutoNum type="arabicPeriod" startAt="2"/>
            </a:pP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Spinello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, R. 2017. </a:t>
            </a:r>
            <a:r>
              <a:rPr lang="en-GB" sz="1100" i="1" dirty="0" err="1">
                <a:latin typeface="Arial" panose="020B0604020202020204" pitchFamily="34" charset="0"/>
                <a:cs typeface="Arial" panose="020B0604020202020204" pitchFamily="34" charset="0"/>
              </a:rPr>
              <a:t>Cyberethics</a:t>
            </a:r>
            <a:r>
              <a:rPr lang="en-GB" sz="1100" i="1" dirty="0">
                <a:latin typeface="Arial" panose="020B0604020202020204" pitchFamily="34" charset="0"/>
                <a:cs typeface="Arial" panose="020B0604020202020204" pitchFamily="34" charset="0"/>
              </a:rPr>
              <a:t>: Morality and Law in Cyberspace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(6</a:t>
            </a:r>
            <a:r>
              <a:rPr lang="en-GB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edn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). Burlington, MA: Jones and Bartlett Learning</a:t>
            </a:r>
            <a:r>
              <a:rPr lang="en-GB" sz="1100" dirty="0"/>
              <a:t>.</a:t>
            </a:r>
          </a:p>
          <a:p>
            <a:pPr marL="0" lvl="0" indent="0" eaLnBrk="0" hangingPunct="0">
              <a:spcBef>
                <a:spcPct val="0"/>
              </a:spcBef>
              <a:buNone/>
            </a:pPr>
            <a:endParaRPr lang="en-GB" altLang="en-US" sz="1100" kern="12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sz="21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271027"/>
      </p:ext>
    </p:extLst>
  </p:cSld>
  <p:clrMapOvr>
    <a:masterClrMapping/>
  </p:clrMapOvr>
  <p:transition advTm="5000">
    <p:dissolve/>
  </p:transition>
</p:sld>
</file>

<file path=ppt/theme/theme1.xml><?xml version="1.0" encoding="utf-8"?>
<a:theme xmlns:a="http://schemas.openxmlformats.org/drawingml/2006/main" name="1_Glyndwr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Glyndwr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 02 Cyber Security</Template>
  <TotalTime>1542</TotalTime>
  <Words>951</Words>
  <Application>Microsoft Office PowerPoint</Application>
  <PresentationFormat>On-screen Show (4:3)</PresentationFormat>
  <Paragraphs>197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Courier New</vt:lpstr>
      <vt:lpstr>Georgia</vt:lpstr>
      <vt:lpstr>Times New Roman</vt:lpstr>
      <vt:lpstr>1_Glyndwr</vt:lpstr>
      <vt:lpstr>Glyndwr</vt:lpstr>
      <vt:lpstr>Lecture 3 – Cyberethics and Policy management </vt:lpstr>
      <vt:lpstr>Risk Management?</vt:lpstr>
      <vt:lpstr>Considerations</vt:lpstr>
      <vt:lpstr>What is ethics/cyber ethics?</vt:lpstr>
      <vt:lpstr>Laws in Cyberspace</vt:lpstr>
      <vt:lpstr>C-I-A Triad</vt:lpstr>
      <vt:lpstr>C-I-A Triad</vt:lpstr>
      <vt:lpstr>Responsibility and Accountability</vt:lpstr>
      <vt:lpstr>Security Frameworks</vt:lpstr>
      <vt:lpstr>Globalisation and Culture</vt:lpstr>
      <vt:lpstr>Challenges</vt:lpstr>
      <vt:lpstr>Security Policy Management</vt:lpstr>
      <vt:lpstr>Security Policy Management</vt:lpstr>
      <vt:lpstr>Security Policy Management</vt:lpstr>
      <vt:lpstr>Security Policy Management Challenges</vt:lpstr>
      <vt:lpstr>Best Practice</vt:lpstr>
      <vt:lpstr>Cloud Technology</vt:lpstr>
      <vt:lpstr>Current &amp; Future Challenges</vt:lpstr>
      <vt:lpstr>Best Practice</vt:lpstr>
      <vt:lpstr>Current &amp; Future Challenges</vt:lpstr>
      <vt:lpstr>What can be done?</vt:lpstr>
      <vt:lpstr>What can be done?</vt:lpstr>
      <vt:lpstr>Cyber ethics and Culture</vt:lpstr>
      <vt:lpstr>What can be done?</vt:lpstr>
      <vt:lpstr>References</vt:lpstr>
    </vt:vector>
  </TitlesOfParts>
  <Company>NEWI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 Dutton</dc:creator>
  <cp:lastModifiedBy>Denise Oram</cp:lastModifiedBy>
  <cp:revision>174</cp:revision>
  <cp:lastPrinted>2019-10-15T10:47:15Z</cp:lastPrinted>
  <dcterms:created xsi:type="dcterms:W3CDTF">2012-05-21T16:03:29Z</dcterms:created>
  <dcterms:modified xsi:type="dcterms:W3CDTF">2019-10-15T13:54:55Z</dcterms:modified>
</cp:coreProperties>
</file>