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13"/>
  </p:notesMasterIdLst>
  <p:handoutMasterIdLst>
    <p:handoutMasterId r:id="rId14"/>
  </p:handoutMasterIdLst>
  <p:sldIdLst>
    <p:sldId id="288" r:id="rId3"/>
    <p:sldId id="257" r:id="rId4"/>
    <p:sldId id="294" r:id="rId5"/>
    <p:sldId id="290" r:id="rId6"/>
    <p:sldId id="291" r:id="rId7"/>
    <p:sldId id="295" r:id="rId8"/>
    <p:sldId id="289" r:id="rId9"/>
    <p:sldId id="293" r:id="rId10"/>
    <p:sldId id="292" r:id="rId11"/>
    <p:sldId id="296" r:id="rId12"/>
  </p:sldIdLst>
  <p:sldSz cx="12192000" cy="6858000"/>
  <p:notesSz cx="6781800"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2" d="100"/>
          <a:sy n="92" d="100"/>
        </p:scale>
        <p:origin x="49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8780"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1451" y="0"/>
            <a:ext cx="2938780" cy="498056"/>
          </a:xfrm>
          <a:prstGeom prst="rect">
            <a:avLst/>
          </a:prstGeom>
        </p:spPr>
        <p:txBody>
          <a:bodyPr vert="horz" lIns="91440" tIns="45720" rIns="91440" bIns="45720" rtlCol="0"/>
          <a:lstStyle>
            <a:lvl1pPr algn="r">
              <a:defRPr sz="1200"/>
            </a:lvl1pPr>
          </a:lstStyle>
          <a:p>
            <a:fld id="{4AEC9D74-FF18-450B-A448-A8C0D875B73D}" type="datetimeFigureOut">
              <a:rPr lang="en-GB" smtClean="0"/>
              <a:t>12/11/2019</a:t>
            </a:fld>
            <a:endParaRPr lang="en-GB"/>
          </a:p>
        </p:txBody>
      </p:sp>
      <p:sp>
        <p:nvSpPr>
          <p:cNvPr id="4" name="Footer Placeholder 3"/>
          <p:cNvSpPr>
            <a:spLocks noGrp="1"/>
          </p:cNvSpPr>
          <p:nvPr>
            <p:ph type="ftr" sz="quarter" idx="2"/>
          </p:nvPr>
        </p:nvSpPr>
        <p:spPr>
          <a:xfrm>
            <a:off x="0" y="9428584"/>
            <a:ext cx="2938780"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1451" y="9428584"/>
            <a:ext cx="2938780" cy="498055"/>
          </a:xfrm>
          <a:prstGeom prst="rect">
            <a:avLst/>
          </a:prstGeom>
        </p:spPr>
        <p:txBody>
          <a:bodyPr vert="horz" lIns="91440" tIns="45720" rIns="91440" bIns="45720" rtlCol="0" anchor="b"/>
          <a:lstStyle>
            <a:lvl1pPr algn="r">
              <a:defRPr sz="1200"/>
            </a:lvl1pPr>
          </a:lstStyle>
          <a:p>
            <a:fld id="{7A482941-1032-4CA8-AB6C-1111F3E67E6B}" type="slidenum">
              <a:rPr lang="en-GB" smtClean="0"/>
              <a:t>‹#›</a:t>
            </a:fld>
            <a:endParaRPr lang="en-GB"/>
          </a:p>
        </p:txBody>
      </p:sp>
    </p:spTree>
    <p:extLst>
      <p:ext uri="{BB962C8B-B14F-4D97-AF65-F5344CB8AC3E}">
        <p14:creationId xmlns:p14="http://schemas.microsoft.com/office/powerpoint/2010/main" val="3243756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8780"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1451" y="0"/>
            <a:ext cx="2938780" cy="498056"/>
          </a:xfrm>
          <a:prstGeom prst="rect">
            <a:avLst/>
          </a:prstGeom>
        </p:spPr>
        <p:txBody>
          <a:bodyPr vert="horz" lIns="91440" tIns="45720" rIns="91440" bIns="45720" rtlCol="0"/>
          <a:lstStyle>
            <a:lvl1pPr algn="r">
              <a:defRPr sz="1200"/>
            </a:lvl1pPr>
          </a:lstStyle>
          <a:p>
            <a:fld id="{896060A3-FB1B-4612-AEDE-6ADD6DDA353C}" type="datetimeFigureOut">
              <a:rPr lang="en-GB" smtClean="0"/>
              <a:t>12/11/2019</a:t>
            </a:fld>
            <a:endParaRPr lang="en-GB"/>
          </a:p>
        </p:txBody>
      </p:sp>
      <p:sp>
        <p:nvSpPr>
          <p:cNvPr id="4" name="Slide Image Placeholder 3"/>
          <p:cNvSpPr>
            <a:spLocks noGrp="1" noRot="1" noChangeAspect="1"/>
          </p:cNvSpPr>
          <p:nvPr>
            <p:ph type="sldImg" idx="2"/>
          </p:nvPr>
        </p:nvSpPr>
        <p:spPr>
          <a:xfrm>
            <a:off x="414338"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8180" y="4777194"/>
            <a:ext cx="54254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38780"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1451" y="9428584"/>
            <a:ext cx="2938780" cy="498055"/>
          </a:xfrm>
          <a:prstGeom prst="rect">
            <a:avLst/>
          </a:prstGeom>
        </p:spPr>
        <p:txBody>
          <a:bodyPr vert="horz" lIns="91440" tIns="45720" rIns="91440" bIns="45720" rtlCol="0" anchor="b"/>
          <a:lstStyle>
            <a:lvl1pPr algn="r">
              <a:defRPr sz="1200"/>
            </a:lvl1pPr>
          </a:lstStyle>
          <a:p>
            <a:fld id="{5C205C81-F1E5-4552-890E-CDE7C0395774}" type="slidenum">
              <a:rPr lang="en-GB" smtClean="0"/>
              <a:t>‹#›</a:t>
            </a:fld>
            <a:endParaRPr lang="en-GB"/>
          </a:p>
        </p:txBody>
      </p:sp>
    </p:spTree>
    <p:extLst>
      <p:ext uri="{BB962C8B-B14F-4D97-AF65-F5344CB8AC3E}">
        <p14:creationId xmlns:p14="http://schemas.microsoft.com/office/powerpoint/2010/main" val="27022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smtClean="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761284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19475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028943514"/>
      </p:ext>
    </p:extLst>
  </p:cSld>
  <p:clrMapOvr>
    <a:masterClrMapping/>
  </p:clrMapOvr>
  <p:transition advTm="5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935744653"/>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143115272"/>
      </p:ext>
    </p:extLst>
  </p:cSld>
  <p:clrMapOvr>
    <a:masterClrMapping/>
  </p:clrMapOvr>
  <p:transition advTm="5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244475998"/>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044001944"/>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920327284"/>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98963496"/>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2262178046"/>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991747359"/>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170859964"/>
      </p:ext>
    </p:extLst>
  </p:cSld>
  <p:clrMapOvr>
    <a:masterClrMapping/>
  </p:clrMapOvr>
  <p:transition advTm="5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631713520"/>
      </p:ext>
    </p:extLst>
  </p:cSld>
  <p:clrMapOvr>
    <a:masterClrMapping/>
  </p:clrMapOvr>
  <p:transition advTm="5000">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469212226"/>
      </p:ext>
    </p:extLst>
  </p:cSld>
  <p:clrMapOvr>
    <a:masterClrMapping/>
  </p:clrMapOvr>
  <p:transition advTm="5000">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311496306"/>
      </p:ext>
    </p:extLst>
  </p:cSld>
  <p:clrMapOvr>
    <a:masterClrMapping/>
  </p:clrMapOvr>
  <p:transition advTm="5000">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44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16884234"/>
      </p:ext>
    </p:extLst>
  </p:cSld>
  <p:clrMapOvr>
    <a:masterClrMapping/>
  </p:clrMapOvr>
  <p:transition advTm="5000">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smtClean="0">
                <a:solidFill>
                  <a:srgbClr val="FFFFFF"/>
                </a:solidFill>
                <a:latin typeface="Georgia" pitchFamily="18" charset="0"/>
              </a:rPr>
              <a:t>c</a:t>
            </a:r>
            <a:r>
              <a:rPr lang="en-GB" sz="4000" smtClean="0">
                <a:solidFill>
                  <a:srgbClr val="FFFFFF"/>
                </a:solidFill>
                <a:latin typeface="Georgia" pitchFamily="18" charset="0"/>
              </a:rPr>
              <a:t>@</a:t>
            </a:r>
            <a:r>
              <a:rPr lang="en-GB" sz="6000" smtClean="0">
                <a:solidFill>
                  <a:srgbClr val="FFFFFF"/>
                </a:solidFill>
                <a:latin typeface="Georgia" pitchFamily="18" charset="0"/>
              </a:rPr>
              <a:t>g</a:t>
            </a:r>
          </a:p>
        </p:txBody>
      </p:sp>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659924111"/>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38357982"/>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190542607"/>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709871249"/>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99184440"/>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612773846"/>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99692917"/>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02760874"/>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657090057"/>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3088469"/>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861689248"/>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69910835"/>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11/12/2019</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smtClean="0">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543204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9805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smtClean="0"/>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smtClean="0"/>
              <a:t>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91270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ransition advTm="5000">
    <p:dissolve/>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1950" y="869950"/>
            <a:ext cx="8928100" cy="1728788"/>
          </a:xfrm>
        </p:spPr>
        <p:txBody>
          <a:bodyPr/>
          <a:lstStyle/>
          <a:p>
            <a:pPr algn="r"/>
            <a:r>
              <a:rPr lang="en-GB" altLang="en-US" sz="5400" dirty="0" smtClean="0">
                <a:latin typeface="Georgia" panose="02040502050405020303" pitchFamily="18" charset="0"/>
              </a:rPr>
              <a:t>Debate</a:t>
            </a:r>
            <a:endParaRPr lang="en-GB" altLang="en-US" sz="5400" dirty="0">
              <a:latin typeface="Georgia" panose="02040502050405020303" pitchFamily="18" charset="0"/>
            </a:endParaRPr>
          </a:p>
        </p:txBody>
      </p:sp>
      <p:sp>
        <p:nvSpPr>
          <p:cNvPr id="6147" name="TextBox 3"/>
          <p:cNvSpPr txBox="1">
            <a:spLocks noChangeArrowheads="1"/>
          </p:cNvSpPr>
          <p:nvPr/>
        </p:nvSpPr>
        <p:spPr bwMode="auto">
          <a:xfrm>
            <a:off x="1393052" y="2714626"/>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900" dirty="0" smtClean="0">
                <a:solidFill>
                  <a:srgbClr val="000000"/>
                </a:solidFill>
                <a:latin typeface="Georgia" panose="02040502050405020303" pitchFamily="18" charset="0"/>
              </a:rPr>
              <a:t>COM744: Debate</a:t>
            </a:r>
            <a:endParaRPr lang="en-GB" altLang="en-US" sz="1900" dirty="0">
              <a:solidFill>
                <a:srgbClr val="000000"/>
              </a:solidFill>
              <a:latin typeface="Georgia" panose="02040502050405020303" pitchFamily="18" charset="0"/>
            </a:endParaRPr>
          </a:p>
          <a:p>
            <a:pPr eaLnBrk="0" fontAlgn="base" hangingPunct="0">
              <a:spcBef>
                <a:spcPct val="0"/>
              </a:spcBef>
              <a:spcAft>
                <a:spcPct val="0"/>
              </a:spcAft>
              <a:buFontTx/>
              <a:buNone/>
            </a:pPr>
            <a:r>
              <a:rPr lang="en-GB" altLang="en-US" sz="1900" dirty="0">
                <a:solidFill>
                  <a:srgbClr val="000000"/>
                </a:solidFill>
                <a:latin typeface="Georgia" panose="02040502050405020303" pitchFamily="18" charset="0"/>
              </a:rPr>
              <a:t>Denise </a:t>
            </a:r>
            <a:r>
              <a:rPr lang="en-GB" altLang="en-US" sz="1900" dirty="0" smtClean="0">
                <a:solidFill>
                  <a:srgbClr val="000000"/>
                </a:solidFill>
                <a:latin typeface="Georgia" panose="02040502050405020303" pitchFamily="18" charset="0"/>
              </a:rPr>
              <a:t>Oram/Nigel </a:t>
            </a:r>
            <a:r>
              <a:rPr lang="en-GB" altLang="en-US" sz="1900" dirty="0">
                <a:solidFill>
                  <a:srgbClr val="000000"/>
                </a:solidFill>
                <a:latin typeface="Georgia" panose="02040502050405020303" pitchFamily="18" charset="0"/>
              </a:rPr>
              <a:t>Houlden </a:t>
            </a:r>
            <a:r>
              <a:rPr lang="en-GB" altLang="en-US" sz="1900" dirty="0" smtClean="0">
                <a:solidFill>
                  <a:srgbClr val="000000"/>
                </a:solidFill>
                <a:latin typeface="Georgia" panose="02040502050405020303" pitchFamily="18" charset="0"/>
              </a:rPr>
              <a:t> </a:t>
            </a:r>
            <a:endParaRPr lang="en-GB" altLang="en-US" sz="19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2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20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8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700" dirty="0" smtClean="0">
                <a:solidFill>
                  <a:srgbClr val="000000"/>
                </a:solidFill>
                <a:latin typeface="Courier New" panose="02070309020205020404" pitchFamily="49" charset="0"/>
                <a:cs typeface="Courier New" panose="02070309020205020404" pitchFamily="49" charset="0"/>
              </a:rPr>
              <a:t>n.houlden@glyndwr.ac.uk / d.oram@Glyndwr.ac.uk</a:t>
            </a:r>
            <a:endParaRPr lang="en-GB" altLang="en-US" sz="17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9634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657225"/>
          </a:xfrm>
        </p:spPr>
        <p:txBody>
          <a:bodyPr/>
          <a:lstStyle/>
          <a:p>
            <a:r>
              <a:rPr lang="en-US" sz="3600" dirty="0" smtClean="0">
                <a:latin typeface="Georgia" panose="02040502050405020303" pitchFamily="18" charset="0"/>
              </a:rPr>
              <a:t>Assignment 1: Task 1</a:t>
            </a:r>
            <a:endParaRPr lang="en-US" sz="3600" dirty="0">
              <a:latin typeface="Georgia" panose="02040502050405020303" pitchFamily="18" charset="0"/>
            </a:endParaRPr>
          </a:p>
        </p:txBody>
      </p:sp>
      <p:sp>
        <p:nvSpPr>
          <p:cNvPr id="3" name="Text Placeholder 2"/>
          <p:cNvSpPr>
            <a:spLocks noGrp="1"/>
          </p:cNvSpPr>
          <p:nvPr>
            <p:ph type="body" idx="1"/>
          </p:nvPr>
        </p:nvSpPr>
        <p:spPr>
          <a:xfrm>
            <a:off x="914400" y="800100"/>
            <a:ext cx="10363200" cy="4898335"/>
          </a:xfrm>
        </p:spPr>
        <p:txBody>
          <a:bodyPr/>
          <a:lstStyle/>
          <a:p>
            <a:r>
              <a:rPr lang="en-GB" sz="2000" dirty="0"/>
              <a:t>The purpose of the assignment is for you to conduct an in-depth investigation into information security, security risks, security control, and the application of risk control and risk measures etc. From your research, you will produce a Case Study that includes any relevant recommendations of your findings as to how you see the cyber security threats and risk landscape evolving over the next few years. (</a:t>
            </a:r>
            <a:r>
              <a:rPr lang="en-GB" sz="2000" b="1" dirty="0"/>
              <a:t>4,000</a:t>
            </a:r>
            <a:r>
              <a:rPr lang="en-GB" sz="2000" dirty="0"/>
              <a:t> words</a:t>
            </a:r>
            <a:r>
              <a:rPr lang="en-GB" sz="2000" dirty="0" smtClean="0"/>
              <a:t>).</a:t>
            </a:r>
          </a:p>
          <a:p>
            <a:pPr marL="0" indent="0">
              <a:buNone/>
            </a:pPr>
            <a:endParaRPr lang="en-GB" sz="2000" dirty="0"/>
          </a:p>
          <a:p>
            <a:r>
              <a:rPr lang="en-GB" sz="2000" dirty="0"/>
              <a:t>This case study allows you the opportunity to explore key concepts and theories relating to security and risk management whilst developing an appreciation of ‘real-life’ issues and situations</a:t>
            </a:r>
            <a:r>
              <a:rPr lang="en-GB" sz="2000" b="1" dirty="0"/>
              <a:t>.  </a:t>
            </a:r>
            <a:r>
              <a:rPr lang="en-GB" sz="2000" dirty="0"/>
              <a:t>You might compare, contrast, and evaluate the Internet Security Threat Report (ISTR), Volume 24, February 2019, and the ISTR, Volume 22, April 2017 to inform your case study as well as any current supporting information that you might find during your research.  You are free to speculate and offer your own opinions but there must be </a:t>
            </a:r>
            <a:r>
              <a:rPr lang="en-GB" sz="2000" i="1" dirty="0"/>
              <a:t>some</a:t>
            </a:r>
            <a:r>
              <a:rPr lang="en-GB" sz="2000" dirty="0"/>
              <a:t> reasonable grounding or justification to support them.  The case study should also discuss any relevant legal, ethical, and professional issues in security and risk management.</a:t>
            </a:r>
          </a:p>
        </p:txBody>
      </p:sp>
    </p:spTree>
    <p:extLst>
      <p:ext uri="{BB962C8B-B14F-4D97-AF65-F5344CB8AC3E}">
        <p14:creationId xmlns:p14="http://schemas.microsoft.com/office/powerpoint/2010/main" val="354644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654984"/>
          </a:xfrm>
        </p:spPr>
        <p:txBody>
          <a:bodyPr/>
          <a:lstStyle/>
          <a:p>
            <a:r>
              <a:rPr lang="en-GB" sz="3600" dirty="0" smtClean="0"/>
              <a:t>Debate </a:t>
            </a:r>
            <a:endParaRPr lang="en-GB" sz="3600" dirty="0"/>
          </a:p>
        </p:txBody>
      </p:sp>
      <p:sp>
        <p:nvSpPr>
          <p:cNvPr id="3" name="Text Placeholder 2"/>
          <p:cNvSpPr>
            <a:spLocks noGrp="1"/>
          </p:cNvSpPr>
          <p:nvPr>
            <p:ph type="body" idx="1"/>
          </p:nvPr>
        </p:nvSpPr>
        <p:spPr/>
        <p:txBody>
          <a:bodyPr/>
          <a:lstStyle/>
          <a:p>
            <a:r>
              <a:rPr lang="en-GB" dirty="0" smtClean="0"/>
              <a:t>With security challenges emerging on multiple fronts – are cybersecurity measures evolving fast enough for the future?</a:t>
            </a:r>
          </a:p>
          <a:p>
            <a:endParaRPr lang="en-GB" dirty="0"/>
          </a:p>
          <a:p>
            <a:r>
              <a:rPr lang="en-GB" dirty="0" smtClean="0"/>
              <a:t>Will AI be the answer to all our problems?</a:t>
            </a:r>
          </a:p>
          <a:p>
            <a:endParaRPr lang="en-GB" dirty="0"/>
          </a:p>
        </p:txBody>
      </p:sp>
    </p:spTree>
    <p:extLst>
      <p:ext uri="{BB962C8B-B14F-4D97-AF65-F5344CB8AC3E}">
        <p14:creationId xmlns:p14="http://schemas.microsoft.com/office/powerpoint/2010/main" val="59676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561975"/>
          </a:xfrm>
        </p:spPr>
        <p:txBody>
          <a:bodyPr/>
          <a:lstStyle/>
          <a:p>
            <a:r>
              <a:rPr lang="en-GB" dirty="0" smtClean="0"/>
              <a:t>Threats </a:t>
            </a:r>
            <a:endParaRPr lang="en-GB" dirty="0"/>
          </a:p>
        </p:txBody>
      </p:sp>
      <p:sp>
        <p:nvSpPr>
          <p:cNvPr id="3" name="Text Placeholder 2"/>
          <p:cNvSpPr>
            <a:spLocks noGrp="1"/>
          </p:cNvSpPr>
          <p:nvPr>
            <p:ph type="body" idx="1"/>
          </p:nvPr>
        </p:nvSpPr>
        <p:spPr/>
        <p:txBody>
          <a:bodyPr/>
          <a:lstStyle/>
          <a:p>
            <a:pPr marL="0" indent="0">
              <a:buNone/>
            </a:pPr>
            <a:r>
              <a:rPr lang="en-GB" dirty="0" smtClean="0"/>
              <a:t>2017 Report</a:t>
            </a:r>
          </a:p>
          <a:p>
            <a:pPr marL="0" indent="0">
              <a:buNone/>
            </a:pPr>
            <a:r>
              <a:rPr lang="en-GB" dirty="0" smtClean="0"/>
              <a:t>State sponsored groups – American electoral process</a:t>
            </a:r>
          </a:p>
          <a:p>
            <a:r>
              <a:rPr lang="en-GB" dirty="0" smtClean="0"/>
              <a:t>Biggest distributed denial of service (DDoS) attacks on record powered by a botnet of </a:t>
            </a:r>
            <a:r>
              <a:rPr lang="en-GB" dirty="0" err="1" smtClean="0"/>
              <a:t>IoT</a:t>
            </a:r>
            <a:r>
              <a:rPr lang="en-GB" dirty="0" smtClean="0"/>
              <a:t> devices.</a:t>
            </a:r>
          </a:p>
          <a:p>
            <a:r>
              <a:rPr lang="en-GB" dirty="0" smtClean="0"/>
              <a:t>Attackers used simple tools and tactics to make a big impact</a:t>
            </a:r>
          </a:p>
          <a:p>
            <a:pPr lvl="1"/>
            <a:r>
              <a:rPr lang="en-GB" dirty="0" smtClean="0"/>
              <a:t>Spear-phishing emails</a:t>
            </a:r>
          </a:p>
          <a:p>
            <a:pPr lvl="1"/>
            <a:r>
              <a:rPr lang="en-GB" dirty="0" smtClean="0"/>
              <a:t>Living off the land ( operating system features, legitimate network admin software</a:t>
            </a:r>
            <a:endParaRPr lang="en-GB" dirty="0"/>
          </a:p>
        </p:txBody>
      </p:sp>
    </p:spTree>
    <p:extLst>
      <p:ext uri="{BB962C8B-B14F-4D97-AF65-F5344CB8AC3E}">
        <p14:creationId xmlns:p14="http://schemas.microsoft.com/office/powerpoint/2010/main" val="73546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4946"/>
            <a:ext cx="10363200" cy="834278"/>
          </a:xfrm>
        </p:spPr>
        <p:txBody>
          <a:bodyPr/>
          <a:lstStyle/>
          <a:p>
            <a:r>
              <a:rPr lang="en-GB" sz="3600" dirty="0" smtClean="0"/>
              <a:t>Threats</a:t>
            </a:r>
            <a:endParaRPr lang="en-GB" sz="3600" dirty="0"/>
          </a:p>
        </p:txBody>
      </p:sp>
      <p:sp>
        <p:nvSpPr>
          <p:cNvPr id="3" name="Text Placeholder 2"/>
          <p:cNvSpPr>
            <a:spLocks noGrp="1"/>
          </p:cNvSpPr>
          <p:nvPr>
            <p:ph type="body" idx="1"/>
          </p:nvPr>
        </p:nvSpPr>
        <p:spPr/>
        <p:txBody>
          <a:bodyPr/>
          <a:lstStyle/>
          <a:p>
            <a:r>
              <a:rPr lang="en-GB" dirty="0" err="1" smtClean="0"/>
              <a:t>Mirai</a:t>
            </a:r>
            <a:r>
              <a:rPr lang="en-GB" dirty="0" smtClean="0"/>
              <a:t> – botnet – infected routers and security cameras, low-powered and poorly secured devices.</a:t>
            </a:r>
          </a:p>
          <a:p>
            <a:r>
              <a:rPr lang="en-GB" dirty="0" smtClean="0"/>
              <a:t>Disk wiping malware</a:t>
            </a:r>
          </a:p>
          <a:p>
            <a:r>
              <a:rPr lang="en-GB" dirty="0" smtClean="0"/>
              <a:t>Use and abuse of cloud apps and services</a:t>
            </a:r>
          </a:p>
          <a:p>
            <a:r>
              <a:rPr lang="en-GB" dirty="0" err="1" smtClean="0"/>
              <a:t>Ransomeware</a:t>
            </a:r>
            <a:endParaRPr lang="en-GB" dirty="0" smtClean="0"/>
          </a:p>
          <a:p>
            <a:r>
              <a:rPr lang="en-GB" dirty="0" err="1" smtClean="0"/>
              <a:t>IoT</a:t>
            </a:r>
            <a:r>
              <a:rPr lang="en-GB" dirty="0" smtClean="0"/>
              <a:t> and cloud – potential partners in cyber crime</a:t>
            </a:r>
          </a:p>
          <a:p>
            <a:r>
              <a:rPr lang="en-GB" dirty="0" err="1" smtClean="0"/>
              <a:t>IoT</a:t>
            </a:r>
            <a:r>
              <a:rPr lang="en-GB" dirty="0" smtClean="0"/>
              <a:t> devices facing attack from many fronts</a:t>
            </a:r>
            <a:endParaRPr lang="en-GB" dirty="0"/>
          </a:p>
        </p:txBody>
      </p:sp>
    </p:spTree>
    <p:extLst>
      <p:ext uri="{BB962C8B-B14F-4D97-AF65-F5344CB8AC3E}">
        <p14:creationId xmlns:p14="http://schemas.microsoft.com/office/powerpoint/2010/main" val="3873741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798419"/>
          </a:xfrm>
        </p:spPr>
        <p:txBody>
          <a:bodyPr/>
          <a:lstStyle/>
          <a:p>
            <a:r>
              <a:rPr lang="en-GB" sz="3600" dirty="0" err="1" smtClean="0"/>
              <a:t>IoT</a:t>
            </a:r>
            <a:r>
              <a:rPr lang="en-GB" sz="3600" dirty="0" smtClean="0"/>
              <a:t> Attacks</a:t>
            </a:r>
            <a:endParaRPr lang="en-GB" sz="3600" dirty="0"/>
          </a:p>
        </p:txBody>
      </p:sp>
      <p:sp>
        <p:nvSpPr>
          <p:cNvPr id="3" name="Text Placeholder 2"/>
          <p:cNvSpPr>
            <a:spLocks noGrp="1"/>
          </p:cNvSpPr>
          <p:nvPr>
            <p:ph type="body" idx="1"/>
          </p:nvPr>
        </p:nvSpPr>
        <p:spPr>
          <a:xfrm>
            <a:off x="914400" y="1004047"/>
            <a:ext cx="10363200" cy="4468066"/>
          </a:xfrm>
        </p:spPr>
        <p:txBody>
          <a:bodyPr/>
          <a:lstStyle/>
          <a:p>
            <a:r>
              <a:rPr lang="en-GB" dirty="0"/>
              <a:t>While worms and bots continued to account for the vast</a:t>
            </a:r>
          </a:p>
          <a:p>
            <a:pPr marL="0" indent="0">
              <a:buNone/>
            </a:pPr>
            <a:r>
              <a:rPr lang="en-GB" dirty="0"/>
              <a:t>majority of Internet of Things (</a:t>
            </a:r>
            <a:r>
              <a:rPr lang="en-GB" dirty="0" err="1"/>
              <a:t>IoT</a:t>
            </a:r>
            <a:r>
              <a:rPr lang="en-GB" dirty="0"/>
              <a:t>) attacks, in </a:t>
            </a:r>
            <a:r>
              <a:rPr lang="en-GB" dirty="0" smtClean="0"/>
              <a:t>2018</a:t>
            </a:r>
            <a:endParaRPr lang="en-GB" dirty="0"/>
          </a:p>
          <a:p>
            <a:pPr marL="0" indent="0">
              <a:buNone/>
            </a:pPr>
            <a:r>
              <a:rPr lang="en-GB" dirty="0"/>
              <a:t>a new breed of threat emerge as targeted attack actors</a:t>
            </a:r>
          </a:p>
          <a:p>
            <a:pPr marL="0" indent="0">
              <a:buNone/>
            </a:pPr>
            <a:r>
              <a:rPr lang="en-GB" dirty="0"/>
              <a:t>displayed an interest in </a:t>
            </a:r>
            <a:r>
              <a:rPr lang="en-GB" dirty="0" err="1"/>
              <a:t>IoT</a:t>
            </a:r>
            <a:r>
              <a:rPr lang="en-GB" dirty="0"/>
              <a:t> as an infection vector</a:t>
            </a:r>
            <a:r>
              <a:rPr lang="en-GB" dirty="0" smtClean="0"/>
              <a:t>.</a:t>
            </a:r>
          </a:p>
          <a:p>
            <a:r>
              <a:rPr lang="en-GB" dirty="0" smtClean="0"/>
              <a:t>Routers and cameras the most infected devices (75% &amp; 15% respectively) </a:t>
            </a:r>
          </a:p>
          <a:p>
            <a:pPr lvl="1"/>
            <a:r>
              <a:rPr lang="en-GB" dirty="0" smtClean="0"/>
              <a:t>Attractive as they provide an effective jumping-off point</a:t>
            </a:r>
          </a:p>
          <a:p>
            <a:pPr lvl="1"/>
            <a:r>
              <a:rPr lang="en-GB" dirty="0" err="1" smtClean="0"/>
              <a:t>Mirai</a:t>
            </a:r>
            <a:r>
              <a:rPr lang="en-GB" dirty="0" smtClean="0"/>
              <a:t> </a:t>
            </a:r>
            <a:endParaRPr lang="en-GB" dirty="0"/>
          </a:p>
        </p:txBody>
      </p:sp>
    </p:spTree>
    <p:extLst>
      <p:ext uri="{BB962C8B-B14F-4D97-AF65-F5344CB8AC3E}">
        <p14:creationId xmlns:p14="http://schemas.microsoft.com/office/powerpoint/2010/main" val="4172172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smtClean="0"/>
              <a:t>Threats</a:t>
            </a:r>
            <a:endParaRPr lang="en-GB" sz="3600" dirty="0"/>
          </a:p>
        </p:txBody>
      </p:sp>
      <p:sp>
        <p:nvSpPr>
          <p:cNvPr id="3" name="Text Placeholder 2"/>
          <p:cNvSpPr>
            <a:spLocks noGrp="1"/>
          </p:cNvSpPr>
          <p:nvPr>
            <p:ph type="body" idx="1"/>
          </p:nvPr>
        </p:nvSpPr>
        <p:spPr/>
        <p:txBody>
          <a:bodyPr/>
          <a:lstStyle/>
          <a:p>
            <a:r>
              <a:rPr lang="en-GB" dirty="0" smtClean="0"/>
              <a:t>Emerging trends in attacks, malicious code activity, phishing and spam </a:t>
            </a:r>
          </a:p>
          <a:p>
            <a:r>
              <a:rPr lang="en-GB" dirty="0" smtClean="0"/>
              <a:t>ISTR reports -Is this information sufficient to secure systems effectively now and into the future?</a:t>
            </a:r>
            <a:endParaRPr lang="en-GB" dirty="0"/>
          </a:p>
        </p:txBody>
      </p:sp>
    </p:spTree>
    <p:extLst>
      <p:ext uri="{BB962C8B-B14F-4D97-AF65-F5344CB8AC3E}">
        <p14:creationId xmlns:p14="http://schemas.microsoft.com/office/powerpoint/2010/main" val="54263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0329"/>
            <a:ext cx="10363200" cy="708213"/>
          </a:xfrm>
        </p:spPr>
        <p:txBody>
          <a:bodyPr/>
          <a:lstStyle/>
          <a:p>
            <a:r>
              <a:rPr lang="en-GB" sz="3600" dirty="0" smtClean="0"/>
              <a:t/>
            </a:r>
            <a:br>
              <a:rPr lang="en-GB" sz="3600" dirty="0" smtClean="0"/>
            </a:br>
            <a:r>
              <a:rPr lang="en-GB" sz="3600" dirty="0" smtClean="0"/>
              <a:t>2019 </a:t>
            </a:r>
            <a:r>
              <a:rPr lang="en-GB" sz="3600" dirty="0"/>
              <a:t>Report</a:t>
            </a:r>
            <a:br>
              <a:rPr lang="en-GB" sz="3600" dirty="0"/>
            </a:br>
            <a:endParaRPr lang="en-GB" sz="3600" dirty="0"/>
          </a:p>
        </p:txBody>
      </p:sp>
      <p:sp>
        <p:nvSpPr>
          <p:cNvPr id="3" name="Text Placeholder 2"/>
          <p:cNvSpPr>
            <a:spLocks noGrp="1"/>
          </p:cNvSpPr>
          <p:nvPr>
            <p:ph type="body" idx="1"/>
          </p:nvPr>
        </p:nvSpPr>
        <p:spPr/>
        <p:txBody>
          <a:bodyPr/>
          <a:lstStyle/>
          <a:p>
            <a:pPr marL="0" indent="0">
              <a:buNone/>
            </a:pPr>
            <a:r>
              <a:rPr lang="en-GB" dirty="0" smtClean="0"/>
              <a:t>Supply chain attacks 78% up</a:t>
            </a:r>
          </a:p>
          <a:p>
            <a:pPr marL="0" indent="0">
              <a:buNone/>
            </a:pPr>
            <a:r>
              <a:rPr lang="en-GB" dirty="0" err="1" smtClean="0"/>
              <a:t>Cryptojacking</a:t>
            </a:r>
            <a:r>
              <a:rPr lang="en-GB" dirty="0" smtClean="0"/>
              <a:t> down </a:t>
            </a:r>
          </a:p>
          <a:p>
            <a:pPr marL="0" indent="0">
              <a:buNone/>
            </a:pPr>
            <a:r>
              <a:rPr lang="en-GB" dirty="0" smtClean="0"/>
              <a:t>Messaging</a:t>
            </a:r>
          </a:p>
          <a:p>
            <a:pPr marL="0" indent="0">
              <a:buNone/>
            </a:pPr>
            <a:r>
              <a:rPr lang="en-GB" dirty="0" smtClean="0"/>
              <a:t>State-sponsored espionage</a:t>
            </a:r>
          </a:p>
          <a:p>
            <a:pPr marL="0" indent="0">
              <a:buNone/>
            </a:pPr>
            <a:endParaRPr lang="en-GB" dirty="0"/>
          </a:p>
        </p:txBody>
      </p:sp>
    </p:spTree>
    <p:extLst>
      <p:ext uri="{BB962C8B-B14F-4D97-AF65-F5344CB8AC3E}">
        <p14:creationId xmlns:p14="http://schemas.microsoft.com/office/powerpoint/2010/main" val="425921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412937"/>
          </a:xfrm>
        </p:spPr>
        <p:txBody>
          <a:bodyPr/>
          <a:lstStyle/>
          <a:p>
            <a:r>
              <a:rPr lang="en-GB" b="1" dirty="0" smtClean="0"/>
              <a:t/>
            </a:r>
            <a:br>
              <a:rPr lang="en-GB" b="1" dirty="0" smtClean="0"/>
            </a:br>
            <a:r>
              <a:rPr lang="en-GB" sz="3600" b="1" dirty="0" smtClean="0"/>
              <a:t>Best </a:t>
            </a:r>
            <a:r>
              <a:rPr lang="en-GB" sz="3600" b="1" dirty="0"/>
              <a:t>practices</a:t>
            </a:r>
            <a:r>
              <a:rPr lang="en-GB" b="1" dirty="0"/>
              <a:t/>
            </a:r>
            <a:br>
              <a:rPr lang="en-GB" b="1" dirty="0"/>
            </a:br>
            <a:endParaRPr lang="en-GB" dirty="0"/>
          </a:p>
        </p:txBody>
      </p:sp>
      <p:sp>
        <p:nvSpPr>
          <p:cNvPr id="3" name="Text Placeholder 2"/>
          <p:cNvSpPr>
            <a:spLocks noGrp="1"/>
          </p:cNvSpPr>
          <p:nvPr>
            <p:ph type="body" idx="1"/>
          </p:nvPr>
        </p:nvSpPr>
        <p:spPr>
          <a:xfrm>
            <a:off x="914400" y="654424"/>
            <a:ext cx="10363200" cy="4817689"/>
          </a:xfrm>
        </p:spPr>
        <p:txBody>
          <a:bodyPr/>
          <a:lstStyle/>
          <a:p>
            <a:r>
              <a:rPr lang="en-GB" sz="2000" dirty="0" smtClean="0"/>
              <a:t>Delete </a:t>
            </a:r>
            <a:r>
              <a:rPr lang="en-GB" sz="2000" dirty="0"/>
              <a:t>any suspicious-looking emails you </a:t>
            </a:r>
            <a:r>
              <a:rPr lang="en-GB" sz="2000" dirty="0" smtClean="0"/>
              <a:t>receive, especially </a:t>
            </a:r>
            <a:r>
              <a:rPr lang="en-GB" sz="2000" dirty="0"/>
              <a:t>if they contain links or attachments.</a:t>
            </a:r>
          </a:p>
          <a:p>
            <a:r>
              <a:rPr lang="en-GB" sz="2000" dirty="0" smtClean="0"/>
              <a:t>Be </a:t>
            </a:r>
            <a:r>
              <a:rPr lang="en-GB" sz="2000" dirty="0"/>
              <a:t>extremely wary of any Microsoft Office </a:t>
            </a:r>
            <a:r>
              <a:rPr lang="en-GB" sz="2000" dirty="0" smtClean="0"/>
              <a:t>email attachment </a:t>
            </a:r>
            <a:r>
              <a:rPr lang="en-GB" sz="2000" dirty="0"/>
              <a:t>that advises you to enable macros to </a:t>
            </a:r>
            <a:r>
              <a:rPr lang="en-GB" sz="2000" dirty="0" smtClean="0"/>
              <a:t>view its </a:t>
            </a:r>
            <a:r>
              <a:rPr lang="en-GB" sz="2000" dirty="0"/>
              <a:t>content. Unless you are absolutely sure that this </a:t>
            </a:r>
            <a:r>
              <a:rPr lang="en-GB" sz="2000" dirty="0" smtClean="0"/>
              <a:t>is a genuine </a:t>
            </a:r>
            <a:r>
              <a:rPr lang="en-GB" sz="2000" dirty="0"/>
              <a:t>email from a trusted source, do not </a:t>
            </a:r>
            <a:r>
              <a:rPr lang="en-GB" sz="2000" dirty="0" smtClean="0"/>
              <a:t>enable macros </a:t>
            </a:r>
            <a:r>
              <a:rPr lang="en-GB" sz="2000" dirty="0"/>
              <a:t>and instead immediately delete the email.</a:t>
            </a:r>
          </a:p>
          <a:p>
            <a:r>
              <a:rPr lang="en-GB" sz="2000" dirty="0" smtClean="0"/>
              <a:t>Watch </a:t>
            </a:r>
            <a:r>
              <a:rPr lang="en-GB" sz="2000" dirty="0"/>
              <a:t>out for any updates or patches issued for </a:t>
            </a:r>
            <a:r>
              <a:rPr lang="en-GB" sz="2000" dirty="0" smtClean="0"/>
              <a:t>any open </a:t>
            </a:r>
            <a:r>
              <a:rPr lang="en-GB" sz="2000" dirty="0"/>
              <a:t>source software you use. Software updates </a:t>
            </a:r>
            <a:r>
              <a:rPr lang="en-GB" sz="2000" dirty="0" smtClean="0"/>
              <a:t>will frequently </a:t>
            </a:r>
            <a:r>
              <a:rPr lang="en-GB" sz="2000" dirty="0"/>
              <a:t>include patches for newly discovered </a:t>
            </a:r>
            <a:r>
              <a:rPr lang="en-GB" sz="2000" dirty="0" smtClean="0"/>
              <a:t>security vulnerabilities </a:t>
            </a:r>
            <a:r>
              <a:rPr lang="en-GB" sz="2000" dirty="0"/>
              <a:t>that could be exploited by attackers.</a:t>
            </a:r>
          </a:p>
          <a:p>
            <a:r>
              <a:rPr lang="en-GB" sz="2000" dirty="0" smtClean="0"/>
              <a:t>Ensure </a:t>
            </a:r>
            <a:r>
              <a:rPr lang="en-GB" sz="2000" dirty="0"/>
              <a:t>that the cloud service you use regularly </a:t>
            </a:r>
            <a:r>
              <a:rPr lang="en-GB" sz="2000" dirty="0" smtClean="0"/>
              <a:t>backs up </a:t>
            </a:r>
            <a:r>
              <a:rPr lang="en-GB" sz="2000" dirty="0"/>
              <a:t>your files to ensure you can replace them should </a:t>
            </a:r>
            <a:r>
              <a:rPr lang="en-GB" sz="2000" dirty="0" smtClean="0"/>
              <a:t>you become </a:t>
            </a:r>
            <a:r>
              <a:rPr lang="en-GB" sz="2000" dirty="0"/>
              <a:t>a victim of ransomware.</a:t>
            </a:r>
          </a:p>
          <a:p>
            <a:r>
              <a:rPr lang="en-GB" sz="2000" dirty="0" smtClean="0"/>
              <a:t>Implement </a:t>
            </a:r>
            <a:r>
              <a:rPr lang="en-GB" sz="2000" dirty="0"/>
              <a:t>smart data governance practices in </a:t>
            </a:r>
            <a:r>
              <a:rPr lang="en-GB" sz="2000" dirty="0" smtClean="0"/>
              <a:t>your business </a:t>
            </a:r>
            <a:r>
              <a:rPr lang="en-GB" sz="2000" dirty="0"/>
              <a:t>so that you know what business data is </a:t>
            </a:r>
            <a:r>
              <a:rPr lang="en-GB" sz="2000" dirty="0" smtClean="0"/>
              <a:t>being stored </a:t>
            </a:r>
            <a:r>
              <a:rPr lang="en-GB" sz="2000" dirty="0"/>
              <a:t>on cloud services.</a:t>
            </a:r>
          </a:p>
        </p:txBody>
      </p:sp>
    </p:spTree>
    <p:extLst>
      <p:ext uri="{BB962C8B-B14F-4D97-AF65-F5344CB8AC3E}">
        <p14:creationId xmlns:p14="http://schemas.microsoft.com/office/powerpoint/2010/main" val="1896453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719570"/>
          </a:xfrm>
        </p:spPr>
        <p:txBody>
          <a:bodyPr/>
          <a:lstStyle/>
          <a:p>
            <a:r>
              <a:rPr lang="en-GB" sz="3600" dirty="0" smtClean="0"/>
              <a:t>References</a:t>
            </a:r>
            <a:endParaRPr lang="en-GB" sz="3600" dirty="0"/>
          </a:p>
        </p:txBody>
      </p:sp>
      <p:sp>
        <p:nvSpPr>
          <p:cNvPr id="3" name="Content Placeholder 2"/>
          <p:cNvSpPr>
            <a:spLocks noGrp="1"/>
          </p:cNvSpPr>
          <p:nvPr>
            <p:ph idx="1"/>
          </p:nvPr>
        </p:nvSpPr>
        <p:spPr/>
        <p:txBody>
          <a:bodyPr/>
          <a:lstStyle/>
          <a:p>
            <a:pPr marL="0" indent="0">
              <a:buNone/>
            </a:pPr>
            <a:r>
              <a:rPr lang="en-GB" sz="1600" dirty="0" smtClean="0"/>
              <a:t>Notes taken from:</a:t>
            </a:r>
          </a:p>
          <a:p>
            <a:r>
              <a:rPr lang="en-GB" sz="1600" dirty="0"/>
              <a:t>Internet Security Threat Report (ISTR), Volume 24, February 2019, </a:t>
            </a:r>
            <a:endParaRPr lang="en-GB" sz="1600" dirty="0" smtClean="0"/>
          </a:p>
          <a:p>
            <a:r>
              <a:rPr lang="en-GB" sz="1600" dirty="0" smtClean="0"/>
              <a:t>ISTR</a:t>
            </a:r>
            <a:r>
              <a:rPr lang="en-GB" sz="1600" dirty="0"/>
              <a:t>, Volume 22, April 2017 </a:t>
            </a:r>
            <a:endParaRPr lang="en-GB" sz="1600" dirty="0"/>
          </a:p>
        </p:txBody>
      </p:sp>
    </p:spTree>
    <p:extLst>
      <p:ext uri="{BB962C8B-B14F-4D97-AF65-F5344CB8AC3E}">
        <p14:creationId xmlns:p14="http://schemas.microsoft.com/office/powerpoint/2010/main" val="3481267669"/>
      </p:ext>
    </p:extLst>
  </p:cSld>
  <p:clrMapOvr>
    <a:masterClrMapping/>
  </p:clrMapOvr>
  <p:transition advTm="5000">
    <p:dissolv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625</Words>
  <Application>Microsoft Office PowerPoint</Application>
  <PresentationFormat>Widescreen</PresentationFormat>
  <Paragraphs>59</Paragraphs>
  <Slides>10</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Courier New</vt:lpstr>
      <vt:lpstr>Georgia</vt:lpstr>
      <vt:lpstr>Times New Roman</vt:lpstr>
      <vt:lpstr>Default Design</vt:lpstr>
      <vt:lpstr>1_Default Design</vt:lpstr>
      <vt:lpstr>Debate</vt:lpstr>
      <vt:lpstr>Assignment 1: Task 1</vt:lpstr>
      <vt:lpstr>Debate </vt:lpstr>
      <vt:lpstr>Threats </vt:lpstr>
      <vt:lpstr>Threats</vt:lpstr>
      <vt:lpstr>IoT Attacks</vt:lpstr>
      <vt:lpstr>Threats</vt:lpstr>
      <vt:lpstr> 2019 Report </vt:lpstr>
      <vt:lpstr> Best practices </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Governance</dc:title>
  <dc:creator>Nigel Houlden</dc:creator>
  <cp:lastModifiedBy>Denise Oram</cp:lastModifiedBy>
  <cp:revision>57</cp:revision>
  <cp:lastPrinted>2019-11-11T15:22:50Z</cp:lastPrinted>
  <dcterms:created xsi:type="dcterms:W3CDTF">2019-01-03T16:39:29Z</dcterms:created>
  <dcterms:modified xsi:type="dcterms:W3CDTF">2019-11-12T14:01:25Z</dcterms:modified>
</cp:coreProperties>
</file>