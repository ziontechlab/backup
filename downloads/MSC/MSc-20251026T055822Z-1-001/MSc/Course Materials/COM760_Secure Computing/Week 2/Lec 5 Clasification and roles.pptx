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7" r:id="rId3"/>
  </p:sldMasterIdLst>
  <p:notesMasterIdLst>
    <p:notesMasterId r:id="rId35"/>
  </p:notesMasterIdLst>
  <p:sldIdLst>
    <p:sldId id="287"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6" r:id="rId23"/>
    <p:sldId id="275" r:id="rId24"/>
    <p:sldId id="277" r:id="rId25"/>
    <p:sldId id="278" r:id="rId26"/>
    <p:sldId id="279" r:id="rId27"/>
    <p:sldId id="280" r:id="rId28"/>
    <p:sldId id="282" r:id="rId29"/>
    <p:sldId id="281" r:id="rId30"/>
    <p:sldId id="283" r:id="rId31"/>
    <p:sldId id="284" r:id="rId32"/>
    <p:sldId id="285" r:id="rId33"/>
    <p:sldId id="286"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16" d="100"/>
          <a:sy n="116" d="100"/>
        </p:scale>
        <p:origin x="27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2F033D-EF93-4760-ADEA-A30DE2492952}" type="datetimeFigureOut">
              <a:rPr lang="en-GB" smtClean="0"/>
              <a:t>19/09/2019</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EF72B2-1A71-4E26-B305-95B33C726451}" type="slidenum">
              <a:rPr lang="en-GB" smtClean="0"/>
              <a:t>‹#›</a:t>
            </a:fld>
            <a:endParaRPr lang="en-GB"/>
          </a:p>
        </p:txBody>
      </p:sp>
    </p:spTree>
    <p:extLst>
      <p:ext uri="{BB962C8B-B14F-4D97-AF65-F5344CB8AC3E}">
        <p14:creationId xmlns:p14="http://schemas.microsoft.com/office/powerpoint/2010/main" val="7720469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TextEdit="1"/>
          </p:cNvSpPr>
          <p:nvPr>
            <p:ph type="sldImg"/>
          </p:nvPr>
        </p:nvSpPr>
        <p:spPr>
          <a:ln/>
        </p:spPr>
      </p:sp>
      <p:sp>
        <p:nvSpPr>
          <p:cNvPr id="71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smtClean="0"/>
          </a:p>
        </p:txBody>
      </p:sp>
      <p:sp>
        <p:nvSpPr>
          <p:cNvPr id="71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0" fontAlgn="base" hangingPunct="0">
              <a:spcBef>
                <a:spcPct val="0"/>
              </a:spcBef>
              <a:spcAft>
                <a:spcPct val="0"/>
              </a:spcAft>
              <a:defRPr/>
            </a:pPr>
            <a:fld id="{71E9B611-79A5-4063-8624-6013F60C0F92}" type="slidenum">
              <a:rPr lang="en-GB" altLang="en-US" sz="1200" smtClean="0">
                <a:solidFill>
                  <a:srgbClr val="000000"/>
                </a:solidFill>
                <a:latin typeface="Times New Roman" panose="02020603050405020304" pitchFamily="18" charset="0"/>
              </a:rPr>
              <a:pPr eaLnBrk="0" fontAlgn="base" hangingPunct="0">
                <a:spcBef>
                  <a:spcPct val="0"/>
                </a:spcBef>
                <a:spcAft>
                  <a:spcPct val="0"/>
                </a:spcAft>
                <a:defRPr/>
              </a:pPr>
              <a:t>1</a:t>
            </a:fld>
            <a:endParaRPr lang="en-GB" altLang="en-US" sz="1200" smtClean="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6485641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51D0C211-B170-4A83-AE31-C2824BC90560}" type="datetimeFigureOut">
              <a:rPr lang="en-GB" smtClean="0"/>
              <a:t>19/09/2019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2B60C789-B5D0-47CB-8612-70654A5367B8}" type="slidenum">
              <a:rPr lang="en-GB" smtClean="0"/>
              <a:t>‹#›</a:t>
            </a:fld>
            <a:endParaRPr lang="en-GB"/>
          </a:p>
        </p:txBody>
      </p:sp>
    </p:spTree>
    <p:extLst>
      <p:ext uri="{BB962C8B-B14F-4D97-AF65-F5344CB8AC3E}">
        <p14:creationId xmlns:p14="http://schemas.microsoft.com/office/powerpoint/2010/main" val="3764734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51D0C211-B170-4A83-AE31-C2824BC90560}" type="datetimeFigureOut">
              <a:rPr lang="en-GB" smtClean="0"/>
              <a:t>19/09/2019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2B60C789-B5D0-47CB-8612-70654A5367B8}" type="slidenum">
              <a:rPr lang="en-GB" smtClean="0"/>
              <a:t>‹#›</a:t>
            </a:fld>
            <a:endParaRPr lang="en-GB"/>
          </a:p>
        </p:txBody>
      </p:sp>
    </p:spTree>
    <p:extLst>
      <p:ext uri="{BB962C8B-B14F-4D97-AF65-F5344CB8AC3E}">
        <p14:creationId xmlns:p14="http://schemas.microsoft.com/office/powerpoint/2010/main" val="1802040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51D0C211-B170-4A83-AE31-C2824BC90560}" type="datetimeFigureOut">
              <a:rPr lang="en-GB" smtClean="0"/>
              <a:t>19/09/2019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2B60C789-B5D0-47CB-8612-70654A5367B8}" type="slidenum">
              <a:rPr lang="en-GB" smtClean="0"/>
              <a:t>‹#›</a:t>
            </a:fld>
            <a:endParaRPr lang="en-GB"/>
          </a:p>
        </p:txBody>
      </p:sp>
    </p:spTree>
    <p:extLst>
      <p:ext uri="{BB962C8B-B14F-4D97-AF65-F5344CB8AC3E}">
        <p14:creationId xmlns:p14="http://schemas.microsoft.com/office/powerpoint/2010/main" val="2384778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51D0C211-B170-4A83-AE31-C2824BC90560}" type="datetimeFigureOut">
              <a:rPr lang="en-GB" smtClean="0"/>
              <a:t>19/09/2019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2B60C789-B5D0-47CB-8612-70654A5367B8}" type="slidenum">
              <a:rPr lang="en-GB" smtClean="0"/>
              <a:t>‹#›</a:t>
            </a:fld>
            <a:endParaRPr lang="en-GB"/>
          </a:p>
        </p:txBody>
      </p:sp>
    </p:spTree>
    <p:extLst>
      <p:ext uri="{BB962C8B-B14F-4D97-AF65-F5344CB8AC3E}">
        <p14:creationId xmlns:p14="http://schemas.microsoft.com/office/powerpoint/2010/main" val="3164106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51D0C211-B170-4A83-AE31-C2824BC90560}" type="datetimeFigureOut">
              <a:rPr lang="en-GB" smtClean="0"/>
              <a:t>19/09/2019</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2B60C789-B5D0-47CB-8612-70654A5367B8}" type="slidenum">
              <a:rPr lang="en-GB" smtClean="0"/>
              <a:t>‹#›</a:t>
            </a:fld>
            <a:endParaRPr lang="en-GB"/>
          </a:p>
        </p:txBody>
      </p:sp>
    </p:spTree>
    <p:extLst>
      <p:ext uri="{BB962C8B-B14F-4D97-AF65-F5344CB8AC3E}">
        <p14:creationId xmlns:p14="http://schemas.microsoft.com/office/powerpoint/2010/main" val="42920224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51D0C211-B170-4A83-AE31-C2824BC90560}" type="datetimeFigureOut">
              <a:rPr lang="en-GB" smtClean="0"/>
              <a:t>19/09/2019</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2B60C789-B5D0-47CB-8612-70654A5367B8}" type="slidenum">
              <a:rPr lang="en-GB" smtClean="0"/>
              <a:t>‹#›</a:t>
            </a:fld>
            <a:endParaRPr lang="en-GB"/>
          </a:p>
        </p:txBody>
      </p:sp>
    </p:spTree>
    <p:extLst>
      <p:ext uri="{BB962C8B-B14F-4D97-AF65-F5344CB8AC3E}">
        <p14:creationId xmlns:p14="http://schemas.microsoft.com/office/powerpoint/2010/main" val="308330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51D0C211-B170-4A83-AE31-C2824BC90560}" type="datetimeFigureOut">
              <a:rPr lang="en-GB" smtClean="0"/>
              <a:t>19/09/2019</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2B60C789-B5D0-47CB-8612-70654A5367B8}" type="slidenum">
              <a:rPr lang="en-GB" smtClean="0"/>
              <a:t>‹#›</a:t>
            </a:fld>
            <a:endParaRPr lang="en-GB"/>
          </a:p>
        </p:txBody>
      </p:sp>
    </p:spTree>
    <p:extLst>
      <p:ext uri="{BB962C8B-B14F-4D97-AF65-F5344CB8AC3E}">
        <p14:creationId xmlns:p14="http://schemas.microsoft.com/office/powerpoint/2010/main" val="32170885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51D0C211-B170-4A83-AE31-C2824BC90560}" type="datetimeFigureOut">
              <a:rPr lang="en-GB" smtClean="0"/>
              <a:t>19/09/2019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2B60C789-B5D0-47CB-8612-70654A5367B8}" type="slidenum">
              <a:rPr lang="en-GB" smtClean="0"/>
              <a:t>‹#›</a:t>
            </a:fld>
            <a:endParaRPr lang="en-GB"/>
          </a:p>
        </p:txBody>
      </p:sp>
    </p:spTree>
    <p:extLst>
      <p:ext uri="{BB962C8B-B14F-4D97-AF65-F5344CB8AC3E}">
        <p14:creationId xmlns:p14="http://schemas.microsoft.com/office/powerpoint/2010/main" val="27839577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51D0C211-B170-4A83-AE31-C2824BC90560}" type="datetimeFigureOut">
              <a:rPr lang="en-GB" smtClean="0"/>
              <a:t>19/09/2019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2B60C789-B5D0-47CB-8612-70654A5367B8}" type="slidenum">
              <a:rPr lang="en-GB" smtClean="0"/>
              <a:t>‹#›</a:t>
            </a:fld>
            <a:endParaRPr lang="en-GB"/>
          </a:p>
        </p:txBody>
      </p:sp>
    </p:spTree>
    <p:extLst>
      <p:ext uri="{BB962C8B-B14F-4D97-AF65-F5344CB8AC3E}">
        <p14:creationId xmlns:p14="http://schemas.microsoft.com/office/powerpoint/2010/main" val="41519047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51D0C211-B170-4A83-AE31-C2824BC90560}" type="datetimeFigureOut">
              <a:rPr lang="en-GB" smtClean="0"/>
              <a:t>19/09/2019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2B60C789-B5D0-47CB-8612-70654A5367B8}" type="slidenum">
              <a:rPr lang="en-GB" smtClean="0"/>
              <a:t>‹#›</a:t>
            </a:fld>
            <a:endParaRPr lang="en-GB"/>
          </a:p>
        </p:txBody>
      </p:sp>
    </p:spTree>
    <p:extLst>
      <p:ext uri="{BB962C8B-B14F-4D97-AF65-F5344CB8AC3E}">
        <p14:creationId xmlns:p14="http://schemas.microsoft.com/office/powerpoint/2010/main" val="1461894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51D0C211-B170-4A83-AE31-C2824BC90560}" type="datetimeFigureOut">
              <a:rPr lang="en-GB" smtClean="0"/>
              <a:t>19/09/2019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2B60C789-B5D0-47CB-8612-70654A5367B8}" type="slidenum">
              <a:rPr lang="en-GB" smtClean="0"/>
              <a:t>‹#›</a:t>
            </a:fld>
            <a:endParaRPr lang="en-GB"/>
          </a:p>
        </p:txBody>
      </p:sp>
    </p:spTree>
    <p:extLst>
      <p:ext uri="{BB962C8B-B14F-4D97-AF65-F5344CB8AC3E}">
        <p14:creationId xmlns:p14="http://schemas.microsoft.com/office/powerpoint/2010/main" val="29367064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3149407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143934" y="5732463"/>
            <a:ext cx="140134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6000" b="0" i="0" u="none" strike="noStrike" kern="1200" cap="none" spc="0" normalizeH="0" baseline="0" noProof="0">
                <a:ln>
                  <a:noFill/>
                </a:ln>
                <a:solidFill>
                  <a:srgbClr val="FFFFFF"/>
                </a:solidFill>
                <a:effectLst/>
                <a:uLnTx/>
                <a:uFillTx/>
                <a:latin typeface="Georgia" pitchFamily="18" charset="0"/>
                <a:ea typeface="+mn-ea"/>
                <a:cs typeface="+mn-cs"/>
              </a:rPr>
              <a:t>c</a:t>
            </a:r>
            <a:r>
              <a:rPr kumimoji="0" lang="en-GB" sz="4000" b="0" i="0" u="none" strike="noStrike" kern="1200" cap="none" spc="0" normalizeH="0" baseline="0" noProof="0">
                <a:ln>
                  <a:noFill/>
                </a:ln>
                <a:solidFill>
                  <a:srgbClr val="FFFFFF"/>
                </a:solidFill>
                <a:effectLst/>
                <a:uLnTx/>
                <a:uFillTx/>
                <a:latin typeface="Georgia" pitchFamily="18" charset="0"/>
                <a:ea typeface="+mn-ea"/>
                <a:cs typeface="+mn-cs"/>
              </a:rPr>
              <a:t>@</a:t>
            </a:r>
            <a:r>
              <a:rPr kumimoji="0" lang="en-GB" sz="6000" b="0" i="0" u="none" strike="noStrike" kern="1200" cap="none" spc="0" normalizeH="0" baseline="0" noProof="0">
                <a:ln>
                  <a:noFill/>
                </a:ln>
                <a:solidFill>
                  <a:srgbClr val="FFFFFF"/>
                </a:solidFill>
                <a:effectLst/>
                <a:uLnTx/>
                <a:uFillTx/>
                <a:latin typeface="Georgia" pitchFamily="18" charset="0"/>
                <a:ea typeface="+mn-ea"/>
                <a:cs typeface="+mn-cs"/>
              </a:rPr>
              <a:t>g</a:t>
            </a:r>
          </a:p>
        </p:txBody>
      </p:sp>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Rectangle 5"/>
          <p:cNvSpPr>
            <a:spLocks noGrp="1" noChangeArrowheads="1"/>
          </p:cNvSpPr>
          <p:nvPr>
            <p:ph type="ftr" sz="quarter" idx="11"/>
          </p:nvPr>
        </p:nvSpPr>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319190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3722767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1828826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8"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2229975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4"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356533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3970830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1135586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GB" noProof="0"/>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3837900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3433622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4261182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smtClean="0"/>
              <a:t>Click to edit Master title style</a:t>
            </a:r>
            <a:endParaRPr lang="en-GB"/>
          </a:p>
        </p:txBody>
      </p:sp>
      <p:sp>
        <p:nvSpPr>
          <p:cNvPr id="3" name="Text Placeholder 2"/>
          <p:cNvSpPr>
            <a:spLocks noGrp="1"/>
          </p:cNvSpPr>
          <p:nvPr>
            <p:ph type="body" sz="half" idx="1"/>
          </p:nvPr>
        </p:nvSpPr>
        <p:spPr>
          <a:xfrm>
            <a:off x="914400" y="1981200"/>
            <a:ext cx="508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97600" y="1981200"/>
            <a:ext cx="508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874934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142875"/>
            <a:ext cx="10363200" cy="1143000"/>
          </a:xfrm>
        </p:spPr>
        <p:txBody>
          <a:bodyPr/>
          <a:lstStyle/>
          <a:p>
            <a:r>
              <a:rPr lang="en-US" smtClean="0"/>
              <a:t>Click to edit Master title style</a:t>
            </a:r>
            <a:endParaRPr lang="en-GB"/>
          </a:p>
        </p:txBody>
      </p:sp>
      <p:sp>
        <p:nvSpPr>
          <p:cNvPr id="3" name="Table Placeholder 2"/>
          <p:cNvSpPr>
            <a:spLocks noGrp="1"/>
          </p:cNvSpPr>
          <p:nvPr>
            <p:ph type="tbl" idx="1"/>
          </p:nvPr>
        </p:nvSpPr>
        <p:spPr>
          <a:xfrm>
            <a:off x="914400" y="1357313"/>
            <a:ext cx="10363200" cy="4114800"/>
          </a:xfrm>
        </p:spPr>
        <p:txBody>
          <a:bodyPr/>
          <a:lstStyle/>
          <a:p>
            <a:pPr lvl="0"/>
            <a:r>
              <a:rPr lang="en-US" noProof="0" smtClean="0"/>
              <a:t>Click icon to add table</a:t>
            </a:r>
            <a:endParaRPr lang="en-GB" noProof="0"/>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459777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497650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6EEE6291-FC66-4C7E-B805-791E609FC7B6}"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1839843454"/>
      </p:ext>
    </p:extLst>
  </p:cSld>
  <p:clrMapOvr>
    <a:masterClrMapping/>
  </p:clrMapOvr>
  <p:transition advTm="5000">
    <p:dissolv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143934" y="5732463"/>
            <a:ext cx="140134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0" fontAlgn="base" hangingPunct="0">
              <a:spcBef>
                <a:spcPct val="0"/>
              </a:spcBef>
              <a:spcAft>
                <a:spcPct val="0"/>
              </a:spcAft>
              <a:defRPr/>
            </a:pPr>
            <a:r>
              <a:rPr lang="en-GB" sz="6000" smtClean="0">
                <a:solidFill>
                  <a:srgbClr val="FFFFFF"/>
                </a:solidFill>
                <a:latin typeface="Georgia" pitchFamily="18" charset="0"/>
              </a:rPr>
              <a:t>c</a:t>
            </a:r>
            <a:r>
              <a:rPr lang="en-GB" sz="4000" smtClean="0">
                <a:solidFill>
                  <a:srgbClr val="FFFFFF"/>
                </a:solidFill>
                <a:latin typeface="Georgia" pitchFamily="18" charset="0"/>
              </a:rPr>
              <a:t>@</a:t>
            </a:r>
            <a:r>
              <a:rPr lang="en-GB" sz="6000" smtClean="0">
                <a:solidFill>
                  <a:srgbClr val="FFFFFF"/>
                </a:solidFill>
                <a:latin typeface="Georgia" pitchFamily="18" charset="0"/>
              </a:rPr>
              <a:t>g</a:t>
            </a:r>
          </a:p>
        </p:txBody>
      </p:sp>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4"/>
          <p:cNvSpPr>
            <a:spLocks noGrp="1" noChangeArrowheads="1"/>
          </p:cNvSpPr>
          <p:nvPr>
            <p:ph type="dt" sz="half" idx="10"/>
          </p:nvPr>
        </p:nvSpPr>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eaLnBrk="0" fontAlgn="base" hangingPunct="0">
              <a:spcBef>
                <a:spcPct val="0"/>
              </a:spcBef>
              <a:spcAft>
                <a:spcPct val="0"/>
              </a:spcAft>
              <a:defRPr/>
            </a:pPr>
            <a:fld id="{1FCC69CA-3F23-44CA-945B-0FA4477283F4}"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1468938812"/>
      </p:ext>
    </p:extLst>
  </p:cSld>
  <p:clrMapOvr>
    <a:masterClrMapping/>
  </p:clrMapOvr>
  <p:transition advTm="5000">
    <p:dissolv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91377758-8C37-4DF1-97AB-37A77D625D27}"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1930400980"/>
      </p:ext>
    </p:extLst>
  </p:cSld>
  <p:clrMapOvr>
    <a:masterClrMapping/>
  </p:clrMapOvr>
  <p:transition advTm="5000">
    <p:dissolv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7AFDF3D6-0B4F-41BB-A2E9-5EE288C12E7D}"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1364323506"/>
      </p:ext>
    </p:extLst>
  </p:cSld>
  <p:clrMapOvr>
    <a:masterClrMapping/>
  </p:clrMapOvr>
  <p:transition advTm="5000">
    <p:dissolv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B4005AFC-2604-42A5-BE75-ACBC63D550FA}"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1913679900"/>
      </p:ext>
    </p:extLst>
  </p:cSld>
  <p:clrMapOvr>
    <a:masterClrMapping/>
  </p:clrMapOvr>
  <p:transition advTm="5000">
    <p:dissolv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C1E6357F-E285-4B03-9226-48D613FBC574}"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590078748"/>
      </p:ext>
    </p:extLst>
  </p:cSld>
  <p:clrMapOvr>
    <a:masterClrMapping/>
  </p:clrMapOvr>
  <p:transition advTm="5000">
    <p:dissolv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3C15E10C-CC7A-417A-A2EE-23A0EFFC8E4D}"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2457009376"/>
      </p:ext>
    </p:extLst>
  </p:cSld>
  <p:clrMapOvr>
    <a:masterClrMapping/>
  </p:clrMapOvr>
  <p:transition advTm="5000">
    <p:dissolv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509E4A2D-E46C-4766-8C2E-027EBC5B508C}"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2018010291"/>
      </p:ext>
    </p:extLst>
  </p:cSld>
  <p:clrMapOvr>
    <a:masterClrMapping/>
  </p:clrMapOvr>
  <p:transition advTm="5000">
    <p:dissolv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137E9A74-7737-4008-93AE-82F7F5FA4879}"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1699524509"/>
      </p:ext>
    </p:extLst>
  </p:cSld>
  <p:clrMapOvr>
    <a:masterClrMapping/>
  </p:clrMapOvr>
  <p:transition advTm="5000">
    <p:dissolv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78B50079-DBA3-4EC3-9B8C-5C8B3B58FB43}"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352229096"/>
      </p:ext>
    </p:extLst>
  </p:cSld>
  <p:clrMapOvr>
    <a:masterClrMapping/>
  </p:clrMapOvr>
  <p:transition advTm="5000">
    <p:dissolv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245E8AE7-88A0-4549-A1EA-61CBAAEBA1F3}"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3980914381"/>
      </p:ext>
    </p:extLst>
  </p:cSld>
  <p:clrMapOvr>
    <a:masterClrMapping/>
  </p:clrMapOvr>
  <p:transition advTm="5000">
    <p:dissolv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smtClean="0"/>
              <a:t>Click to edit Master title style</a:t>
            </a:r>
            <a:endParaRPr lang="en-GB"/>
          </a:p>
        </p:txBody>
      </p:sp>
      <p:sp>
        <p:nvSpPr>
          <p:cNvPr id="3" name="Text Placeholder 2"/>
          <p:cNvSpPr>
            <a:spLocks noGrp="1"/>
          </p:cNvSpPr>
          <p:nvPr>
            <p:ph type="body" sz="half" idx="1"/>
          </p:nvPr>
        </p:nvSpPr>
        <p:spPr>
          <a:xfrm>
            <a:off x="914400" y="1981200"/>
            <a:ext cx="508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97600" y="1981200"/>
            <a:ext cx="508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A3B7A2F1-7C63-4914-A25E-31B95FAF134D}"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366267676"/>
      </p:ext>
    </p:extLst>
  </p:cSld>
  <p:clrMapOvr>
    <a:masterClrMapping/>
  </p:clrMapOvr>
  <p:transition advTm="5000">
    <p:dissolv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142875"/>
            <a:ext cx="10363200" cy="1143000"/>
          </a:xfrm>
        </p:spPr>
        <p:txBody>
          <a:bodyPr/>
          <a:lstStyle/>
          <a:p>
            <a:r>
              <a:rPr lang="en-US" smtClean="0"/>
              <a:t>Click to edit Master title style</a:t>
            </a:r>
            <a:endParaRPr lang="en-GB"/>
          </a:p>
        </p:txBody>
      </p:sp>
      <p:sp>
        <p:nvSpPr>
          <p:cNvPr id="3" name="Table Placeholder 2"/>
          <p:cNvSpPr>
            <a:spLocks noGrp="1"/>
          </p:cNvSpPr>
          <p:nvPr>
            <p:ph type="tbl" idx="1"/>
          </p:nvPr>
        </p:nvSpPr>
        <p:spPr>
          <a:xfrm>
            <a:off x="914400" y="1357313"/>
            <a:ext cx="10363200" cy="4114800"/>
          </a:xfrm>
        </p:spPr>
        <p:txBody>
          <a:bodyPr/>
          <a:lstStyle/>
          <a:p>
            <a:pPr lvl="0"/>
            <a:endParaRPr lang="en-GB" noProof="0"/>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758EA372-0C85-4E5C-A78F-2E1B1B18CAB2}"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426090857"/>
      </p:ext>
    </p:extLst>
  </p:cSld>
  <p:clrMapOvr>
    <a:masterClrMapping/>
  </p:clrMapOvr>
  <p:transition advTm="5000">
    <p:dissolv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eaLnBrk="0" fontAlgn="base" hangingPunct="0">
              <a:spcBef>
                <a:spcPct val="0"/>
              </a:spcBef>
              <a:spcAft>
                <a:spcPct val="0"/>
              </a:spcAft>
            </a:pPr>
            <a:fld id="{17DD356B-E5CD-44F2-850A-F898D624950E}" type="datetime1">
              <a:rPr lang="en-US" smtClean="0">
                <a:solidFill>
                  <a:srgbClr val="000000"/>
                </a:solidFill>
                <a:latin typeface="Arial"/>
              </a:rPr>
              <a:pPr eaLnBrk="0" fontAlgn="base" hangingPunct="0">
                <a:spcBef>
                  <a:spcPct val="0"/>
                </a:spcBef>
                <a:spcAft>
                  <a:spcPct val="0"/>
                </a:spcAft>
              </a:pPr>
              <a:t>9/19/2019</a:t>
            </a:fld>
            <a:endParaRPr lang="en-US">
              <a:solidFill>
                <a:srgbClr val="000000"/>
              </a:solidFill>
              <a:latin typeface="Arial"/>
            </a:endParaRPr>
          </a:p>
        </p:txBody>
      </p:sp>
      <p:sp>
        <p:nvSpPr>
          <p:cNvPr id="5" name="Footer Placeholder 4"/>
          <p:cNvSpPr>
            <a:spLocks noGrp="1"/>
          </p:cNvSpPr>
          <p:nvPr>
            <p:ph type="ftr" sz="quarter" idx="11"/>
          </p:nvPr>
        </p:nvSpPr>
        <p:spPr/>
        <p:txBody>
          <a:bodyPr/>
          <a:lstStyle/>
          <a:p>
            <a:pPr eaLnBrk="0" fontAlgn="base" hangingPunct="0">
              <a:spcBef>
                <a:spcPct val="0"/>
              </a:spcBef>
              <a:spcAft>
                <a:spcPct val="0"/>
              </a:spcAft>
            </a:pPr>
            <a:r>
              <a:rPr lang="en-US" smtClean="0">
                <a:solidFill>
                  <a:srgbClr val="000000"/>
                </a:solidFill>
                <a:latin typeface="Arial"/>
              </a:rPr>
              <a:t>From Security in Computing, Fifth Edition, by Charles P. Pfleeger, et al. (ISBN: 9780134085043). Copyright 2015 by Pearson Education, Inc. All rights reserved.</a:t>
            </a:r>
            <a:endParaRPr lang="en-US" dirty="0">
              <a:solidFill>
                <a:srgbClr val="000000"/>
              </a:solidFill>
              <a:latin typeface="Arial"/>
            </a:endParaRPr>
          </a:p>
        </p:txBody>
      </p:sp>
      <p:sp>
        <p:nvSpPr>
          <p:cNvPr id="6" name="Slide Number Placeholder 5"/>
          <p:cNvSpPr>
            <a:spLocks noGrp="1"/>
          </p:cNvSpPr>
          <p:nvPr>
            <p:ph type="sldNum" sz="quarter" idx="12"/>
          </p:nvPr>
        </p:nvSpPr>
        <p:spPr/>
        <p:txBody>
          <a:bodyPr/>
          <a:lstStyle/>
          <a:p>
            <a:pPr eaLnBrk="0" fontAlgn="base" hangingPunct="0">
              <a:spcBef>
                <a:spcPct val="0"/>
              </a:spcBef>
              <a:spcAft>
                <a:spcPct val="0"/>
              </a:spcAft>
            </a:pPr>
            <a:fld id="{FD01F0F2-74A4-EF40-82B3-DFFDF0BA3880}" type="slidenum">
              <a:rPr lang="en-US" smtClean="0">
                <a:solidFill>
                  <a:srgbClr val="000000"/>
                </a:solidFill>
                <a:latin typeface="Arial"/>
              </a:rPr>
              <a:pPr eaLnBrk="0" fontAlgn="base" hangingPunct="0">
                <a:spcBef>
                  <a:spcPct val="0"/>
                </a:spcBef>
                <a:spcAft>
                  <a:spcPct val="0"/>
                </a:spcAft>
              </a:pPr>
              <a:t>‹#›</a:t>
            </a:fld>
            <a:endParaRPr lang="en-US">
              <a:solidFill>
                <a:srgbClr val="000000"/>
              </a:solidFill>
              <a:latin typeface="Arial"/>
            </a:endParaRPr>
          </a:p>
        </p:txBody>
      </p:sp>
    </p:spTree>
    <p:extLst>
      <p:ext uri="{BB962C8B-B14F-4D97-AF65-F5344CB8AC3E}">
        <p14:creationId xmlns:p14="http://schemas.microsoft.com/office/powerpoint/2010/main" val="1646716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1.jpe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1.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theme" Target="../theme/theme3.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Tree>
    <p:extLst>
      <p:ext uri="{BB962C8B-B14F-4D97-AF65-F5344CB8AC3E}">
        <p14:creationId xmlns:p14="http://schemas.microsoft.com/office/powerpoint/2010/main" val="1712656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142875"/>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GB" altLang="en-US"/>
          </a:p>
        </p:txBody>
      </p:sp>
      <p:sp>
        <p:nvSpPr>
          <p:cNvPr id="1027" name="Rectangle 3"/>
          <p:cNvSpPr>
            <a:spLocks noGrp="1" noChangeArrowheads="1"/>
          </p:cNvSpPr>
          <p:nvPr>
            <p:ph type="body" idx="1"/>
          </p:nvPr>
        </p:nvSpPr>
        <p:spPr bwMode="auto">
          <a:xfrm>
            <a:off x="914400" y="1357313"/>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eaLnBrk="0" fontAlgn="base" hangingPunct="0">
              <a:spcBef>
                <a:spcPct val="0"/>
              </a:spcBef>
              <a:spcAft>
                <a:spcPct val="0"/>
              </a:spcAft>
              <a:defRPr/>
            </a:pPr>
            <a:endParaRPr lang="en-GB">
              <a:solidFill>
                <a:srgbClr val="000000"/>
              </a:solidFill>
            </a:endParaRPr>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eaLnBrk="0" fontAlgn="base" hangingPunct="0">
              <a:spcBef>
                <a:spcPct val="0"/>
              </a:spcBef>
              <a:spcAft>
                <a:spcPct val="0"/>
              </a:spcAft>
              <a:defRPr/>
            </a:pPr>
            <a:endParaRPr lang="en-GB">
              <a:solidFill>
                <a:srgbClr val="000000"/>
              </a:solidFill>
            </a:endParaRPr>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Times New Roman" panose="02020603050405020304" pitchFamily="18" charset="0"/>
              </a:defRPr>
            </a:lvl1pPr>
          </a:lstStyle>
          <a:p>
            <a:pPr eaLnBrk="0" fontAlgn="base" hangingPunct="0">
              <a:spcBef>
                <a:spcPct val="0"/>
              </a:spcBef>
              <a:spcAft>
                <a:spcPct val="0"/>
              </a:spcAft>
              <a:defRPr/>
            </a:pPr>
            <a:fld id="{74D1ED90-0827-4CB6-B597-69384EBF957E}"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pic>
        <p:nvPicPr>
          <p:cNvPr id="1031" name="Picture 65" descr="Glyndwr PPT-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17" y="4868864"/>
            <a:ext cx="12194117" cy="198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2804414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Times New Roman" pitchFamily="18" charset="0"/>
        </a:defRPr>
      </a:lvl2pPr>
      <a:lvl3pPr algn="ctr" rtl="0" eaLnBrk="1" fontAlgn="base" hangingPunct="1">
        <a:spcBef>
          <a:spcPct val="0"/>
        </a:spcBef>
        <a:spcAft>
          <a:spcPct val="0"/>
        </a:spcAft>
        <a:defRPr sz="4400">
          <a:solidFill>
            <a:schemeClr val="tx2"/>
          </a:solidFill>
          <a:latin typeface="Times New Roman" pitchFamily="18" charset="0"/>
        </a:defRPr>
      </a:lvl3pPr>
      <a:lvl4pPr algn="ctr" rtl="0" eaLnBrk="1" fontAlgn="base" hangingPunct="1">
        <a:spcBef>
          <a:spcPct val="0"/>
        </a:spcBef>
        <a:spcAft>
          <a:spcPct val="0"/>
        </a:spcAft>
        <a:defRPr sz="4400">
          <a:solidFill>
            <a:schemeClr val="tx2"/>
          </a:solidFill>
          <a:latin typeface="Times New Roman" pitchFamily="18" charset="0"/>
        </a:defRPr>
      </a:lvl4pPr>
      <a:lvl5pPr algn="ctr" rtl="0" eaLnBrk="1" fontAlgn="base" hangingPunct="1">
        <a:spcBef>
          <a:spcPct val="0"/>
        </a:spcBef>
        <a:spcAft>
          <a:spcPct val="0"/>
        </a:spcAft>
        <a:defRPr sz="4400">
          <a:solidFill>
            <a:schemeClr val="tx2"/>
          </a:solidFill>
          <a:latin typeface="Times New Roman" pitchFamily="18" charset="0"/>
        </a:defRPr>
      </a:lvl5pPr>
      <a:lvl6pPr marL="457200" algn="ctr" rtl="0" eaLnBrk="1" fontAlgn="base" hangingPunct="1">
        <a:spcBef>
          <a:spcPct val="0"/>
        </a:spcBef>
        <a:spcAft>
          <a:spcPct val="0"/>
        </a:spcAft>
        <a:defRPr sz="4400">
          <a:solidFill>
            <a:schemeClr val="tx2"/>
          </a:solidFill>
          <a:latin typeface="Times New Roman" pitchFamily="18" charset="0"/>
        </a:defRPr>
      </a:lvl6pPr>
      <a:lvl7pPr marL="914400" algn="ctr" rtl="0" eaLnBrk="1" fontAlgn="base" hangingPunct="1">
        <a:spcBef>
          <a:spcPct val="0"/>
        </a:spcBef>
        <a:spcAft>
          <a:spcPct val="0"/>
        </a:spcAft>
        <a:defRPr sz="4400">
          <a:solidFill>
            <a:schemeClr val="tx2"/>
          </a:solidFill>
          <a:latin typeface="Times New Roman" pitchFamily="18" charset="0"/>
        </a:defRPr>
      </a:lvl7pPr>
      <a:lvl8pPr marL="1371600" algn="ctr" rtl="0" eaLnBrk="1" fontAlgn="base" hangingPunct="1">
        <a:spcBef>
          <a:spcPct val="0"/>
        </a:spcBef>
        <a:spcAft>
          <a:spcPct val="0"/>
        </a:spcAft>
        <a:defRPr sz="4400">
          <a:solidFill>
            <a:schemeClr val="tx2"/>
          </a:solidFill>
          <a:latin typeface="Times New Roman" pitchFamily="18" charset="0"/>
        </a:defRPr>
      </a:lvl8pPr>
      <a:lvl9pPr marL="1828800" algn="ctr" rtl="0" eaLnBrk="1" fontAlgn="base" hangingPunct="1">
        <a:spcBef>
          <a:spcPct val="0"/>
        </a:spcBef>
        <a:spcAft>
          <a:spcPct val="0"/>
        </a:spcAft>
        <a:defRPr sz="4400">
          <a:solidFill>
            <a:schemeClr val="tx2"/>
          </a:solidFill>
          <a:latin typeface="Times New Roman" pitchFamily="18"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142875"/>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smtClean="0"/>
              <a:t>Click to edit Master title style</a:t>
            </a:r>
          </a:p>
        </p:txBody>
      </p:sp>
      <p:sp>
        <p:nvSpPr>
          <p:cNvPr id="1027" name="Rectangle 3"/>
          <p:cNvSpPr>
            <a:spLocks noGrp="1" noChangeArrowheads="1"/>
          </p:cNvSpPr>
          <p:nvPr>
            <p:ph type="body" idx="1"/>
          </p:nvPr>
        </p:nvSpPr>
        <p:spPr bwMode="auto">
          <a:xfrm>
            <a:off x="914400" y="1357313"/>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smtClean="0"/>
              <a:t>Click to edit Master text styles</a:t>
            </a:r>
          </a:p>
          <a:p>
            <a:pPr lvl="1"/>
            <a:r>
              <a:rPr lang="en-GB" altLang="en-US" smtClean="0"/>
              <a:t>Second level</a:t>
            </a:r>
          </a:p>
          <a:p>
            <a:pPr lvl="2"/>
            <a:r>
              <a:rPr lang="en-GB" altLang="en-US" smtClean="0"/>
              <a:t>Third level</a:t>
            </a:r>
          </a:p>
          <a:p>
            <a:pPr lvl="3"/>
            <a:r>
              <a:rPr lang="en-GB" altLang="en-US" smtClean="0"/>
              <a:t>Fourth level</a:t>
            </a:r>
          </a:p>
          <a:p>
            <a:pPr lvl="4"/>
            <a:r>
              <a:rPr lang="en-GB" altLang="en-US" smtClean="0"/>
              <a:t>Fifth level</a:t>
            </a:r>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eaLnBrk="0" fontAlgn="base" hangingPunct="0">
              <a:spcBef>
                <a:spcPct val="0"/>
              </a:spcBef>
              <a:spcAft>
                <a:spcPct val="0"/>
              </a:spcAft>
              <a:defRPr/>
            </a:pPr>
            <a:endParaRPr lang="en-GB">
              <a:solidFill>
                <a:srgbClr val="000000"/>
              </a:solidFill>
            </a:endParaRPr>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eaLnBrk="0" fontAlgn="base" hangingPunct="0">
              <a:spcBef>
                <a:spcPct val="0"/>
              </a:spcBef>
              <a:spcAft>
                <a:spcPct val="0"/>
              </a:spcAft>
              <a:defRPr/>
            </a:pPr>
            <a:endParaRPr lang="en-GB">
              <a:solidFill>
                <a:srgbClr val="000000"/>
              </a:solidFill>
            </a:endParaRPr>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Times New Roman" panose="02020603050405020304" pitchFamily="18" charset="0"/>
              </a:defRPr>
            </a:lvl1pPr>
          </a:lstStyle>
          <a:p>
            <a:pPr eaLnBrk="0" fontAlgn="base" hangingPunct="0">
              <a:spcBef>
                <a:spcPct val="0"/>
              </a:spcBef>
              <a:spcAft>
                <a:spcPct val="0"/>
              </a:spcAft>
              <a:defRPr/>
            </a:pPr>
            <a:fld id="{74D1ED90-0827-4CB6-B597-69384EBF957E}"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pic>
        <p:nvPicPr>
          <p:cNvPr id="1031" name="Picture 65" descr="Glyndwr PPT-4"/>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2117" y="4868864"/>
            <a:ext cx="12194117" cy="198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58181950"/>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Lst>
  <p:transition advTm="5000">
    <p:dissolve/>
  </p:transition>
  <p:timing>
    <p:tnLst>
      <p:par>
        <p:cTn id="1" dur="indefinite" restart="never" nodeType="tmRoot"/>
      </p:par>
    </p:tnLst>
  </p:timing>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631950" y="869950"/>
            <a:ext cx="8928100" cy="1728788"/>
          </a:xfrm>
        </p:spPr>
        <p:txBody>
          <a:bodyPr/>
          <a:lstStyle/>
          <a:p>
            <a:pPr algn="r"/>
            <a:r>
              <a:rPr lang="en-US" altLang="en-US" sz="5400">
                <a:latin typeface="Georgia" panose="02040502050405020303" pitchFamily="18" charset="0"/>
              </a:rPr>
              <a:t>Lecture </a:t>
            </a:r>
            <a:r>
              <a:rPr lang="en-US" altLang="en-US" sz="5400" smtClean="0">
                <a:latin typeface="Georgia" panose="02040502050405020303" pitchFamily="18" charset="0"/>
              </a:rPr>
              <a:t>5 </a:t>
            </a:r>
            <a:r>
              <a:rPr lang="en-US" altLang="en-US" sz="5400" dirty="0">
                <a:latin typeface="Georgia" panose="02040502050405020303" pitchFamily="18" charset="0"/>
              </a:rPr>
              <a:t>– </a:t>
            </a:r>
            <a:r>
              <a:rPr lang="en-GB" sz="5400" dirty="0"/>
              <a:t>Classification and </a:t>
            </a:r>
            <a:r>
              <a:rPr lang="en-GB" sz="5400" dirty="0" smtClean="0"/>
              <a:t>Roles</a:t>
            </a:r>
            <a:endParaRPr lang="en-GB" altLang="en-US" sz="5400" dirty="0">
              <a:latin typeface="Georgia" panose="02040502050405020303" pitchFamily="18" charset="0"/>
            </a:endParaRPr>
          </a:p>
        </p:txBody>
      </p:sp>
      <p:sp>
        <p:nvSpPr>
          <p:cNvPr id="6147" name="TextBox 3"/>
          <p:cNvSpPr txBox="1">
            <a:spLocks noChangeArrowheads="1"/>
          </p:cNvSpPr>
          <p:nvPr/>
        </p:nvSpPr>
        <p:spPr bwMode="auto">
          <a:xfrm>
            <a:off x="1631950" y="2714626"/>
            <a:ext cx="8928100" cy="213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0" fontAlgn="base" hangingPunct="0">
              <a:spcBef>
                <a:spcPct val="0"/>
              </a:spcBef>
              <a:spcAft>
                <a:spcPct val="0"/>
              </a:spcAft>
              <a:buFontTx/>
              <a:buNone/>
            </a:pPr>
            <a:r>
              <a:rPr lang="en-GB" altLang="en-US" sz="1900" dirty="0">
                <a:solidFill>
                  <a:srgbClr val="000000"/>
                </a:solidFill>
                <a:latin typeface="Georgia" panose="02040502050405020303" pitchFamily="18" charset="0"/>
              </a:rPr>
              <a:t>COM744: Security and Risk Management</a:t>
            </a:r>
          </a:p>
          <a:p>
            <a:pPr eaLnBrk="0" fontAlgn="base" hangingPunct="0">
              <a:spcBef>
                <a:spcPct val="0"/>
              </a:spcBef>
              <a:spcAft>
                <a:spcPct val="0"/>
              </a:spcAft>
              <a:buFontTx/>
              <a:buNone/>
            </a:pPr>
            <a:r>
              <a:rPr lang="en-GB" altLang="en-US" sz="1900" dirty="0">
                <a:solidFill>
                  <a:srgbClr val="000000"/>
                </a:solidFill>
                <a:latin typeface="Georgia" panose="02040502050405020303" pitchFamily="18" charset="0"/>
              </a:rPr>
              <a:t>Nigel Houlden / Denise Oram </a:t>
            </a:r>
          </a:p>
          <a:p>
            <a:pPr eaLnBrk="0" fontAlgn="base" hangingPunct="0">
              <a:spcBef>
                <a:spcPct val="0"/>
              </a:spcBef>
              <a:spcAft>
                <a:spcPct val="0"/>
              </a:spcAft>
              <a:buFontTx/>
              <a:buNone/>
            </a:pPr>
            <a:endParaRPr lang="en-GB" altLang="en-US" sz="1200" dirty="0">
              <a:solidFill>
                <a:srgbClr val="000000"/>
              </a:solidFill>
              <a:latin typeface="Georgia" panose="02040502050405020303" pitchFamily="18" charset="0"/>
            </a:endParaRPr>
          </a:p>
          <a:p>
            <a:pPr eaLnBrk="0" fontAlgn="base" hangingPunct="0">
              <a:spcBef>
                <a:spcPct val="0"/>
              </a:spcBef>
              <a:spcAft>
                <a:spcPct val="0"/>
              </a:spcAft>
              <a:buFontTx/>
              <a:buNone/>
            </a:pPr>
            <a:endParaRPr lang="en-GB" altLang="en-US" sz="2000" dirty="0">
              <a:solidFill>
                <a:srgbClr val="000000"/>
              </a:solidFill>
              <a:latin typeface="Georgia" panose="02040502050405020303" pitchFamily="18" charset="0"/>
            </a:endParaRPr>
          </a:p>
          <a:p>
            <a:pPr eaLnBrk="0" fontAlgn="base" hangingPunct="0">
              <a:spcBef>
                <a:spcPct val="0"/>
              </a:spcBef>
              <a:spcAft>
                <a:spcPct val="0"/>
              </a:spcAft>
              <a:buFontTx/>
              <a:buNone/>
            </a:pPr>
            <a:endParaRPr lang="en-GB" altLang="en-US" sz="2000" dirty="0">
              <a:solidFill>
                <a:srgbClr val="000000"/>
              </a:solidFill>
              <a:latin typeface="Georgia" panose="02040502050405020303" pitchFamily="18" charset="0"/>
            </a:endParaRPr>
          </a:p>
          <a:p>
            <a:pPr eaLnBrk="0" fontAlgn="base" hangingPunct="0">
              <a:spcBef>
                <a:spcPct val="0"/>
              </a:spcBef>
              <a:spcAft>
                <a:spcPct val="0"/>
              </a:spcAft>
              <a:buFontTx/>
              <a:buNone/>
            </a:pPr>
            <a:endParaRPr lang="en-GB" altLang="en-US" sz="1800" dirty="0">
              <a:solidFill>
                <a:srgbClr val="000000"/>
              </a:solidFill>
              <a:latin typeface="Courier New" panose="02070309020205020404" pitchFamily="49" charset="0"/>
              <a:cs typeface="Courier New" panose="02070309020205020404" pitchFamily="49" charset="0"/>
            </a:endParaRPr>
          </a:p>
          <a:p>
            <a:pPr eaLnBrk="0" fontAlgn="base" hangingPunct="0">
              <a:spcBef>
                <a:spcPct val="0"/>
              </a:spcBef>
              <a:spcAft>
                <a:spcPct val="0"/>
              </a:spcAft>
              <a:buFontTx/>
              <a:buNone/>
            </a:pPr>
            <a:endParaRPr lang="en-GB" altLang="en-US" sz="800" dirty="0">
              <a:solidFill>
                <a:srgbClr val="000000"/>
              </a:solidFill>
              <a:latin typeface="Courier New" panose="02070309020205020404" pitchFamily="49" charset="0"/>
              <a:cs typeface="Courier New" panose="02070309020205020404" pitchFamily="49" charset="0"/>
            </a:endParaRPr>
          </a:p>
          <a:p>
            <a:pPr eaLnBrk="0" fontAlgn="base" hangingPunct="0">
              <a:spcBef>
                <a:spcPct val="0"/>
              </a:spcBef>
              <a:spcAft>
                <a:spcPct val="0"/>
              </a:spcAft>
              <a:buFontTx/>
              <a:buNone/>
            </a:pPr>
            <a:r>
              <a:rPr lang="en-GB" altLang="en-US" sz="1700">
                <a:solidFill>
                  <a:srgbClr val="000000"/>
                </a:solidFill>
                <a:latin typeface="Courier New" panose="02070309020205020404" pitchFamily="49" charset="0"/>
                <a:cs typeface="Courier New" panose="02070309020205020404" pitchFamily="49" charset="0"/>
              </a:rPr>
              <a:t>n.houlden@glyndwr.ac.uk / d.oram@Glyndwr.ac.uk</a:t>
            </a:r>
            <a:endParaRPr lang="en-GB" altLang="en-US" sz="17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44626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Data Classification</a:t>
            </a:r>
          </a:p>
        </p:txBody>
      </p:sp>
      <p:sp>
        <p:nvSpPr>
          <p:cNvPr id="3" name="Content Placeholder 2"/>
          <p:cNvSpPr>
            <a:spLocks noGrp="1"/>
          </p:cNvSpPr>
          <p:nvPr>
            <p:ph idx="1"/>
          </p:nvPr>
        </p:nvSpPr>
        <p:spPr>
          <a:xfrm>
            <a:off x="914400" y="1180850"/>
            <a:ext cx="10363200" cy="4114800"/>
          </a:xfrm>
        </p:spPr>
        <p:txBody>
          <a:bodyPr/>
          <a:lstStyle/>
          <a:p>
            <a:r>
              <a:rPr lang="en-US" dirty="0"/>
              <a:t>Data </a:t>
            </a:r>
            <a:r>
              <a:rPr lang="en-US" dirty="0" smtClean="0"/>
              <a:t>classification</a:t>
            </a:r>
            <a:r>
              <a:rPr lang="en-US" dirty="0"/>
              <a:t>, or categorization, is the primary means by which data is protected </a:t>
            </a:r>
            <a:r>
              <a:rPr lang="en-US" dirty="0" smtClean="0"/>
              <a:t>based on </a:t>
            </a:r>
            <a:r>
              <a:rPr lang="en-US" dirty="0"/>
              <a:t>its need </a:t>
            </a:r>
            <a:r>
              <a:rPr lang="en-US" dirty="0" smtClean="0"/>
              <a:t>for secrecy</a:t>
            </a:r>
            <a:r>
              <a:rPr lang="en-US" dirty="0"/>
              <a:t>, sensitivity, or </a:t>
            </a:r>
            <a:r>
              <a:rPr lang="en-US" dirty="0" smtClean="0"/>
              <a:t>confidentiality</a:t>
            </a:r>
            <a:r>
              <a:rPr lang="en-US" dirty="0"/>
              <a:t>. </a:t>
            </a:r>
            <a:endParaRPr lang="en-US" dirty="0" smtClean="0"/>
          </a:p>
          <a:p>
            <a:r>
              <a:rPr lang="en-US" dirty="0" smtClean="0"/>
              <a:t>It </a:t>
            </a:r>
            <a:r>
              <a:rPr lang="en-US" dirty="0"/>
              <a:t>is </a:t>
            </a:r>
            <a:r>
              <a:rPr lang="en-US" dirty="0" smtClean="0"/>
              <a:t>inefficient </a:t>
            </a:r>
            <a:r>
              <a:rPr lang="en-US" dirty="0"/>
              <a:t>to treat all data the </a:t>
            </a:r>
            <a:r>
              <a:rPr lang="en-US" dirty="0" smtClean="0"/>
              <a:t>same way (some </a:t>
            </a:r>
            <a:r>
              <a:rPr lang="en-US" dirty="0"/>
              <a:t>data items need </a:t>
            </a:r>
            <a:r>
              <a:rPr lang="en-US" dirty="0" smtClean="0"/>
              <a:t>more security </a:t>
            </a:r>
            <a:r>
              <a:rPr lang="en-US" dirty="0"/>
              <a:t>than </a:t>
            </a:r>
            <a:r>
              <a:rPr lang="en-US" dirty="0" smtClean="0"/>
              <a:t>others!) </a:t>
            </a:r>
          </a:p>
          <a:p>
            <a:r>
              <a:rPr lang="en-US" dirty="0" smtClean="0"/>
              <a:t>Securing </a:t>
            </a:r>
            <a:r>
              <a:rPr lang="en-US" dirty="0"/>
              <a:t>everything at a low security level means sensitive data is </a:t>
            </a:r>
            <a:r>
              <a:rPr lang="en-US" dirty="0" smtClean="0"/>
              <a:t>easily accessible</a:t>
            </a:r>
            <a:r>
              <a:rPr lang="en-US" dirty="0"/>
              <a:t>. </a:t>
            </a:r>
            <a:endParaRPr lang="en-US" dirty="0" smtClean="0"/>
          </a:p>
          <a:p>
            <a:r>
              <a:rPr lang="en-US" dirty="0" smtClean="0"/>
              <a:t>Securing </a:t>
            </a:r>
            <a:r>
              <a:rPr lang="en-US" dirty="0"/>
              <a:t>everything at a high security level is too expensive and restricts access </a:t>
            </a:r>
            <a:r>
              <a:rPr lang="en-US" dirty="0" smtClean="0"/>
              <a:t>to unclassified</a:t>
            </a:r>
            <a:r>
              <a:rPr lang="en-US" dirty="0"/>
              <a:t>, noncritical data.</a:t>
            </a:r>
            <a:endParaRPr lang="en-GB" dirty="0"/>
          </a:p>
        </p:txBody>
      </p:sp>
    </p:spTree>
    <p:extLst>
      <p:ext uri="{BB962C8B-B14F-4D97-AF65-F5344CB8AC3E}">
        <p14:creationId xmlns:p14="http://schemas.microsoft.com/office/powerpoint/2010/main" val="528848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Data Classification</a:t>
            </a:r>
            <a:endParaRPr lang="en-GB" sz="3600" dirty="0"/>
          </a:p>
        </p:txBody>
      </p:sp>
      <p:sp>
        <p:nvSpPr>
          <p:cNvPr id="3" name="Content Placeholder 2"/>
          <p:cNvSpPr>
            <a:spLocks noGrp="1"/>
          </p:cNvSpPr>
          <p:nvPr>
            <p:ph idx="1"/>
          </p:nvPr>
        </p:nvSpPr>
        <p:spPr>
          <a:xfrm>
            <a:off x="914400" y="978568"/>
            <a:ext cx="10363200" cy="4493545"/>
          </a:xfrm>
        </p:spPr>
        <p:txBody>
          <a:bodyPr/>
          <a:lstStyle/>
          <a:p>
            <a:r>
              <a:rPr lang="en-US" sz="2400" dirty="0"/>
              <a:t>U</a:t>
            </a:r>
            <a:r>
              <a:rPr lang="en-US" sz="2400" dirty="0" smtClean="0"/>
              <a:t>sed </a:t>
            </a:r>
            <a:r>
              <a:rPr lang="en-US" sz="2400" dirty="0"/>
              <a:t>to determine how much effort, </a:t>
            </a:r>
            <a:r>
              <a:rPr lang="en-US" sz="2400" dirty="0" smtClean="0"/>
              <a:t>money, and </a:t>
            </a:r>
            <a:r>
              <a:rPr lang="en-US" sz="2400" dirty="0"/>
              <a:t>resources are allocated to protect the data and control access to it. </a:t>
            </a:r>
            <a:endParaRPr lang="en-US" sz="2400" dirty="0" smtClean="0"/>
          </a:p>
          <a:p>
            <a:r>
              <a:rPr lang="en-US" sz="2400" dirty="0"/>
              <a:t>T</a:t>
            </a:r>
            <a:r>
              <a:rPr lang="en-US" sz="2400" dirty="0" smtClean="0"/>
              <a:t>he </a:t>
            </a:r>
            <a:r>
              <a:rPr lang="en-US" sz="2400" dirty="0"/>
              <a:t>process of </a:t>
            </a:r>
            <a:r>
              <a:rPr lang="en-US" sz="2400" dirty="0" smtClean="0"/>
              <a:t>organizing </a:t>
            </a:r>
            <a:r>
              <a:rPr lang="en-US" sz="2400" dirty="0"/>
              <a:t>items, objects, subjects, and so on into groups, </a:t>
            </a:r>
            <a:r>
              <a:rPr lang="en-US" sz="2400" dirty="0" smtClean="0"/>
              <a:t>categories, or </a:t>
            </a:r>
            <a:r>
              <a:rPr lang="en-US" sz="2400" dirty="0"/>
              <a:t>collections with similarities. </a:t>
            </a:r>
            <a:endParaRPr lang="en-US" sz="2400" dirty="0" smtClean="0"/>
          </a:p>
          <a:p>
            <a:r>
              <a:rPr lang="en-US" sz="2400" dirty="0" smtClean="0"/>
              <a:t>These </a:t>
            </a:r>
            <a:r>
              <a:rPr lang="en-US" sz="2400" dirty="0"/>
              <a:t>similarities could </a:t>
            </a:r>
            <a:r>
              <a:rPr lang="en-US" sz="2400" dirty="0" smtClean="0"/>
              <a:t>include: </a:t>
            </a:r>
          </a:p>
          <a:p>
            <a:pPr lvl="1">
              <a:buFont typeface="Arial" panose="020B0604020202020204" pitchFamily="34" charset="0"/>
              <a:buChar char="•"/>
            </a:pPr>
            <a:r>
              <a:rPr lang="en-US" sz="2000" dirty="0" smtClean="0"/>
              <a:t>value</a:t>
            </a:r>
            <a:r>
              <a:rPr lang="en-US" sz="2000" dirty="0"/>
              <a:t>, </a:t>
            </a:r>
            <a:endParaRPr lang="en-US" sz="2000" dirty="0" smtClean="0"/>
          </a:p>
          <a:p>
            <a:pPr lvl="1">
              <a:buFont typeface="Arial" panose="020B0604020202020204" pitchFamily="34" charset="0"/>
              <a:buChar char="•"/>
            </a:pPr>
            <a:r>
              <a:rPr lang="en-US" sz="2000" dirty="0" smtClean="0"/>
              <a:t>cost</a:t>
            </a:r>
            <a:r>
              <a:rPr lang="en-US" sz="2000" dirty="0"/>
              <a:t>, </a:t>
            </a:r>
            <a:endParaRPr lang="en-US" sz="2000" dirty="0" smtClean="0"/>
          </a:p>
          <a:p>
            <a:pPr lvl="1">
              <a:buFont typeface="Arial" panose="020B0604020202020204" pitchFamily="34" charset="0"/>
              <a:buChar char="•"/>
            </a:pPr>
            <a:r>
              <a:rPr lang="en-US" sz="2000" dirty="0" smtClean="0"/>
              <a:t>sensitivity, </a:t>
            </a:r>
          </a:p>
          <a:p>
            <a:pPr lvl="1">
              <a:buFont typeface="Arial" panose="020B0604020202020204" pitchFamily="34" charset="0"/>
              <a:buChar char="•"/>
            </a:pPr>
            <a:r>
              <a:rPr lang="en-US" sz="2000" dirty="0" smtClean="0"/>
              <a:t>risk</a:t>
            </a:r>
            <a:r>
              <a:rPr lang="en-US" sz="2000" dirty="0"/>
              <a:t>, </a:t>
            </a:r>
            <a:endParaRPr lang="en-US" sz="2000" dirty="0" smtClean="0"/>
          </a:p>
          <a:p>
            <a:pPr lvl="1">
              <a:buFont typeface="Arial" panose="020B0604020202020204" pitchFamily="34" charset="0"/>
              <a:buChar char="•"/>
            </a:pPr>
            <a:r>
              <a:rPr lang="en-US" sz="2000" dirty="0" smtClean="0"/>
              <a:t>vulnerability</a:t>
            </a:r>
            <a:r>
              <a:rPr lang="en-US" sz="2000" dirty="0"/>
              <a:t>, </a:t>
            </a:r>
            <a:endParaRPr lang="en-US" sz="2000" dirty="0" smtClean="0"/>
          </a:p>
          <a:p>
            <a:pPr lvl="1">
              <a:buFont typeface="Arial" panose="020B0604020202020204" pitchFamily="34" charset="0"/>
              <a:buChar char="•"/>
            </a:pPr>
            <a:r>
              <a:rPr lang="en-US" sz="2000" dirty="0" smtClean="0"/>
              <a:t>privilege</a:t>
            </a:r>
            <a:r>
              <a:rPr lang="en-US" sz="2000" dirty="0"/>
              <a:t>, </a:t>
            </a:r>
            <a:endParaRPr lang="en-US" sz="2000" dirty="0" smtClean="0"/>
          </a:p>
          <a:p>
            <a:pPr lvl="1">
              <a:buFont typeface="Arial" panose="020B0604020202020204" pitchFamily="34" charset="0"/>
              <a:buChar char="•"/>
            </a:pPr>
            <a:r>
              <a:rPr lang="en-US" sz="2000" dirty="0" smtClean="0"/>
              <a:t>possible </a:t>
            </a:r>
            <a:r>
              <a:rPr lang="en-US" sz="2000" dirty="0"/>
              <a:t>levels of loss or damage, </a:t>
            </a:r>
            <a:endParaRPr lang="en-US" sz="2000" dirty="0" smtClean="0"/>
          </a:p>
          <a:p>
            <a:pPr lvl="1">
              <a:buFont typeface="Arial" panose="020B0604020202020204" pitchFamily="34" charset="0"/>
              <a:buChar char="•"/>
            </a:pPr>
            <a:r>
              <a:rPr lang="en-US" sz="2000" dirty="0" smtClean="0"/>
              <a:t>need </a:t>
            </a:r>
            <a:r>
              <a:rPr lang="en-US" sz="2000" dirty="0"/>
              <a:t>to know.</a:t>
            </a:r>
            <a:endParaRPr lang="en-GB" sz="2000" dirty="0"/>
          </a:p>
        </p:txBody>
      </p:sp>
    </p:spTree>
    <p:extLst>
      <p:ext uri="{BB962C8B-B14F-4D97-AF65-F5344CB8AC3E}">
        <p14:creationId xmlns:p14="http://schemas.microsoft.com/office/powerpoint/2010/main" val="2344030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latin typeface="Georgia" panose="02040502050405020303" pitchFamily="18" charset="0"/>
              </a:rPr>
              <a:t>Benefits </a:t>
            </a:r>
            <a:r>
              <a:rPr lang="en-US" sz="3600" dirty="0">
                <a:latin typeface="Georgia" panose="02040502050405020303" pitchFamily="18" charset="0"/>
              </a:rPr>
              <a:t>of using a data classification scheme</a:t>
            </a:r>
            <a:endParaRPr lang="en-GB" sz="3600" dirty="0">
              <a:latin typeface="Georgia" panose="02040502050405020303" pitchFamily="18" charset="0"/>
            </a:endParaRPr>
          </a:p>
        </p:txBody>
      </p:sp>
      <p:sp>
        <p:nvSpPr>
          <p:cNvPr id="3" name="Content Placeholder 2"/>
          <p:cNvSpPr>
            <a:spLocks noGrp="1"/>
          </p:cNvSpPr>
          <p:nvPr>
            <p:ph idx="1"/>
          </p:nvPr>
        </p:nvSpPr>
        <p:spPr>
          <a:xfrm>
            <a:off x="914400" y="1148765"/>
            <a:ext cx="10363200" cy="4114800"/>
          </a:xfrm>
        </p:spPr>
        <p:txBody>
          <a:bodyPr/>
          <a:lstStyle/>
          <a:p>
            <a:r>
              <a:rPr lang="en-US" sz="2400" dirty="0"/>
              <a:t>D</a:t>
            </a:r>
            <a:r>
              <a:rPr lang="en-US" sz="2400" dirty="0" smtClean="0"/>
              <a:t>emonstrates </a:t>
            </a:r>
            <a:r>
              <a:rPr lang="en-US" sz="2400" dirty="0"/>
              <a:t>an </a:t>
            </a:r>
            <a:r>
              <a:rPr lang="en-US" sz="2400" dirty="0" err="1" smtClean="0"/>
              <a:t>organisation’s</a:t>
            </a:r>
            <a:r>
              <a:rPr lang="en-US" sz="2400" dirty="0" smtClean="0"/>
              <a:t> </a:t>
            </a:r>
            <a:r>
              <a:rPr lang="en-US" sz="2400" dirty="0"/>
              <a:t>commitment to protecting valuable resources and assets.</a:t>
            </a:r>
          </a:p>
          <a:p>
            <a:r>
              <a:rPr lang="en-US" sz="2400" dirty="0"/>
              <a:t>A</a:t>
            </a:r>
            <a:r>
              <a:rPr lang="en-US" sz="2400" dirty="0" smtClean="0"/>
              <a:t>ssists </a:t>
            </a:r>
            <a:r>
              <a:rPr lang="en-US" sz="2400" dirty="0"/>
              <a:t>in identifying those assets that are most critical or valuable to the </a:t>
            </a:r>
            <a:r>
              <a:rPr lang="en-US" sz="2400" dirty="0" smtClean="0"/>
              <a:t>organisation</a:t>
            </a:r>
            <a:r>
              <a:rPr lang="en-US" sz="2400" dirty="0"/>
              <a:t>.</a:t>
            </a:r>
          </a:p>
          <a:p>
            <a:r>
              <a:rPr lang="en-US" sz="2400" dirty="0" smtClean="0"/>
              <a:t>Gives </a:t>
            </a:r>
            <a:r>
              <a:rPr lang="en-US" sz="2400" dirty="0"/>
              <a:t>credence to the selection of protection mechanisms.</a:t>
            </a:r>
          </a:p>
          <a:p>
            <a:r>
              <a:rPr lang="en-US" sz="2400" dirty="0"/>
              <a:t>O</a:t>
            </a:r>
            <a:r>
              <a:rPr lang="en-US" sz="2400" dirty="0" smtClean="0"/>
              <a:t>ften </a:t>
            </a:r>
            <a:r>
              <a:rPr lang="en-US" sz="2400" dirty="0"/>
              <a:t>required for regulatory compliance or legal restrictions.</a:t>
            </a:r>
          </a:p>
          <a:p>
            <a:r>
              <a:rPr lang="en-US" sz="2400" dirty="0" smtClean="0"/>
              <a:t>Defines </a:t>
            </a:r>
            <a:r>
              <a:rPr lang="en-US" sz="2400" dirty="0"/>
              <a:t>access levels, types of </a:t>
            </a:r>
            <a:r>
              <a:rPr lang="en-US" sz="2400" dirty="0" smtClean="0"/>
              <a:t>authorised </a:t>
            </a:r>
            <a:r>
              <a:rPr lang="en-US" sz="2400" dirty="0"/>
              <a:t>uses, and parameters for </a:t>
            </a:r>
            <a:r>
              <a:rPr lang="en-US" sz="2400" dirty="0" smtClean="0"/>
              <a:t>declassification </a:t>
            </a:r>
          </a:p>
          <a:p>
            <a:r>
              <a:rPr lang="en-US" sz="2400" dirty="0" smtClean="0"/>
              <a:t>Aids data </a:t>
            </a:r>
            <a:r>
              <a:rPr lang="en-US" sz="2400" dirty="0"/>
              <a:t>life-cycle </a:t>
            </a:r>
            <a:r>
              <a:rPr lang="en-US" sz="2400" dirty="0" smtClean="0"/>
              <a:t>management: </a:t>
            </a:r>
          </a:p>
          <a:p>
            <a:pPr lvl="1">
              <a:buFont typeface="Arial" panose="020B0604020202020204" pitchFamily="34" charset="0"/>
              <a:buChar char="•"/>
            </a:pPr>
            <a:r>
              <a:rPr lang="en-US" sz="2000" dirty="0" smtClean="0"/>
              <a:t>retention, </a:t>
            </a:r>
          </a:p>
          <a:p>
            <a:pPr lvl="1">
              <a:buFont typeface="Arial" panose="020B0604020202020204" pitchFamily="34" charset="0"/>
              <a:buChar char="•"/>
            </a:pPr>
            <a:r>
              <a:rPr lang="en-US" sz="2000" dirty="0" smtClean="0"/>
              <a:t>usage</a:t>
            </a:r>
            <a:r>
              <a:rPr lang="en-US" sz="2000" dirty="0"/>
              <a:t>, </a:t>
            </a:r>
            <a:endParaRPr lang="en-US" sz="2000" dirty="0" smtClean="0"/>
          </a:p>
          <a:p>
            <a:pPr lvl="1">
              <a:buFont typeface="Arial" panose="020B0604020202020204" pitchFamily="34" charset="0"/>
              <a:buChar char="•"/>
            </a:pPr>
            <a:r>
              <a:rPr lang="en-US" sz="2000" dirty="0" smtClean="0"/>
              <a:t>destruction </a:t>
            </a:r>
            <a:r>
              <a:rPr lang="en-US" sz="2000" dirty="0"/>
              <a:t>of the data.</a:t>
            </a:r>
            <a:endParaRPr lang="en-GB" sz="2000" dirty="0"/>
          </a:p>
        </p:txBody>
      </p:sp>
    </p:spTree>
    <p:extLst>
      <p:ext uri="{BB962C8B-B14F-4D97-AF65-F5344CB8AC3E}">
        <p14:creationId xmlns:p14="http://schemas.microsoft.com/office/powerpoint/2010/main" val="1033235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latin typeface="Georgia" panose="02040502050405020303" pitchFamily="18" charset="0"/>
              </a:rPr>
              <a:t>Benefits </a:t>
            </a:r>
            <a:r>
              <a:rPr lang="en-US" sz="3600" dirty="0">
                <a:latin typeface="Georgia" panose="02040502050405020303" pitchFamily="18" charset="0"/>
              </a:rPr>
              <a:t>of using a data classification scheme</a:t>
            </a:r>
            <a:endParaRPr lang="en-GB" sz="3600" dirty="0">
              <a:latin typeface="Georgia" panose="02040502050405020303" pitchFamily="18" charset="0"/>
            </a:endParaRPr>
          </a:p>
        </p:txBody>
      </p:sp>
      <p:sp>
        <p:nvSpPr>
          <p:cNvPr id="3" name="Content Placeholder 2"/>
          <p:cNvSpPr>
            <a:spLocks noGrp="1"/>
          </p:cNvSpPr>
          <p:nvPr>
            <p:ph idx="1"/>
          </p:nvPr>
        </p:nvSpPr>
        <p:spPr>
          <a:xfrm>
            <a:off x="914400" y="1148765"/>
            <a:ext cx="10363200" cy="4114800"/>
          </a:xfrm>
        </p:spPr>
        <p:txBody>
          <a:bodyPr/>
          <a:lstStyle/>
          <a:p>
            <a:r>
              <a:rPr lang="en-GB" sz="2000" dirty="0" smtClean="0"/>
              <a:t>Data classification can/will vary depending upon the organisation.</a:t>
            </a:r>
          </a:p>
          <a:p>
            <a:r>
              <a:rPr lang="en-GB" sz="2000" dirty="0" smtClean="0"/>
              <a:t>However, we can use numerous generalities:</a:t>
            </a:r>
          </a:p>
          <a:p>
            <a:pPr lvl="1">
              <a:buFont typeface="Arial" panose="020B0604020202020204" pitchFamily="34" charset="0"/>
              <a:buChar char="•"/>
            </a:pPr>
            <a:r>
              <a:rPr lang="en-US" sz="1600" dirty="0"/>
              <a:t>Usefulness of the data</a:t>
            </a:r>
          </a:p>
          <a:p>
            <a:pPr lvl="1">
              <a:buFont typeface="Arial" panose="020B0604020202020204" pitchFamily="34" charset="0"/>
              <a:buChar char="•"/>
            </a:pPr>
            <a:r>
              <a:rPr lang="en-US" sz="1600" dirty="0" smtClean="0"/>
              <a:t>Timeliness </a:t>
            </a:r>
            <a:r>
              <a:rPr lang="en-US" sz="1600" dirty="0"/>
              <a:t>of the </a:t>
            </a:r>
            <a:r>
              <a:rPr lang="en-US" sz="1600" dirty="0" smtClean="0"/>
              <a:t>data</a:t>
            </a:r>
            <a:endParaRPr lang="en-GB" sz="1600" dirty="0"/>
          </a:p>
          <a:p>
            <a:pPr lvl="1">
              <a:buFont typeface="Arial" panose="020B0604020202020204" pitchFamily="34" charset="0"/>
              <a:buChar char="•"/>
            </a:pPr>
            <a:r>
              <a:rPr lang="en-US" sz="1600" dirty="0"/>
              <a:t>Value or cost of the data</a:t>
            </a:r>
          </a:p>
          <a:p>
            <a:pPr lvl="1">
              <a:buFont typeface="Arial" panose="020B0604020202020204" pitchFamily="34" charset="0"/>
              <a:buChar char="•"/>
            </a:pPr>
            <a:r>
              <a:rPr lang="en-US" sz="1600" dirty="0" smtClean="0"/>
              <a:t>Maturity </a:t>
            </a:r>
            <a:r>
              <a:rPr lang="en-US" sz="1600" dirty="0"/>
              <a:t>or age of the data</a:t>
            </a:r>
          </a:p>
          <a:p>
            <a:pPr lvl="1">
              <a:buFont typeface="Arial" panose="020B0604020202020204" pitchFamily="34" charset="0"/>
              <a:buChar char="•"/>
            </a:pPr>
            <a:r>
              <a:rPr lang="en-US" sz="1600" dirty="0" smtClean="0"/>
              <a:t>Lifetime </a:t>
            </a:r>
            <a:r>
              <a:rPr lang="en-US" sz="1600" dirty="0"/>
              <a:t>of the data (or when it expires)</a:t>
            </a:r>
          </a:p>
          <a:p>
            <a:pPr lvl="1">
              <a:buFont typeface="Arial" panose="020B0604020202020204" pitchFamily="34" charset="0"/>
              <a:buChar char="•"/>
            </a:pPr>
            <a:r>
              <a:rPr lang="en-US" sz="1600" dirty="0" smtClean="0"/>
              <a:t>Association </a:t>
            </a:r>
            <a:r>
              <a:rPr lang="en-US" sz="1600" dirty="0"/>
              <a:t>with personnel</a:t>
            </a:r>
          </a:p>
          <a:p>
            <a:pPr lvl="1">
              <a:buFont typeface="Arial" panose="020B0604020202020204" pitchFamily="34" charset="0"/>
              <a:buChar char="•"/>
            </a:pPr>
            <a:r>
              <a:rPr lang="en-US" sz="1600" dirty="0" smtClean="0"/>
              <a:t>Data </a:t>
            </a:r>
            <a:r>
              <a:rPr lang="en-US" sz="1600" dirty="0"/>
              <a:t>disclosure damage assessment (that is, how the disclosure of the data would </a:t>
            </a:r>
            <a:r>
              <a:rPr lang="en-US" sz="1600" dirty="0" smtClean="0"/>
              <a:t>affect the organisation</a:t>
            </a:r>
            <a:r>
              <a:rPr lang="en-US" sz="1600" dirty="0"/>
              <a:t>)</a:t>
            </a:r>
          </a:p>
          <a:p>
            <a:pPr lvl="1">
              <a:buFont typeface="Arial" panose="020B0604020202020204" pitchFamily="34" charset="0"/>
              <a:buChar char="•"/>
            </a:pPr>
            <a:r>
              <a:rPr lang="en-US" sz="1600" dirty="0" smtClean="0"/>
              <a:t>Data </a:t>
            </a:r>
            <a:r>
              <a:rPr lang="en-US" sz="1600" dirty="0"/>
              <a:t>modification damage assessment (that is, how the modification of the data </a:t>
            </a:r>
            <a:r>
              <a:rPr lang="en-US" sz="1600" dirty="0" smtClean="0"/>
              <a:t>would affect </a:t>
            </a:r>
            <a:r>
              <a:rPr lang="en-US" sz="1600" dirty="0"/>
              <a:t>the </a:t>
            </a:r>
            <a:r>
              <a:rPr lang="en-US" sz="1600" dirty="0" smtClean="0"/>
              <a:t>organisation</a:t>
            </a:r>
            <a:r>
              <a:rPr lang="en-US" sz="1600" dirty="0"/>
              <a:t>)</a:t>
            </a:r>
          </a:p>
          <a:p>
            <a:pPr lvl="1">
              <a:buFont typeface="Arial" panose="020B0604020202020204" pitchFamily="34" charset="0"/>
              <a:buChar char="•"/>
            </a:pPr>
            <a:r>
              <a:rPr lang="en-US" sz="1600" dirty="0" smtClean="0"/>
              <a:t>National </a:t>
            </a:r>
            <a:r>
              <a:rPr lang="en-US" sz="1600" dirty="0"/>
              <a:t>security implications of the data</a:t>
            </a:r>
          </a:p>
          <a:p>
            <a:pPr lvl="1">
              <a:buFont typeface="Arial" panose="020B0604020202020204" pitchFamily="34" charset="0"/>
              <a:buChar char="•"/>
            </a:pPr>
            <a:r>
              <a:rPr lang="en-US" sz="1600" dirty="0" smtClean="0"/>
              <a:t>Authorised </a:t>
            </a:r>
            <a:r>
              <a:rPr lang="en-US" sz="1600" dirty="0"/>
              <a:t>access to the data (that is, who has access to the data)</a:t>
            </a:r>
          </a:p>
          <a:p>
            <a:pPr lvl="1">
              <a:buFont typeface="Arial" panose="020B0604020202020204" pitchFamily="34" charset="0"/>
              <a:buChar char="•"/>
            </a:pPr>
            <a:r>
              <a:rPr lang="en-US" sz="1600" dirty="0" smtClean="0"/>
              <a:t>Restriction </a:t>
            </a:r>
            <a:r>
              <a:rPr lang="en-US" sz="1600" dirty="0"/>
              <a:t>from the data (that is, who is restricted from the data)</a:t>
            </a:r>
          </a:p>
          <a:p>
            <a:pPr lvl="1">
              <a:buFont typeface="Arial" panose="020B0604020202020204" pitchFamily="34" charset="0"/>
              <a:buChar char="•"/>
            </a:pPr>
            <a:r>
              <a:rPr lang="en-US" sz="1600" dirty="0" smtClean="0"/>
              <a:t>Maintenance </a:t>
            </a:r>
            <a:r>
              <a:rPr lang="en-US" sz="1600" dirty="0"/>
              <a:t>and monitoring of the data (that is, who should maintain and </a:t>
            </a:r>
            <a:r>
              <a:rPr lang="en-US" sz="1600" dirty="0" smtClean="0"/>
              <a:t>monitor the </a:t>
            </a:r>
            <a:r>
              <a:rPr lang="en-US" sz="1600" dirty="0"/>
              <a:t>data)</a:t>
            </a:r>
          </a:p>
          <a:p>
            <a:pPr lvl="1">
              <a:buFont typeface="Arial" panose="020B0604020202020204" pitchFamily="34" charset="0"/>
              <a:buChar char="•"/>
            </a:pPr>
            <a:r>
              <a:rPr lang="en-US" sz="1600" dirty="0" smtClean="0"/>
              <a:t>Storage </a:t>
            </a:r>
            <a:r>
              <a:rPr lang="en-US" sz="1600" dirty="0"/>
              <a:t>of the data</a:t>
            </a:r>
            <a:endParaRPr lang="en-GB" sz="1600" dirty="0"/>
          </a:p>
        </p:txBody>
      </p:sp>
    </p:spTree>
    <p:extLst>
      <p:ext uri="{BB962C8B-B14F-4D97-AF65-F5344CB8AC3E}">
        <p14:creationId xmlns:p14="http://schemas.microsoft.com/office/powerpoint/2010/main" val="3898303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smtClean="0">
                <a:latin typeface="Georgia" panose="02040502050405020303" pitchFamily="18" charset="0"/>
              </a:rPr>
              <a:t>Criteria</a:t>
            </a:r>
            <a:endParaRPr lang="en-GB" sz="3600" dirty="0">
              <a:latin typeface="Georgia" panose="02040502050405020303" pitchFamily="18" charset="0"/>
            </a:endParaRPr>
          </a:p>
        </p:txBody>
      </p:sp>
      <p:sp>
        <p:nvSpPr>
          <p:cNvPr id="3" name="Content Placeholder 2"/>
          <p:cNvSpPr>
            <a:spLocks noGrp="1"/>
          </p:cNvSpPr>
          <p:nvPr>
            <p:ph idx="1"/>
          </p:nvPr>
        </p:nvSpPr>
        <p:spPr/>
        <p:txBody>
          <a:bodyPr/>
          <a:lstStyle/>
          <a:p>
            <a:r>
              <a:rPr lang="en-US" dirty="0"/>
              <a:t>Using whatever criteria is appropriate for the </a:t>
            </a:r>
            <a:r>
              <a:rPr lang="en-US" dirty="0" smtClean="0"/>
              <a:t>organisation</a:t>
            </a:r>
            <a:r>
              <a:rPr lang="en-US" dirty="0"/>
              <a:t>, data is evaluated, and </a:t>
            </a:r>
            <a:r>
              <a:rPr lang="en-US" dirty="0" smtClean="0"/>
              <a:t>an appropriate </a:t>
            </a:r>
            <a:r>
              <a:rPr lang="en-US" dirty="0"/>
              <a:t>data </a:t>
            </a:r>
            <a:r>
              <a:rPr lang="en-US" dirty="0" smtClean="0"/>
              <a:t>classification </a:t>
            </a:r>
            <a:r>
              <a:rPr lang="en-US" dirty="0"/>
              <a:t>label is assigned to it. </a:t>
            </a:r>
            <a:endParaRPr lang="en-US" dirty="0" smtClean="0"/>
          </a:p>
          <a:p>
            <a:r>
              <a:rPr lang="en-US" dirty="0" smtClean="0"/>
              <a:t>In </a:t>
            </a:r>
            <a:r>
              <a:rPr lang="en-US" dirty="0"/>
              <a:t>some cases, the label is added </a:t>
            </a:r>
            <a:r>
              <a:rPr lang="en-US" dirty="0" smtClean="0"/>
              <a:t>to the </a:t>
            </a:r>
            <a:r>
              <a:rPr lang="en-US" dirty="0"/>
              <a:t>data object. </a:t>
            </a:r>
            <a:endParaRPr lang="en-US" dirty="0" smtClean="0"/>
          </a:p>
          <a:p>
            <a:r>
              <a:rPr lang="en-US" dirty="0" smtClean="0"/>
              <a:t>In </a:t>
            </a:r>
            <a:r>
              <a:rPr lang="en-US" dirty="0"/>
              <a:t>other cases, labeling occurs automatically when the data is placed into </a:t>
            </a:r>
            <a:r>
              <a:rPr lang="en-US" dirty="0" smtClean="0"/>
              <a:t>a storage </a:t>
            </a:r>
            <a:r>
              <a:rPr lang="en-US" dirty="0"/>
              <a:t>mechanism or behind a security protection mechanism.</a:t>
            </a:r>
            <a:endParaRPr lang="en-GB" dirty="0"/>
          </a:p>
        </p:txBody>
      </p:sp>
    </p:spTree>
    <p:extLst>
      <p:ext uri="{BB962C8B-B14F-4D97-AF65-F5344CB8AC3E}">
        <p14:creationId xmlns:p14="http://schemas.microsoft.com/office/powerpoint/2010/main" val="4020211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smtClean="0">
                <a:latin typeface="Georgia" panose="02040502050405020303" pitchFamily="18" charset="0"/>
              </a:rPr>
              <a:t>Steps for a classification </a:t>
            </a:r>
            <a:r>
              <a:rPr lang="en-GB" sz="3600" dirty="0">
                <a:latin typeface="Georgia" panose="02040502050405020303" pitchFamily="18" charset="0"/>
              </a:rPr>
              <a:t>scheme</a:t>
            </a:r>
          </a:p>
        </p:txBody>
      </p:sp>
      <p:sp>
        <p:nvSpPr>
          <p:cNvPr id="3" name="Content Placeholder 2"/>
          <p:cNvSpPr>
            <a:spLocks noGrp="1"/>
          </p:cNvSpPr>
          <p:nvPr>
            <p:ph idx="1"/>
          </p:nvPr>
        </p:nvSpPr>
        <p:spPr/>
        <p:txBody>
          <a:bodyPr/>
          <a:lstStyle/>
          <a:p>
            <a:pPr marL="457200" indent="-457200">
              <a:buFont typeface="+mj-lt"/>
              <a:buAutoNum type="arabicPeriod"/>
            </a:pPr>
            <a:r>
              <a:rPr lang="en-US" sz="2000" dirty="0" smtClean="0"/>
              <a:t>Identify </a:t>
            </a:r>
            <a:r>
              <a:rPr lang="en-US" sz="2000" dirty="0"/>
              <a:t>the custodian, and define their responsibilities.</a:t>
            </a:r>
          </a:p>
          <a:p>
            <a:pPr marL="457200" indent="-457200">
              <a:buFont typeface="+mj-lt"/>
              <a:buAutoNum type="arabicPeriod"/>
            </a:pPr>
            <a:r>
              <a:rPr lang="en-US" sz="2000" dirty="0" smtClean="0"/>
              <a:t>Specify </a:t>
            </a:r>
            <a:r>
              <a:rPr lang="en-US" sz="2000" dirty="0"/>
              <a:t>the evaluation criteria of how the information will be classified and labeled.</a:t>
            </a:r>
          </a:p>
          <a:p>
            <a:pPr marL="457200" indent="-457200">
              <a:buFont typeface="+mj-lt"/>
              <a:buAutoNum type="arabicPeriod"/>
            </a:pPr>
            <a:r>
              <a:rPr lang="en-US" sz="2000" dirty="0" smtClean="0"/>
              <a:t>Classify </a:t>
            </a:r>
            <a:r>
              <a:rPr lang="en-US" sz="2000" dirty="0"/>
              <a:t>and label each resource. (The owner conducts this step, but a </a:t>
            </a:r>
            <a:r>
              <a:rPr lang="en-US" sz="2000" dirty="0" smtClean="0"/>
              <a:t>supervisor should </a:t>
            </a:r>
            <a:r>
              <a:rPr lang="en-US" sz="2000" dirty="0"/>
              <a:t>review it.)</a:t>
            </a:r>
          </a:p>
          <a:p>
            <a:pPr marL="457200" indent="-457200">
              <a:buFont typeface="+mj-lt"/>
              <a:buAutoNum type="arabicPeriod"/>
            </a:pPr>
            <a:r>
              <a:rPr lang="en-US" sz="2000" dirty="0" smtClean="0"/>
              <a:t>Document </a:t>
            </a:r>
            <a:r>
              <a:rPr lang="en-US" sz="2000" dirty="0"/>
              <a:t>any exceptions to the classification policy that are discovered, and </a:t>
            </a:r>
            <a:r>
              <a:rPr lang="en-US" sz="2000" dirty="0" smtClean="0"/>
              <a:t>integrate them </a:t>
            </a:r>
            <a:r>
              <a:rPr lang="en-US" sz="2000" dirty="0"/>
              <a:t>into the evaluation criteria.</a:t>
            </a:r>
          </a:p>
          <a:p>
            <a:pPr marL="457200" indent="-457200">
              <a:buFont typeface="+mj-lt"/>
              <a:buAutoNum type="arabicPeriod"/>
            </a:pPr>
            <a:r>
              <a:rPr lang="en-US" sz="2000" dirty="0" smtClean="0"/>
              <a:t>Select </a:t>
            </a:r>
            <a:r>
              <a:rPr lang="en-US" sz="2000" dirty="0"/>
              <a:t>the security controls that will be applied to each classification level to </a:t>
            </a:r>
            <a:r>
              <a:rPr lang="en-US" sz="2000" dirty="0" smtClean="0"/>
              <a:t>provide the </a:t>
            </a:r>
            <a:r>
              <a:rPr lang="en-US" sz="2000" dirty="0"/>
              <a:t>necessary level of protection.</a:t>
            </a:r>
          </a:p>
          <a:p>
            <a:pPr marL="457200" indent="-457200">
              <a:buFont typeface="+mj-lt"/>
              <a:buAutoNum type="arabicPeriod"/>
            </a:pPr>
            <a:r>
              <a:rPr lang="en-US" sz="2000" dirty="0" smtClean="0"/>
              <a:t>Specify </a:t>
            </a:r>
            <a:r>
              <a:rPr lang="en-US" sz="2000" dirty="0"/>
              <a:t>the procedures for declassifying resources and the procedures for </a:t>
            </a:r>
            <a:r>
              <a:rPr lang="en-US" sz="2000" dirty="0" smtClean="0"/>
              <a:t>transferring custody </a:t>
            </a:r>
            <a:r>
              <a:rPr lang="en-US" sz="2000" dirty="0"/>
              <a:t>of a resource to an external entity.</a:t>
            </a:r>
          </a:p>
          <a:p>
            <a:pPr marL="457200" indent="-457200">
              <a:buFont typeface="+mj-lt"/>
              <a:buAutoNum type="arabicPeriod"/>
            </a:pPr>
            <a:r>
              <a:rPr lang="en-US" sz="2000" dirty="0" smtClean="0"/>
              <a:t>Create </a:t>
            </a:r>
            <a:r>
              <a:rPr lang="en-US" sz="2000" dirty="0"/>
              <a:t>an enterprise-wide awareness program to instruct all personnel about the </a:t>
            </a:r>
            <a:r>
              <a:rPr lang="en-US" sz="2000" dirty="0" smtClean="0"/>
              <a:t>classification system</a:t>
            </a:r>
            <a:r>
              <a:rPr lang="en-US" sz="2000" dirty="0"/>
              <a:t>.</a:t>
            </a:r>
            <a:endParaRPr lang="en-GB" sz="2000" dirty="0"/>
          </a:p>
        </p:txBody>
      </p:sp>
    </p:spTree>
    <p:extLst>
      <p:ext uri="{BB962C8B-B14F-4D97-AF65-F5344CB8AC3E}">
        <p14:creationId xmlns:p14="http://schemas.microsoft.com/office/powerpoint/2010/main" val="1283496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smtClean="0">
                <a:latin typeface="Georgia" panose="02040502050405020303" pitchFamily="18" charset="0"/>
              </a:rPr>
              <a:t>Declassification</a:t>
            </a:r>
            <a:endParaRPr lang="en-GB" sz="3600" dirty="0">
              <a:latin typeface="Georgia" panose="02040502050405020303" pitchFamily="18" charset="0"/>
            </a:endParaRPr>
          </a:p>
        </p:txBody>
      </p:sp>
      <p:sp>
        <p:nvSpPr>
          <p:cNvPr id="3" name="Content Placeholder 2"/>
          <p:cNvSpPr>
            <a:spLocks noGrp="1"/>
          </p:cNvSpPr>
          <p:nvPr>
            <p:ph idx="1"/>
          </p:nvPr>
        </p:nvSpPr>
        <p:spPr/>
        <p:txBody>
          <a:bodyPr/>
          <a:lstStyle/>
          <a:p>
            <a:r>
              <a:rPr lang="en-US" dirty="0" smtClean="0"/>
              <a:t>Declassification </a:t>
            </a:r>
            <a:r>
              <a:rPr lang="en-US" dirty="0"/>
              <a:t>is required once an asset no longer </a:t>
            </a:r>
            <a:r>
              <a:rPr lang="en-US" dirty="0" smtClean="0"/>
              <a:t>warrants or </a:t>
            </a:r>
            <a:r>
              <a:rPr lang="en-US" dirty="0"/>
              <a:t>needs the protection of its currently assigned </a:t>
            </a:r>
            <a:r>
              <a:rPr lang="en-US" dirty="0" smtClean="0"/>
              <a:t>classification.</a:t>
            </a:r>
          </a:p>
          <a:p>
            <a:r>
              <a:rPr lang="en-US" dirty="0"/>
              <a:t>When assets fail to be </a:t>
            </a:r>
            <a:r>
              <a:rPr lang="en-US" dirty="0" smtClean="0"/>
              <a:t>declassified </a:t>
            </a:r>
            <a:r>
              <a:rPr lang="en-US" dirty="0"/>
              <a:t>as needed, security resources are wasted, </a:t>
            </a:r>
            <a:r>
              <a:rPr lang="en-US" dirty="0" smtClean="0"/>
              <a:t>and the </a:t>
            </a:r>
            <a:r>
              <a:rPr lang="en-US" dirty="0"/>
              <a:t>value and protection of the higher sensitivity levels is degraded</a:t>
            </a:r>
            <a:endParaRPr lang="en-GB" dirty="0"/>
          </a:p>
        </p:txBody>
      </p:sp>
    </p:spTree>
    <p:extLst>
      <p:ext uri="{BB962C8B-B14F-4D97-AF65-F5344CB8AC3E}">
        <p14:creationId xmlns:p14="http://schemas.microsoft.com/office/powerpoint/2010/main" val="2441875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Classification </a:t>
            </a:r>
            <a:r>
              <a:rPr lang="en-GB" dirty="0"/>
              <a:t>schemes</a:t>
            </a:r>
          </a:p>
        </p:txBody>
      </p:sp>
      <p:sp>
        <p:nvSpPr>
          <p:cNvPr id="3" name="Content Placeholder 2"/>
          <p:cNvSpPr>
            <a:spLocks noGrp="1"/>
          </p:cNvSpPr>
          <p:nvPr>
            <p:ph idx="1"/>
          </p:nvPr>
        </p:nvSpPr>
        <p:spPr>
          <a:xfrm>
            <a:off x="914400" y="1248276"/>
            <a:ext cx="10363200" cy="4114800"/>
          </a:xfrm>
        </p:spPr>
        <p:txBody>
          <a:bodyPr/>
          <a:lstStyle/>
          <a:p>
            <a:r>
              <a:rPr lang="en-GB" dirty="0"/>
              <a:t>Levels of government/military </a:t>
            </a:r>
            <a:r>
              <a:rPr lang="en-GB" dirty="0" smtClean="0"/>
              <a:t>classification (UK)</a:t>
            </a:r>
            <a:endParaRPr lang="en-GB" dirty="0"/>
          </a:p>
        </p:txBody>
      </p:sp>
      <p:sp>
        <p:nvSpPr>
          <p:cNvPr id="4" name="Rounded Rectangle 3"/>
          <p:cNvSpPr/>
          <p:nvPr/>
        </p:nvSpPr>
        <p:spPr bwMode="auto">
          <a:xfrm>
            <a:off x="1339515" y="2141621"/>
            <a:ext cx="2815390" cy="3553326"/>
          </a:xfrm>
          <a:prstGeom prst="roundRect">
            <a:avLst/>
          </a:prstGeom>
          <a:solidFill>
            <a:srgbClr val="00B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fontAlgn="base" hangingPunct="0">
              <a:spcBef>
                <a:spcPct val="0"/>
              </a:spcBef>
              <a:spcAft>
                <a:spcPct val="0"/>
              </a:spcAft>
            </a:pPr>
            <a:r>
              <a:rPr lang="en-GB" sz="1600" dirty="0" smtClean="0"/>
              <a:t>OFFICIAL</a:t>
            </a:r>
            <a:endParaRPr lang="en-US" sz="1600" dirty="0" smtClean="0"/>
          </a:p>
          <a:p>
            <a:pPr eaLnBrk="0" fontAlgn="base" hangingPunct="0">
              <a:spcBef>
                <a:spcPct val="0"/>
              </a:spcBef>
              <a:spcAft>
                <a:spcPct val="0"/>
              </a:spcAft>
            </a:pPr>
            <a:r>
              <a:rPr lang="en-US" sz="1600" dirty="0" smtClean="0"/>
              <a:t>The majority of information that is created or processed by the public sector. This includes routine business operations and services, some of which could have damaging consequences if lost, stolen or published in the media, but are not subject to a heightened threat profile.</a:t>
            </a:r>
            <a:endParaRPr kumimoji="0" lang="en-GB" sz="1600" b="0" i="0" u="none" strike="noStrike" cap="none" normalizeH="0" baseline="0" dirty="0" smtClean="0">
              <a:ln>
                <a:noFill/>
              </a:ln>
              <a:solidFill>
                <a:schemeClr val="tx1"/>
              </a:solidFill>
              <a:effectLst/>
              <a:latin typeface="Tahoma" pitchFamily="34" charset="0"/>
            </a:endParaRPr>
          </a:p>
        </p:txBody>
      </p:sp>
      <p:sp>
        <p:nvSpPr>
          <p:cNvPr id="7" name="Rounded Rectangle 6"/>
          <p:cNvSpPr/>
          <p:nvPr/>
        </p:nvSpPr>
        <p:spPr bwMode="auto">
          <a:xfrm>
            <a:off x="4636168" y="2141621"/>
            <a:ext cx="2815390" cy="3553326"/>
          </a:xfrm>
          <a:prstGeom prst="roundRect">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fontAlgn="base" hangingPunct="0">
              <a:spcBef>
                <a:spcPct val="0"/>
              </a:spcBef>
              <a:spcAft>
                <a:spcPct val="0"/>
              </a:spcAft>
            </a:pPr>
            <a:r>
              <a:rPr lang="en-US" sz="1600" dirty="0" smtClean="0"/>
              <a:t>SECRET </a:t>
            </a:r>
          </a:p>
          <a:p>
            <a:pPr eaLnBrk="0" fontAlgn="base" hangingPunct="0">
              <a:spcBef>
                <a:spcPct val="0"/>
              </a:spcBef>
              <a:spcAft>
                <a:spcPct val="0"/>
              </a:spcAft>
            </a:pPr>
            <a:r>
              <a:rPr lang="en-US" sz="1600" dirty="0" smtClean="0"/>
              <a:t>Very sensitive information that justifies heightened protective measures to defend against determined and highly capable threat actors. For example, where compromise could seriously damage military capabilities, international relations or the investigation of serious </a:t>
            </a:r>
            <a:r>
              <a:rPr lang="en-US" sz="1600" dirty="0" err="1" smtClean="0"/>
              <a:t>organised</a:t>
            </a:r>
            <a:r>
              <a:rPr lang="en-US" sz="1600" dirty="0" smtClean="0"/>
              <a:t> crime.</a:t>
            </a:r>
            <a:endParaRPr kumimoji="0" lang="en-GB" sz="1600" b="0" i="0" u="none" strike="noStrike" cap="none" normalizeH="0" baseline="0" dirty="0" smtClean="0">
              <a:ln>
                <a:noFill/>
              </a:ln>
              <a:solidFill>
                <a:schemeClr val="tx1"/>
              </a:solidFill>
              <a:effectLst/>
              <a:latin typeface="Tahoma" pitchFamily="34" charset="0"/>
            </a:endParaRPr>
          </a:p>
        </p:txBody>
      </p:sp>
      <p:sp>
        <p:nvSpPr>
          <p:cNvPr id="8" name="Rounded Rectangle 7"/>
          <p:cNvSpPr/>
          <p:nvPr/>
        </p:nvSpPr>
        <p:spPr bwMode="auto">
          <a:xfrm>
            <a:off x="7932821" y="2141621"/>
            <a:ext cx="2815390" cy="3553326"/>
          </a:xfrm>
          <a:prstGeom prst="round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fontAlgn="base" hangingPunct="0">
              <a:spcBef>
                <a:spcPct val="0"/>
              </a:spcBef>
              <a:spcAft>
                <a:spcPct val="0"/>
              </a:spcAft>
            </a:pPr>
            <a:r>
              <a:rPr lang="en-US" sz="1600" dirty="0" smtClean="0"/>
              <a:t>TOP SECRET </a:t>
            </a:r>
          </a:p>
          <a:p>
            <a:pPr eaLnBrk="0" fontAlgn="base" hangingPunct="0">
              <a:spcBef>
                <a:spcPct val="0"/>
              </a:spcBef>
              <a:spcAft>
                <a:spcPct val="0"/>
              </a:spcAft>
            </a:pPr>
            <a:r>
              <a:rPr lang="en-US" sz="1600" dirty="0" smtClean="0"/>
              <a:t>HMG’s most sensitive information requiring the highest levels of protection from the most serious threats. For example, where compromise could cause widespread loss of life or else threaten the security or economic wellbeing of the country or friendly nations.</a:t>
            </a:r>
            <a:endParaRPr kumimoji="0" lang="en-GB" sz="1600" b="0" i="0" u="none" strike="noStrike" cap="none" normalizeH="0" baseline="0" dirty="0" smtClean="0">
              <a:ln>
                <a:noFill/>
              </a:ln>
              <a:solidFill>
                <a:schemeClr val="tx1"/>
              </a:solidFill>
              <a:effectLst/>
              <a:latin typeface="Tahoma" pitchFamily="34" charset="0"/>
            </a:endParaRPr>
          </a:p>
        </p:txBody>
      </p:sp>
    </p:spTree>
    <p:extLst>
      <p:ext uri="{BB962C8B-B14F-4D97-AF65-F5344CB8AC3E}">
        <p14:creationId xmlns:p14="http://schemas.microsoft.com/office/powerpoint/2010/main" val="3325397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Classification schemes</a:t>
            </a:r>
          </a:p>
        </p:txBody>
      </p:sp>
      <p:sp>
        <p:nvSpPr>
          <p:cNvPr id="3" name="Content Placeholder 2"/>
          <p:cNvSpPr>
            <a:spLocks noGrp="1"/>
          </p:cNvSpPr>
          <p:nvPr>
            <p:ph idx="1"/>
          </p:nvPr>
        </p:nvSpPr>
        <p:spPr/>
        <p:txBody>
          <a:bodyPr/>
          <a:lstStyle/>
          <a:p>
            <a:r>
              <a:rPr lang="en-GB" dirty="0"/>
              <a:t>Levels of </a:t>
            </a:r>
            <a:r>
              <a:rPr lang="en-GB" dirty="0" smtClean="0"/>
              <a:t>commercial </a:t>
            </a:r>
            <a:r>
              <a:rPr lang="en-GB" dirty="0"/>
              <a:t>classification </a:t>
            </a:r>
          </a:p>
        </p:txBody>
      </p:sp>
      <p:sp>
        <p:nvSpPr>
          <p:cNvPr id="4" name="Right Triangle 3"/>
          <p:cNvSpPr/>
          <p:nvPr/>
        </p:nvSpPr>
        <p:spPr bwMode="auto">
          <a:xfrm rot="5400000">
            <a:off x="3061267" y="1254058"/>
            <a:ext cx="1264854" cy="3408947"/>
          </a:xfrm>
          <a:prstGeom prst="rtTriangle">
            <a:avLst/>
          </a:prstGeom>
          <a:solidFill>
            <a:schemeClr val="accent1"/>
          </a:solidFill>
          <a:ln w="9525" cap="flat" cmpd="sng" algn="ctr">
            <a:solidFill>
              <a:schemeClr val="tx1"/>
            </a:solidFill>
            <a:prstDash val="solid"/>
            <a:round/>
            <a:headEnd type="none" w="med" len="med"/>
            <a:tailEnd type="none" w="med" len="med"/>
          </a:ln>
          <a:effectLst/>
        </p:spPr>
        <p:txBody>
          <a:bodyPr vert="vert270"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GB" sz="1500" b="0" i="0" u="none" strike="noStrike" cap="none" normalizeH="0" baseline="0" dirty="0" smtClean="0">
                <a:ln>
                  <a:noFill/>
                </a:ln>
                <a:solidFill>
                  <a:schemeClr val="tx1"/>
                </a:solidFill>
                <a:effectLst/>
                <a:latin typeface="Tahoma" pitchFamily="34" charset="0"/>
              </a:rPr>
              <a:t>Confidential</a:t>
            </a:r>
          </a:p>
        </p:txBody>
      </p:sp>
      <p:sp>
        <p:nvSpPr>
          <p:cNvPr id="6" name="Right Triangle 5"/>
          <p:cNvSpPr/>
          <p:nvPr/>
        </p:nvSpPr>
        <p:spPr bwMode="auto">
          <a:xfrm rot="16200000">
            <a:off x="3061267" y="1254058"/>
            <a:ext cx="1264854" cy="3408947"/>
          </a:xfrm>
          <a:prstGeom prst="rtTriangle">
            <a:avLst/>
          </a:prstGeom>
          <a:solidFill>
            <a:schemeClr val="accent1"/>
          </a:solidFill>
          <a:ln w="9525" cap="flat" cmpd="sng" algn="ctr">
            <a:solidFill>
              <a:schemeClr val="tx1"/>
            </a:solidFill>
            <a:prstDash val="solid"/>
            <a:round/>
            <a:headEnd type="none" w="med" len="med"/>
            <a:tailEnd type="none" w="med" len="med"/>
          </a:ln>
          <a:effectLst/>
        </p:spPr>
        <p:txBody>
          <a:bodyPr vert="vert"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GB" sz="1500" b="0" i="0" u="none" strike="noStrike" cap="none" normalizeH="0" baseline="0" dirty="0" smtClean="0">
                <a:ln>
                  <a:noFill/>
                </a:ln>
                <a:solidFill>
                  <a:schemeClr val="tx1"/>
                </a:solidFill>
                <a:effectLst/>
                <a:latin typeface="Tahoma" pitchFamily="34" charset="0"/>
              </a:rPr>
              <a:t>Private</a:t>
            </a:r>
          </a:p>
        </p:txBody>
      </p:sp>
      <p:sp>
        <p:nvSpPr>
          <p:cNvPr id="7" name="Rectangle 6"/>
          <p:cNvSpPr/>
          <p:nvPr/>
        </p:nvSpPr>
        <p:spPr bwMode="auto">
          <a:xfrm>
            <a:off x="1989220" y="3590959"/>
            <a:ext cx="3408948" cy="1189588"/>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b="0" i="0" u="none" strike="noStrike" cap="none" normalizeH="0" baseline="0" dirty="0" smtClean="0">
              <a:ln>
                <a:noFill/>
              </a:ln>
              <a:solidFill>
                <a:schemeClr val="tx1"/>
              </a:solidFill>
              <a:effectLst/>
              <a:latin typeface="Tahoma" pitchFamily="34" charset="0"/>
            </a:endParaRPr>
          </a:p>
          <a:p>
            <a:pPr marL="0" marR="0" indent="0" algn="ctr" defTabSz="914400" rtl="0" eaLnBrk="0" fontAlgn="base" latinLnBrk="0" hangingPunct="0">
              <a:lnSpc>
                <a:spcPct val="100000"/>
              </a:lnSpc>
              <a:spcBef>
                <a:spcPct val="0"/>
              </a:spcBef>
              <a:spcAft>
                <a:spcPct val="0"/>
              </a:spcAft>
              <a:buClrTx/>
              <a:buSzTx/>
              <a:buFontTx/>
              <a:buNone/>
              <a:tabLst/>
            </a:pPr>
            <a:r>
              <a:rPr kumimoji="0" lang="en-GB" b="0" i="0" u="none" strike="noStrike" cap="none" normalizeH="0" baseline="0" dirty="0" smtClean="0">
                <a:ln>
                  <a:noFill/>
                </a:ln>
                <a:solidFill>
                  <a:schemeClr val="tx1"/>
                </a:solidFill>
                <a:effectLst/>
                <a:latin typeface="Tahoma" pitchFamily="34" charset="0"/>
              </a:rPr>
              <a:t>Sensitive</a:t>
            </a:r>
            <a:endParaRPr kumimoji="0" lang="en-GB" sz="2400" b="0" i="0" u="none" strike="noStrike" cap="none" normalizeH="0" baseline="0" dirty="0" smtClean="0">
              <a:ln>
                <a:noFill/>
              </a:ln>
              <a:solidFill>
                <a:schemeClr val="tx1"/>
              </a:solidFill>
              <a:effectLst/>
              <a:latin typeface="Tahoma" pitchFamily="34" charset="0"/>
            </a:endParaRPr>
          </a:p>
        </p:txBody>
      </p:sp>
      <p:sp>
        <p:nvSpPr>
          <p:cNvPr id="8" name="Rectangle 7"/>
          <p:cNvSpPr/>
          <p:nvPr/>
        </p:nvSpPr>
        <p:spPr bwMode="auto">
          <a:xfrm>
            <a:off x="1989220" y="4780547"/>
            <a:ext cx="3408948" cy="1189588"/>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b="0" i="0" u="none" strike="noStrike" cap="none" normalizeH="0" baseline="0" dirty="0" smtClean="0">
              <a:ln>
                <a:noFill/>
              </a:ln>
              <a:solidFill>
                <a:schemeClr val="tx1"/>
              </a:solidFill>
              <a:effectLst/>
              <a:latin typeface="Tahoma" pitchFamily="34" charset="0"/>
            </a:endParaRPr>
          </a:p>
          <a:p>
            <a:pPr marL="0" marR="0" indent="0" algn="ctr" defTabSz="914400" rtl="0" eaLnBrk="0" fontAlgn="base" latinLnBrk="0" hangingPunct="0">
              <a:lnSpc>
                <a:spcPct val="100000"/>
              </a:lnSpc>
              <a:spcBef>
                <a:spcPct val="0"/>
              </a:spcBef>
              <a:spcAft>
                <a:spcPct val="0"/>
              </a:spcAft>
              <a:buClrTx/>
              <a:buSzTx/>
              <a:buFontTx/>
              <a:buNone/>
              <a:tabLst/>
            </a:pPr>
            <a:r>
              <a:rPr kumimoji="0" lang="en-GB" b="0" i="0" u="none" strike="noStrike" cap="none" normalizeH="0" baseline="0" dirty="0" smtClean="0">
                <a:ln>
                  <a:noFill/>
                </a:ln>
                <a:solidFill>
                  <a:schemeClr val="tx1"/>
                </a:solidFill>
                <a:effectLst/>
                <a:latin typeface="Tahoma" pitchFamily="34" charset="0"/>
              </a:rPr>
              <a:t>Public</a:t>
            </a:r>
            <a:endParaRPr kumimoji="0" lang="en-GB" sz="2400" b="0" i="0" u="none" strike="noStrike" cap="none" normalizeH="0" baseline="0" dirty="0" smtClean="0">
              <a:ln>
                <a:noFill/>
              </a:ln>
              <a:solidFill>
                <a:schemeClr val="tx1"/>
              </a:solidFill>
              <a:effectLst/>
              <a:latin typeface="Tahoma" pitchFamily="34" charset="0"/>
            </a:endParaRPr>
          </a:p>
        </p:txBody>
      </p:sp>
      <p:sp>
        <p:nvSpPr>
          <p:cNvPr id="9" name="TextBox 8"/>
          <p:cNvSpPr txBox="1"/>
          <p:nvPr/>
        </p:nvSpPr>
        <p:spPr>
          <a:xfrm>
            <a:off x="5743073" y="2773865"/>
            <a:ext cx="1098885" cy="369332"/>
          </a:xfrm>
          <a:prstGeom prst="rect">
            <a:avLst/>
          </a:prstGeom>
          <a:noFill/>
        </p:spPr>
        <p:txBody>
          <a:bodyPr wrap="square" rtlCol="0">
            <a:spAutoFit/>
          </a:bodyPr>
          <a:lstStyle/>
          <a:p>
            <a:r>
              <a:rPr lang="en-GB" dirty="0" smtClean="0"/>
              <a:t>High</a:t>
            </a:r>
            <a:endParaRPr lang="en-GB" dirty="0"/>
          </a:p>
        </p:txBody>
      </p:sp>
      <p:sp>
        <p:nvSpPr>
          <p:cNvPr id="10" name="TextBox 9"/>
          <p:cNvSpPr txBox="1"/>
          <p:nvPr/>
        </p:nvSpPr>
        <p:spPr>
          <a:xfrm>
            <a:off x="5775157" y="5287447"/>
            <a:ext cx="1098885" cy="369332"/>
          </a:xfrm>
          <a:prstGeom prst="rect">
            <a:avLst/>
          </a:prstGeom>
          <a:noFill/>
        </p:spPr>
        <p:txBody>
          <a:bodyPr wrap="square" rtlCol="0">
            <a:spAutoFit/>
          </a:bodyPr>
          <a:lstStyle/>
          <a:p>
            <a:r>
              <a:rPr lang="en-GB" dirty="0" smtClean="0"/>
              <a:t>Low</a:t>
            </a:r>
            <a:endParaRPr lang="en-GB" dirty="0"/>
          </a:p>
        </p:txBody>
      </p:sp>
    </p:spTree>
    <p:extLst>
      <p:ext uri="{BB962C8B-B14F-4D97-AF65-F5344CB8AC3E}">
        <p14:creationId xmlns:p14="http://schemas.microsoft.com/office/powerpoint/2010/main" val="394543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Classification schemes</a:t>
            </a:r>
          </a:p>
        </p:txBody>
      </p:sp>
      <p:sp>
        <p:nvSpPr>
          <p:cNvPr id="3" name="Content Placeholder 2"/>
          <p:cNvSpPr>
            <a:spLocks noGrp="1"/>
          </p:cNvSpPr>
          <p:nvPr>
            <p:ph idx="1"/>
          </p:nvPr>
        </p:nvSpPr>
        <p:spPr/>
        <p:txBody>
          <a:bodyPr/>
          <a:lstStyle/>
          <a:p>
            <a:pPr marL="342900" lvl="1" indent="-342900">
              <a:buFontTx/>
              <a:buChar char="•"/>
            </a:pPr>
            <a:r>
              <a:rPr lang="en-US" dirty="0"/>
              <a:t>Confidential </a:t>
            </a:r>
            <a:r>
              <a:rPr lang="en-US" dirty="0" smtClean="0"/>
              <a:t>- </a:t>
            </a:r>
            <a:r>
              <a:rPr lang="en-US" dirty="0"/>
              <a:t>The highest level of classification. </a:t>
            </a:r>
            <a:endParaRPr lang="en-US" dirty="0" smtClean="0"/>
          </a:p>
          <a:p>
            <a:pPr lvl="1">
              <a:buFont typeface="Arial" panose="020B0604020202020204" pitchFamily="34" charset="0"/>
              <a:buChar char="•"/>
            </a:pPr>
            <a:r>
              <a:rPr lang="en-US" dirty="0" smtClean="0"/>
              <a:t>This </a:t>
            </a:r>
            <a:r>
              <a:rPr lang="en-US" dirty="0"/>
              <a:t>is used for data that is extremely </a:t>
            </a:r>
            <a:r>
              <a:rPr lang="en-US" dirty="0" smtClean="0"/>
              <a:t>sensitive and </a:t>
            </a:r>
            <a:r>
              <a:rPr lang="en-US" dirty="0"/>
              <a:t>for internal use only. </a:t>
            </a:r>
            <a:endParaRPr lang="en-US" dirty="0" smtClean="0"/>
          </a:p>
          <a:p>
            <a:pPr lvl="1">
              <a:buFont typeface="Arial" panose="020B0604020202020204" pitchFamily="34" charset="0"/>
              <a:buChar char="•"/>
            </a:pPr>
            <a:r>
              <a:rPr lang="en-US" dirty="0" smtClean="0"/>
              <a:t>A significant </a:t>
            </a:r>
            <a:r>
              <a:rPr lang="en-US" dirty="0"/>
              <a:t>negative impact could occur for a company if </a:t>
            </a:r>
            <a:r>
              <a:rPr lang="en-US" dirty="0" smtClean="0"/>
              <a:t>confidential data </a:t>
            </a:r>
            <a:r>
              <a:rPr lang="en-US" dirty="0"/>
              <a:t>is disclosed. </a:t>
            </a:r>
            <a:endParaRPr lang="en-US" dirty="0" smtClean="0"/>
          </a:p>
          <a:p>
            <a:pPr lvl="2"/>
            <a:r>
              <a:rPr lang="en-US" dirty="0" smtClean="0"/>
              <a:t>Occasionally the </a:t>
            </a:r>
            <a:r>
              <a:rPr lang="en-US" dirty="0"/>
              <a:t>label </a:t>
            </a:r>
            <a:r>
              <a:rPr lang="en-US" i="1" u="sng" dirty="0"/>
              <a:t>proprietary</a:t>
            </a:r>
            <a:r>
              <a:rPr lang="en-US" dirty="0"/>
              <a:t> is substituted for </a:t>
            </a:r>
            <a:r>
              <a:rPr lang="en-US" dirty="0" smtClean="0"/>
              <a:t>confidential </a:t>
            </a:r>
            <a:r>
              <a:rPr lang="en-US" dirty="0"/>
              <a:t>P</a:t>
            </a:r>
            <a:r>
              <a:rPr lang="en-US" dirty="0" smtClean="0"/>
              <a:t>roprietary </a:t>
            </a:r>
            <a:r>
              <a:rPr lang="en-US" dirty="0"/>
              <a:t>data </a:t>
            </a:r>
            <a:r>
              <a:rPr lang="en-US" dirty="0" smtClean="0"/>
              <a:t>can be </a:t>
            </a:r>
            <a:r>
              <a:rPr lang="en-US" dirty="0"/>
              <a:t>considered a </a:t>
            </a:r>
            <a:r>
              <a:rPr lang="en-US" dirty="0" smtClean="0"/>
              <a:t>specific </a:t>
            </a:r>
            <a:r>
              <a:rPr lang="en-US" dirty="0"/>
              <a:t>form of </a:t>
            </a:r>
            <a:r>
              <a:rPr lang="en-US" dirty="0" smtClean="0"/>
              <a:t>confidential </a:t>
            </a:r>
            <a:r>
              <a:rPr lang="en-US" dirty="0"/>
              <a:t>information. </a:t>
            </a:r>
            <a:endParaRPr lang="en-US" dirty="0" smtClean="0"/>
          </a:p>
          <a:p>
            <a:pPr lvl="2"/>
            <a:r>
              <a:rPr lang="en-US" dirty="0" smtClean="0"/>
              <a:t>If </a:t>
            </a:r>
            <a:r>
              <a:rPr lang="en-US" dirty="0"/>
              <a:t>proprietary data </a:t>
            </a:r>
            <a:r>
              <a:rPr lang="en-US" dirty="0" smtClean="0"/>
              <a:t>is disclosed</a:t>
            </a:r>
            <a:r>
              <a:rPr lang="en-US" dirty="0"/>
              <a:t>, it can have drastic effects on the competitive edge of an organization</a:t>
            </a:r>
            <a:r>
              <a:rPr lang="en-US" dirty="0" smtClean="0"/>
              <a:t>.</a:t>
            </a:r>
            <a:endParaRPr lang="en-US" dirty="0"/>
          </a:p>
        </p:txBody>
      </p:sp>
    </p:spTree>
    <p:extLst>
      <p:ext uri="{BB962C8B-B14F-4D97-AF65-F5344CB8AC3E}">
        <p14:creationId xmlns:p14="http://schemas.microsoft.com/office/powerpoint/2010/main" val="3215393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Classification schemes</a:t>
            </a:r>
          </a:p>
        </p:txBody>
      </p:sp>
      <p:sp>
        <p:nvSpPr>
          <p:cNvPr id="3" name="Content Placeholder 2"/>
          <p:cNvSpPr>
            <a:spLocks noGrp="1"/>
          </p:cNvSpPr>
          <p:nvPr>
            <p:ph idx="1"/>
          </p:nvPr>
        </p:nvSpPr>
        <p:spPr/>
        <p:txBody>
          <a:bodyPr/>
          <a:lstStyle/>
          <a:p>
            <a:r>
              <a:rPr lang="en-US" b="1" dirty="0"/>
              <a:t>Private </a:t>
            </a:r>
            <a:endParaRPr lang="en-US" b="1" dirty="0" smtClean="0"/>
          </a:p>
          <a:p>
            <a:r>
              <a:rPr lang="en-US" dirty="0" smtClean="0"/>
              <a:t>Used </a:t>
            </a:r>
            <a:r>
              <a:rPr lang="en-US" dirty="0"/>
              <a:t>for data that is of a private or personal nature and intended for internal </a:t>
            </a:r>
            <a:r>
              <a:rPr lang="en-US" dirty="0" smtClean="0"/>
              <a:t>use only</a:t>
            </a:r>
            <a:r>
              <a:rPr lang="en-US" dirty="0"/>
              <a:t>. </a:t>
            </a:r>
            <a:endParaRPr lang="en-US" dirty="0" smtClean="0"/>
          </a:p>
          <a:p>
            <a:r>
              <a:rPr lang="en-US" dirty="0" smtClean="0"/>
              <a:t>A significant </a:t>
            </a:r>
            <a:r>
              <a:rPr lang="en-US" dirty="0"/>
              <a:t>negative impact could occur for the company or individuals if </a:t>
            </a:r>
            <a:r>
              <a:rPr lang="en-US" dirty="0" smtClean="0"/>
              <a:t>private </a:t>
            </a:r>
            <a:r>
              <a:rPr lang="en-GB" dirty="0" smtClean="0"/>
              <a:t>data </a:t>
            </a:r>
            <a:r>
              <a:rPr lang="en-GB" dirty="0"/>
              <a:t>is disclosed</a:t>
            </a:r>
            <a:r>
              <a:rPr lang="en-GB" dirty="0" smtClean="0"/>
              <a:t>. </a:t>
            </a:r>
            <a:r>
              <a:rPr lang="en-GB" i="1" dirty="0" smtClean="0">
                <a:solidFill>
                  <a:srgbClr val="FF0000"/>
                </a:solidFill>
              </a:rPr>
              <a:t>(We will talk about GDPR… )</a:t>
            </a:r>
            <a:endParaRPr lang="en-GB" i="1" dirty="0">
              <a:solidFill>
                <a:srgbClr val="FF0000"/>
              </a:solidFill>
            </a:endParaRPr>
          </a:p>
        </p:txBody>
      </p:sp>
    </p:spTree>
    <p:extLst>
      <p:ext uri="{BB962C8B-B14F-4D97-AF65-F5344CB8AC3E}">
        <p14:creationId xmlns:p14="http://schemas.microsoft.com/office/powerpoint/2010/main" val="2029280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Classification schemes</a:t>
            </a:r>
          </a:p>
        </p:txBody>
      </p:sp>
      <p:sp>
        <p:nvSpPr>
          <p:cNvPr id="3" name="Content Placeholder 2"/>
          <p:cNvSpPr>
            <a:spLocks noGrp="1"/>
          </p:cNvSpPr>
          <p:nvPr>
            <p:ph idx="1"/>
          </p:nvPr>
        </p:nvSpPr>
        <p:spPr/>
        <p:txBody>
          <a:bodyPr/>
          <a:lstStyle/>
          <a:p>
            <a:r>
              <a:rPr lang="en-US" dirty="0"/>
              <a:t>Sensitive </a:t>
            </a:r>
            <a:endParaRPr lang="en-US" dirty="0" smtClean="0"/>
          </a:p>
          <a:p>
            <a:pPr lvl="1">
              <a:buFont typeface="Arial" panose="020B0604020202020204" pitchFamily="34" charset="0"/>
              <a:buChar char="•"/>
            </a:pPr>
            <a:r>
              <a:rPr lang="en-US" dirty="0" smtClean="0"/>
              <a:t>Used </a:t>
            </a:r>
            <a:r>
              <a:rPr lang="en-US" dirty="0"/>
              <a:t>for data that is more </a:t>
            </a:r>
            <a:r>
              <a:rPr lang="en-US" dirty="0" smtClean="0"/>
              <a:t>classified </a:t>
            </a:r>
            <a:r>
              <a:rPr lang="en-US" dirty="0"/>
              <a:t>than public data. </a:t>
            </a:r>
            <a:endParaRPr lang="en-US" dirty="0" smtClean="0"/>
          </a:p>
          <a:p>
            <a:pPr lvl="1">
              <a:buFont typeface="Arial" panose="020B0604020202020204" pitchFamily="34" charset="0"/>
              <a:buChar char="•"/>
            </a:pPr>
            <a:r>
              <a:rPr lang="en-US" dirty="0" smtClean="0"/>
              <a:t>A </a:t>
            </a:r>
            <a:r>
              <a:rPr lang="en-US" dirty="0"/>
              <a:t>negative impact </a:t>
            </a:r>
            <a:r>
              <a:rPr lang="en-US" dirty="0" smtClean="0"/>
              <a:t>could occur </a:t>
            </a:r>
            <a:r>
              <a:rPr lang="en-US" dirty="0"/>
              <a:t>for the company if sensitive data is disclosed.</a:t>
            </a:r>
          </a:p>
          <a:p>
            <a:r>
              <a:rPr lang="en-US" dirty="0"/>
              <a:t>Public </a:t>
            </a:r>
            <a:r>
              <a:rPr lang="en-US" dirty="0" smtClean="0"/>
              <a:t>- The </a:t>
            </a:r>
            <a:r>
              <a:rPr lang="en-US" dirty="0"/>
              <a:t>lowest level of </a:t>
            </a:r>
            <a:r>
              <a:rPr lang="en-US" dirty="0" smtClean="0"/>
              <a:t>classification</a:t>
            </a:r>
            <a:r>
              <a:rPr lang="en-US" dirty="0"/>
              <a:t>. </a:t>
            </a:r>
            <a:endParaRPr lang="en-US" dirty="0" smtClean="0"/>
          </a:p>
          <a:p>
            <a:pPr lvl="1">
              <a:buFont typeface="Arial" panose="020B0604020202020204" pitchFamily="34" charset="0"/>
              <a:buChar char="•"/>
            </a:pPr>
            <a:r>
              <a:rPr lang="en-US" dirty="0" smtClean="0"/>
              <a:t>This </a:t>
            </a:r>
            <a:r>
              <a:rPr lang="en-US" dirty="0"/>
              <a:t>is used for all data that does not </a:t>
            </a:r>
            <a:r>
              <a:rPr lang="en-US" dirty="0" smtClean="0"/>
              <a:t>fit </a:t>
            </a:r>
            <a:r>
              <a:rPr lang="en-US" dirty="0"/>
              <a:t>in </a:t>
            </a:r>
            <a:r>
              <a:rPr lang="en-US" dirty="0" smtClean="0"/>
              <a:t>one of </a:t>
            </a:r>
            <a:r>
              <a:rPr lang="en-US" dirty="0"/>
              <a:t>the higher </a:t>
            </a:r>
            <a:r>
              <a:rPr lang="en-US" dirty="0" smtClean="0"/>
              <a:t>classifications</a:t>
            </a:r>
            <a:r>
              <a:rPr lang="en-US" dirty="0"/>
              <a:t>. </a:t>
            </a:r>
            <a:endParaRPr lang="en-US" dirty="0" smtClean="0"/>
          </a:p>
          <a:p>
            <a:pPr lvl="1">
              <a:buFont typeface="Arial" panose="020B0604020202020204" pitchFamily="34" charset="0"/>
              <a:buChar char="•"/>
            </a:pPr>
            <a:r>
              <a:rPr lang="en-US" dirty="0" smtClean="0"/>
              <a:t>Its </a:t>
            </a:r>
            <a:r>
              <a:rPr lang="en-US" dirty="0"/>
              <a:t>disclosure does not have a serious negative impact on </a:t>
            </a:r>
            <a:r>
              <a:rPr lang="en-US" dirty="0" smtClean="0"/>
              <a:t>the organization</a:t>
            </a:r>
            <a:r>
              <a:rPr lang="en-US" dirty="0"/>
              <a:t>.</a:t>
            </a:r>
            <a:endParaRPr lang="en-GB" dirty="0"/>
          </a:p>
        </p:txBody>
      </p:sp>
    </p:spTree>
    <p:extLst>
      <p:ext uri="{BB962C8B-B14F-4D97-AF65-F5344CB8AC3E}">
        <p14:creationId xmlns:p14="http://schemas.microsoft.com/office/powerpoint/2010/main" val="3423189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10363200" cy="970547"/>
          </a:xfrm>
        </p:spPr>
        <p:txBody>
          <a:bodyPr/>
          <a:lstStyle/>
          <a:p>
            <a:r>
              <a:rPr lang="en-GB" dirty="0" smtClean="0"/>
              <a:t>Ownership</a:t>
            </a:r>
            <a:endParaRPr lang="en-GB" dirty="0"/>
          </a:p>
        </p:txBody>
      </p:sp>
      <p:sp>
        <p:nvSpPr>
          <p:cNvPr id="3" name="Content Placeholder 2"/>
          <p:cNvSpPr>
            <a:spLocks noGrp="1"/>
          </p:cNvSpPr>
          <p:nvPr>
            <p:ph idx="1"/>
          </p:nvPr>
        </p:nvSpPr>
        <p:spPr>
          <a:xfrm>
            <a:off x="914400" y="868028"/>
            <a:ext cx="10363200" cy="4114800"/>
          </a:xfrm>
        </p:spPr>
        <p:txBody>
          <a:bodyPr/>
          <a:lstStyle/>
          <a:p>
            <a:r>
              <a:rPr lang="en-US" dirty="0"/>
              <a:t>F</a:t>
            </a:r>
            <a:r>
              <a:rPr lang="en-US" dirty="0" smtClean="0"/>
              <a:t>ormal </a:t>
            </a:r>
            <a:r>
              <a:rPr lang="en-US" dirty="0"/>
              <a:t>assignment of responsibility to an individual or </a:t>
            </a:r>
            <a:r>
              <a:rPr lang="en-US" dirty="0" smtClean="0"/>
              <a:t>group.</a:t>
            </a:r>
          </a:p>
          <a:p>
            <a:r>
              <a:rPr lang="en-US" dirty="0"/>
              <a:t>Ownership </a:t>
            </a:r>
            <a:r>
              <a:rPr lang="en-US" dirty="0" smtClean="0"/>
              <a:t>can be </a:t>
            </a:r>
            <a:r>
              <a:rPr lang="en-US" dirty="0"/>
              <a:t>made clear and distinct within an operating system where </a:t>
            </a:r>
            <a:r>
              <a:rPr lang="en-US" dirty="0" smtClean="0"/>
              <a:t>files </a:t>
            </a:r>
            <a:r>
              <a:rPr lang="en-US" dirty="0"/>
              <a:t>or other types of objects </a:t>
            </a:r>
            <a:r>
              <a:rPr lang="en-US" dirty="0" smtClean="0"/>
              <a:t>can be </a:t>
            </a:r>
            <a:r>
              <a:rPr lang="en-US" dirty="0"/>
              <a:t>assigned an owner</a:t>
            </a:r>
            <a:r>
              <a:rPr lang="en-US" dirty="0" smtClean="0"/>
              <a:t>.</a:t>
            </a:r>
          </a:p>
          <a:p>
            <a:r>
              <a:rPr lang="en-US" dirty="0"/>
              <a:t>Ownership of objects outside of formal IT structures is often not as </a:t>
            </a:r>
            <a:r>
              <a:rPr lang="en-US" dirty="0" smtClean="0"/>
              <a:t>obvious, or as easy.</a:t>
            </a:r>
          </a:p>
          <a:p>
            <a:r>
              <a:rPr lang="en-US" dirty="0"/>
              <a:t>A </a:t>
            </a:r>
            <a:r>
              <a:rPr lang="en-US" dirty="0" smtClean="0"/>
              <a:t>company document </a:t>
            </a:r>
            <a:r>
              <a:rPr lang="en-US" dirty="0"/>
              <a:t>can </a:t>
            </a:r>
            <a:r>
              <a:rPr lang="en-US" dirty="0" smtClean="0"/>
              <a:t>define owners, but can not enforce ownership!</a:t>
            </a:r>
            <a:endParaRPr lang="en-GB" dirty="0"/>
          </a:p>
        </p:txBody>
      </p:sp>
    </p:spTree>
    <p:extLst>
      <p:ext uri="{BB962C8B-B14F-4D97-AF65-F5344CB8AC3E}">
        <p14:creationId xmlns:p14="http://schemas.microsoft.com/office/powerpoint/2010/main" val="3089896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Security Roles and Responsibilities</a:t>
            </a:r>
          </a:p>
        </p:txBody>
      </p:sp>
      <p:sp>
        <p:nvSpPr>
          <p:cNvPr id="3" name="Content Placeholder 2"/>
          <p:cNvSpPr>
            <a:spLocks noGrp="1"/>
          </p:cNvSpPr>
          <p:nvPr>
            <p:ph idx="1"/>
          </p:nvPr>
        </p:nvSpPr>
        <p:spPr/>
        <p:txBody>
          <a:bodyPr/>
          <a:lstStyle/>
          <a:p>
            <a:r>
              <a:rPr lang="en-US" dirty="0"/>
              <a:t>A security role is the part an individual plays in the overall scheme of security </a:t>
            </a:r>
            <a:r>
              <a:rPr lang="en-US" dirty="0" smtClean="0"/>
              <a:t>implementation and </a:t>
            </a:r>
            <a:r>
              <a:rPr lang="en-US" dirty="0"/>
              <a:t>administration within an organization.</a:t>
            </a:r>
            <a:endParaRPr lang="en-GB" dirty="0"/>
          </a:p>
        </p:txBody>
      </p:sp>
    </p:spTree>
    <p:extLst>
      <p:ext uri="{BB962C8B-B14F-4D97-AF65-F5344CB8AC3E}">
        <p14:creationId xmlns:p14="http://schemas.microsoft.com/office/powerpoint/2010/main" val="460013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Security Roles and Responsibilities</a:t>
            </a:r>
          </a:p>
        </p:txBody>
      </p:sp>
      <p:sp>
        <p:nvSpPr>
          <p:cNvPr id="3" name="Content Placeholder 2"/>
          <p:cNvSpPr>
            <a:spLocks noGrp="1"/>
          </p:cNvSpPr>
          <p:nvPr>
            <p:ph idx="1"/>
          </p:nvPr>
        </p:nvSpPr>
        <p:spPr>
          <a:xfrm>
            <a:off x="914400" y="1140744"/>
            <a:ext cx="10363200" cy="4114800"/>
          </a:xfrm>
        </p:spPr>
        <p:txBody>
          <a:bodyPr/>
          <a:lstStyle/>
          <a:p>
            <a:r>
              <a:rPr lang="en-US" dirty="0"/>
              <a:t>Senior </a:t>
            </a:r>
            <a:r>
              <a:rPr lang="en-US" dirty="0" smtClean="0"/>
              <a:t>Manager: </a:t>
            </a:r>
          </a:p>
          <a:p>
            <a:r>
              <a:rPr lang="en-US" dirty="0" smtClean="0"/>
              <a:t>The </a:t>
            </a:r>
            <a:r>
              <a:rPr lang="en-US" dirty="0" err="1" smtClean="0"/>
              <a:t>organisational</a:t>
            </a:r>
            <a:r>
              <a:rPr lang="en-US" dirty="0" smtClean="0"/>
              <a:t> </a:t>
            </a:r>
            <a:r>
              <a:rPr lang="en-US" dirty="0"/>
              <a:t>owner (senior manager) role is assigned to the </a:t>
            </a:r>
            <a:r>
              <a:rPr lang="en-US" dirty="0" smtClean="0"/>
              <a:t>person who </a:t>
            </a:r>
            <a:r>
              <a:rPr lang="en-US" dirty="0"/>
              <a:t>is ultimately responsible for the security maintained by an organization and </a:t>
            </a:r>
            <a:r>
              <a:rPr lang="en-US" dirty="0" smtClean="0"/>
              <a:t>who should </a:t>
            </a:r>
            <a:r>
              <a:rPr lang="en-US" dirty="0"/>
              <a:t>be most concerned about the protection of its assets</a:t>
            </a:r>
            <a:r>
              <a:rPr lang="en-US" dirty="0" smtClean="0"/>
              <a:t>.</a:t>
            </a:r>
          </a:p>
          <a:p>
            <a:r>
              <a:rPr lang="en-US" dirty="0" smtClean="0"/>
              <a:t>Signs off all policy issues</a:t>
            </a:r>
          </a:p>
          <a:p>
            <a:r>
              <a:rPr lang="en-US" dirty="0" smtClean="0"/>
              <a:t>Endorsement of the </a:t>
            </a:r>
            <a:r>
              <a:rPr lang="en-US" dirty="0"/>
              <a:t>security policy indicates the </a:t>
            </a:r>
            <a:r>
              <a:rPr lang="en-US" dirty="0" smtClean="0"/>
              <a:t>accepted ownership </a:t>
            </a:r>
            <a:r>
              <a:rPr lang="en-US" dirty="0"/>
              <a:t>of the implemented security </a:t>
            </a:r>
            <a:r>
              <a:rPr lang="en-US" dirty="0" smtClean="0"/>
              <a:t>within the organisation</a:t>
            </a:r>
            <a:endParaRPr lang="en-GB" dirty="0"/>
          </a:p>
        </p:txBody>
      </p:sp>
    </p:spTree>
    <p:extLst>
      <p:ext uri="{BB962C8B-B14F-4D97-AF65-F5344CB8AC3E}">
        <p14:creationId xmlns:p14="http://schemas.microsoft.com/office/powerpoint/2010/main" val="687054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Security Roles and Responsibilities</a:t>
            </a:r>
            <a:endParaRPr lang="en-GB" sz="3600" dirty="0"/>
          </a:p>
        </p:txBody>
      </p:sp>
      <p:sp>
        <p:nvSpPr>
          <p:cNvPr id="3" name="Content Placeholder 2"/>
          <p:cNvSpPr>
            <a:spLocks noGrp="1"/>
          </p:cNvSpPr>
          <p:nvPr>
            <p:ph idx="1"/>
          </p:nvPr>
        </p:nvSpPr>
        <p:spPr>
          <a:xfrm>
            <a:off x="858252" y="1092619"/>
            <a:ext cx="10363200" cy="4114800"/>
          </a:xfrm>
        </p:spPr>
        <p:txBody>
          <a:bodyPr/>
          <a:lstStyle/>
          <a:p>
            <a:pPr>
              <a:spcAft>
                <a:spcPts val="600"/>
              </a:spcAft>
            </a:pPr>
            <a:r>
              <a:rPr lang="en-US" sz="2800" dirty="0"/>
              <a:t>Security </a:t>
            </a:r>
            <a:r>
              <a:rPr lang="en-US" sz="2800" dirty="0" smtClean="0"/>
              <a:t>Professional: </a:t>
            </a:r>
          </a:p>
          <a:p>
            <a:pPr>
              <a:spcAft>
                <a:spcPts val="600"/>
              </a:spcAft>
            </a:pPr>
            <a:r>
              <a:rPr lang="en-US" sz="2800" dirty="0" smtClean="0"/>
              <a:t>The </a:t>
            </a:r>
            <a:r>
              <a:rPr lang="en-US" sz="2800" dirty="0"/>
              <a:t>security professional, information security (</a:t>
            </a:r>
            <a:r>
              <a:rPr lang="en-US" sz="2800" dirty="0" smtClean="0"/>
              <a:t>InfoSec) officer</a:t>
            </a:r>
            <a:r>
              <a:rPr lang="en-US" sz="2800" dirty="0"/>
              <a:t>, or computer incident response team (CIRT) role is assigned to a </a:t>
            </a:r>
            <a:r>
              <a:rPr lang="en-US" sz="2800" dirty="0" smtClean="0"/>
              <a:t>trained </a:t>
            </a:r>
            <a:r>
              <a:rPr lang="en-US" sz="2800" dirty="0"/>
              <a:t>and experienced network, systems, and security engineer who is responsible for </a:t>
            </a:r>
            <a:r>
              <a:rPr lang="en-US" sz="2800" dirty="0" smtClean="0"/>
              <a:t>following the </a:t>
            </a:r>
            <a:r>
              <a:rPr lang="en-US" sz="2800" dirty="0"/>
              <a:t>directives mandated by senior management</a:t>
            </a:r>
            <a:r>
              <a:rPr lang="en-US" sz="2800" dirty="0" smtClean="0"/>
              <a:t>.</a:t>
            </a:r>
          </a:p>
          <a:p>
            <a:pPr>
              <a:spcAft>
                <a:spcPts val="600"/>
              </a:spcAft>
            </a:pPr>
            <a:r>
              <a:rPr lang="en-US" sz="2800" dirty="0" smtClean="0"/>
              <a:t>Functional responsibility </a:t>
            </a:r>
            <a:r>
              <a:rPr lang="en-US" sz="2800" dirty="0"/>
              <a:t>for security, including writing the security policy and </a:t>
            </a:r>
            <a:r>
              <a:rPr lang="en-US" sz="2800" dirty="0" smtClean="0"/>
              <a:t>implementing it.</a:t>
            </a:r>
          </a:p>
          <a:p>
            <a:pPr>
              <a:spcAft>
                <a:spcPts val="600"/>
              </a:spcAft>
            </a:pPr>
            <a:r>
              <a:rPr lang="en-US" sz="2800" dirty="0" smtClean="0"/>
              <a:t>Can be a team, not just an individual</a:t>
            </a:r>
          </a:p>
          <a:p>
            <a:endParaRPr lang="en-GB" dirty="0"/>
          </a:p>
        </p:txBody>
      </p:sp>
    </p:spTree>
    <p:extLst>
      <p:ext uri="{BB962C8B-B14F-4D97-AF65-F5344CB8AC3E}">
        <p14:creationId xmlns:p14="http://schemas.microsoft.com/office/powerpoint/2010/main" val="884162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Security Roles and Responsibilities</a:t>
            </a:r>
          </a:p>
        </p:txBody>
      </p:sp>
      <p:sp>
        <p:nvSpPr>
          <p:cNvPr id="3" name="Content Placeholder 2"/>
          <p:cNvSpPr>
            <a:spLocks noGrp="1"/>
          </p:cNvSpPr>
          <p:nvPr>
            <p:ph idx="1"/>
          </p:nvPr>
        </p:nvSpPr>
        <p:spPr/>
        <p:txBody>
          <a:bodyPr/>
          <a:lstStyle/>
          <a:p>
            <a:r>
              <a:rPr lang="en-US" sz="2800" dirty="0"/>
              <a:t>Data </a:t>
            </a:r>
            <a:r>
              <a:rPr lang="en-US" sz="2800" dirty="0" smtClean="0"/>
              <a:t>Owner:</a:t>
            </a:r>
          </a:p>
          <a:p>
            <a:r>
              <a:rPr lang="en-US" sz="2800" dirty="0" smtClean="0"/>
              <a:t>The </a:t>
            </a:r>
            <a:r>
              <a:rPr lang="en-US" sz="2800" dirty="0"/>
              <a:t>data owner role is assigned to the person who is responsible for </a:t>
            </a:r>
            <a:r>
              <a:rPr lang="en-US" sz="2800" dirty="0" smtClean="0"/>
              <a:t>classifying information </a:t>
            </a:r>
            <a:r>
              <a:rPr lang="en-US" sz="2800" dirty="0"/>
              <a:t>for placement and protection within the security solution. </a:t>
            </a:r>
            <a:endParaRPr lang="en-US" sz="2800" dirty="0" smtClean="0"/>
          </a:p>
          <a:p>
            <a:r>
              <a:rPr lang="en-US" sz="2800" dirty="0"/>
              <a:t>T</a:t>
            </a:r>
            <a:r>
              <a:rPr lang="en-US" sz="2800" dirty="0" smtClean="0"/>
              <a:t>ypically </a:t>
            </a:r>
            <a:r>
              <a:rPr lang="en-US" sz="2800" dirty="0"/>
              <a:t>a high-level manager who is ultimately responsible for data protection.</a:t>
            </a:r>
          </a:p>
          <a:p>
            <a:r>
              <a:rPr lang="en-US" sz="2800" dirty="0"/>
              <a:t>T</a:t>
            </a:r>
            <a:r>
              <a:rPr lang="en-US" sz="2800" dirty="0" smtClean="0"/>
              <a:t>he </a:t>
            </a:r>
            <a:r>
              <a:rPr lang="en-US" sz="2800" dirty="0"/>
              <a:t>data owner usually delegates the responsibility of the actual data </a:t>
            </a:r>
            <a:r>
              <a:rPr lang="en-US" sz="2800" dirty="0" smtClean="0"/>
              <a:t>management tasks </a:t>
            </a:r>
            <a:r>
              <a:rPr lang="en-US" sz="2800" dirty="0"/>
              <a:t>to a data custodian.</a:t>
            </a:r>
            <a:endParaRPr lang="en-GB" sz="2800" dirty="0"/>
          </a:p>
        </p:txBody>
      </p:sp>
    </p:spTree>
    <p:extLst>
      <p:ext uri="{BB962C8B-B14F-4D97-AF65-F5344CB8AC3E}">
        <p14:creationId xmlns:p14="http://schemas.microsoft.com/office/powerpoint/2010/main" val="1882263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Security Roles and Responsibilities</a:t>
            </a:r>
          </a:p>
        </p:txBody>
      </p:sp>
      <p:sp>
        <p:nvSpPr>
          <p:cNvPr id="3" name="Content Placeholder 2"/>
          <p:cNvSpPr>
            <a:spLocks noGrp="1"/>
          </p:cNvSpPr>
          <p:nvPr>
            <p:ph idx="1"/>
          </p:nvPr>
        </p:nvSpPr>
        <p:spPr/>
        <p:txBody>
          <a:bodyPr/>
          <a:lstStyle/>
          <a:p>
            <a:r>
              <a:rPr lang="en-US" sz="2400" dirty="0"/>
              <a:t>Data </a:t>
            </a:r>
            <a:r>
              <a:rPr lang="en-US" sz="2400" dirty="0" smtClean="0"/>
              <a:t>Custodian:</a:t>
            </a:r>
          </a:p>
          <a:p>
            <a:r>
              <a:rPr lang="en-US" sz="2400" dirty="0" smtClean="0"/>
              <a:t>The </a:t>
            </a:r>
            <a:r>
              <a:rPr lang="en-US" sz="2400" dirty="0"/>
              <a:t>data custodian role is assigned to the user who is responsible for </a:t>
            </a:r>
            <a:r>
              <a:rPr lang="en-US" sz="2400" dirty="0" smtClean="0"/>
              <a:t>the tasks </a:t>
            </a:r>
            <a:r>
              <a:rPr lang="en-US" sz="2400" dirty="0"/>
              <a:t>of implementing the prescribed protection </a:t>
            </a:r>
            <a:r>
              <a:rPr lang="en-US" sz="2400" dirty="0" smtClean="0"/>
              <a:t>defined </a:t>
            </a:r>
            <a:r>
              <a:rPr lang="en-US" sz="2400" dirty="0"/>
              <a:t>by the security policy and </a:t>
            </a:r>
            <a:r>
              <a:rPr lang="en-US" sz="2400" dirty="0" smtClean="0"/>
              <a:t>senior management</a:t>
            </a:r>
            <a:r>
              <a:rPr lang="en-US" sz="2400" dirty="0"/>
              <a:t>. </a:t>
            </a:r>
            <a:endParaRPr lang="en-US" sz="2400" dirty="0" smtClean="0"/>
          </a:p>
          <a:p>
            <a:r>
              <a:rPr lang="en-US" sz="2400" dirty="0" smtClean="0"/>
              <a:t>The </a:t>
            </a:r>
            <a:r>
              <a:rPr lang="en-US" sz="2400" dirty="0"/>
              <a:t>data custodian performs all activities necessary to provide adequate </a:t>
            </a:r>
            <a:r>
              <a:rPr lang="en-US" sz="2400" dirty="0" smtClean="0"/>
              <a:t>protection for </a:t>
            </a:r>
            <a:r>
              <a:rPr lang="en-US" sz="2400" dirty="0"/>
              <a:t>the CIA Triad </a:t>
            </a:r>
            <a:r>
              <a:rPr lang="en-US" sz="2400" dirty="0" smtClean="0"/>
              <a:t>of </a:t>
            </a:r>
            <a:r>
              <a:rPr lang="en-US" sz="2400" dirty="0"/>
              <a:t>data and to </a:t>
            </a:r>
            <a:r>
              <a:rPr lang="en-US" sz="2400" dirty="0" smtClean="0"/>
              <a:t>fulfill the </a:t>
            </a:r>
            <a:r>
              <a:rPr lang="en-US" sz="2400" dirty="0"/>
              <a:t>requirements and responsibilities delegated from upper management. </a:t>
            </a:r>
            <a:endParaRPr lang="en-US" sz="2400" dirty="0" smtClean="0"/>
          </a:p>
          <a:p>
            <a:r>
              <a:rPr lang="en-US" sz="2400" dirty="0" smtClean="0"/>
              <a:t>These activities can </a:t>
            </a:r>
            <a:r>
              <a:rPr lang="en-US" sz="2400" dirty="0"/>
              <a:t>include performing and testing backups, validating data integrity, deploying </a:t>
            </a:r>
            <a:r>
              <a:rPr lang="en-US" sz="2400" dirty="0" smtClean="0"/>
              <a:t>security solutions</a:t>
            </a:r>
            <a:r>
              <a:rPr lang="en-US" sz="2400" dirty="0"/>
              <a:t>, and managing data storage based on </a:t>
            </a:r>
            <a:r>
              <a:rPr lang="en-US" sz="2400" dirty="0" smtClean="0"/>
              <a:t>classification</a:t>
            </a:r>
            <a:r>
              <a:rPr lang="en-US" sz="2400" dirty="0"/>
              <a:t>.</a:t>
            </a:r>
            <a:endParaRPr lang="en-GB" dirty="0"/>
          </a:p>
        </p:txBody>
      </p:sp>
    </p:spTree>
    <p:extLst>
      <p:ext uri="{BB962C8B-B14F-4D97-AF65-F5344CB8AC3E}">
        <p14:creationId xmlns:p14="http://schemas.microsoft.com/office/powerpoint/2010/main" val="2307056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Security Roles and Responsibilities</a:t>
            </a:r>
          </a:p>
        </p:txBody>
      </p:sp>
      <p:sp>
        <p:nvSpPr>
          <p:cNvPr id="3" name="Content Placeholder 2"/>
          <p:cNvSpPr>
            <a:spLocks noGrp="1"/>
          </p:cNvSpPr>
          <p:nvPr>
            <p:ph idx="1"/>
          </p:nvPr>
        </p:nvSpPr>
        <p:spPr/>
        <p:txBody>
          <a:bodyPr/>
          <a:lstStyle/>
          <a:p>
            <a:r>
              <a:rPr lang="en-US" sz="2400" dirty="0" smtClean="0"/>
              <a:t>User:</a:t>
            </a:r>
          </a:p>
          <a:p>
            <a:r>
              <a:rPr lang="en-US" sz="2400" dirty="0" smtClean="0"/>
              <a:t>The </a:t>
            </a:r>
            <a:r>
              <a:rPr lang="en-US" sz="2400" dirty="0"/>
              <a:t>user (end user or operator) role is assigned to any person who has access to </a:t>
            </a:r>
            <a:r>
              <a:rPr lang="en-US" sz="2400" dirty="0" smtClean="0"/>
              <a:t>the secured </a:t>
            </a:r>
            <a:r>
              <a:rPr lang="en-US" sz="2400" dirty="0"/>
              <a:t>system. </a:t>
            </a:r>
            <a:endParaRPr lang="en-US" sz="2400" dirty="0" smtClean="0"/>
          </a:p>
          <a:p>
            <a:r>
              <a:rPr lang="en-US" sz="2400" dirty="0" smtClean="0"/>
              <a:t>A </a:t>
            </a:r>
            <a:r>
              <a:rPr lang="en-US" sz="2400" dirty="0"/>
              <a:t>user’s access is tied to their work tasks and is limited so they have </a:t>
            </a:r>
            <a:r>
              <a:rPr lang="en-US" sz="2400" dirty="0" smtClean="0"/>
              <a:t>only enough </a:t>
            </a:r>
            <a:r>
              <a:rPr lang="en-US" sz="2400" dirty="0"/>
              <a:t>access to perform the tasks necessary for their job position (the principle of </a:t>
            </a:r>
            <a:r>
              <a:rPr lang="en-US" sz="2400" dirty="0" smtClean="0"/>
              <a:t>least privilege).</a:t>
            </a:r>
          </a:p>
          <a:p>
            <a:r>
              <a:rPr lang="en-US" sz="2400" dirty="0" smtClean="0"/>
              <a:t>Responsible </a:t>
            </a:r>
            <a:r>
              <a:rPr lang="en-US" sz="2400" dirty="0"/>
              <a:t>for understanding and upholding the security policy of </a:t>
            </a:r>
            <a:r>
              <a:rPr lang="en-US" sz="2400" dirty="0" smtClean="0"/>
              <a:t>an organisation </a:t>
            </a:r>
            <a:r>
              <a:rPr lang="en-US" sz="2400" dirty="0"/>
              <a:t>by following prescribed operational procedures and operating within </a:t>
            </a:r>
            <a:r>
              <a:rPr lang="en-US" sz="2400" dirty="0" smtClean="0"/>
              <a:t>defined security </a:t>
            </a:r>
            <a:r>
              <a:rPr lang="en-US" sz="2400" dirty="0"/>
              <a:t>parameters</a:t>
            </a:r>
            <a:r>
              <a:rPr lang="en-US" sz="2400" dirty="0" smtClean="0"/>
              <a:t>. </a:t>
            </a:r>
            <a:r>
              <a:rPr lang="en-US" sz="2400" i="1" dirty="0" smtClean="0">
                <a:solidFill>
                  <a:srgbClr val="FF0000"/>
                </a:solidFill>
              </a:rPr>
              <a:t>(Induction and continuous training is important!)</a:t>
            </a:r>
            <a:endParaRPr lang="en-GB" sz="2400" i="1" dirty="0">
              <a:solidFill>
                <a:srgbClr val="FF0000"/>
              </a:solidFill>
            </a:endParaRPr>
          </a:p>
        </p:txBody>
      </p:sp>
    </p:spTree>
    <p:extLst>
      <p:ext uri="{BB962C8B-B14F-4D97-AF65-F5344CB8AC3E}">
        <p14:creationId xmlns:p14="http://schemas.microsoft.com/office/powerpoint/2010/main" val="1391909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Security Roles and Responsibilities</a:t>
            </a:r>
          </a:p>
        </p:txBody>
      </p:sp>
      <p:sp>
        <p:nvSpPr>
          <p:cNvPr id="3" name="Content Placeholder 2"/>
          <p:cNvSpPr>
            <a:spLocks noGrp="1"/>
          </p:cNvSpPr>
          <p:nvPr>
            <p:ph idx="1"/>
          </p:nvPr>
        </p:nvSpPr>
        <p:spPr/>
        <p:txBody>
          <a:bodyPr/>
          <a:lstStyle/>
          <a:p>
            <a:r>
              <a:rPr lang="en-US" sz="2400" dirty="0" smtClean="0"/>
              <a:t>Auditor:</a:t>
            </a:r>
          </a:p>
          <a:p>
            <a:r>
              <a:rPr lang="en-US" sz="2400" dirty="0" smtClean="0"/>
              <a:t>An </a:t>
            </a:r>
            <a:r>
              <a:rPr lang="en-US" sz="2400" dirty="0"/>
              <a:t>auditor is responsible for reviewing and verifying that the security policy </a:t>
            </a:r>
            <a:r>
              <a:rPr lang="en-US" sz="2400" dirty="0" smtClean="0"/>
              <a:t>is properly </a:t>
            </a:r>
            <a:r>
              <a:rPr lang="en-US" sz="2400" dirty="0"/>
              <a:t>implemented and the derived security solutions are adequate. </a:t>
            </a:r>
            <a:endParaRPr lang="en-US" sz="2400" dirty="0" smtClean="0"/>
          </a:p>
          <a:p>
            <a:r>
              <a:rPr lang="en-US" sz="2400" dirty="0" smtClean="0"/>
              <a:t>The </a:t>
            </a:r>
            <a:r>
              <a:rPr lang="en-US" sz="2400" dirty="0"/>
              <a:t>auditor </a:t>
            </a:r>
            <a:r>
              <a:rPr lang="en-US" sz="2400" dirty="0" smtClean="0"/>
              <a:t>role may </a:t>
            </a:r>
            <a:r>
              <a:rPr lang="en-US" sz="2400" dirty="0"/>
              <a:t>be assigned to a security professional or a trained user. </a:t>
            </a:r>
            <a:endParaRPr lang="en-US" sz="2400" dirty="0" smtClean="0"/>
          </a:p>
          <a:p>
            <a:r>
              <a:rPr lang="en-US" sz="2400" dirty="0" smtClean="0"/>
              <a:t>The </a:t>
            </a:r>
            <a:r>
              <a:rPr lang="en-US" sz="2400" dirty="0"/>
              <a:t>auditor produces </a:t>
            </a:r>
            <a:r>
              <a:rPr lang="en-US" sz="2400" dirty="0" smtClean="0"/>
              <a:t>compliance and </a:t>
            </a:r>
            <a:r>
              <a:rPr lang="en-US" sz="2400" dirty="0"/>
              <a:t>effectiveness reports that are reviewed by the senior manager. </a:t>
            </a:r>
            <a:endParaRPr lang="en-US" sz="2400" dirty="0" smtClean="0"/>
          </a:p>
          <a:p>
            <a:r>
              <a:rPr lang="en-US" sz="2400" dirty="0" smtClean="0"/>
              <a:t>Issues discovered through </a:t>
            </a:r>
            <a:r>
              <a:rPr lang="en-US" sz="2400" dirty="0"/>
              <a:t>these reports are transformed into new directives assigned by the senior </a:t>
            </a:r>
            <a:r>
              <a:rPr lang="en-US" sz="2400" dirty="0" smtClean="0"/>
              <a:t>manager to </a:t>
            </a:r>
            <a:r>
              <a:rPr lang="en-US" sz="2400" dirty="0"/>
              <a:t>security professionals or data custodians. </a:t>
            </a:r>
            <a:endParaRPr lang="en-US" sz="2400" dirty="0" smtClean="0"/>
          </a:p>
        </p:txBody>
      </p:sp>
    </p:spTree>
    <p:extLst>
      <p:ext uri="{BB962C8B-B14F-4D97-AF65-F5344CB8AC3E}">
        <p14:creationId xmlns:p14="http://schemas.microsoft.com/office/powerpoint/2010/main" val="179209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2221831" y="2174708"/>
            <a:ext cx="7565982" cy="2317082"/>
          </a:xfrm>
          <a:prstGeom prst="rect">
            <a:avLst/>
          </a:prstGeom>
        </p:spPr>
      </p:pic>
    </p:spTree>
    <p:extLst>
      <p:ext uri="{BB962C8B-B14F-4D97-AF65-F5344CB8AC3E}">
        <p14:creationId xmlns:p14="http://schemas.microsoft.com/office/powerpoint/2010/main" val="874570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Planning</a:t>
            </a:r>
            <a:endParaRPr lang="en-GB" dirty="0"/>
          </a:p>
        </p:txBody>
      </p:sp>
      <p:sp>
        <p:nvSpPr>
          <p:cNvPr id="3" name="Content Placeholder 2"/>
          <p:cNvSpPr>
            <a:spLocks noGrp="1"/>
          </p:cNvSpPr>
          <p:nvPr>
            <p:ph idx="1"/>
          </p:nvPr>
        </p:nvSpPr>
        <p:spPr/>
        <p:txBody>
          <a:bodyPr/>
          <a:lstStyle/>
          <a:p>
            <a:r>
              <a:rPr lang="en-US" dirty="0" smtClean="0"/>
              <a:t>Significant </a:t>
            </a:r>
            <a:r>
              <a:rPr lang="en-US" dirty="0"/>
              <a:t>amount of planning goes </a:t>
            </a:r>
            <a:r>
              <a:rPr lang="en-US" dirty="0" smtClean="0"/>
              <a:t>into </a:t>
            </a:r>
            <a:r>
              <a:rPr lang="en-US" dirty="0"/>
              <a:t>developing a solid security policy</a:t>
            </a:r>
            <a:r>
              <a:rPr lang="en-US" dirty="0" smtClean="0"/>
              <a:t>.</a:t>
            </a:r>
          </a:p>
          <a:p>
            <a:r>
              <a:rPr lang="en-US" dirty="0" smtClean="0"/>
              <a:t>Planning </a:t>
            </a:r>
            <a:r>
              <a:rPr lang="en-US" dirty="0"/>
              <a:t>for security must start with planning to plan, then move into planning for </a:t>
            </a:r>
            <a:r>
              <a:rPr lang="en-US" dirty="0" smtClean="0"/>
              <a:t>standards and compliance </a:t>
            </a:r>
          </a:p>
          <a:p>
            <a:r>
              <a:rPr lang="en-US" dirty="0"/>
              <a:t>F</a:t>
            </a:r>
            <a:r>
              <a:rPr lang="en-US" dirty="0" smtClean="0"/>
              <a:t>inally </a:t>
            </a:r>
            <a:r>
              <a:rPr lang="en-US" dirty="0"/>
              <a:t>move into the actual plan development and design</a:t>
            </a:r>
            <a:endParaRPr lang="en-GB" dirty="0"/>
          </a:p>
        </p:txBody>
      </p:sp>
    </p:spTree>
    <p:extLst>
      <p:ext uri="{BB962C8B-B14F-4D97-AF65-F5344CB8AC3E}">
        <p14:creationId xmlns:p14="http://schemas.microsoft.com/office/powerpoint/2010/main" val="443124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Planning</a:t>
            </a:r>
            <a:endParaRPr lang="en-GB" dirty="0"/>
          </a:p>
        </p:txBody>
      </p:sp>
      <p:sp>
        <p:nvSpPr>
          <p:cNvPr id="3" name="Content Placeholder 2"/>
          <p:cNvSpPr>
            <a:spLocks noGrp="1"/>
          </p:cNvSpPr>
          <p:nvPr>
            <p:ph idx="1"/>
          </p:nvPr>
        </p:nvSpPr>
        <p:spPr/>
        <p:txBody>
          <a:bodyPr/>
          <a:lstStyle/>
          <a:p>
            <a:r>
              <a:rPr lang="en-US" dirty="0"/>
              <a:t>One of the </a:t>
            </a:r>
            <a:r>
              <a:rPr lang="en-US" dirty="0" smtClean="0"/>
              <a:t>first </a:t>
            </a:r>
            <a:r>
              <a:rPr lang="en-US" dirty="0"/>
              <a:t>and most important security planning steps is to consider the </a:t>
            </a:r>
            <a:r>
              <a:rPr lang="en-US" dirty="0" smtClean="0"/>
              <a:t>overall control </a:t>
            </a:r>
            <a:r>
              <a:rPr lang="en-US" dirty="0"/>
              <a:t>framework or structure of the security solution </a:t>
            </a:r>
            <a:r>
              <a:rPr lang="en-US" dirty="0" smtClean="0"/>
              <a:t>desired.</a:t>
            </a:r>
          </a:p>
          <a:p>
            <a:r>
              <a:rPr lang="en-US" dirty="0" smtClean="0"/>
              <a:t>There are a number of frameworks:</a:t>
            </a:r>
          </a:p>
          <a:p>
            <a:pPr lvl="1"/>
            <a:r>
              <a:rPr lang="en-US" dirty="0"/>
              <a:t>COBIT - Control Objectives for Information and </a:t>
            </a:r>
            <a:r>
              <a:rPr lang="en-US" dirty="0" smtClean="0"/>
              <a:t>Related Technology</a:t>
            </a:r>
          </a:p>
          <a:p>
            <a:pPr lvl="1"/>
            <a:r>
              <a:rPr lang="en-US" dirty="0" smtClean="0"/>
              <a:t>OSSTMM - Open </a:t>
            </a:r>
            <a:r>
              <a:rPr lang="en-US" dirty="0"/>
              <a:t>Source Security Testing Methodology </a:t>
            </a:r>
            <a:r>
              <a:rPr lang="en-US" dirty="0" smtClean="0"/>
              <a:t>Manual</a:t>
            </a:r>
          </a:p>
          <a:p>
            <a:pPr lvl="1"/>
            <a:r>
              <a:rPr lang="en-GB" dirty="0" smtClean="0"/>
              <a:t>ITIL - Information </a:t>
            </a:r>
            <a:r>
              <a:rPr lang="en-GB" dirty="0"/>
              <a:t>Technology Infrastructure Library </a:t>
            </a:r>
          </a:p>
        </p:txBody>
      </p:sp>
    </p:spTree>
    <p:extLst>
      <p:ext uri="{BB962C8B-B14F-4D97-AF65-F5344CB8AC3E}">
        <p14:creationId xmlns:p14="http://schemas.microsoft.com/office/powerpoint/2010/main" val="3346505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International </a:t>
            </a:r>
            <a:r>
              <a:rPr lang="en-GB" sz="3600" dirty="0" smtClean="0">
                <a:latin typeface="Georgia" panose="02040502050405020303" pitchFamily="18" charset="0"/>
              </a:rPr>
              <a:t>Organisation </a:t>
            </a:r>
            <a:r>
              <a:rPr lang="en-GB" sz="3600" dirty="0">
                <a:latin typeface="Georgia" panose="02040502050405020303" pitchFamily="18" charset="0"/>
              </a:rPr>
              <a:t>for </a:t>
            </a:r>
            <a:r>
              <a:rPr lang="en-GB" sz="3600" dirty="0" smtClean="0">
                <a:latin typeface="Georgia" panose="02040502050405020303" pitchFamily="18" charset="0"/>
              </a:rPr>
              <a:t>Standardisation (ISO)</a:t>
            </a:r>
            <a:endParaRPr lang="en-GB" sz="3600" dirty="0">
              <a:latin typeface="Georgia" panose="02040502050405020303" pitchFamily="18" charset="0"/>
            </a:endParaRPr>
          </a:p>
        </p:txBody>
      </p:sp>
      <p:sp>
        <p:nvSpPr>
          <p:cNvPr id="3" name="Content Placeholder 2"/>
          <p:cNvSpPr>
            <a:spLocks noGrp="1"/>
          </p:cNvSpPr>
          <p:nvPr>
            <p:ph idx="1"/>
          </p:nvPr>
        </p:nvSpPr>
        <p:spPr/>
        <p:txBody>
          <a:bodyPr/>
          <a:lstStyle/>
          <a:p>
            <a:r>
              <a:rPr lang="en-US" sz="2400" dirty="0"/>
              <a:t>ISO/IEC 27002:2013 gives guidelines for organizational information security standards and information security management practices including the selection, implementation and management of controls taking into consideration the organization's information security risk environment(s).</a:t>
            </a:r>
          </a:p>
          <a:p>
            <a:endParaRPr lang="en-US" sz="2400" dirty="0"/>
          </a:p>
          <a:p>
            <a:r>
              <a:rPr lang="en-US" sz="2400" dirty="0"/>
              <a:t>It is designed to be used by organizations that intend </a:t>
            </a:r>
            <a:r>
              <a:rPr lang="en-US" sz="2400" dirty="0" smtClean="0"/>
              <a:t>to: select </a:t>
            </a:r>
            <a:r>
              <a:rPr lang="en-US" sz="2400" dirty="0"/>
              <a:t>controls within the process of implementing an Information Security Management System based on ISO/IEC </a:t>
            </a:r>
            <a:r>
              <a:rPr lang="en-US" sz="2400" dirty="0" smtClean="0"/>
              <a:t>27001; implement </a:t>
            </a:r>
            <a:r>
              <a:rPr lang="en-US" sz="2400" dirty="0"/>
              <a:t>commonly accepted information security </a:t>
            </a:r>
            <a:r>
              <a:rPr lang="en-US" sz="2400" dirty="0" smtClean="0"/>
              <a:t>controls; develop </a:t>
            </a:r>
            <a:r>
              <a:rPr lang="en-US" sz="2400" dirty="0"/>
              <a:t>their own information security management guidelines.</a:t>
            </a:r>
          </a:p>
          <a:p>
            <a:pPr marL="0" indent="0">
              <a:buNone/>
            </a:pPr>
            <a:endParaRPr lang="en-GB" dirty="0"/>
          </a:p>
        </p:txBody>
      </p:sp>
    </p:spTree>
    <p:extLst>
      <p:ext uri="{BB962C8B-B14F-4D97-AF65-F5344CB8AC3E}">
        <p14:creationId xmlns:p14="http://schemas.microsoft.com/office/powerpoint/2010/main" val="259491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ISO/IEC 27001</a:t>
            </a:r>
          </a:p>
        </p:txBody>
      </p:sp>
      <p:sp>
        <p:nvSpPr>
          <p:cNvPr id="3" name="Content Placeholder 2"/>
          <p:cNvSpPr>
            <a:spLocks noGrp="1"/>
          </p:cNvSpPr>
          <p:nvPr>
            <p:ph idx="1"/>
          </p:nvPr>
        </p:nvSpPr>
        <p:spPr>
          <a:xfrm>
            <a:off x="753979" y="1084597"/>
            <a:ext cx="10363200" cy="4114800"/>
          </a:xfrm>
        </p:spPr>
        <p:txBody>
          <a:bodyPr/>
          <a:lstStyle/>
          <a:p>
            <a:pPr>
              <a:buFont typeface="+mj-lt"/>
              <a:buAutoNum type="arabicPeriod"/>
            </a:pPr>
            <a:r>
              <a:rPr lang="en-US" sz="1800" dirty="0" smtClean="0"/>
              <a:t>Scope </a:t>
            </a:r>
            <a:r>
              <a:rPr lang="en-US" sz="1800" dirty="0"/>
              <a:t>- it specifies generic ISMS requirements suitable for organizations of any type, size or nature.</a:t>
            </a:r>
          </a:p>
          <a:p>
            <a:pPr>
              <a:buFont typeface="+mj-lt"/>
              <a:buAutoNum type="arabicPeriod"/>
            </a:pPr>
            <a:endParaRPr lang="en-US" sz="1800" dirty="0"/>
          </a:p>
          <a:p>
            <a:pPr>
              <a:buFont typeface="+mj-lt"/>
              <a:buAutoNum type="arabicPeriod"/>
            </a:pPr>
            <a:r>
              <a:rPr lang="en-US" sz="1800" dirty="0" smtClean="0"/>
              <a:t>Normative </a:t>
            </a:r>
            <a:r>
              <a:rPr lang="en-US" sz="1800" dirty="0"/>
              <a:t>references - only ISO/IEC 27000 is considered absolutely essential to users of ’27001: the remaining ISO27k standards are optional.</a:t>
            </a:r>
          </a:p>
          <a:p>
            <a:pPr>
              <a:buFont typeface="+mj-lt"/>
              <a:buAutoNum type="arabicPeriod"/>
            </a:pPr>
            <a:endParaRPr lang="en-US" sz="1800" dirty="0"/>
          </a:p>
          <a:p>
            <a:pPr>
              <a:buFont typeface="+mj-lt"/>
              <a:buAutoNum type="arabicPeriod"/>
            </a:pPr>
            <a:r>
              <a:rPr lang="en-US" sz="1800" dirty="0" smtClean="0"/>
              <a:t>Terms </a:t>
            </a:r>
            <a:r>
              <a:rPr lang="en-US" sz="1800" dirty="0"/>
              <a:t>and definitions - see ISO/IEC 27000.</a:t>
            </a:r>
          </a:p>
          <a:p>
            <a:pPr>
              <a:buFont typeface="+mj-lt"/>
              <a:buAutoNum type="arabicPeriod"/>
            </a:pPr>
            <a:endParaRPr lang="en-US" sz="1800" dirty="0"/>
          </a:p>
          <a:p>
            <a:pPr>
              <a:buFont typeface="+mj-lt"/>
              <a:buAutoNum type="arabicPeriod"/>
            </a:pPr>
            <a:r>
              <a:rPr lang="en-US" sz="1800" dirty="0" smtClean="0"/>
              <a:t>Context </a:t>
            </a:r>
            <a:r>
              <a:rPr lang="en-US" sz="1800" dirty="0"/>
              <a:t>of the organization - understanding the organizational context, the needs and expectations of ‘interested parties’ and defining the scope of the ISMS. Section 4.4 states very plainly that “The organization shall establish, implement, maintain and continually improve” the ISMS.</a:t>
            </a:r>
          </a:p>
          <a:p>
            <a:pPr>
              <a:buFont typeface="+mj-lt"/>
              <a:buAutoNum type="arabicPeriod"/>
            </a:pPr>
            <a:endParaRPr lang="en-US" sz="1800" dirty="0"/>
          </a:p>
          <a:p>
            <a:pPr>
              <a:buFont typeface="+mj-lt"/>
              <a:buAutoNum type="arabicPeriod"/>
            </a:pPr>
            <a:r>
              <a:rPr lang="en-US" sz="1800" dirty="0" smtClean="0"/>
              <a:t>Leadership </a:t>
            </a:r>
            <a:r>
              <a:rPr lang="en-US" sz="1800" dirty="0"/>
              <a:t>- top management must demonstrate leadership and commitment to the ISMS, mandate policy, and assign information security roles, responsibilities and authorities.</a:t>
            </a:r>
          </a:p>
          <a:p>
            <a:endParaRPr lang="en-US" sz="1100" dirty="0"/>
          </a:p>
        </p:txBody>
      </p:sp>
    </p:spTree>
    <p:extLst>
      <p:ext uri="{BB962C8B-B14F-4D97-AF65-F5344CB8AC3E}">
        <p14:creationId xmlns:p14="http://schemas.microsoft.com/office/powerpoint/2010/main" val="522367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ISO/IEC 27001</a:t>
            </a:r>
          </a:p>
        </p:txBody>
      </p:sp>
      <p:sp>
        <p:nvSpPr>
          <p:cNvPr id="3" name="Content Placeholder 2"/>
          <p:cNvSpPr>
            <a:spLocks noGrp="1"/>
          </p:cNvSpPr>
          <p:nvPr>
            <p:ph idx="1"/>
          </p:nvPr>
        </p:nvSpPr>
        <p:spPr>
          <a:xfrm>
            <a:off x="753979" y="1285875"/>
            <a:ext cx="10363200" cy="4114800"/>
          </a:xfrm>
        </p:spPr>
        <p:txBody>
          <a:bodyPr/>
          <a:lstStyle/>
          <a:p>
            <a:pPr>
              <a:buFont typeface="+mj-lt"/>
              <a:buAutoNum type="arabicPeriod" startAt="6"/>
            </a:pPr>
            <a:r>
              <a:rPr lang="en-US" sz="1800" dirty="0" smtClean="0"/>
              <a:t>Planning </a:t>
            </a:r>
            <a:r>
              <a:rPr lang="en-US" sz="1800" dirty="0"/>
              <a:t>- outlines the process to identify, analyze and plan to treat information risks, and clarify the objectives of information security.</a:t>
            </a:r>
          </a:p>
          <a:p>
            <a:pPr>
              <a:buFont typeface="+mj-lt"/>
              <a:buAutoNum type="arabicPeriod" startAt="6"/>
            </a:pPr>
            <a:endParaRPr lang="en-US" sz="1800" dirty="0"/>
          </a:p>
          <a:p>
            <a:pPr>
              <a:buFont typeface="+mj-lt"/>
              <a:buAutoNum type="arabicPeriod" startAt="6"/>
            </a:pPr>
            <a:r>
              <a:rPr lang="en-US" sz="1800" dirty="0" smtClean="0"/>
              <a:t>Support </a:t>
            </a:r>
            <a:r>
              <a:rPr lang="en-US" sz="1800" dirty="0"/>
              <a:t>- adequate, competent resources must be assigned, awareness raised, documentation prepared and controlled.</a:t>
            </a:r>
          </a:p>
          <a:p>
            <a:pPr>
              <a:buFont typeface="+mj-lt"/>
              <a:buAutoNum type="arabicPeriod" startAt="6"/>
            </a:pPr>
            <a:endParaRPr lang="en-US" sz="1800" dirty="0"/>
          </a:p>
          <a:p>
            <a:pPr>
              <a:buFont typeface="+mj-lt"/>
              <a:buAutoNum type="arabicPeriod" startAt="6"/>
            </a:pPr>
            <a:r>
              <a:rPr lang="en-US" sz="1800" dirty="0" smtClean="0"/>
              <a:t>Operation </a:t>
            </a:r>
            <a:r>
              <a:rPr lang="en-US" sz="1800" dirty="0"/>
              <a:t>- a bit more detail about assessing and treating information risks, managing changes, and documenting things (partly so that they can be audited by the certification auditors).</a:t>
            </a:r>
          </a:p>
          <a:p>
            <a:pPr>
              <a:buFont typeface="+mj-lt"/>
              <a:buAutoNum type="arabicPeriod" startAt="6"/>
            </a:pPr>
            <a:endParaRPr lang="en-US" sz="1800" dirty="0"/>
          </a:p>
          <a:p>
            <a:pPr>
              <a:buFont typeface="+mj-lt"/>
              <a:buAutoNum type="arabicPeriod" startAt="6"/>
            </a:pPr>
            <a:r>
              <a:rPr lang="en-US" sz="1800" dirty="0" smtClean="0"/>
              <a:t>Performance </a:t>
            </a:r>
            <a:r>
              <a:rPr lang="en-US" sz="1800" dirty="0"/>
              <a:t>evaluation - monitor, measure, analyze and evaluate/audit/review the information security controls, processes and management system, systematically improving things where necessary.</a:t>
            </a:r>
          </a:p>
          <a:p>
            <a:pPr>
              <a:buFont typeface="+mj-lt"/>
              <a:buAutoNum type="arabicPeriod" startAt="6"/>
            </a:pPr>
            <a:endParaRPr lang="en-US" sz="1800" dirty="0"/>
          </a:p>
          <a:p>
            <a:pPr>
              <a:buFont typeface="+mj-lt"/>
              <a:buAutoNum type="arabicPeriod" startAt="6"/>
            </a:pPr>
            <a:r>
              <a:rPr lang="en-US" sz="1800" dirty="0" smtClean="0"/>
              <a:t>Improvement </a:t>
            </a:r>
            <a:r>
              <a:rPr lang="en-US" sz="1800" dirty="0"/>
              <a:t>- address the findings of audits and reviews (e.g. nonconformities and corrective actions), make continual refinements to the ISMS.</a:t>
            </a:r>
            <a:endParaRPr lang="en-GB" sz="1800" dirty="0"/>
          </a:p>
        </p:txBody>
      </p:sp>
    </p:spTree>
    <p:extLst>
      <p:ext uri="{BB962C8B-B14F-4D97-AF65-F5344CB8AC3E}">
        <p14:creationId xmlns:p14="http://schemas.microsoft.com/office/powerpoint/2010/main" val="2042739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42875"/>
            <a:ext cx="10363200" cy="883820"/>
          </a:xfrm>
        </p:spPr>
        <p:txBody>
          <a:bodyPr/>
          <a:lstStyle/>
          <a:p>
            <a:r>
              <a:rPr lang="en-GB" sz="3600" dirty="0">
                <a:latin typeface="Georgia" panose="02040502050405020303" pitchFamily="18" charset="0"/>
              </a:rPr>
              <a:t>ISO/IEC </a:t>
            </a:r>
            <a:r>
              <a:rPr lang="en-GB" sz="3600" dirty="0" smtClean="0">
                <a:latin typeface="Georgia" panose="02040502050405020303" pitchFamily="18" charset="0"/>
              </a:rPr>
              <a:t>27001 (</a:t>
            </a:r>
            <a:r>
              <a:rPr lang="en-GB" sz="3600" dirty="0">
                <a:latin typeface="Georgia" panose="02040502050405020303" pitchFamily="18" charset="0"/>
              </a:rPr>
              <a:t>Annex </a:t>
            </a:r>
            <a:r>
              <a:rPr lang="en-GB" sz="3600" dirty="0" smtClean="0">
                <a:latin typeface="Georgia" panose="02040502050405020303" pitchFamily="18" charset="0"/>
              </a:rPr>
              <a:t>A)</a:t>
            </a:r>
            <a:endParaRPr lang="en-GB" sz="3600" dirty="0">
              <a:latin typeface="Georgia" panose="02040502050405020303" pitchFamily="18" charset="0"/>
            </a:endParaRPr>
          </a:p>
        </p:txBody>
      </p:sp>
      <p:sp>
        <p:nvSpPr>
          <p:cNvPr id="3" name="Content Placeholder 2"/>
          <p:cNvSpPr>
            <a:spLocks noGrp="1"/>
          </p:cNvSpPr>
          <p:nvPr>
            <p:ph idx="1"/>
          </p:nvPr>
        </p:nvSpPr>
        <p:spPr>
          <a:xfrm>
            <a:off x="352926" y="860007"/>
            <a:ext cx="10363200" cy="4114800"/>
          </a:xfrm>
        </p:spPr>
        <p:txBody>
          <a:bodyPr/>
          <a:lstStyle/>
          <a:p>
            <a:r>
              <a:rPr lang="en-US" sz="1600" dirty="0" smtClean="0"/>
              <a:t>There </a:t>
            </a:r>
            <a:r>
              <a:rPr lang="en-US" sz="1600" dirty="0"/>
              <a:t>are </a:t>
            </a:r>
            <a:r>
              <a:rPr lang="en-US" sz="1600" dirty="0" smtClean="0"/>
              <a:t>114 </a:t>
            </a:r>
            <a:r>
              <a:rPr lang="en-US" sz="1600" dirty="0"/>
              <a:t>controls in 14 clauses and 35 control </a:t>
            </a:r>
            <a:r>
              <a:rPr lang="en-US" sz="1600" dirty="0" smtClean="0"/>
              <a:t>categories.</a:t>
            </a:r>
            <a:endParaRPr lang="en-US" sz="1600" dirty="0"/>
          </a:p>
          <a:p>
            <a:endParaRPr lang="en-US" sz="1600" dirty="0"/>
          </a:p>
          <a:p>
            <a:r>
              <a:rPr lang="en-US" sz="1600" dirty="0"/>
              <a:t>A.5: Information security policies (2 controls)</a:t>
            </a:r>
          </a:p>
          <a:p>
            <a:r>
              <a:rPr lang="en-US" sz="1600" dirty="0"/>
              <a:t>A.6: Organization of information security (7 controls)</a:t>
            </a:r>
          </a:p>
          <a:p>
            <a:r>
              <a:rPr lang="en-US" sz="1600" dirty="0"/>
              <a:t>A.7: Human resource security - 6 controls that are applied before, during, or after employment</a:t>
            </a:r>
          </a:p>
          <a:p>
            <a:r>
              <a:rPr lang="en-US" sz="1600" dirty="0"/>
              <a:t>A.8: Asset management (10 controls)</a:t>
            </a:r>
          </a:p>
          <a:p>
            <a:r>
              <a:rPr lang="en-US" sz="1600" dirty="0"/>
              <a:t>A.9: Access control (14 controls)</a:t>
            </a:r>
          </a:p>
          <a:p>
            <a:r>
              <a:rPr lang="en-US" sz="1600" dirty="0"/>
              <a:t>A.10: Cryptography (2 controls)</a:t>
            </a:r>
          </a:p>
          <a:p>
            <a:r>
              <a:rPr lang="en-US" sz="1600" dirty="0"/>
              <a:t>A.11: Physical and environmental security (15 controls)</a:t>
            </a:r>
          </a:p>
          <a:p>
            <a:r>
              <a:rPr lang="en-US" sz="1600" dirty="0"/>
              <a:t>A.12: Operations security (14 controls)</a:t>
            </a:r>
          </a:p>
          <a:p>
            <a:r>
              <a:rPr lang="en-US" sz="1600" dirty="0"/>
              <a:t>A.13: Communications security (7 controls)</a:t>
            </a:r>
          </a:p>
          <a:p>
            <a:r>
              <a:rPr lang="en-US" sz="1600" dirty="0"/>
              <a:t>A.14: System acquisition, development and maintenance (13 controls)</a:t>
            </a:r>
          </a:p>
          <a:p>
            <a:r>
              <a:rPr lang="en-US" sz="1600" dirty="0"/>
              <a:t>A.15: Supplier relationships (5 controls)</a:t>
            </a:r>
          </a:p>
          <a:p>
            <a:r>
              <a:rPr lang="en-US" sz="1600" dirty="0"/>
              <a:t>A.16: Information security incident management (7 controls)</a:t>
            </a:r>
          </a:p>
          <a:p>
            <a:r>
              <a:rPr lang="en-US" sz="1600" dirty="0"/>
              <a:t>A.17: Information security aspects of business continuity management (4 controls)</a:t>
            </a:r>
          </a:p>
          <a:p>
            <a:r>
              <a:rPr lang="en-US" sz="1600" dirty="0"/>
              <a:t>A.18: Compliance; with internal requirements, such as policies, and with external requirements, such as laws (8 controls)</a:t>
            </a:r>
            <a:endParaRPr lang="en-GB" sz="1600" dirty="0"/>
          </a:p>
        </p:txBody>
      </p:sp>
    </p:spTree>
    <p:extLst>
      <p:ext uri="{BB962C8B-B14F-4D97-AF65-F5344CB8AC3E}">
        <p14:creationId xmlns:p14="http://schemas.microsoft.com/office/powerpoint/2010/main" val="1623293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Georgia" panose="02040502050405020303" pitchFamily="18" charset="0"/>
              </a:rPr>
              <a:t>Due Care and Due Diligence</a:t>
            </a:r>
            <a:endParaRPr lang="en-GB" sz="3600" dirty="0">
              <a:latin typeface="Georgia" panose="02040502050405020303" pitchFamily="18" charset="0"/>
            </a:endParaRPr>
          </a:p>
        </p:txBody>
      </p:sp>
      <p:sp>
        <p:nvSpPr>
          <p:cNvPr id="3" name="Content Placeholder 2"/>
          <p:cNvSpPr>
            <a:spLocks noGrp="1"/>
          </p:cNvSpPr>
          <p:nvPr>
            <p:ph idx="1"/>
          </p:nvPr>
        </p:nvSpPr>
        <p:spPr/>
        <p:txBody>
          <a:bodyPr/>
          <a:lstStyle/>
          <a:p>
            <a:r>
              <a:rPr lang="en-US" dirty="0"/>
              <a:t>Why is planning to plan security so important? </a:t>
            </a:r>
            <a:endParaRPr lang="en-US" dirty="0" smtClean="0"/>
          </a:p>
          <a:p>
            <a:r>
              <a:rPr lang="en-US" dirty="0" smtClean="0"/>
              <a:t>The </a:t>
            </a:r>
            <a:r>
              <a:rPr lang="en-US" dirty="0"/>
              <a:t>requirement for </a:t>
            </a:r>
            <a:r>
              <a:rPr lang="en-US" dirty="0" smtClean="0"/>
              <a:t>due care </a:t>
            </a:r>
            <a:r>
              <a:rPr lang="en-US" dirty="0"/>
              <a:t>and due diligence. </a:t>
            </a:r>
            <a:endParaRPr lang="en-US" dirty="0" smtClean="0"/>
          </a:p>
          <a:p>
            <a:r>
              <a:rPr lang="en-US" dirty="0" smtClean="0"/>
              <a:t>Due </a:t>
            </a:r>
            <a:r>
              <a:rPr lang="en-US" dirty="0"/>
              <a:t>care is using reasonable care to protect the interests of </a:t>
            </a:r>
            <a:r>
              <a:rPr lang="en-US" dirty="0" smtClean="0"/>
              <a:t>an organization</a:t>
            </a:r>
            <a:r>
              <a:rPr lang="en-US" dirty="0"/>
              <a:t>. </a:t>
            </a:r>
            <a:endParaRPr lang="en-US" dirty="0" smtClean="0"/>
          </a:p>
          <a:p>
            <a:r>
              <a:rPr lang="en-US" dirty="0" smtClean="0"/>
              <a:t>Due </a:t>
            </a:r>
            <a:r>
              <a:rPr lang="en-US" dirty="0"/>
              <a:t>diligence is practicing the activities that maintain the due care effort.</a:t>
            </a:r>
            <a:endParaRPr lang="en-GB" dirty="0"/>
          </a:p>
        </p:txBody>
      </p:sp>
    </p:spTree>
    <p:extLst>
      <p:ext uri="{BB962C8B-B14F-4D97-AF65-F5344CB8AC3E}">
        <p14:creationId xmlns:p14="http://schemas.microsoft.com/office/powerpoint/2010/main" val="2871510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Security Policies</a:t>
            </a:r>
          </a:p>
        </p:txBody>
      </p:sp>
      <p:sp>
        <p:nvSpPr>
          <p:cNvPr id="3" name="Content Placeholder 2"/>
          <p:cNvSpPr>
            <a:spLocks noGrp="1"/>
          </p:cNvSpPr>
          <p:nvPr>
            <p:ph idx="1"/>
          </p:nvPr>
        </p:nvSpPr>
        <p:spPr/>
        <p:txBody>
          <a:bodyPr/>
          <a:lstStyle/>
          <a:p>
            <a:r>
              <a:rPr lang="en-US" dirty="0"/>
              <a:t>A security policy is </a:t>
            </a:r>
            <a:r>
              <a:rPr lang="en-US" dirty="0" smtClean="0"/>
              <a:t>a document </a:t>
            </a:r>
            <a:r>
              <a:rPr lang="en-US" dirty="0"/>
              <a:t>that </a:t>
            </a:r>
            <a:r>
              <a:rPr lang="en-US" dirty="0" smtClean="0"/>
              <a:t>defines </a:t>
            </a:r>
            <a:r>
              <a:rPr lang="en-US" dirty="0"/>
              <a:t>the scope of security needed by the </a:t>
            </a:r>
            <a:r>
              <a:rPr lang="en-US" dirty="0" smtClean="0"/>
              <a:t>organisation </a:t>
            </a:r>
            <a:r>
              <a:rPr lang="en-US" dirty="0"/>
              <a:t>and </a:t>
            </a:r>
            <a:r>
              <a:rPr lang="en-US" dirty="0" smtClean="0"/>
              <a:t>discusses the </a:t>
            </a:r>
            <a:r>
              <a:rPr lang="en-US" dirty="0"/>
              <a:t>assets that require protection and the extent to which security solutions should </a:t>
            </a:r>
            <a:r>
              <a:rPr lang="en-US" dirty="0" smtClean="0"/>
              <a:t>go to </a:t>
            </a:r>
            <a:r>
              <a:rPr lang="en-US" dirty="0"/>
              <a:t>provide the necessary protection</a:t>
            </a:r>
            <a:r>
              <a:rPr lang="en-US" dirty="0" smtClean="0"/>
              <a:t>.</a:t>
            </a:r>
          </a:p>
          <a:p>
            <a:endParaRPr lang="en-GB" dirty="0"/>
          </a:p>
        </p:txBody>
      </p:sp>
    </p:spTree>
    <p:extLst>
      <p:ext uri="{BB962C8B-B14F-4D97-AF65-F5344CB8AC3E}">
        <p14:creationId xmlns:p14="http://schemas.microsoft.com/office/powerpoint/2010/main" val="2853475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4190" y="0"/>
            <a:ext cx="10363200" cy="1143000"/>
          </a:xfrm>
        </p:spPr>
        <p:txBody>
          <a:bodyPr/>
          <a:lstStyle/>
          <a:p>
            <a:r>
              <a:rPr lang="en-GB" dirty="0" smtClean="0"/>
              <a:t>ISO 27001 </a:t>
            </a:r>
            <a:r>
              <a:rPr lang="en-GB" dirty="0"/>
              <a:t>Section </a:t>
            </a:r>
            <a:r>
              <a:rPr lang="en-GB" dirty="0" smtClean="0"/>
              <a:t>5.2</a:t>
            </a:r>
            <a:endParaRPr lang="en-GB" dirty="0"/>
          </a:p>
        </p:txBody>
      </p:sp>
      <p:sp>
        <p:nvSpPr>
          <p:cNvPr id="3" name="Content Placeholder 2"/>
          <p:cNvSpPr>
            <a:spLocks noGrp="1"/>
          </p:cNvSpPr>
          <p:nvPr>
            <p:ph idx="1"/>
          </p:nvPr>
        </p:nvSpPr>
        <p:spPr>
          <a:xfrm>
            <a:off x="729916" y="1143000"/>
            <a:ext cx="10363200" cy="4114800"/>
          </a:xfrm>
        </p:spPr>
        <p:txBody>
          <a:bodyPr/>
          <a:lstStyle/>
          <a:p>
            <a:r>
              <a:rPr lang="en-GB" sz="2000" dirty="0" smtClean="0"/>
              <a:t>Top management shall establish an information security policy that:</a:t>
            </a:r>
          </a:p>
          <a:p>
            <a:pPr marL="457200" indent="-457200">
              <a:buFont typeface="+mj-lt"/>
              <a:buAutoNum type="alphaLcParenR"/>
            </a:pPr>
            <a:r>
              <a:rPr lang="en-GB" sz="2000" dirty="0" smtClean="0"/>
              <a:t>Is appropriate to the purpose of the organisation</a:t>
            </a:r>
          </a:p>
          <a:p>
            <a:pPr marL="457200" indent="-457200">
              <a:buFont typeface="+mj-lt"/>
              <a:buAutoNum type="alphaLcParenR"/>
            </a:pPr>
            <a:r>
              <a:rPr lang="en-GB" sz="2000" dirty="0" smtClean="0"/>
              <a:t>Includes information security objectives or provides the framework for setting information security objectives</a:t>
            </a:r>
          </a:p>
          <a:p>
            <a:pPr marL="457200" indent="-457200">
              <a:buFont typeface="+mj-lt"/>
              <a:buAutoNum type="alphaLcParenR"/>
            </a:pPr>
            <a:r>
              <a:rPr lang="en-GB" sz="2000" dirty="0" smtClean="0"/>
              <a:t>Includes a commitment to satisfy applicable requirements related to information security</a:t>
            </a:r>
          </a:p>
          <a:p>
            <a:pPr marL="457200" indent="-457200">
              <a:buFont typeface="+mj-lt"/>
              <a:buAutoNum type="alphaLcParenR"/>
            </a:pPr>
            <a:r>
              <a:rPr lang="en-GB" sz="2000" dirty="0" smtClean="0"/>
              <a:t>Includes a commitment to continual improvement of the information security management system</a:t>
            </a:r>
          </a:p>
          <a:p>
            <a:r>
              <a:rPr lang="en-GB" sz="2000" dirty="0" smtClean="0"/>
              <a:t>The information security policy shall:</a:t>
            </a:r>
          </a:p>
          <a:p>
            <a:pPr marL="457200" indent="-457200">
              <a:buFont typeface="+mj-lt"/>
              <a:buAutoNum type="alphaLcParenR" startAt="5"/>
            </a:pPr>
            <a:r>
              <a:rPr lang="en-GB" sz="2000" dirty="0" smtClean="0"/>
              <a:t>Be available as documented information</a:t>
            </a:r>
          </a:p>
          <a:p>
            <a:pPr marL="457200" indent="-457200">
              <a:buFont typeface="+mj-lt"/>
              <a:buAutoNum type="alphaLcParenR" startAt="5"/>
            </a:pPr>
            <a:r>
              <a:rPr lang="en-GB" sz="2000" dirty="0" smtClean="0"/>
              <a:t>Be communicated within the organisation</a:t>
            </a:r>
          </a:p>
          <a:p>
            <a:pPr marL="457200" indent="-457200">
              <a:buFont typeface="+mj-lt"/>
              <a:buAutoNum type="alphaLcParenR" startAt="5"/>
            </a:pPr>
            <a:r>
              <a:rPr lang="en-GB" sz="2000" dirty="0" smtClean="0"/>
              <a:t>Be available to interested parties, as appropriate</a:t>
            </a:r>
          </a:p>
          <a:p>
            <a:endParaRPr lang="en-GB" sz="2000" dirty="0"/>
          </a:p>
        </p:txBody>
      </p:sp>
    </p:spTree>
    <p:extLst>
      <p:ext uri="{BB962C8B-B14F-4D97-AF65-F5344CB8AC3E}">
        <p14:creationId xmlns:p14="http://schemas.microsoft.com/office/powerpoint/2010/main" val="698561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Lec 1 Security Governan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Lec 1 Security Governance</Template>
  <TotalTime>533</TotalTime>
  <Words>2317</Words>
  <Application>Microsoft Office PowerPoint</Application>
  <PresentationFormat>Widescreen</PresentationFormat>
  <Paragraphs>209</Paragraphs>
  <Slides>31</Slides>
  <Notes>1</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31</vt:i4>
      </vt:variant>
    </vt:vector>
  </HeadingPairs>
  <TitlesOfParts>
    <vt:vector size="41" baseType="lpstr">
      <vt:lpstr>Arial</vt:lpstr>
      <vt:lpstr>Calibri</vt:lpstr>
      <vt:lpstr>Calibri Light</vt:lpstr>
      <vt:lpstr>Courier New</vt:lpstr>
      <vt:lpstr>Georgia</vt:lpstr>
      <vt:lpstr>Tahoma</vt:lpstr>
      <vt:lpstr>Times New Roman</vt:lpstr>
      <vt:lpstr>Lec 1 Security Governance</vt:lpstr>
      <vt:lpstr>Default Design</vt:lpstr>
      <vt:lpstr>1_Default Design</vt:lpstr>
      <vt:lpstr>Lecture 5 – Classification and Roles</vt:lpstr>
      <vt:lpstr>Data Classification</vt:lpstr>
      <vt:lpstr>Data Classification</vt:lpstr>
      <vt:lpstr>Benefits of using a data classification scheme</vt:lpstr>
      <vt:lpstr>Benefits of using a data classification scheme</vt:lpstr>
      <vt:lpstr>Criteria</vt:lpstr>
      <vt:lpstr>Steps for a classification scheme</vt:lpstr>
      <vt:lpstr>Declassification</vt:lpstr>
      <vt:lpstr>Classification schemes</vt:lpstr>
      <vt:lpstr>Classification schemes</vt:lpstr>
      <vt:lpstr>Classification schemes</vt:lpstr>
      <vt:lpstr>Classification schemes</vt:lpstr>
      <vt:lpstr>Classification schemes</vt:lpstr>
      <vt:lpstr>Ownership</vt:lpstr>
      <vt:lpstr>Security Roles and Responsibilities</vt:lpstr>
      <vt:lpstr>Security Roles and Responsibilities</vt:lpstr>
      <vt:lpstr>Security Roles and Responsibilities</vt:lpstr>
      <vt:lpstr>Security Roles and Responsibilities</vt:lpstr>
      <vt:lpstr>Security Roles and Responsibilities</vt:lpstr>
      <vt:lpstr>Security Roles and Responsibilities</vt:lpstr>
      <vt:lpstr>Security Roles and Responsibilities</vt:lpstr>
      <vt:lpstr>PowerPoint Presentation</vt:lpstr>
      <vt:lpstr>Planning</vt:lpstr>
      <vt:lpstr>Planning</vt:lpstr>
      <vt:lpstr>International Organisation for Standardisation (ISO)</vt:lpstr>
      <vt:lpstr>ISO/IEC 27001</vt:lpstr>
      <vt:lpstr>ISO/IEC 27001</vt:lpstr>
      <vt:lpstr>ISO/IEC 27001 (Annex A)</vt:lpstr>
      <vt:lpstr>Due Care and Due Diligence</vt:lpstr>
      <vt:lpstr>Security Policies</vt:lpstr>
      <vt:lpstr>ISO 27001 Section 5.2</vt:lpstr>
    </vt:vector>
  </TitlesOfParts>
  <Company>GU</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Nigel Houlden</dc:creator>
  <cp:lastModifiedBy>Nigel Houlden</cp:lastModifiedBy>
  <cp:revision>33</cp:revision>
  <dcterms:created xsi:type="dcterms:W3CDTF">2019-01-07T11:18:16Z</dcterms:created>
  <dcterms:modified xsi:type="dcterms:W3CDTF">2019-09-19T09:49:19Z</dcterms:modified>
</cp:coreProperties>
</file>