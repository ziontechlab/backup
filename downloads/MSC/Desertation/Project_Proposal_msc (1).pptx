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NWQZf4+XbP/dh1DGexdB1pCks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9144000" cy="6400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5074920"/>
            <a:ext cx="9144000" cy="6400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943600" y="274320"/>
            <a:ext cx="4114800" cy="4114800"/>
          </a:xfrm>
          <a:prstGeom prst="ellipse">
            <a:avLst/>
          </a:prstGeom>
          <a:solidFill>
            <a:srgbClr val="1B2A4A">
              <a:alpha val="70196"/>
            </a:srgbClr>
          </a:solidFill>
          <a:ln cap="flat" cmpd="sng" w="254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6400800" y="731520"/>
            <a:ext cx="3200400" cy="3200400"/>
          </a:xfrm>
          <a:prstGeom prst="ellipse">
            <a:avLst/>
          </a:prstGeom>
          <a:solidFill>
            <a:srgbClr val="0F1C32"/>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7200" y="822960"/>
            <a:ext cx="5486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020"/>
              </a:buClr>
              <a:buSzPts val="1300"/>
              <a:buFont typeface="Calibri"/>
              <a:buNone/>
            </a:pPr>
            <a:r>
              <a:rPr b="1" i="0" lang="en-US" sz="1300" u="none" cap="none" strike="noStrike">
                <a:solidFill>
                  <a:srgbClr val="E8A020"/>
                </a:solidFill>
                <a:latin typeface="Calibri"/>
                <a:ea typeface="Calibri"/>
                <a:cs typeface="Calibri"/>
                <a:sym typeface="Calibri"/>
              </a:rPr>
              <a:t>PROJECT PROPOSAL</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457200" y="1325880"/>
            <a:ext cx="5486400" cy="1005840"/>
          </a:xfrm>
          <a:prstGeom prst="rect">
            <a:avLst/>
          </a:prstGeom>
          <a:noFill/>
          <a:ln cap="flat" cmpd="sng" w="9525">
            <a:solidFill>
              <a:srgbClr val="8B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CREATION</a:t>
            </a:r>
            <a:endParaRPr b="0" i="0" sz="4800" u="none" cap="none" strike="noStrike">
              <a:solidFill>
                <a:schemeClr val="dk1"/>
              </a:solidFill>
              <a:latin typeface="Calibri"/>
              <a:ea typeface="Calibri"/>
              <a:cs typeface="Calibri"/>
              <a:sym typeface="Calibri"/>
            </a:endParaRPr>
          </a:p>
        </p:txBody>
      </p:sp>
      <p:sp>
        <p:nvSpPr>
          <p:cNvPr id="22" name="Google Shape;22;p1"/>
          <p:cNvSpPr/>
          <p:nvPr/>
        </p:nvSpPr>
        <p:spPr>
          <a:xfrm>
            <a:off x="457200" y="2423160"/>
            <a:ext cx="5486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CD8"/>
              </a:buClr>
              <a:buSzPts val="1800"/>
              <a:buFont typeface="Calibri"/>
              <a:buNone/>
            </a:pPr>
            <a:r>
              <a:rPr b="0" i="1" lang="en-US" sz="1800" u="none" cap="none" strike="noStrike">
                <a:solidFill>
                  <a:srgbClr val="AABCD8"/>
                </a:solidFill>
                <a:latin typeface="Calibri"/>
                <a:ea typeface="Calibri"/>
                <a:cs typeface="Calibri"/>
                <a:sym typeface="Calibri"/>
              </a:rPr>
              <a:t>A Complete Guide for </a:t>
            </a:r>
            <a:r>
              <a:rPr i="1" lang="en-US" sz="1800">
                <a:solidFill>
                  <a:srgbClr val="AABCD8"/>
                </a:solidFill>
                <a:latin typeface="Calibri"/>
                <a:ea typeface="Calibri"/>
                <a:cs typeface="Calibri"/>
                <a:sym typeface="Calibri"/>
              </a:rPr>
              <a:t>Masters</a:t>
            </a:r>
            <a:r>
              <a:rPr b="0" i="1" lang="en-US" sz="1800" u="none" cap="none" strike="noStrike">
                <a:solidFill>
                  <a:srgbClr val="AABCD8"/>
                </a:solidFill>
                <a:latin typeface="Calibri"/>
                <a:ea typeface="Calibri"/>
                <a:cs typeface="Calibri"/>
                <a:sym typeface="Calibri"/>
              </a:rPr>
              <a:t> Students</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457200" y="3017520"/>
            <a:ext cx="9144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57200" y="320040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AABCD8"/>
              </a:buClr>
              <a:buSzPts val="1300"/>
              <a:buFont typeface="Calibri"/>
              <a:buNone/>
            </a:pPr>
            <a:r>
              <a:rPr b="0" i="0" lang="en-US" sz="1300" u="none" cap="none" strike="noStrike">
                <a:solidFill>
                  <a:srgbClr val="AABCD8"/>
                </a:solidFill>
                <a:latin typeface="Calibri"/>
                <a:ea typeface="Calibri"/>
                <a:cs typeface="Calibri"/>
                <a:sym typeface="Calibri"/>
              </a:rPr>
              <a:t>Learn how to plan, structure,</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AABCD8"/>
              </a:buClr>
              <a:buSzPts val="1300"/>
              <a:buFont typeface="Calibri"/>
              <a:buNone/>
            </a:pPr>
            <a:r>
              <a:rPr b="0" i="0" lang="en-US" sz="1300" u="none" cap="none" strike="noStrike">
                <a:solidFill>
                  <a:srgbClr val="AABCD8"/>
                </a:solidFill>
                <a:latin typeface="Calibri"/>
                <a:ea typeface="Calibri"/>
                <a:cs typeface="Calibri"/>
                <a:sym typeface="Calibri"/>
              </a:rPr>
              <a:t>and present your research proposal</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AABCD8"/>
              </a:buClr>
              <a:buSzPts val="1300"/>
              <a:buFont typeface="Calibri"/>
              <a:buNone/>
            </a:pPr>
            <a:r>
              <a:rPr b="0" i="0" lang="en-US" sz="1300" u="none" cap="none" strike="noStrike">
                <a:solidFill>
                  <a:srgbClr val="AABCD8"/>
                </a:solidFill>
                <a:latin typeface="Calibri"/>
                <a:ea typeface="Calibri"/>
                <a:cs typeface="Calibri"/>
                <a:sym typeface="Calibri"/>
              </a:rPr>
              <a:t>with confidence.</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6675120" y="1188720"/>
            <a:ext cx="2286000"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6</a:t>
            </a:r>
            <a:r>
              <a:rPr b="1" i="0" lang="en-US" sz="1800" u="none" cap="none" strike="noStrike">
                <a:solidFill>
                  <a:srgbClr val="FFFFFF"/>
                </a:solidFill>
                <a:latin typeface="Calibri"/>
                <a:ea typeface="Calibri"/>
                <a:cs typeface="Calibri"/>
                <a:sym typeface="Calibri"/>
              </a:rPr>
              <a:t>-Month</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Project</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Guide</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457200" y="475488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7A9E"/>
              </a:buClr>
              <a:buSzPts val="1100"/>
              <a:buFont typeface="Calibri"/>
              <a:buNone/>
            </a:pPr>
            <a:r>
              <a:rPr b="0" i="0" lang="en-US" sz="1100" u="none" cap="none" strike="noStrike">
                <a:solidFill>
                  <a:srgbClr val="5A7A9E"/>
                </a:solidFill>
                <a:latin typeface="Calibri"/>
                <a:ea typeface="Calibri"/>
                <a:cs typeface="Calibri"/>
                <a:sym typeface="Calibri"/>
              </a:rPr>
              <a:t>Lecture Notes | </a:t>
            </a:r>
            <a:r>
              <a:rPr lang="en-US" sz="1100">
                <a:solidFill>
                  <a:srgbClr val="5A7A9E"/>
                </a:solidFill>
                <a:latin typeface="Calibri"/>
                <a:ea typeface="Calibri"/>
                <a:cs typeface="Calibri"/>
                <a:sym typeface="Calibri"/>
              </a:rPr>
              <a:t>Masters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What is a Project Proposal?</a:t>
            </a:r>
            <a:endParaRPr b="0" i="0" sz="2600" u="none" cap="none" strike="noStrike">
              <a:solidFill>
                <a:schemeClr val="dk1"/>
              </a:solidFill>
              <a:latin typeface="Calibri"/>
              <a:ea typeface="Calibri"/>
              <a:cs typeface="Calibri"/>
              <a:sym typeface="Calibri"/>
            </a:endParaRPr>
          </a:p>
        </p:txBody>
      </p:sp>
      <p:sp>
        <p:nvSpPr>
          <p:cNvPr id="35" name="Google Shape;35;p2"/>
          <p:cNvSpPr/>
          <p:nvPr/>
        </p:nvSpPr>
        <p:spPr>
          <a:xfrm>
            <a:off x="365760" y="1234440"/>
            <a:ext cx="8412480" cy="1188720"/>
          </a:xfrm>
          <a:prstGeom prst="rect">
            <a:avLst/>
          </a:prstGeom>
          <a:solidFill>
            <a:srgbClr val="E8A020"/>
          </a:solidFill>
          <a:ln cap="flat" cmpd="sng" w="12700">
            <a:solidFill>
              <a:srgbClr val="E8A02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65760" y="1234440"/>
            <a:ext cx="91440" cy="1188720"/>
          </a:xfrm>
          <a:prstGeom prst="rect">
            <a:avLst/>
          </a:prstGeom>
          <a:solidFill>
            <a:srgbClr val="0F1C32"/>
          </a:solidFill>
          <a:ln cap="flat" cmpd="sng" w="12700">
            <a:solidFill>
              <a:srgbClr val="0F1C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48640" y="129844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C32"/>
              </a:buClr>
              <a:buSzPts val="1000"/>
              <a:buFont typeface="Calibri"/>
              <a:buNone/>
            </a:pPr>
            <a:r>
              <a:rPr b="1" i="0" lang="en-US" sz="1000" u="none" cap="none" strike="noStrike">
                <a:solidFill>
                  <a:srgbClr val="0F1C32"/>
                </a:solidFill>
                <a:latin typeface="Calibri"/>
                <a:ea typeface="Calibri"/>
                <a:cs typeface="Calibri"/>
                <a:sym typeface="Calibri"/>
              </a:rPr>
              <a:t>📌  DEFINITION</a:t>
            </a:r>
            <a:endParaRPr b="0" i="0" sz="1000" u="none" cap="none" strike="noStrike">
              <a:solidFill>
                <a:schemeClr val="dk1"/>
              </a:solidFill>
              <a:latin typeface="Calibri"/>
              <a:ea typeface="Calibri"/>
              <a:cs typeface="Calibri"/>
              <a:sym typeface="Calibri"/>
            </a:endParaRPr>
          </a:p>
        </p:txBody>
      </p:sp>
      <p:sp>
        <p:nvSpPr>
          <p:cNvPr id="38" name="Google Shape;38;p2"/>
          <p:cNvSpPr/>
          <p:nvPr/>
        </p:nvSpPr>
        <p:spPr>
          <a:xfrm>
            <a:off x="548640" y="1572768"/>
            <a:ext cx="795528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0F1C32"/>
              </a:buClr>
              <a:buSzPts val="1300"/>
              <a:buFont typeface="Calibri"/>
              <a:buNone/>
            </a:pPr>
            <a:r>
              <a:rPr b="0" i="0" lang="en-US" sz="1300" u="none" cap="none" strike="noStrike">
                <a:solidFill>
                  <a:srgbClr val="0F1C32"/>
                </a:solidFill>
                <a:latin typeface="Calibri"/>
                <a:ea typeface="Calibri"/>
                <a:cs typeface="Calibri"/>
                <a:sym typeface="Calibri"/>
              </a:rPr>
              <a:t>A project proposal is a formal document that outlines what you plan to research or build, why it matters, how you will do it, and how long it will take. It is the blueprint of your entire project.</a:t>
            </a:r>
            <a:endParaRPr b="0" i="0" sz="1300" u="none" cap="none" strike="noStrike">
              <a:solidFill>
                <a:schemeClr val="dk1"/>
              </a:solidFill>
              <a:latin typeface="Calibri"/>
              <a:ea typeface="Calibri"/>
              <a:cs typeface="Calibri"/>
              <a:sym typeface="Calibri"/>
            </a:endParaRPr>
          </a:p>
        </p:txBody>
      </p:sp>
      <p:sp>
        <p:nvSpPr>
          <p:cNvPr id="39" name="Google Shape;39;p2"/>
          <p:cNvSpPr/>
          <p:nvPr/>
        </p:nvSpPr>
        <p:spPr>
          <a:xfrm>
            <a:off x="365760" y="2651760"/>
            <a:ext cx="2743200" cy="21945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65760" y="2651760"/>
            <a:ext cx="2743200" cy="3200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65760" y="2679192"/>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PURPOSE</a:t>
            </a:r>
            <a:endParaRPr b="0" i="0" sz="1100" u="none" cap="none" strike="noStrike">
              <a:solidFill>
                <a:schemeClr val="dk1"/>
              </a:solidFill>
              <a:latin typeface="Calibri"/>
              <a:ea typeface="Calibri"/>
              <a:cs typeface="Calibri"/>
              <a:sym typeface="Calibri"/>
            </a:endParaRPr>
          </a:p>
        </p:txBody>
      </p:sp>
      <p:sp>
        <p:nvSpPr>
          <p:cNvPr id="42" name="Google Shape;42;p2"/>
          <p:cNvSpPr/>
          <p:nvPr/>
        </p:nvSpPr>
        <p:spPr>
          <a:xfrm>
            <a:off x="502920" y="3063240"/>
            <a:ext cx="246888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5A6A7E"/>
              </a:buClr>
              <a:buSzPts val="1200"/>
              <a:buFont typeface="Calibri"/>
              <a:buNone/>
            </a:pPr>
            <a:r>
              <a:rPr b="0" i="0" lang="en-US" sz="1200" u="none" cap="none" strike="noStrike">
                <a:solidFill>
                  <a:srgbClr val="5A6A7E"/>
                </a:solidFill>
                <a:latin typeface="Calibri"/>
                <a:ea typeface="Calibri"/>
                <a:cs typeface="Calibri"/>
                <a:sym typeface="Calibri"/>
              </a:rPr>
              <a:t>Convince your supervisor that your project is feasible and worthwhile.</a:t>
            </a:r>
            <a:endParaRPr b="0" i="0" sz="1200" u="none" cap="none" strike="noStrike">
              <a:solidFill>
                <a:schemeClr val="dk1"/>
              </a:solidFill>
              <a:latin typeface="Calibri"/>
              <a:ea typeface="Calibri"/>
              <a:cs typeface="Calibri"/>
              <a:sym typeface="Calibri"/>
            </a:endParaRPr>
          </a:p>
        </p:txBody>
      </p:sp>
      <p:sp>
        <p:nvSpPr>
          <p:cNvPr id="43" name="Google Shape;43;p2"/>
          <p:cNvSpPr/>
          <p:nvPr/>
        </p:nvSpPr>
        <p:spPr>
          <a:xfrm>
            <a:off x="3291840" y="2651760"/>
            <a:ext cx="2743200" cy="21945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291840" y="2651760"/>
            <a:ext cx="2743200" cy="3200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291840" y="2679192"/>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PLANNING TOOL</a:t>
            </a:r>
            <a:endParaRPr b="0" i="0" sz="1100" u="none" cap="none" strike="noStrike">
              <a:solidFill>
                <a:schemeClr val="dk1"/>
              </a:solidFill>
              <a:latin typeface="Calibri"/>
              <a:ea typeface="Calibri"/>
              <a:cs typeface="Calibri"/>
              <a:sym typeface="Calibri"/>
            </a:endParaRPr>
          </a:p>
        </p:txBody>
      </p:sp>
      <p:sp>
        <p:nvSpPr>
          <p:cNvPr id="46" name="Google Shape;46;p2"/>
          <p:cNvSpPr/>
          <p:nvPr/>
        </p:nvSpPr>
        <p:spPr>
          <a:xfrm>
            <a:off x="3429000" y="3063240"/>
            <a:ext cx="246888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5A6A7E"/>
              </a:buClr>
              <a:buSzPts val="1200"/>
              <a:buFont typeface="Calibri"/>
              <a:buNone/>
            </a:pPr>
            <a:r>
              <a:rPr b="0" i="0" lang="en-US" sz="1200" u="none" cap="none" strike="noStrike">
                <a:solidFill>
                  <a:srgbClr val="5A6A7E"/>
                </a:solidFill>
                <a:latin typeface="Calibri"/>
                <a:ea typeface="Calibri"/>
                <a:cs typeface="Calibri"/>
                <a:sym typeface="Calibri"/>
              </a:rPr>
              <a:t>Helps you think through every stage of your project before starting.</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217920" y="2651760"/>
            <a:ext cx="2743200" cy="21945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217920" y="2651760"/>
            <a:ext cx="2743200" cy="3200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217920" y="2679192"/>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CONTRACT</a:t>
            </a:r>
            <a:endParaRPr b="0" i="0" sz="1100" u="none" cap="none" strike="noStrike">
              <a:solidFill>
                <a:schemeClr val="dk1"/>
              </a:solidFill>
              <a:latin typeface="Calibri"/>
              <a:ea typeface="Calibri"/>
              <a:cs typeface="Calibri"/>
              <a:sym typeface="Calibri"/>
            </a:endParaRPr>
          </a:p>
        </p:txBody>
      </p:sp>
      <p:sp>
        <p:nvSpPr>
          <p:cNvPr id="50" name="Google Shape;50;p2"/>
          <p:cNvSpPr/>
          <p:nvPr/>
        </p:nvSpPr>
        <p:spPr>
          <a:xfrm>
            <a:off x="6355080" y="3063240"/>
            <a:ext cx="246888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5A6A7E"/>
              </a:buClr>
              <a:buSzPts val="1200"/>
              <a:buFont typeface="Calibri"/>
              <a:buNone/>
            </a:pPr>
            <a:r>
              <a:rPr b="0" i="0" lang="en-US" sz="1200" u="none" cap="none" strike="noStrike">
                <a:solidFill>
                  <a:srgbClr val="5A6A7E"/>
                </a:solidFill>
                <a:latin typeface="Calibri"/>
                <a:ea typeface="Calibri"/>
                <a:cs typeface="Calibri"/>
                <a:sym typeface="Calibri"/>
              </a:rPr>
              <a:t>Sets clear expectations for deliverables, timeline, and approach.</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Structure of a Project Proposal</a:t>
            </a:r>
            <a:endParaRPr b="0" i="0" sz="2600" u="none" cap="none" strike="noStrike">
              <a:solidFill>
                <a:schemeClr val="dk1"/>
              </a:solidFill>
              <a:latin typeface="Calibri"/>
              <a:ea typeface="Calibri"/>
              <a:cs typeface="Calibri"/>
              <a:sym typeface="Calibri"/>
            </a:endParaRPr>
          </a:p>
        </p:txBody>
      </p:sp>
      <p:sp>
        <p:nvSpPr>
          <p:cNvPr id="59" name="Google Shape;59;p3"/>
          <p:cNvSpPr/>
          <p:nvPr/>
        </p:nvSpPr>
        <p:spPr>
          <a:xfrm>
            <a:off x="365760" y="1234440"/>
            <a:ext cx="502920" cy="548640"/>
          </a:xfrm>
          <a:prstGeom prst="rect">
            <a:avLst/>
          </a:prstGeom>
          <a:solidFill>
            <a:srgbClr val="1B4F72"/>
          </a:solidFill>
          <a:ln cap="flat" cmpd="sng" w="12700">
            <a:solidFill>
              <a:srgbClr val="1B4F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365760" y="1280160"/>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61" name="Google Shape;61;p3"/>
          <p:cNvSpPr/>
          <p:nvPr/>
        </p:nvSpPr>
        <p:spPr>
          <a:xfrm>
            <a:off x="868680" y="1234440"/>
            <a:ext cx="365760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005840" y="132588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Title Page</a:t>
            </a:r>
            <a:endParaRPr b="0" i="0" sz="1300" u="none" cap="none" strike="noStrike">
              <a:solidFill>
                <a:schemeClr val="dk1"/>
              </a:solidFill>
              <a:latin typeface="Calibri"/>
              <a:ea typeface="Calibri"/>
              <a:cs typeface="Calibri"/>
              <a:sym typeface="Calibri"/>
            </a:endParaRPr>
          </a:p>
        </p:txBody>
      </p:sp>
      <p:sp>
        <p:nvSpPr>
          <p:cNvPr id="63" name="Google Shape;63;p3"/>
          <p:cNvSpPr/>
          <p:nvPr/>
        </p:nvSpPr>
        <p:spPr>
          <a:xfrm>
            <a:off x="365760" y="1975104"/>
            <a:ext cx="502920" cy="54864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365760" y="2020824"/>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65" name="Google Shape;65;p3"/>
          <p:cNvSpPr/>
          <p:nvPr/>
        </p:nvSpPr>
        <p:spPr>
          <a:xfrm>
            <a:off x="868680" y="1975104"/>
            <a:ext cx="365760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1005840" y="2066544"/>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Introduction &amp; Background</a:t>
            </a:r>
            <a:endParaRPr b="0" i="0" sz="1300" u="none" cap="none" strike="noStrike">
              <a:solidFill>
                <a:schemeClr val="dk1"/>
              </a:solidFill>
              <a:latin typeface="Calibri"/>
              <a:ea typeface="Calibri"/>
              <a:cs typeface="Calibri"/>
              <a:sym typeface="Calibri"/>
            </a:endParaRPr>
          </a:p>
        </p:txBody>
      </p:sp>
      <p:sp>
        <p:nvSpPr>
          <p:cNvPr id="67" name="Google Shape;67;p3"/>
          <p:cNvSpPr/>
          <p:nvPr/>
        </p:nvSpPr>
        <p:spPr>
          <a:xfrm>
            <a:off x="365760" y="2715768"/>
            <a:ext cx="502920" cy="54864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65760" y="2761488"/>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69" name="Google Shape;69;p3"/>
          <p:cNvSpPr/>
          <p:nvPr/>
        </p:nvSpPr>
        <p:spPr>
          <a:xfrm>
            <a:off x="868680" y="2715768"/>
            <a:ext cx="365760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005840" y="2807208"/>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Problem Statement</a:t>
            </a:r>
            <a:endParaRPr b="0" i="0" sz="1300" u="none" cap="none" strike="noStrike">
              <a:solidFill>
                <a:schemeClr val="dk1"/>
              </a:solidFill>
              <a:latin typeface="Calibri"/>
              <a:ea typeface="Calibri"/>
              <a:cs typeface="Calibri"/>
              <a:sym typeface="Calibri"/>
            </a:endParaRPr>
          </a:p>
        </p:txBody>
      </p:sp>
      <p:sp>
        <p:nvSpPr>
          <p:cNvPr id="71" name="Google Shape;71;p3"/>
          <p:cNvSpPr/>
          <p:nvPr/>
        </p:nvSpPr>
        <p:spPr>
          <a:xfrm>
            <a:off x="365760" y="3456432"/>
            <a:ext cx="502920" cy="548640"/>
          </a:xfrm>
          <a:prstGeom prst="rect">
            <a:avLst/>
          </a:prstGeom>
          <a:solidFill>
            <a:srgbClr val="2874A6"/>
          </a:solidFill>
          <a:ln cap="flat" cmpd="sng" w="12700">
            <a:solidFill>
              <a:srgbClr val="2874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365760" y="3502152"/>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04</a:t>
            </a:r>
            <a:endParaRPr b="0" i="0" sz="1400" u="none" cap="none" strike="noStrike">
              <a:solidFill>
                <a:schemeClr val="dk1"/>
              </a:solidFill>
              <a:latin typeface="Calibri"/>
              <a:ea typeface="Calibri"/>
              <a:cs typeface="Calibri"/>
              <a:sym typeface="Calibri"/>
            </a:endParaRPr>
          </a:p>
        </p:txBody>
      </p:sp>
      <p:sp>
        <p:nvSpPr>
          <p:cNvPr id="73" name="Google Shape;73;p3"/>
          <p:cNvSpPr/>
          <p:nvPr/>
        </p:nvSpPr>
        <p:spPr>
          <a:xfrm>
            <a:off x="868680" y="3456432"/>
            <a:ext cx="365760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005840" y="3547872"/>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Aim &amp; Objectives</a:t>
            </a:r>
            <a:endParaRPr b="0" i="0" sz="1300" u="none" cap="none" strike="noStrike">
              <a:solidFill>
                <a:schemeClr val="dk1"/>
              </a:solidFill>
              <a:latin typeface="Calibri"/>
              <a:ea typeface="Calibri"/>
              <a:cs typeface="Calibri"/>
              <a:sym typeface="Calibri"/>
            </a:endParaRPr>
          </a:p>
        </p:txBody>
      </p:sp>
      <p:sp>
        <p:nvSpPr>
          <p:cNvPr id="75" name="Google Shape;75;p3"/>
          <p:cNvSpPr/>
          <p:nvPr/>
        </p:nvSpPr>
        <p:spPr>
          <a:xfrm>
            <a:off x="365760" y="4197096"/>
            <a:ext cx="502920" cy="548640"/>
          </a:xfrm>
          <a:prstGeom prst="rect">
            <a:avLst/>
          </a:prstGeom>
          <a:solidFill>
            <a:srgbClr val="2E86C1"/>
          </a:solidFill>
          <a:ln cap="flat" cmpd="sng" w="12700">
            <a:solidFill>
              <a:srgbClr val="2E86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365760" y="4242816"/>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05</a:t>
            </a:r>
            <a:endParaRPr b="0" i="0" sz="1400" u="none" cap="none" strike="noStrike">
              <a:solidFill>
                <a:schemeClr val="dk1"/>
              </a:solidFill>
              <a:latin typeface="Calibri"/>
              <a:ea typeface="Calibri"/>
              <a:cs typeface="Calibri"/>
              <a:sym typeface="Calibri"/>
            </a:endParaRPr>
          </a:p>
        </p:txBody>
      </p:sp>
      <p:sp>
        <p:nvSpPr>
          <p:cNvPr id="77" name="Google Shape;77;p3"/>
          <p:cNvSpPr/>
          <p:nvPr/>
        </p:nvSpPr>
        <p:spPr>
          <a:xfrm>
            <a:off x="868680" y="4197096"/>
            <a:ext cx="365760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005840" y="4288536"/>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Literature Review</a:t>
            </a:r>
            <a:endParaRPr b="0" i="0" sz="1300" u="none" cap="none" strike="noStrike">
              <a:solidFill>
                <a:schemeClr val="dk1"/>
              </a:solidFill>
              <a:latin typeface="Calibri"/>
              <a:ea typeface="Calibri"/>
              <a:cs typeface="Calibri"/>
              <a:sym typeface="Calibri"/>
            </a:endParaRPr>
          </a:p>
        </p:txBody>
      </p:sp>
      <p:sp>
        <p:nvSpPr>
          <p:cNvPr id="79" name="Google Shape;79;p3"/>
          <p:cNvSpPr/>
          <p:nvPr/>
        </p:nvSpPr>
        <p:spPr>
          <a:xfrm>
            <a:off x="4754880" y="1234440"/>
            <a:ext cx="502920" cy="548640"/>
          </a:xfrm>
          <a:prstGeom prst="rect">
            <a:avLst/>
          </a:prstGeom>
          <a:solidFill>
            <a:srgbClr val="3498DB"/>
          </a:solidFill>
          <a:ln cap="flat" cmpd="sng" w="12700">
            <a:solidFill>
              <a:srgbClr val="349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4754880" y="1280160"/>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06</a:t>
            </a:r>
            <a:endParaRPr b="0" i="0" sz="1400" u="none" cap="none" strike="noStrike">
              <a:solidFill>
                <a:schemeClr val="dk1"/>
              </a:solidFill>
              <a:latin typeface="Calibri"/>
              <a:ea typeface="Calibri"/>
              <a:cs typeface="Calibri"/>
              <a:sym typeface="Calibri"/>
            </a:endParaRPr>
          </a:p>
        </p:txBody>
      </p:sp>
      <p:sp>
        <p:nvSpPr>
          <p:cNvPr id="81" name="Google Shape;81;p3"/>
          <p:cNvSpPr/>
          <p:nvPr/>
        </p:nvSpPr>
        <p:spPr>
          <a:xfrm>
            <a:off x="5257800" y="1234440"/>
            <a:ext cx="352044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5394960" y="1325880"/>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Methodology</a:t>
            </a:r>
            <a:endParaRPr b="0" i="0" sz="1300" u="none" cap="none" strike="noStrike">
              <a:solidFill>
                <a:schemeClr val="dk1"/>
              </a:solidFill>
              <a:latin typeface="Calibri"/>
              <a:ea typeface="Calibri"/>
              <a:cs typeface="Calibri"/>
              <a:sym typeface="Calibri"/>
            </a:endParaRPr>
          </a:p>
        </p:txBody>
      </p:sp>
      <p:sp>
        <p:nvSpPr>
          <p:cNvPr id="83" name="Google Shape;83;p3"/>
          <p:cNvSpPr/>
          <p:nvPr/>
        </p:nvSpPr>
        <p:spPr>
          <a:xfrm>
            <a:off x="4754880" y="1975104"/>
            <a:ext cx="502920" cy="548640"/>
          </a:xfrm>
          <a:prstGeom prst="rect">
            <a:avLst/>
          </a:prstGeom>
          <a:solidFill>
            <a:srgbClr val="5DADE2"/>
          </a:solidFill>
          <a:ln cap="flat" cmpd="sng" w="12700">
            <a:solidFill>
              <a:srgbClr val="5DAD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4754880" y="2020824"/>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07</a:t>
            </a:r>
            <a:endParaRPr b="0" i="0" sz="1400" u="none" cap="none" strike="noStrike">
              <a:solidFill>
                <a:schemeClr val="dk1"/>
              </a:solidFill>
              <a:latin typeface="Calibri"/>
              <a:ea typeface="Calibri"/>
              <a:cs typeface="Calibri"/>
              <a:sym typeface="Calibri"/>
            </a:endParaRPr>
          </a:p>
        </p:txBody>
      </p:sp>
      <p:sp>
        <p:nvSpPr>
          <p:cNvPr id="85" name="Google Shape;85;p3"/>
          <p:cNvSpPr/>
          <p:nvPr/>
        </p:nvSpPr>
        <p:spPr>
          <a:xfrm>
            <a:off x="5257800" y="1975104"/>
            <a:ext cx="352044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5394960" y="2066544"/>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Gantt Chart / Timeline</a:t>
            </a:r>
            <a:endParaRPr b="0" i="0" sz="1300" u="none" cap="none" strike="noStrike">
              <a:solidFill>
                <a:schemeClr val="dk1"/>
              </a:solidFill>
              <a:latin typeface="Calibri"/>
              <a:ea typeface="Calibri"/>
              <a:cs typeface="Calibri"/>
              <a:sym typeface="Calibri"/>
            </a:endParaRPr>
          </a:p>
        </p:txBody>
      </p:sp>
      <p:sp>
        <p:nvSpPr>
          <p:cNvPr id="87" name="Google Shape;87;p3"/>
          <p:cNvSpPr/>
          <p:nvPr/>
        </p:nvSpPr>
        <p:spPr>
          <a:xfrm>
            <a:off x="4754880" y="2715768"/>
            <a:ext cx="502920" cy="548640"/>
          </a:xfrm>
          <a:prstGeom prst="rect">
            <a:avLst/>
          </a:prstGeom>
          <a:solidFill>
            <a:srgbClr val="85C1E9"/>
          </a:solidFill>
          <a:ln cap="flat" cmpd="sng" w="12700">
            <a:solidFill>
              <a:srgbClr val="85C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4754880" y="2761488"/>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08</a:t>
            </a:r>
            <a:endParaRPr b="0" i="0" sz="1400" u="none" cap="none" strike="noStrike">
              <a:solidFill>
                <a:schemeClr val="dk1"/>
              </a:solidFill>
              <a:latin typeface="Calibri"/>
              <a:ea typeface="Calibri"/>
              <a:cs typeface="Calibri"/>
              <a:sym typeface="Calibri"/>
            </a:endParaRPr>
          </a:p>
        </p:txBody>
      </p:sp>
      <p:sp>
        <p:nvSpPr>
          <p:cNvPr id="89" name="Google Shape;89;p3"/>
          <p:cNvSpPr/>
          <p:nvPr/>
        </p:nvSpPr>
        <p:spPr>
          <a:xfrm>
            <a:off x="5257800" y="2715768"/>
            <a:ext cx="352044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394960" y="2807208"/>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Expected Outcomes</a:t>
            </a:r>
            <a:endParaRPr b="0" i="0" sz="1300" u="none" cap="none" strike="noStrike">
              <a:solidFill>
                <a:schemeClr val="dk1"/>
              </a:solidFill>
              <a:latin typeface="Calibri"/>
              <a:ea typeface="Calibri"/>
              <a:cs typeface="Calibri"/>
              <a:sym typeface="Calibri"/>
            </a:endParaRPr>
          </a:p>
        </p:txBody>
      </p:sp>
      <p:sp>
        <p:nvSpPr>
          <p:cNvPr id="91" name="Google Shape;91;p3"/>
          <p:cNvSpPr/>
          <p:nvPr/>
        </p:nvSpPr>
        <p:spPr>
          <a:xfrm>
            <a:off x="4754880" y="3456432"/>
            <a:ext cx="502920" cy="54864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4754880" y="3502152"/>
            <a:ext cx="502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09</a:t>
            </a:r>
            <a:endParaRPr b="0" i="0" sz="1400" u="none" cap="none" strike="noStrike">
              <a:solidFill>
                <a:schemeClr val="dk1"/>
              </a:solidFill>
              <a:latin typeface="Calibri"/>
              <a:ea typeface="Calibri"/>
              <a:cs typeface="Calibri"/>
              <a:sym typeface="Calibri"/>
            </a:endParaRPr>
          </a:p>
        </p:txBody>
      </p:sp>
      <p:sp>
        <p:nvSpPr>
          <p:cNvPr id="93" name="Google Shape;93;p3"/>
          <p:cNvSpPr/>
          <p:nvPr/>
        </p:nvSpPr>
        <p:spPr>
          <a:xfrm>
            <a:off x="5257800" y="3456432"/>
            <a:ext cx="3520440" cy="548640"/>
          </a:xfrm>
          <a:prstGeom prst="rect">
            <a:avLst/>
          </a:prstGeom>
          <a:solidFill>
            <a:srgbClr val="FFFFFF"/>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394960" y="3547872"/>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References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01 &amp; 02 | Title Page &amp; Introduction</a:t>
            </a:r>
            <a:endParaRPr b="0" i="0" sz="2400" u="none" cap="none" strike="noStrike">
              <a:solidFill>
                <a:schemeClr val="dk1"/>
              </a:solidFill>
              <a:latin typeface="Calibri"/>
              <a:ea typeface="Calibri"/>
              <a:cs typeface="Calibri"/>
              <a:sym typeface="Calibri"/>
            </a:endParaRPr>
          </a:p>
        </p:txBody>
      </p:sp>
      <p:sp>
        <p:nvSpPr>
          <p:cNvPr id="103" name="Google Shape;103;p4"/>
          <p:cNvSpPr/>
          <p:nvPr/>
        </p:nvSpPr>
        <p:spPr>
          <a:xfrm>
            <a:off x="36576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365760" y="1188720"/>
            <a:ext cx="4114800" cy="36576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5720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C32"/>
              </a:buClr>
              <a:buSzPts val="1200"/>
              <a:buFont typeface="Calibri"/>
              <a:buNone/>
            </a:pPr>
            <a:r>
              <a:rPr b="1" i="0" lang="en-US" sz="1200" u="none" cap="none" strike="noStrike">
                <a:solidFill>
                  <a:srgbClr val="0F1C32"/>
                </a:solidFill>
                <a:latin typeface="Calibri"/>
                <a:ea typeface="Calibri"/>
                <a:cs typeface="Calibri"/>
                <a:sym typeface="Calibri"/>
              </a:rPr>
              <a:t>📄  TITLE PAGE</a:t>
            </a:r>
            <a:endParaRPr b="0" i="0" sz="1200" u="none" cap="none" strike="noStrike">
              <a:solidFill>
                <a:schemeClr val="dk1"/>
              </a:solidFill>
              <a:latin typeface="Calibri"/>
              <a:ea typeface="Calibri"/>
              <a:cs typeface="Calibri"/>
              <a:sym typeface="Calibri"/>
            </a:endParaRPr>
          </a:p>
        </p:txBody>
      </p:sp>
      <p:sp>
        <p:nvSpPr>
          <p:cNvPr id="106" name="Google Shape;106;p4"/>
          <p:cNvSpPr/>
          <p:nvPr/>
        </p:nvSpPr>
        <p:spPr>
          <a:xfrm>
            <a:off x="548640" y="1691640"/>
            <a:ext cx="3749040" cy="29260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Project title (clear and specific)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Student name &amp; index number</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Supervisor's name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Institution / Department</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Date of submission</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Programme</a:t>
            </a:r>
            <a:endParaRPr sz="1200">
              <a:solidFill>
                <a:schemeClr val="dk1"/>
              </a:solidFill>
              <a:latin typeface="Calibri"/>
              <a:ea typeface="Calibri"/>
              <a:cs typeface="Calibri"/>
              <a:sym typeface="Calibri"/>
            </a:endParaRPr>
          </a:p>
          <a:p>
            <a:pPr indent="0" lvl="0" marL="457200" marR="0" rtl="0" algn="l">
              <a:spcBef>
                <a:spcPts val="40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07" name="Google Shape;107;p4"/>
          <p:cNvSpPr/>
          <p:nvPr/>
        </p:nvSpPr>
        <p:spPr>
          <a:xfrm>
            <a:off x="466344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4663440" y="1188720"/>
            <a:ext cx="4114800" cy="36576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75488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INTRODUCTION &amp; BACKGROUND</a:t>
            </a:r>
            <a:endParaRPr b="0" i="0" sz="1200" u="none" cap="none" strike="noStrike">
              <a:solidFill>
                <a:schemeClr val="dk1"/>
              </a:solidFill>
              <a:latin typeface="Calibri"/>
              <a:ea typeface="Calibri"/>
              <a:cs typeface="Calibri"/>
              <a:sym typeface="Calibri"/>
            </a:endParaRPr>
          </a:p>
        </p:txBody>
      </p:sp>
      <p:sp>
        <p:nvSpPr>
          <p:cNvPr id="110" name="Google Shape;110;p4"/>
          <p:cNvSpPr/>
          <p:nvPr/>
        </p:nvSpPr>
        <p:spPr>
          <a:xfrm>
            <a:off x="4846320" y="1691640"/>
            <a:ext cx="3749040" cy="29260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Brief overview of the project topic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Background context (why this area is relevant now)</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Current situation in the field</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Gaps or needs that exist</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Why you chose this topic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Scope: what is and is NOT covered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03 &amp; 04 | Problem Statement &amp; Aim / Objectives</a:t>
            </a:r>
            <a:endParaRPr b="0" i="0" sz="2200" u="none" cap="none" strike="noStrike">
              <a:solidFill>
                <a:schemeClr val="dk1"/>
              </a:solidFill>
              <a:latin typeface="Calibri"/>
              <a:ea typeface="Calibri"/>
              <a:cs typeface="Calibri"/>
              <a:sym typeface="Calibri"/>
            </a:endParaRPr>
          </a:p>
        </p:txBody>
      </p:sp>
      <p:sp>
        <p:nvSpPr>
          <p:cNvPr id="119" name="Google Shape;119;p5"/>
          <p:cNvSpPr/>
          <p:nvPr/>
        </p:nvSpPr>
        <p:spPr>
          <a:xfrm>
            <a:off x="36576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365760" y="1188720"/>
            <a:ext cx="4114800"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5720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PROBLEM STATEMENT</a:t>
            </a:r>
            <a:endParaRPr b="0" i="0" sz="1200" u="none" cap="none" strike="noStrike">
              <a:solidFill>
                <a:schemeClr val="dk1"/>
              </a:solidFill>
              <a:latin typeface="Calibri"/>
              <a:ea typeface="Calibri"/>
              <a:cs typeface="Calibri"/>
              <a:sym typeface="Calibri"/>
            </a:endParaRPr>
          </a:p>
        </p:txBody>
      </p:sp>
      <p:sp>
        <p:nvSpPr>
          <p:cNvPr id="122" name="Google Shape;122;p5"/>
          <p:cNvSpPr/>
          <p:nvPr/>
        </p:nvSpPr>
        <p:spPr>
          <a:xfrm>
            <a:off x="548640" y="1691640"/>
            <a:ext cx="3749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What to include:</a:t>
            </a:r>
            <a:endParaRPr b="0" i="0" sz="1200" u="none" cap="none" strike="noStrike">
              <a:solidFill>
                <a:schemeClr val="dk1"/>
              </a:solidFill>
              <a:latin typeface="Calibri"/>
              <a:ea typeface="Calibri"/>
              <a:cs typeface="Calibri"/>
              <a:sym typeface="Calibri"/>
            </a:endParaRPr>
          </a:p>
        </p:txBody>
      </p:sp>
      <p:sp>
        <p:nvSpPr>
          <p:cNvPr id="123" name="Google Shape;123;p5"/>
          <p:cNvSpPr/>
          <p:nvPr/>
        </p:nvSpPr>
        <p:spPr>
          <a:xfrm>
            <a:off x="548640" y="2011680"/>
            <a:ext cx="374904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Describe the specific problem clearly</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Explain the impact of the problem</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State who is affected and how</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Provide evidence (statistics, reports)</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Explain why existing solutions are insufficient</a:t>
            </a:r>
            <a:endParaRPr b="0" i="0" sz="1200" u="none" cap="none" strike="noStrike">
              <a:solidFill>
                <a:schemeClr val="dk1"/>
              </a:solidFill>
              <a:latin typeface="Calibri"/>
              <a:ea typeface="Calibri"/>
              <a:cs typeface="Calibri"/>
              <a:sym typeface="Calibri"/>
            </a:endParaRPr>
          </a:p>
        </p:txBody>
      </p:sp>
      <p:sp>
        <p:nvSpPr>
          <p:cNvPr id="124" name="Google Shape;124;p5"/>
          <p:cNvSpPr/>
          <p:nvPr/>
        </p:nvSpPr>
        <p:spPr>
          <a:xfrm>
            <a:off x="548640" y="4297680"/>
            <a:ext cx="3749040" cy="320040"/>
          </a:xfrm>
          <a:prstGeom prst="rect">
            <a:avLst/>
          </a:prstGeom>
          <a:solidFill>
            <a:srgbClr val="FADBD8"/>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594360" y="4325112"/>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2B21"/>
              </a:buClr>
              <a:buSzPts val="1000"/>
              <a:buFont typeface="Calibri"/>
              <a:buNone/>
            </a:pPr>
            <a:r>
              <a:rPr b="0" i="0" lang="en-US" sz="1000" u="none" cap="none" strike="noStrike">
                <a:solidFill>
                  <a:srgbClr val="922B21"/>
                </a:solidFill>
                <a:latin typeface="Calibri"/>
                <a:ea typeface="Calibri"/>
                <a:cs typeface="Calibri"/>
                <a:sym typeface="Calibri"/>
              </a:rPr>
              <a:t>💡 Tip: Start with "The problem is..." and be specific!</a:t>
            </a:r>
            <a:endParaRPr b="0" i="0" sz="1000" u="none" cap="none" strike="noStrike">
              <a:solidFill>
                <a:schemeClr val="dk1"/>
              </a:solidFill>
              <a:latin typeface="Calibri"/>
              <a:ea typeface="Calibri"/>
              <a:cs typeface="Calibri"/>
              <a:sym typeface="Calibri"/>
            </a:endParaRPr>
          </a:p>
        </p:txBody>
      </p:sp>
      <p:sp>
        <p:nvSpPr>
          <p:cNvPr id="126" name="Google Shape;126;p5"/>
          <p:cNvSpPr/>
          <p:nvPr/>
        </p:nvSpPr>
        <p:spPr>
          <a:xfrm>
            <a:off x="466344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4663440" y="1188720"/>
            <a:ext cx="4114800" cy="36576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475488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AIM &amp; OBJECTIVES</a:t>
            </a:r>
            <a:endParaRPr b="0" i="0" sz="1200" u="none" cap="none" strike="noStrike">
              <a:solidFill>
                <a:schemeClr val="dk1"/>
              </a:solidFill>
              <a:latin typeface="Calibri"/>
              <a:ea typeface="Calibri"/>
              <a:cs typeface="Calibri"/>
              <a:sym typeface="Calibri"/>
            </a:endParaRPr>
          </a:p>
        </p:txBody>
      </p:sp>
      <p:sp>
        <p:nvSpPr>
          <p:cNvPr id="129" name="Google Shape;129;p5"/>
          <p:cNvSpPr/>
          <p:nvPr/>
        </p:nvSpPr>
        <p:spPr>
          <a:xfrm>
            <a:off x="4846320" y="169164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AIM (1 sentence):</a:t>
            </a:r>
            <a:endParaRPr b="0" i="0" sz="1200" u="none" cap="none" strike="noStrike">
              <a:solidFill>
                <a:schemeClr val="dk1"/>
              </a:solidFill>
              <a:latin typeface="Calibri"/>
              <a:ea typeface="Calibri"/>
              <a:cs typeface="Calibri"/>
              <a:sym typeface="Calibri"/>
            </a:endParaRPr>
          </a:p>
        </p:txBody>
      </p:sp>
      <p:sp>
        <p:nvSpPr>
          <p:cNvPr id="130" name="Google Shape;130;p5"/>
          <p:cNvSpPr/>
          <p:nvPr/>
        </p:nvSpPr>
        <p:spPr>
          <a:xfrm>
            <a:off x="4846320" y="1947672"/>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7E"/>
              </a:buClr>
              <a:buSzPts val="1100"/>
              <a:buFont typeface="Calibri"/>
              <a:buNone/>
            </a:pPr>
            <a:r>
              <a:rPr b="0" i="1" lang="en-US" sz="1100" u="none" cap="none" strike="noStrike">
                <a:solidFill>
                  <a:srgbClr val="5A6A7E"/>
                </a:solidFill>
                <a:latin typeface="Calibri"/>
                <a:ea typeface="Calibri"/>
                <a:cs typeface="Calibri"/>
                <a:sym typeface="Calibri"/>
              </a:rPr>
              <a:t>A broad statement of what the project will achieve overall.</a:t>
            </a:r>
            <a:endParaRPr b="0" i="0" sz="1100" u="none" cap="none" strike="noStrike">
              <a:solidFill>
                <a:schemeClr val="dk1"/>
              </a:solidFill>
              <a:latin typeface="Calibri"/>
              <a:ea typeface="Calibri"/>
              <a:cs typeface="Calibri"/>
              <a:sym typeface="Calibri"/>
            </a:endParaRPr>
          </a:p>
        </p:txBody>
      </p:sp>
      <p:sp>
        <p:nvSpPr>
          <p:cNvPr id="131" name="Google Shape;131;p5"/>
          <p:cNvSpPr/>
          <p:nvPr/>
        </p:nvSpPr>
        <p:spPr>
          <a:xfrm>
            <a:off x="4846320" y="242316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OBJECTIVES (SMART):</a:t>
            </a:r>
            <a:endParaRPr b="0" i="0" sz="1200" u="none" cap="none" strike="noStrike">
              <a:solidFill>
                <a:schemeClr val="dk1"/>
              </a:solidFill>
              <a:latin typeface="Calibri"/>
              <a:ea typeface="Calibri"/>
              <a:cs typeface="Calibri"/>
              <a:sym typeface="Calibri"/>
            </a:endParaRPr>
          </a:p>
        </p:txBody>
      </p:sp>
      <p:sp>
        <p:nvSpPr>
          <p:cNvPr id="132" name="Google Shape;132;p5"/>
          <p:cNvSpPr/>
          <p:nvPr/>
        </p:nvSpPr>
        <p:spPr>
          <a:xfrm>
            <a:off x="4846320" y="2697480"/>
            <a:ext cx="365760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S – Specific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M – Measurable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A – Achievable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R – Realistic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T – Time-bound</a:t>
            </a:r>
            <a:endParaRPr b="0" i="0" sz="1200" u="none" cap="none" strike="noStrike">
              <a:solidFill>
                <a:schemeClr val="dk1"/>
              </a:solidFill>
              <a:latin typeface="Calibri"/>
              <a:ea typeface="Calibri"/>
              <a:cs typeface="Calibri"/>
              <a:sym typeface="Calibri"/>
            </a:endParaRPr>
          </a:p>
        </p:txBody>
      </p:sp>
      <p:sp>
        <p:nvSpPr>
          <p:cNvPr id="133" name="Google Shape;133;p5"/>
          <p:cNvSpPr/>
          <p:nvPr/>
        </p:nvSpPr>
        <p:spPr>
          <a:xfrm>
            <a:off x="4846320" y="4297680"/>
            <a:ext cx="3749040" cy="320040"/>
          </a:xfrm>
          <a:prstGeom prst="rect">
            <a:avLst/>
          </a:prstGeom>
          <a:solidFill>
            <a:srgbClr val="D5F5E3"/>
          </a:solidFill>
          <a:ln cap="flat" cmpd="sng" w="12700">
            <a:solidFill>
              <a:srgbClr val="D5F5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4892040" y="4325112"/>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449"/>
              </a:buClr>
              <a:buSzPts val="1000"/>
              <a:buFont typeface="Calibri"/>
              <a:buNone/>
            </a:pPr>
            <a:r>
              <a:rPr b="0" i="0" lang="en-US" sz="1000" u="none" cap="none" strike="noStrike">
                <a:solidFill>
                  <a:srgbClr val="1E8449"/>
                </a:solidFill>
                <a:latin typeface="Calibri"/>
                <a:ea typeface="Calibri"/>
                <a:cs typeface="Calibri"/>
                <a:sym typeface="Calibri"/>
              </a:rPr>
              <a:t>💡 Use 3–5 objectives. Start each with an action verb: "To design…", "To develop…"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05 | Literature Review</a:t>
            </a:r>
            <a:endParaRPr b="0" i="0" sz="2600" u="none" cap="none" strike="noStrike">
              <a:solidFill>
                <a:schemeClr val="dk1"/>
              </a:solidFill>
              <a:latin typeface="Calibri"/>
              <a:ea typeface="Calibri"/>
              <a:cs typeface="Calibri"/>
              <a:sym typeface="Calibri"/>
            </a:endParaRPr>
          </a:p>
        </p:txBody>
      </p:sp>
      <p:sp>
        <p:nvSpPr>
          <p:cNvPr id="143" name="Google Shape;143;p6"/>
          <p:cNvSpPr/>
          <p:nvPr/>
        </p:nvSpPr>
        <p:spPr>
          <a:xfrm>
            <a:off x="365760" y="1170432"/>
            <a:ext cx="8412480" cy="685800"/>
          </a:xfrm>
          <a:prstGeom prst="rect">
            <a:avLst/>
          </a:prstGeom>
          <a:solidFill>
            <a:srgbClr val="1B2A4A"/>
          </a:solidFill>
          <a:ln cap="flat" cmpd="sng" w="12700">
            <a:solidFill>
              <a:srgbClr val="1B2A4A"/>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548640" y="1216152"/>
            <a:ext cx="804672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 literature review is a critical summary of existing research, theories, and studies related to your topic. It shows that you understand the field and identifies gaps your project will address.</a:t>
            </a:r>
            <a:endParaRPr b="0" i="0" sz="1200" u="none" cap="none" strike="noStrike">
              <a:solidFill>
                <a:schemeClr val="dk1"/>
              </a:solidFill>
              <a:latin typeface="Calibri"/>
              <a:ea typeface="Calibri"/>
              <a:cs typeface="Calibri"/>
              <a:sym typeface="Calibri"/>
            </a:endParaRPr>
          </a:p>
        </p:txBody>
      </p:sp>
      <p:sp>
        <p:nvSpPr>
          <p:cNvPr id="145" name="Google Shape;145;p6"/>
          <p:cNvSpPr/>
          <p:nvPr/>
        </p:nvSpPr>
        <p:spPr>
          <a:xfrm>
            <a:off x="365760" y="2103120"/>
            <a:ext cx="4114800" cy="123444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365760" y="2103120"/>
            <a:ext cx="73152" cy="123444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548640" y="221284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  Relevant Theories</a:t>
            </a:r>
            <a:endParaRPr b="0" i="0" sz="1300" u="none" cap="none" strike="noStrike">
              <a:solidFill>
                <a:schemeClr val="dk1"/>
              </a:solidFill>
              <a:latin typeface="Calibri"/>
              <a:ea typeface="Calibri"/>
              <a:cs typeface="Calibri"/>
              <a:sym typeface="Calibri"/>
            </a:endParaRPr>
          </a:p>
        </p:txBody>
      </p:sp>
      <p:sp>
        <p:nvSpPr>
          <p:cNvPr id="148" name="Google Shape;148;p6"/>
          <p:cNvSpPr/>
          <p:nvPr/>
        </p:nvSpPr>
        <p:spPr>
          <a:xfrm>
            <a:off x="548640" y="2560320"/>
            <a:ext cx="374904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100"/>
              <a:buFont typeface="Calibri"/>
              <a:buNone/>
            </a:pPr>
            <a:r>
              <a:rPr b="0" i="0" lang="en-US" sz="1100" u="none" cap="none" strike="noStrike">
                <a:solidFill>
                  <a:srgbClr val="5A6A7E"/>
                </a:solidFill>
                <a:latin typeface="Calibri"/>
                <a:ea typeface="Calibri"/>
                <a:cs typeface="Calibri"/>
                <a:sym typeface="Calibri"/>
              </a:rPr>
              <a:t>Discuss key theories and models related to your topic area.</a:t>
            </a:r>
            <a:endParaRPr b="0" i="0" sz="1100" u="none" cap="none" strike="noStrike">
              <a:solidFill>
                <a:schemeClr val="dk1"/>
              </a:solidFill>
              <a:latin typeface="Calibri"/>
              <a:ea typeface="Calibri"/>
              <a:cs typeface="Calibri"/>
              <a:sym typeface="Calibri"/>
            </a:endParaRPr>
          </a:p>
        </p:txBody>
      </p:sp>
      <p:sp>
        <p:nvSpPr>
          <p:cNvPr id="149" name="Google Shape;149;p6"/>
          <p:cNvSpPr/>
          <p:nvPr/>
        </p:nvSpPr>
        <p:spPr>
          <a:xfrm>
            <a:off x="4663440" y="2103120"/>
            <a:ext cx="4114800" cy="123444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663440" y="2103120"/>
            <a:ext cx="73152" cy="123444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4846320" y="221284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  Previous Studies</a:t>
            </a:r>
            <a:endParaRPr b="0" i="0" sz="1300" u="none" cap="none" strike="noStrike">
              <a:solidFill>
                <a:schemeClr val="dk1"/>
              </a:solidFill>
              <a:latin typeface="Calibri"/>
              <a:ea typeface="Calibri"/>
              <a:cs typeface="Calibri"/>
              <a:sym typeface="Calibri"/>
            </a:endParaRPr>
          </a:p>
        </p:txBody>
      </p:sp>
      <p:sp>
        <p:nvSpPr>
          <p:cNvPr id="152" name="Google Shape;152;p6"/>
          <p:cNvSpPr/>
          <p:nvPr/>
        </p:nvSpPr>
        <p:spPr>
          <a:xfrm>
            <a:off x="4846320" y="2560320"/>
            <a:ext cx="374904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100"/>
              <a:buFont typeface="Calibri"/>
              <a:buNone/>
            </a:pPr>
            <a:r>
              <a:rPr b="0" i="0" lang="en-US" sz="1100" u="none" cap="none" strike="noStrike">
                <a:solidFill>
                  <a:srgbClr val="5A6A7E"/>
                </a:solidFill>
                <a:latin typeface="Calibri"/>
                <a:ea typeface="Calibri"/>
                <a:cs typeface="Calibri"/>
                <a:sym typeface="Calibri"/>
              </a:rPr>
              <a:t>Summarise 5–10 journal articles, books, or credible online sources.</a:t>
            </a:r>
            <a:endParaRPr b="0" i="0" sz="1100" u="none" cap="none" strike="noStrike">
              <a:solidFill>
                <a:schemeClr val="dk1"/>
              </a:solidFill>
              <a:latin typeface="Calibri"/>
              <a:ea typeface="Calibri"/>
              <a:cs typeface="Calibri"/>
              <a:sym typeface="Calibri"/>
            </a:endParaRPr>
          </a:p>
        </p:txBody>
      </p:sp>
      <p:sp>
        <p:nvSpPr>
          <p:cNvPr id="153" name="Google Shape;153;p6"/>
          <p:cNvSpPr/>
          <p:nvPr/>
        </p:nvSpPr>
        <p:spPr>
          <a:xfrm>
            <a:off x="365760" y="3520440"/>
            <a:ext cx="4114800" cy="123444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365760" y="3520440"/>
            <a:ext cx="73152" cy="123444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548640" y="363016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  Research Gaps</a:t>
            </a:r>
            <a:endParaRPr b="0" i="0" sz="1300" u="none" cap="none" strike="noStrike">
              <a:solidFill>
                <a:schemeClr val="dk1"/>
              </a:solidFill>
              <a:latin typeface="Calibri"/>
              <a:ea typeface="Calibri"/>
              <a:cs typeface="Calibri"/>
              <a:sym typeface="Calibri"/>
            </a:endParaRPr>
          </a:p>
        </p:txBody>
      </p:sp>
      <p:sp>
        <p:nvSpPr>
          <p:cNvPr id="156" name="Google Shape;156;p6"/>
          <p:cNvSpPr/>
          <p:nvPr/>
        </p:nvSpPr>
        <p:spPr>
          <a:xfrm>
            <a:off x="548640" y="3977640"/>
            <a:ext cx="374904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100"/>
              <a:buFont typeface="Calibri"/>
              <a:buNone/>
            </a:pPr>
            <a:r>
              <a:rPr b="0" i="0" lang="en-US" sz="1100" u="none" cap="none" strike="noStrike">
                <a:solidFill>
                  <a:srgbClr val="5A6A7E"/>
                </a:solidFill>
                <a:latin typeface="Calibri"/>
                <a:ea typeface="Calibri"/>
                <a:cs typeface="Calibri"/>
                <a:sym typeface="Calibri"/>
              </a:rPr>
              <a:t>Point out what has NOT been studied — this justifies YOUR project.</a:t>
            </a:r>
            <a:endParaRPr b="0" i="0" sz="1100" u="none" cap="none" strike="noStrike">
              <a:solidFill>
                <a:schemeClr val="dk1"/>
              </a:solidFill>
              <a:latin typeface="Calibri"/>
              <a:ea typeface="Calibri"/>
              <a:cs typeface="Calibri"/>
              <a:sym typeface="Calibri"/>
            </a:endParaRPr>
          </a:p>
        </p:txBody>
      </p:sp>
      <p:sp>
        <p:nvSpPr>
          <p:cNvPr id="157" name="Google Shape;157;p6"/>
          <p:cNvSpPr/>
          <p:nvPr/>
        </p:nvSpPr>
        <p:spPr>
          <a:xfrm>
            <a:off x="4663440" y="3520440"/>
            <a:ext cx="4114800" cy="123444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4663440" y="3520440"/>
            <a:ext cx="73152" cy="123444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4846320" y="363016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  Link to Your Work</a:t>
            </a:r>
            <a:endParaRPr b="0" i="0" sz="1300" u="none" cap="none" strike="noStrike">
              <a:solidFill>
                <a:schemeClr val="dk1"/>
              </a:solidFill>
              <a:latin typeface="Calibri"/>
              <a:ea typeface="Calibri"/>
              <a:cs typeface="Calibri"/>
              <a:sym typeface="Calibri"/>
            </a:endParaRPr>
          </a:p>
        </p:txBody>
      </p:sp>
      <p:sp>
        <p:nvSpPr>
          <p:cNvPr id="160" name="Google Shape;160;p6"/>
          <p:cNvSpPr/>
          <p:nvPr/>
        </p:nvSpPr>
        <p:spPr>
          <a:xfrm>
            <a:off x="4846320" y="3977640"/>
            <a:ext cx="374904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100"/>
              <a:buFont typeface="Calibri"/>
              <a:buNone/>
            </a:pPr>
            <a:r>
              <a:rPr b="0" i="0" lang="en-US" sz="1100" u="none" cap="none" strike="noStrike">
                <a:solidFill>
                  <a:srgbClr val="5A6A7E"/>
                </a:solidFill>
                <a:latin typeface="Calibri"/>
                <a:ea typeface="Calibri"/>
                <a:cs typeface="Calibri"/>
                <a:sym typeface="Calibri"/>
              </a:rPr>
              <a:t>Explain how existing literature connects to your proposed project.</a:t>
            </a:r>
            <a:endParaRPr b="0" i="0" sz="1100" u="none" cap="none" strike="noStrike">
              <a:solidFill>
                <a:schemeClr val="dk1"/>
              </a:solidFill>
              <a:latin typeface="Calibri"/>
              <a:ea typeface="Calibri"/>
              <a:cs typeface="Calibri"/>
              <a:sym typeface="Calibri"/>
            </a:endParaRPr>
          </a:p>
        </p:txBody>
      </p:sp>
      <p:sp>
        <p:nvSpPr>
          <p:cNvPr id="161" name="Google Shape;161;p6"/>
          <p:cNvSpPr/>
          <p:nvPr/>
        </p:nvSpPr>
        <p:spPr>
          <a:xfrm>
            <a:off x="365760" y="4709160"/>
            <a:ext cx="8412480" cy="320040"/>
          </a:xfrm>
          <a:prstGeom prst="rect">
            <a:avLst/>
          </a:prstGeom>
          <a:solidFill>
            <a:srgbClr val="E8ECF4"/>
          </a:solidFill>
          <a:ln cap="flat" cmpd="sng" w="12700">
            <a:solidFill>
              <a:srgbClr val="E8EC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548640" y="4736592"/>
            <a:ext cx="80467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0" i="0" lang="en-US" sz="1000" u="none" cap="none" strike="noStrike">
                <a:solidFill>
                  <a:srgbClr val="1B2A4A"/>
                </a:solidFill>
                <a:latin typeface="Calibri"/>
                <a:ea typeface="Calibri"/>
                <a:cs typeface="Calibri"/>
                <a:sym typeface="Calibri"/>
              </a:rPr>
              <a:t>📌  Cite all sources using Harvard referencing style. Use Google Scholar, ResearchGate, or your library database.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7"/>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06 | Methodology</a:t>
            </a:r>
            <a:endParaRPr b="0" i="0" sz="2600" u="none" cap="none" strike="noStrike">
              <a:solidFill>
                <a:schemeClr val="dk1"/>
              </a:solidFill>
              <a:latin typeface="Calibri"/>
              <a:ea typeface="Calibri"/>
              <a:cs typeface="Calibri"/>
              <a:sym typeface="Calibri"/>
            </a:endParaRPr>
          </a:p>
        </p:txBody>
      </p:sp>
      <p:sp>
        <p:nvSpPr>
          <p:cNvPr id="171" name="Google Shape;171;p7"/>
          <p:cNvSpPr/>
          <p:nvPr/>
        </p:nvSpPr>
        <p:spPr>
          <a:xfrm>
            <a:off x="365760" y="1170432"/>
            <a:ext cx="8412480" cy="594360"/>
          </a:xfrm>
          <a:prstGeom prst="rect">
            <a:avLst/>
          </a:prstGeom>
          <a:solidFill>
            <a:srgbClr val="1F3A6E"/>
          </a:solidFill>
          <a:ln cap="flat" cmpd="sng" w="12700">
            <a:solidFill>
              <a:srgbClr val="1F3A6E"/>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548640" y="1216152"/>
            <a:ext cx="80467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Methodology explains HOW you will carry out your project — the step-by-step process, tools, and techniques you will use to achieve your objectives.</a:t>
            </a:r>
            <a:endParaRPr b="0" i="0" sz="1200" u="none" cap="none" strike="noStrike">
              <a:solidFill>
                <a:schemeClr val="dk1"/>
              </a:solidFill>
              <a:latin typeface="Calibri"/>
              <a:ea typeface="Calibri"/>
              <a:cs typeface="Calibri"/>
              <a:sym typeface="Calibri"/>
            </a:endParaRPr>
          </a:p>
        </p:txBody>
      </p:sp>
      <p:sp>
        <p:nvSpPr>
          <p:cNvPr id="173" name="Google Shape;173;p7"/>
          <p:cNvSpPr/>
          <p:nvPr/>
        </p:nvSpPr>
        <p:spPr>
          <a:xfrm>
            <a:off x="365760" y="192024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365760" y="192024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548640" y="199339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Research Approach</a:t>
            </a:r>
            <a:endParaRPr b="0" i="0" sz="1200" u="none" cap="none" strike="noStrike">
              <a:solidFill>
                <a:schemeClr val="dk1"/>
              </a:solidFill>
              <a:latin typeface="Calibri"/>
              <a:ea typeface="Calibri"/>
              <a:cs typeface="Calibri"/>
              <a:sym typeface="Calibri"/>
            </a:endParaRPr>
          </a:p>
        </p:txBody>
      </p:sp>
      <p:sp>
        <p:nvSpPr>
          <p:cNvPr id="176" name="Google Shape;176;p7"/>
          <p:cNvSpPr/>
          <p:nvPr/>
        </p:nvSpPr>
        <p:spPr>
          <a:xfrm>
            <a:off x="548640" y="228600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Qualitative (interviews, observations) OR Quantitative (surveys, data analysis) OR Mixed Methods.</a:t>
            </a:r>
            <a:endParaRPr b="0" i="0" sz="1050" u="none" cap="none" strike="noStrike">
              <a:solidFill>
                <a:schemeClr val="dk1"/>
              </a:solidFill>
              <a:latin typeface="Calibri"/>
              <a:ea typeface="Calibri"/>
              <a:cs typeface="Calibri"/>
              <a:sym typeface="Calibri"/>
            </a:endParaRPr>
          </a:p>
        </p:txBody>
      </p:sp>
      <p:sp>
        <p:nvSpPr>
          <p:cNvPr id="177" name="Google Shape;177;p7"/>
          <p:cNvSpPr/>
          <p:nvPr/>
        </p:nvSpPr>
        <p:spPr>
          <a:xfrm>
            <a:off x="4663440" y="192024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4663440" y="192024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4846320" y="199339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Data Collection</a:t>
            </a:r>
            <a:endParaRPr b="0" i="0" sz="1200" u="none" cap="none" strike="noStrike">
              <a:solidFill>
                <a:schemeClr val="dk1"/>
              </a:solidFill>
              <a:latin typeface="Calibri"/>
              <a:ea typeface="Calibri"/>
              <a:cs typeface="Calibri"/>
              <a:sym typeface="Calibri"/>
            </a:endParaRPr>
          </a:p>
        </p:txBody>
      </p:sp>
      <p:sp>
        <p:nvSpPr>
          <p:cNvPr id="180" name="Google Shape;180;p7"/>
          <p:cNvSpPr/>
          <p:nvPr/>
        </p:nvSpPr>
        <p:spPr>
          <a:xfrm>
            <a:off x="4846320" y="228600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Primary data (surveys, interviews, experiments) or Secondary data (books, articles, reports).</a:t>
            </a:r>
            <a:endParaRPr b="0" i="0" sz="1050" u="none" cap="none" strike="noStrike">
              <a:solidFill>
                <a:schemeClr val="dk1"/>
              </a:solidFill>
              <a:latin typeface="Calibri"/>
              <a:ea typeface="Calibri"/>
              <a:cs typeface="Calibri"/>
              <a:sym typeface="Calibri"/>
            </a:endParaRPr>
          </a:p>
        </p:txBody>
      </p:sp>
      <p:sp>
        <p:nvSpPr>
          <p:cNvPr id="181" name="Google Shape;181;p7"/>
          <p:cNvSpPr/>
          <p:nvPr/>
        </p:nvSpPr>
        <p:spPr>
          <a:xfrm>
            <a:off x="365760" y="297180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365760" y="297180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548640" y="304495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Tools &amp; Technologies</a:t>
            </a:r>
            <a:endParaRPr b="0" i="0" sz="1200" u="none" cap="none" strike="noStrike">
              <a:solidFill>
                <a:schemeClr val="dk1"/>
              </a:solidFill>
              <a:latin typeface="Calibri"/>
              <a:ea typeface="Calibri"/>
              <a:cs typeface="Calibri"/>
              <a:sym typeface="Calibri"/>
            </a:endParaRPr>
          </a:p>
        </p:txBody>
      </p:sp>
      <p:sp>
        <p:nvSpPr>
          <p:cNvPr id="184" name="Google Shape;184;p7"/>
          <p:cNvSpPr/>
          <p:nvPr/>
        </p:nvSpPr>
        <p:spPr>
          <a:xfrm>
            <a:off x="548640" y="333756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Software (e.g., Python, MySQL, Figma), hardware, or frameworks you will use.</a:t>
            </a:r>
            <a:endParaRPr b="0" i="0" sz="1050" u="none" cap="none" strike="noStrike">
              <a:solidFill>
                <a:schemeClr val="dk1"/>
              </a:solidFill>
              <a:latin typeface="Calibri"/>
              <a:ea typeface="Calibri"/>
              <a:cs typeface="Calibri"/>
              <a:sym typeface="Calibri"/>
            </a:endParaRPr>
          </a:p>
        </p:txBody>
      </p:sp>
      <p:sp>
        <p:nvSpPr>
          <p:cNvPr id="185" name="Google Shape;185;p7"/>
          <p:cNvSpPr/>
          <p:nvPr/>
        </p:nvSpPr>
        <p:spPr>
          <a:xfrm>
            <a:off x="4663440" y="297180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4663440" y="297180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4846320" y="304495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Development Method</a:t>
            </a:r>
            <a:endParaRPr b="0" i="0" sz="1200" u="none" cap="none" strike="noStrike">
              <a:solidFill>
                <a:schemeClr val="dk1"/>
              </a:solidFill>
              <a:latin typeface="Calibri"/>
              <a:ea typeface="Calibri"/>
              <a:cs typeface="Calibri"/>
              <a:sym typeface="Calibri"/>
            </a:endParaRPr>
          </a:p>
        </p:txBody>
      </p:sp>
      <p:sp>
        <p:nvSpPr>
          <p:cNvPr id="188" name="Google Shape;188;p7"/>
          <p:cNvSpPr/>
          <p:nvPr/>
        </p:nvSpPr>
        <p:spPr>
          <a:xfrm>
            <a:off x="4846320" y="333756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Agile / Waterfall / Prototyping — explain which model fits your project and why.</a:t>
            </a:r>
            <a:endParaRPr b="0" i="0" sz="1050" u="none" cap="none" strike="noStrike">
              <a:solidFill>
                <a:schemeClr val="dk1"/>
              </a:solidFill>
              <a:latin typeface="Calibri"/>
              <a:ea typeface="Calibri"/>
              <a:cs typeface="Calibri"/>
              <a:sym typeface="Calibri"/>
            </a:endParaRPr>
          </a:p>
        </p:txBody>
      </p:sp>
      <p:sp>
        <p:nvSpPr>
          <p:cNvPr id="189" name="Google Shape;189;p7"/>
          <p:cNvSpPr/>
          <p:nvPr/>
        </p:nvSpPr>
        <p:spPr>
          <a:xfrm>
            <a:off x="365760" y="402336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365760" y="402336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548640" y="409651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Ethical Considerations</a:t>
            </a:r>
            <a:endParaRPr b="0" i="0" sz="1200" u="none" cap="none" strike="noStrike">
              <a:solidFill>
                <a:schemeClr val="dk1"/>
              </a:solidFill>
              <a:latin typeface="Calibri"/>
              <a:ea typeface="Calibri"/>
              <a:cs typeface="Calibri"/>
              <a:sym typeface="Calibri"/>
            </a:endParaRPr>
          </a:p>
        </p:txBody>
      </p:sp>
      <p:sp>
        <p:nvSpPr>
          <p:cNvPr id="192" name="Google Shape;192;p7"/>
          <p:cNvSpPr/>
          <p:nvPr/>
        </p:nvSpPr>
        <p:spPr>
          <a:xfrm>
            <a:off x="548640" y="438912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Consent forms, data privacy, confidentiality of participants (if surveys/interviews used).</a:t>
            </a:r>
            <a:endParaRPr b="0" i="0" sz="1050" u="none" cap="none" strike="noStrike">
              <a:solidFill>
                <a:schemeClr val="dk1"/>
              </a:solidFill>
              <a:latin typeface="Calibri"/>
              <a:ea typeface="Calibri"/>
              <a:cs typeface="Calibri"/>
              <a:sym typeface="Calibri"/>
            </a:endParaRPr>
          </a:p>
        </p:txBody>
      </p:sp>
      <p:sp>
        <p:nvSpPr>
          <p:cNvPr id="193" name="Google Shape;193;p7"/>
          <p:cNvSpPr/>
          <p:nvPr/>
        </p:nvSpPr>
        <p:spPr>
          <a:xfrm>
            <a:off x="4663440" y="4023360"/>
            <a:ext cx="4114800" cy="91440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4663440" y="4023360"/>
            <a:ext cx="73152" cy="9144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846320" y="409651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Limitations</a:t>
            </a:r>
            <a:endParaRPr b="0" i="0" sz="1200" u="none" cap="none" strike="noStrike">
              <a:solidFill>
                <a:schemeClr val="dk1"/>
              </a:solidFill>
              <a:latin typeface="Calibri"/>
              <a:ea typeface="Calibri"/>
              <a:cs typeface="Calibri"/>
              <a:sym typeface="Calibri"/>
            </a:endParaRPr>
          </a:p>
        </p:txBody>
      </p:sp>
      <p:sp>
        <p:nvSpPr>
          <p:cNvPr id="196" name="Google Shape;196;p7"/>
          <p:cNvSpPr/>
          <p:nvPr/>
        </p:nvSpPr>
        <p:spPr>
          <a:xfrm>
            <a:off x="4846320" y="4389120"/>
            <a:ext cx="374904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Acknowledge constraints: time, budget, access to data, or technical limitations.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8"/>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07 | Gantt Chart / Project Timeline</a:t>
            </a:r>
            <a:endParaRPr b="0" i="0" sz="2400" u="none" cap="none" strike="noStrike">
              <a:solidFill>
                <a:schemeClr val="dk1"/>
              </a:solidFill>
              <a:latin typeface="Calibri"/>
              <a:ea typeface="Calibri"/>
              <a:cs typeface="Calibri"/>
              <a:sym typeface="Calibri"/>
            </a:endParaRPr>
          </a:p>
        </p:txBody>
      </p:sp>
      <p:sp>
        <p:nvSpPr>
          <p:cNvPr id="205" name="Google Shape;205;p8"/>
          <p:cNvSpPr/>
          <p:nvPr/>
        </p:nvSpPr>
        <p:spPr>
          <a:xfrm>
            <a:off x="365760" y="1170432"/>
            <a:ext cx="8412480" cy="502920"/>
          </a:xfrm>
          <a:prstGeom prst="rect">
            <a:avLst/>
          </a:prstGeom>
          <a:solidFill>
            <a:srgbClr val="E8F8F5"/>
          </a:solidFill>
          <a:ln cap="flat" cmpd="sng" w="12700">
            <a:solidFill>
              <a:srgbClr val="A9D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548640" y="1188720"/>
            <a:ext cx="804672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A Gantt chart is a visual timeline that shows project tasks on the left and weeks/months across the top. Coloured bars show when each task starts and ends.</a:t>
            </a:r>
            <a:endParaRPr b="0" i="0" sz="1150" u="none" cap="none" strike="noStrike">
              <a:solidFill>
                <a:schemeClr val="dk1"/>
              </a:solidFill>
              <a:latin typeface="Calibri"/>
              <a:ea typeface="Calibri"/>
              <a:cs typeface="Calibri"/>
              <a:sym typeface="Calibri"/>
            </a:endParaRPr>
          </a:p>
        </p:txBody>
      </p:sp>
      <p:sp>
        <p:nvSpPr>
          <p:cNvPr id="207" name="Google Shape;207;p8"/>
          <p:cNvSpPr/>
          <p:nvPr/>
        </p:nvSpPr>
        <p:spPr>
          <a:xfrm>
            <a:off x="2926080" y="1783080"/>
            <a:ext cx="2121408" cy="274320"/>
          </a:xfrm>
          <a:prstGeom prst="rect">
            <a:avLst/>
          </a:prstGeom>
          <a:solidFill>
            <a:srgbClr val="1B2A4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2926080" y="1801368"/>
            <a:ext cx="2121408"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Month 1</a:t>
            </a:r>
            <a:endParaRPr b="0" i="0" sz="1000" u="none" cap="none" strike="noStrike">
              <a:solidFill>
                <a:schemeClr val="dk1"/>
              </a:solidFill>
              <a:latin typeface="Calibri"/>
              <a:ea typeface="Calibri"/>
              <a:cs typeface="Calibri"/>
              <a:sym typeface="Calibri"/>
            </a:endParaRPr>
          </a:p>
        </p:txBody>
      </p:sp>
      <p:sp>
        <p:nvSpPr>
          <p:cNvPr id="209" name="Google Shape;209;p8"/>
          <p:cNvSpPr/>
          <p:nvPr/>
        </p:nvSpPr>
        <p:spPr>
          <a:xfrm>
            <a:off x="5047488" y="1783080"/>
            <a:ext cx="2121408" cy="274320"/>
          </a:xfrm>
          <a:prstGeom prst="rect">
            <a:avLst/>
          </a:prstGeom>
          <a:solidFill>
            <a:srgbClr val="1B2A4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5047488" y="1801368"/>
            <a:ext cx="2121408"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Month 2</a:t>
            </a:r>
            <a:endParaRPr b="0" i="0" sz="1000" u="none" cap="none" strike="noStrike">
              <a:solidFill>
                <a:schemeClr val="dk1"/>
              </a:solidFill>
              <a:latin typeface="Calibri"/>
              <a:ea typeface="Calibri"/>
              <a:cs typeface="Calibri"/>
              <a:sym typeface="Calibri"/>
            </a:endParaRPr>
          </a:p>
        </p:txBody>
      </p:sp>
      <p:sp>
        <p:nvSpPr>
          <p:cNvPr id="211" name="Google Shape;211;p8"/>
          <p:cNvSpPr/>
          <p:nvPr/>
        </p:nvSpPr>
        <p:spPr>
          <a:xfrm>
            <a:off x="7168896" y="1783080"/>
            <a:ext cx="2121408" cy="274320"/>
          </a:xfrm>
          <a:prstGeom prst="rect">
            <a:avLst/>
          </a:prstGeom>
          <a:solidFill>
            <a:srgbClr val="1B2A4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7168896" y="1801368"/>
            <a:ext cx="2121408"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Month 3</a:t>
            </a:r>
            <a:endParaRPr b="0" i="0" sz="1000" u="none" cap="none" strike="noStrike">
              <a:solidFill>
                <a:schemeClr val="dk1"/>
              </a:solidFill>
              <a:latin typeface="Calibri"/>
              <a:ea typeface="Calibri"/>
              <a:cs typeface="Calibri"/>
              <a:sym typeface="Calibri"/>
            </a:endParaRPr>
          </a:p>
        </p:txBody>
      </p:sp>
      <p:sp>
        <p:nvSpPr>
          <p:cNvPr id="213" name="Google Shape;213;p8"/>
          <p:cNvSpPr/>
          <p:nvPr/>
        </p:nvSpPr>
        <p:spPr>
          <a:xfrm>
            <a:off x="2926080"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2926080"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W1</a:t>
            </a:r>
            <a:endParaRPr b="0" i="0" sz="800" u="none" cap="none" strike="noStrike">
              <a:solidFill>
                <a:schemeClr val="dk1"/>
              </a:solidFill>
              <a:latin typeface="Calibri"/>
              <a:ea typeface="Calibri"/>
              <a:cs typeface="Calibri"/>
              <a:sym typeface="Calibri"/>
            </a:endParaRPr>
          </a:p>
        </p:txBody>
      </p:sp>
      <p:sp>
        <p:nvSpPr>
          <p:cNvPr id="215" name="Google Shape;215;p8"/>
          <p:cNvSpPr/>
          <p:nvPr/>
        </p:nvSpPr>
        <p:spPr>
          <a:xfrm>
            <a:off x="3456432"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3456432"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W2</a:t>
            </a:r>
            <a:endParaRPr b="0" i="0" sz="800" u="none" cap="none" strike="noStrike">
              <a:solidFill>
                <a:schemeClr val="dk1"/>
              </a:solidFill>
              <a:latin typeface="Calibri"/>
              <a:ea typeface="Calibri"/>
              <a:cs typeface="Calibri"/>
              <a:sym typeface="Calibri"/>
            </a:endParaRPr>
          </a:p>
        </p:txBody>
      </p:sp>
      <p:sp>
        <p:nvSpPr>
          <p:cNvPr id="217" name="Google Shape;217;p8"/>
          <p:cNvSpPr/>
          <p:nvPr/>
        </p:nvSpPr>
        <p:spPr>
          <a:xfrm>
            <a:off x="3986784"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3986784"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W3</a:t>
            </a:r>
            <a:endParaRPr b="0" i="0" sz="800" u="none" cap="none" strike="noStrike">
              <a:solidFill>
                <a:schemeClr val="dk1"/>
              </a:solidFill>
              <a:latin typeface="Calibri"/>
              <a:ea typeface="Calibri"/>
              <a:cs typeface="Calibri"/>
              <a:sym typeface="Calibri"/>
            </a:endParaRPr>
          </a:p>
        </p:txBody>
      </p:sp>
      <p:sp>
        <p:nvSpPr>
          <p:cNvPr id="219" name="Google Shape;219;p8"/>
          <p:cNvSpPr/>
          <p:nvPr/>
        </p:nvSpPr>
        <p:spPr>
          <a:xfrm>
            <a:off x="4517136"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4517136"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W4</a:t>
            </a:r>
            <a:endParaRPr b="0" i="0" sz="800" u="none" cap="none" strike="noStrike">
              <a:solidFill>
                <a:schemeClr val="dk1"/>
              </a:solidFill>
              <a:latin typeface="Calibri"/>
              <a:ea typeface="Calibri"/>
              <a:cs typeface="Calibri"/>
              <a:sym typeface="Calibri"/>
            </a:endParaRPr>
          </a:p>
        </p:txBody>
      </p:sp>
      <p:sp>
        <p:nvSpPr>
          <p:cNvPr id="221" name="Google Shape;221;p8"/>
          <p:cNvSpPr/>
          <p:nvPr/>
        </p:nvSpPr>
        <p:spPr>
          <a:xfrm>
            <a:off x="5047488"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5047488"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W1</a:t>
            </a:r>
            <a:endParaRPr b="0" i="0" sz="800" u="none" cap="none" strike="noStrike">
              <a:solidFill>
                <a:schemeClr val="dk1"/>
              </a:solidFill>
              <a:latin typeface="Calibri"/>
              <a:ea typeface="Calibri"/>
              <a:cs typeface="Calibri"/>
              <a:sym typeface="Calibri"/>
            </a:endParaRPr>
          </a:p>
        </p:txBody>
      </p:sp>
      <p:sp>
        <p:nvSpPr>
          <p:cNvPr id="223" name="Google Shape;223;p8"/>
          <p:cNvSpPr/>
          <p:nvPr/>
        </p:nvSpPr>
        <p:spPr>
          <a:xfrm>
            <a:off x="5577840"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577840"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W2</a:t>
            </a:r>
            <a:endParaRPr b="0" i="0" sz="800" u="none" cap="none" strike="noStrike">
              <a:solidFill>
                <a:schemeClr val="dk1"/>
              </a:solidFill>
              <a:latin typeface="Calibri"/>
              <a:ea typeface="Calibri"/>
              <a:cs typeface="Calibri"/>
              <a:sym typeface="Calibri"/>
            </a:endParaRPr>
          </a:p>
        </p:txBody>
      </p:sp>
      <p:sp>
        <p:nvSpPr>
          <p:cNvPr id="225" name="Google Shape;225;p8"/>
          <p:cNvSpPr/>
          <p:nvPr/>
        </p:nvSpPr>
        <p:spPr>
          <a:xfrm>
            <a:off x="6108192"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6108192"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W3</a:t>
            </a:r>
            <a:endParaRPr b="0" i="0" sz="800" u="none" cap="none" strike="noStrike">
              <a:solidFill>
                <a:schemeClr val="dk1"/>
              </a:solidFill>
              <a:latin typeface="Calibri"/>
              <a:ea typeface="Calibri"/>
              <a:cs typeface="Calibri"/>
              <a:sym typeface="Calibri"/>
            </a:endParaRPr>
          </a:p>
        </p:txBody>
      </p:sp>
      <p:sp>
        <p:nvSpPr>
          <p:cNvPr id="227" name="Google Shape;227;p8"/>
          <p:cNvSpPr/>
          <p:nvPr/>
        </p:nvSpPr>
        <p:spPr>
          <a:xfrm>
            <a:off x="6638544"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6638544"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W4</a:t>
            </a:r>
            <a:endParaRPr b="0" i="0" sz="800" u="none" cap="none" strike="noStrike">
              <a:solidFill>
                <a:schemeClr val="dk1"/>
              </a:solidFill>
              <a:latin typeface="Calibri"/>
              <a:ea typeface="Calibri"/>
              <a:cs typeface="Calibri"/>
              <a:sym typeface="Calibri"/>
            </a:endParaRPr>
          </a:p>
        </p:txBody>
      </p:sp>
      <p:sp>
        <p:nvSpPr>
          <p:cNvPr id="229" name="Google Shape;229;p8"/>
          <p:cNvSpPr/>
          <p:nvPr/>
        </p:nvSpPr>
        <p:spPr>
          <a:xfrm>
            <a:off x="7168896"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7168896"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W1</a:t>
            </a:r>
            <a:endParaRPr b="0" i="0" sz="800" u="none" cap="none" strike="noStrike">
              <a:solidFill>
                <a:schemeClr val="dk1"/>
              </a:solidFill>
              <a:latin typeface="Calibri"/>
              <a:ea typeface="Calibri"/>
              <a:cs typeface="Calibri"/>
              <a:sym typeface="Calibri"/>
            </a:endParaRPr>
          </a:p>
        </p:txBody>
      </p:sp>
      <p:sp>
        <p:nvSpPr>
          <p:cNvPr id="231" name="Google Shape;231;p8"/>
          <p:cNvSpPr/>
          <p:nvPr/>
        </p:nvSpPr>
        <p:spPr>
          <a:xfrm>
            <a:off x="7699248"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7699248"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W2</a:t>
            </a:r>
            <a:endParaRPr b="0" i="0" sz="800" u="none" cap="none" strike="noStrike">
              <a:solidFill>
                <a:schemeClr val="dk1"/>
              </a:solidFill>
              <a:latin typeface="Calibri"/>
              <a:ea typeface="Calibri"/>
              <a:cs typeface="Calibri"/>
              <a:sym typeface="Calibri"/>
            </a:endParaRPr>
          </a:p>
        </p:txBody>
      </p:sp>
      <p:sp>
        <p:nvSpPr>
          <p:cNvPr id="233" name="Google Shape;233;p8"/>
          <p:cNvSpPr/>
          <p:nvPr/>
        </p:nvSpPr>
        <p:spPr>
          <a:xfrm>
            <a:off x="8229600"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8229600"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W3</a:t>
            </a:r>
            <a:endParaRPr b="0" i="0" sz="800" u="none" cap="none" strike="noStrike">
              <a:solidFill>
                <a:schemeClr val="dk1"/>
              </a:solidFill>
              <a:latin typeface="Calibri"/>
              <a:ea typeface="Calibri"/>
              <a:cs typeface="Calibri"/>
              <a:sym typeface="Calibri"/>
            </a:endParaRPr>
          </a:p>
        </p:txBody>
      </p:sp>
      <p:sp>
        <p:nvSpPr>
          <p:cNvPr id="235" name="Google Shape;235;p8"/>
          <p:cNvSpPr/>
          <p:nvPr/>
        </p:nvSpPr>
        <p:spPr>
          <a:xfrm>
            <a:off x="8759952" y="2057400"/>
            <a:ext cx="530352" cy="256032"/>
          </a:xfrm>
          <a:prstGeom prst="rect">
            <a:avLst/>
          </a:prstGeom>
          <a:solidFill>
            <a:srgbClr val="E8ECF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8759952" y="2066544"/>
            <a:ext cx="530352"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W4</a:t>
            </a:r>
            <a:endParaRPr b="0" i="0" sz="800" u="none" cap="none" strike="noStrike">
              <a:solidFill>
                <a:schemeClr val="dk1"/>
              </a:solidFill>
              <a:latin typeface="Calibri"/>
              <a:ea typeface="Calibri"/>
              <a:cs typeface="Calibri"/>
              <a:sym typeface="Calibri"/>
            </a:endParaRPr>
          </a:p>
        </p:txBody>
      </p:sp>
      <p:sp>
        <p:nvSpPr>
          <p:cNvPr id="237" name="Google Shape;237;p8"/>
          <p:cNvSpPr/>
          <p:nvPr/>
        </p:nvSpPr>
        <p:spPr>
          <a:xfrm>
            <a:off x="365760" y="1783080"/>
            <a:ext cx="2560320" cy="530352"/>
          </a:xfrm>
          <a:prstGeom prst="rect">
            <a:avLst/>
          </a:prstGeom>
          <a:solidFill>
            <a:srgbClr val="0F1C3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457200" y="1874520"/>
            <a:ext cx="24688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Task / Activity</a:t>
            </a:r>
            <a:endParaRPr b="0" i="0" sz="1100" u="none" cap="none" strike="noStrike">
              <a:solidFill>
                <a:schemeClr val="dk1"/>
              </a:solidFill>
              <a:latin typeface="Calibri"/>
              <a:ea typeface="Calibri"/>
              <a:cs typeface="Calibri"/>
              <a:sym typeface="Calibri"/>
            </a:endParaRPr>
          </a:p>
        </p:txBody>
      </p:sp>
      <p:sp>
        <p:nvSpPr>
          <p:cNvPr id="239" name="Google Shape;239;p8"/>
          <p:cNvSpPr/>
          <p:nvPr/>
        </p:nvSpPr>
        <p:spPr>
          <a:xfrm>
            <a:off x="365760" y="2313432"/>
            <a:ext cx="2560320" cy="338328"/>
          </a:xfrm>
          <a:prstGeom prst="rect">
            <a:avLst/>
          </a:prstGeom>
          <a:solidFill>
            <a:srgbClr val="F8F9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57200" y="2350008"/>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Topic Selection &amp; Proposal Draft</a:t>
            </a:r>
            <a:endParaRPr b="0" i="0" sz="900" u="none" cap="none" strike="noStrike">
              <a:solidFill>
                <a:schemeClr val="dk1"/>
              </a:solidFill>
              <a:latin typeface="Calibri"/>
              <a:ea typeface="Calibri"/>
              <a:cs typeface="Calibri"/>
              <a:sym typeface="Calibri"/>
            </a:endParaRPr>
          </a:p>
        </p:txBody>
      </p:sp>
      <p:sp>
        <p:nvSpPr>
          <p:cNvPr id="241" name="Google Shape;241;p8"/>
          <p:cNvSpPr/>
          <p:nvPr/>
        </p:nvSpPr>
        <p:spPr>
          <a:xfrm>
            <a:off x="2926080"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2953512" y="2368296"/>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3456432"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3483864" y="2368296"/>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3986784"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4517136"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5047488"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5577840"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6108192"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6638544"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7168896"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7699248"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8229600"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8759952" y="2313432"/>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365760" y="2651760"/>
            <a:ext cx="2560320" cy="33832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457200" y="2688336"/>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Literature Review</a:t>
            </a:r>
            <a:endParaRPr b="0" i="0" sz="900" u="none" cap="none" strike="noStrike">
              <a:solidFill>
                <a:schemeClr val="dk1"/>
              </a:solidFill>
              <a:latin typeface="Calibri"/>
              <a:ea typeface="Calibri"/>
              <a:cs typeface="Calibri"/>
              <a:sym typeface="Calibri"/>
            </a:endParaRPr>
          </a:p>
        </p:txBody>
      </p:sp>
      <p:sp>
        <p:nvSpPr>
          <p:cNvPr id="257" name="Google Shape;257;p8"/>
          <p:cNvSpPr/>
          <p:nvPr/>
        </p:nvSpPr>
        <p:spPr>
          <a:xfrm>
            <a:off x="2926080"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2953512" y="2706624"/>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3456432"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3483864" y="2706624"/>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3986784"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4014216" y="2706624"/>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4517136"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4544568" y="2706624"/>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5047488"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5577840"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6108192"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638544"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7168896"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699248"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8229600"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8759952" y="2651760"/>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365760" y="2990088"/>
            <a:ext cx="2560320" cy="338328"/>
          </a:xfrm>
          <a:prstGeom prst="rect">
            <a:avLst/>
          </a:prstGeom>
          <a:solidFill>
            <a:srgbClr val="F8F9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457200" y="3026664"/>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Research Methodology Design</a:t>
            </a:r>
            <a:endParaRPr b="0" i="0" sz="900" u="none" cap="none" strike="noStrike">
              <a:solidFill>
                <a:schemeClr val="dk1"/>
              </a:solidFill>
              <a:latin typeface="Calibri"/>
              <a:ea typeface="Calibri"/>
              <a:cs typeface="Calibri"/>
              <a:sym typeface="Calibri"/>
            </a:endParaRPr>
          </a:p>
        </p:txBody>
      </p:sp>
      <p:sp>
        <p:nvSpPr>
          <p:cNvPr id="275" name="Google Shape;275;p8"/>
          <p:cNvSpPr/>
          <p:nvPr/>
        </p:nvSpPr>
        <p:spPr>
          <a:xfrm>
            <a:off x="2926080"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3456432"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3986784"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4014216" y="3044952"/>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4517136"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4544568" y="3044952"/>
            <a:ext cx="475488" cy="22860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5047488"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5074920" y="3044952"/>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5577840"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6108192"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6638544"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7168896"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7699248"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8229600"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8759952" y="2990088"/>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365760" y="3328416"/>
            <a:ext cx="2560320" cy="33832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457200" y="3364992"/>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Data Collection</a:t>
            </a:r>
            <a:endParaRPr b="0" i="0" sz="900" u="none" cap="none" strike="noStrike">
              <a:solidFill>
                <a:schemeClr val="dk1"/>
              </a:solidFill>
              <a:latin typeface="Calibri"/>
              <a:ea typeface="Calibri"/>
              <a:cs typeface="Calibri"/>
              <a:sym typeface="Calibri"/>
            </a:endParaRPr>
          </a:p>
        </p:txBody>
      </p:sp>
      <p:sp>
        <p:nvSpPr>
          <p:cNvPr id="292" name="Google Shape;292;p8"/>
          <p:cNvSpPr/>
          <p:nvPr/>
        </p:nvSpPr>
        <p:spPr>
          <a:xfrm>
            <a:off x="2926080"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3456432"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3986784"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4517136"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5047488"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5074920" y="3383280"/>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5577840"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5605272" y="3383280"/>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6108192"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6135624" y="3383280"/>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6638544"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7168896"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7699248"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8229600"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8759952" y="3328416"/>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365760" y="3666744"/>
            <a:ext cx="2560320" cy="338328"/>
          </a:xfrm>
          <a:prstGeom prst="rect">
            <a:avLst/>
          </a:prstGeom>
          <a:solidFill>
            <a:srgbClr val="F8F9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457200" y="3703320"/>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Data Analysis</a:t>
            </a:r>
            <a:endParaRPr b="0" i="0" sz="900" u="none" cap="none" strike="noStrike">
              <a:solidFill>
                <a:schemeClr val="dk1"/>
              </a:solidFill>
              <a:latin typeface="Calibri"/>
              <a:ea typeface="Calibri"/>
              <a:cs typeface="Calibri"/>
              <a:sym typeface="Calibri"/>
            </a:endParaRPr>
          </a:p>
        </p:txBody>
      </p:sp>
      <p:sp>
        <p:nvSpPr>
          <p:cNvPr id="309" name="Google Shape;309;p8"/>
          <p:cNvSpPr/>
          <p:nvPr/>
        </p:nvSpPr>
        <p:spPr>
          <a:xfrm>
            <a:off x="2926080"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3456432"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3986784"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4517136"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5047488"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5577840"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6108192"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6135624" y="3721608"/>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6638544"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6665976" y="3721608"/>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7168896"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7196328" y="3721608"/>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7699248"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8229600"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8759952" y="3666744"/>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365760" y="4005072"/>
            <a:ext cx="2560320" cy="33832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457200" y="4041648"/>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System Design / Development</a:t>
            </a:r>
            <a:endParaRPr b="0" i="0" sz="900" u="none" cap="none" strike="noStrike">
              <a:solidFill>
                <a:schemeClr val="dk1"/>
              </a:solidFill>
              <a:latin typeface="Calibri"/>
              <a:ea typeface="Calibri"/>
              <a:cs typeface="Calibri"/>
              <a:sym typeface="Calibri"/>
            </a:endParaRPr>
          </a:p>
        </p:txBody>
      </p:sp>
      <p:sp>
        <p:nvSpPr>
          <p:cNvPr id="326" name="Google Shape;326;p8"/>
          <p:cNvSpPr/>
          <p:nvPr/>
        </p:nvSpPr>
        <p:spPr>
          <a:xfrm>
            <a:off x="2926080"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3456432"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3986784"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4517136"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5047488"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5074920" y="4059936"/>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5577840"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p:nvPr/>
        </p:nvSpPr>
        <p:spPr>
          <a:xfrm>
            <a:off x="5605272" y="4059936"/>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6108192"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6135624" y="4059936"/>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6638544"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6665976" y="4059936"/>
            <a:ext cx="475488" cy="22860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
          <p:cNvSpPr/>
          <p:nvPr/>
        </p:nvSpPr>
        <p:spPr>
          <a:xfrm>
            <a:off x="7168896"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7699248"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8229600"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8759952" y="4005072"/>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365760" y="4343400"/>
            <a:ext cx="2560320" cy="338328"/>
          </a:xfrm>
          <a:prstGeom prst="rect">
            <a:avLst/>
          </a:prstGeom>
          <a:solidFill>
            <a:srgbClr val="F8F9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457200" y="4379976"/>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Testing &amp; Evaluation</a:t>
            </a:r>
            <a:endParaRPr b="0" i="0" sz="900" u="none" cap="none" strike="noStrike">
              <a:solidFill>
                <a:schemeClr val="dk1"/>
              </a:solidFill>
              <a:latin typeface="Calibri"/>
              <a:ea typeface="Calibri"/>
              <a:cs typeface="Calibri"/>
              <a:sym typeface="Calibri"/>
            </a:endParaRPr>
          </a:p>
        </p:txBody>
      </p:sp>
      <p:sp>
        <p:nvSpPr>
          <p:cNvPr id="344" name="Google Shape;344;p8"/>
          <p:cNvSpPr/>
          <p:nvPr/>
        </p:nvSpPr>
        <p:spPr>
          <a:xfrm>
            <a:off x="2926080"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3456432"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3986784"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4517136"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5047488"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5577840"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6108192"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6638544"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7168896"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7196328" y="4398264"/>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7699248"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7726680" y="4398264"/>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8229600"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8759952" y="4343400"/>
            <a:ext cx="530352" cy="338328"/>
          </a:xfrm>
          <a:prstGeom prst="rect">
            <a:avLst/>
          </a:prstGeom>
          <a:solidFill>
            <a:srgbClr val="F0F0F0"/>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365760" y="4681728"/>
            <a:ext cx="2560320" cy="338328"/>
          </a:xfrm>
          <a:prstGeom prst="rect">
            <a:avLst/>
          </a:prstGeom>
          <a:solidFill>
            <a:srgbClr val="FFFFFF"/>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457200" y="4718304"/>
            <a:ext cx="24231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Report Writing &amp; Final Review</a:t>
            </a:r>
            <a:endParaRPr b="0" i="0" sz="900" u="none" cap="none" strike="noStrike">
              <a:solidFill>
                <a:schemeClr val="dk1"/>
              </a:solidFill>
              <a:latin typeface="Calibri"/>
              <a:ea typeface="Calibri"/>
              <a:cs typeface="Calibri"/>
              <a:sym typeface="Calibri"/>
            </a:endParaRPr>
          </a:p>
        </p:txBody>
      </p:sp>
      <p:sp>
        <p:nvSpPr>
          <p:cNvPr id="360" name="Google Shape;360;p8"/>
          <p:cNvSpPr/>
          <p:nvPr/>
        </p:nvSpPr>
        <p:spPr>
          <a:xfrm>
            <a:off x="2926080"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3456432"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3986784"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4517136"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5047488"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5577840"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6108192"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6638544"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7168896"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7699248"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7726680" y="4736592"/>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8229600"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8257032" y="4736592"/>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8759952" y="4681728"/>
            <a:ext cx="530352" cy="338328"/>
          </a:xfrm>
          <a:prstGeom prst="rect">
            <a:avLst/>
          </a:prstGeom>
          <a:solidFill>
            <a:srgbClr val="FAFAFA"/>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8787384" y="4736592"/>
            <a:ext cx="475488" cy="2286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365760" y="5111496"/>
            <a:ext cx="228600" cy="18288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640080" y="5111496"/>
            <a:ext cx="1005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Month 1</a:t>
            </a:r>
            <a:endParaRPr b="0" i="0" sz="900" u="none" cap="none" strike="noStrike">
              <a:solidFill>
                <a:schemeClr val="dk1"/>
              </a:solidFill>
              <a:latin typeface="Calibri"/>
              <a:ea typeface="Calibri"/>
              <a:cs typeface="Calibri"/>
              <a:sym typeface="Calibri"/>
            </a:endParaRPr>
          </a:p>
        </p:txBody>
      </p:sp>
      <p:sp>
        <p:nvSpPr>
          <p:cNvPr id="377" name="Google Shape;377;p8"/>
          <p:cNvSpPr/>
          <p:nvPr/>
        </p:nvSpPr>
        <p:spPr>
          <a:xfrm>
            <a:off x="1737360" y="5111496"/>
            <a:ext cx="228600" cy="182880"/>
          </a:xfrm>
          <a:prstGeom prst="rect">
            <a:avLst/>
          </a:prstGeom>
          <a:solidFill>
            <a:srgbClr val="1A9641"/>
          </a:solidFill>
          <a:ln cap="flat" cmpd="sng" w="12700">
            <a:solidFill>
              <a:srgbClr val="1A96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2011680" y="5111496"/>
            <a:ext cx="1005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Month 2</a:t>
            </a:r>
            <a:endParaRPr b="0" i="0" sz="900" u="none" cap="none" strike="noStrike">
              <a:solidFill>
                <a:schemeClr val="dk1"/>
              </a:solidFill>
              <a:latin typeface="Calibri"/>
              <a:ea typeface="Calibri"/>
              <a:cs typeface="Calibri"/>
              <a:sym typeface="Calibri"/>
            </a:endParaRPr>
          </a:p>
        </p:txBody>
      </p:sp>
      <p:sp>
        <p:nvSpPr>
          <p:cNvPr id="379" name="Google Shape;379;p8"/>
          <p:cNvSpPr/>
          <p:nvPr/>
        </p:nvSpPr>
        <p:spPr>
          <a:xfrm>
            <a:off x="3108960" y="5111496"/>
            <a:ext cx="228600" cy="18288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3383280" y="5111496"/>
            <a:ext cx="1005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Month 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9"/>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08 &amp; 09 | Expected Outcomes &amp; References</a:t>
            </a:r>
            <a:endParaRPr b="0" i="0" sz="2200" u="none" cap="none" strike="noStrike">
              <a:solidFill>
                <a:schemeClr val="dk1"/>
              </a:solidFill>
              <a:latin typeface="Calibri"/>
              <a:ea typeface="Calibri"/>
              <a:cs typeface="Calibri"/>
              <a:sym typeface="Calibri"/>
            </a:endParaRPr>
          </a:p>
        </p:txBody>
      </p:sp>
      <p:sp>
        <p:nvSpPr>
          <p:cNvPr id="389" name="Google Shape;389;p9"/>
          <p:cNvSpPr/>
          <p:nvPr/>
        </p:nvSpPr>
        <p:spPr>
          <a:xfrm>
            <a:off x="36576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365760" y="1188720"/>
            <a:ext cx="4114800" cy="365760"/>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45720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EXPECTED OUTCOMES</a:t>
            </a:r>
            <a:endParaRPr b="0" i="0" sz="1200" u="none" cap="none" strike="noStrike">
              <a:solidFill>
                <a:schemeClr val="dk1"/>
              </a:solidFill>
              <a:latin typeface="Calibri"/>
              <a:ea typeface="Calibri"/>
              <a:cs typeface="Calibri"/>
              <a:sym typeface="Calibri"/>
            </a:endParaRPr>
          </a:p>
        </p:txBody>
      </p:sp>
      <p:sp>
        <p:nvSpPr>
          <p:cNvPr id="392" name="Google Shape;392;p9"/>
          <p:cNvSpPr/>
          <p:nvPr/>
        </p:nvSpPr>
        <p:spPr>
          <a:xfrm>
            <a:off x="548640" y="169164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What to include:</a:t>
            </a:r>
            <a:endParaRPr b="0" i="0" sz="1100" u="none" cap="none" strike="noStrike">
              <a:solidFill>
                <a:schemeClr val="dk1"/>
              </a:solidFill>
              <a:latin typeface="Calibri"/>
              <a:ea typeface="Calibri"/>
              <a:cs typeface="Calibri"/>
              <a:sym typeface="Calibri"/>
            </a:endParaRPr>
          </a:p>
        </p:txBody>
      </p:sp>
      <p:sp>
        <p:nvSpPr>
          <p:cNvPr id="393" name="Google Shape;393;p9"/>
          <p:cNvSpPr/>
          <p:nvPr/>
        </p:nvSpPr>
        <p:spPr>
          <a:xfrm>
            <a:off x="548640" y="2011680"/>
            <a:ext cx="3749040" cy="24688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What will be produced? (e.g., system, app, report)</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How will it solve the identified problem?</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Who will benefit from this project?</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Measurable results you expect to achieve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Contribution to the field or industry</a:t>
            </a:r>
            <a:endParaRPr b="0" i="0" sz="1200" u="none" cap="none" strike="noStrike">
              <a:solidFill>
                <a:schemeClr val="dk1"/>
              </a:solidFill>
              <a:latin typeface="Calibri"/>
              <a:ea typeface="Calibri"/>
              <a:cs typeface="Calibri"/>
              <a:sym typeface="Calibri"/>
            </a:endParaRPr>
          </a:p>
        </p:txBody>
      </p:sp>
      <p:sp>
        <p:nvSpPr>
          <p:cNvPr id="394" name="Google Shape;394;p9"/>
          <p:cNvSpPr/>
          <p:nvPr/>
        </p:nvSpPr>
        <p:spPr>
          <a:xfrm>
            <a:off x="4663440" y="1188720"/>
            <a:ext cx="4114800" cy="356616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4663440" y="1188720"/>
            <a:ext cx="4114800" cy="365760"/>
          </a:xfrm>
          <a:prstGeom prst="rect">
            <a:avLst/>
          </a:prstGeom>
          <a:solidFill>
            <a:srgbClr val="16A085"/>
          </a:solidFill>
          <a:ln cap="flat" cmpd="sng" w="127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4754880" y="12161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REFERENCES</a:t>
            </a:r>
            <a:endParaRPr b="0" i="0" sz="1200" u="none" cap="none" strike="noStrike">
              <a:solidFill>
                <a:schemeClr val="dk1"/>
              </a:solidFill>
              <a:latin typeface="Calibri"/>
              <a:ea typeface="Calibri"/>
              <a:cs typeface="Calibri"/>
              <a:sym typeface="Calibri"/>
            </a:endParaRPr>
          </a:p>
        </p:txBody>
      </p:sp>
      <p:sp>
        <p:nvSpPr>
          <p:cNvPr id="397" name="Google Shape;397;p9"/>
          <p:cNvSpPr/>
          <p:nvPr/>
        </p:nvSpPr>
        <p:spPr>
          <a:xfrm>
            <a:off x="4846320" y="169164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Harvard Referencing Format:</a:t>
            </a:r>
            <a:endParaRPr b="0" i="0" sz="1100" u="none" cap="none" strike="noStrike">
              <a:solidFill>
                <a:schemeClr val="dk1"/>
              </a:solidFill>
              <a:latin typeface="Calibri"/>
              <a:ea typeface="Calibri"/>
              <a:cs typeface="Calibri"/>
              <a:sym typeface="Calibri"/>
            </a:endParaRPr>
          </a:p>
        </p:txBody>
      </p:sp>
      <p:sp>
        <p:nvSpPr>
          <p:cNvPr id="398" name="Google Shape;398;p9"/>
          <p:cNvSpPr/>
          <p:nvPr/>
        </p:nvSpPr>
        <p:spPr>
          <a:xfrm>
            <a:off x="4846320" y="1965960"/>
            <a:ext cx="36576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00"/>
              <a:buFont typeface="Calibri"/>
              <a:buNone/>
            </a:pPr>
            <a:r>
              <a:rPr b="0" i="1" lang="en-US" sz="1000" u="none" cap="none" strike="noStrike">
                <a:solidFill>
                  <a:srgbClr val="5A6A7E"/>
                </a:solidFill>
                <a:latin typeface="Calibri"/>
                <a:ea typeface="Calibri"/>
                <a:cs typeface="Calibri"/>
                <a:sym typeface="Calibri"/>
              </a:rPr>
              <a:t>Author Surname, Initial(s). (Year). Title of Book. Publisher.</a:t>
            </a:r>
            <a:endParaRPr b="0" i="0" sz="1000" u="none" cap="none" strike="noStrike">
              <a:solidFill>
                <a:schemeClr val="dk1"/>
              </a:solidFill>
              <a:latin typeface="Calibri"/>
              <a:ea typeface="Calibri"/>
              <a:cs typeface="Calibri"/>
              <a:sym typeface="Calibri"/>
            </a:endParaRPr>
          </a:p>
        </p:txBody>
      </p:sp>
      <p:sp>
        <p:nvSpPr>
          <p:cNvPr id="399" name="Google Shape;399;p9"/>
          <p:cNvSpPr/>
          <p:nvPr/>
        </p:nvSpPr>
        <p:spPr>
          <a:xfrm>
            <a:off x="4846320" y="2450592"/>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Tips:</a:t>
            </a:r>
            <a:endParaRPr b="0" i="0" sz="1100" u="none" cap="none" strike="noStrike">
              <a:solidFill>
                <a:schemeClr val="dk1"/>
              </a:solidFill>
              <a:latin typeface="Calibri"/>
              <a:ea typeface="Calibri"/>
              <a:cs typeface="Calibri"/>
              <a:sym typeface="Calibri"/>
            </a:endParaRPr>
          </a:p>
        </p:txBody>
      </p:sp>
      <p:sp>
        <p:nvSpPr>
          <p:cNvPr id="400" name="Google Shape;400;p9"/>
          <p:cNvSpPr/>
          <p:nvPr/>
        </p:nvSpPr>
        <p:spPr>
          <a:xfrm>
            <a:off x="4846320" y="2743200"/>
            <a:ext cx="3749040" cy="18288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Minimum 8–10 references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Mix: books, journals, websites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All in-text citations must appear in reference list</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Use Cite This For Me or Mendeley tool</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A7E"/>
              </a:buClr>
              <a:buSzPts val="1200"/>
              <a:buFont typeface="Calibri"/>
              <a:buChar char="•"/>
            </a:pPr>
            <a:r>
              <a:rPr b="0" i="0" lang="en-US" sz="1200" u="none" cap="none" strike="noStrike">
                <a:solidFill>
                  <a:srgbClr val="5A6A7E"/>
                </a:solidFill>
                <a:latin typeface="Calibri"/>
                <a:ea typeface="Calibri"/>
                <a:cs typeface="Calibri"/>
                <a:sym typeface="Calibri"/>
              </a:rPr>
              <a:t>No Wikipedia as a main source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0"/>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0" y="1005840"/>
            <a:ext cx="9144000" cy="54864"/>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p:nvPr/>
        </p:nvSpPr>
        <p:spPr>
          <a:xfrm>
            <a:off x="365760" y="1828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Tips for a Strong Proposal</a:t>
            </a:r>
            <a:endParaRPr b="0" i="0" sz="2600" u="none" cap="none" strike="noStrike">
              <a:solidFill>
                <a:schemeClr val="dk1"/>
              </a:solidFill>
              <a:latin typeface="Calibri"/>
              <a:ea typeface="Calibri"/>
              <a:cs typeface="Calibri"/>
              <a:sym typeface="Calibri"/>
            </a:endParaRPr>
          </a:p>
        </p:txBody>
      </p:sp>
      <p:sp>
        <p:nvSpPr>
          <p:cNvPr id="409" name="Google Shape;409;p10"/>
          <p:cNvSpPr/>
          <p:nvPr/>
        </p:nvSpPr>
        <p:spPr>
          <a:xfrm>
            <a:off x="365760" y="11887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502920" y="13258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11" name="Google Shape;411;p10"/>
          <p:cNvSpPr/>
          <p:nvPr/>
        </p:nvSpPr>
        <p:spPr>
          <a:xfrm>
            <a:off x="502920" y="17830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Write clearly and simply</a:t>
            </a:r>
            <a:endParaRPr b="0" i="0" sz="1200" u="none" cap="none" strike="noStrike">
              <a:solidFill>
                <a:schemeClr val="dk1"/>
              </a:solidFill>
              <a:latin typeface="Calibri"/>
              <a:ea typeface="Calibri"/>
              <a:cs typeface="Calibri"/>
              <a:sym typeface="Calibri"/>
            </a:endParaRPr>
          </a:p>
        </p:txBody>
      </p:sp>
      <p:sp>
        <p:nvSpPr>
          <p:cNvPr id="412" name="Google Shape;412;p10"/>
          <p:cNvSpPr/>
          <p:nvPr/>
        </p:nvSpPr>
        <p:spPr>
          <a:xfrm>
            <a:off x="502920" y="21031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Avoid jargon. Your proposal should be readable by someone outside your field.</a:t>
            </a:r>
            <a:endParaRPr b="0" i="0" sz="1050" u="none" cap="none" strike="noStrike">
              <a:solidFill>
                <a:schemeClr val="dk1"/>
              </a:solidFill>
              <a:latin typeface="Calibri"/>
              <a:ea typeface="Calibri"/>
              <a:cs typeface="Calibri"/>
              <a:sym typeface="Calibri"/>
            </a:endParaRPr>
          </a:p>
        </p:txBody>
      </p:sp>
      <p:sp>
        <p:nvSpPr>
          <p:cNvPr id="413" name="Google Shape;413;p10"/>
          <p:cNvSpPr/>
          <p:nvPr/>
        </p:nvSpPr>
        <p:spPr>
          <a:xfrm>
            <a:off x="3291840" y="11887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3429000" y="13258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15" name="Google Shape;415;p10"/>
          <p:cNvSpPr/>
          <p:nvPr/>
        </p:nvSpPr>
        <p:spPr>
          <a:xfrm>
            <a:off x="3429000" y="17830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Be specific, not vague</a:t>
            </a:r>
            <a:endParaRPr b="0" i="0" sz="1200" u="none" cap="none" strike="noStrike">
              <a:solidFill>
                <a:schemeClr val="dk1"/>
              </a:solidFill>
              <a:latin typeface="Calibri"/>
              <a:ea typeface="Calibri"/>
              <a:cs typeface="Calibri"/>
              <a:sym typeface="Calibri"/>
            </a:endParaRPr>
          </a:p>
        </p:txBody>
      </p:sp>
      <p:sp>
        <p:nvSpPr>
          <p:cNvPr id="416" name="Google Shape;416;p10"/>
          <p:cNvSpPr/>
          <p:nvPr/>
        </p:nvSpPr>
        <p:spPr>
          <a:xfrm>
            <a:off x="3429000" y="21031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Instead of 'improve the system', say 'reduce login errors by 30%'.</a:t>
            </a:r>
            <a:endParaRPr b="0" i="0" sz="1050" u="none" cap="none" strike="noStrike">
              <a:solidFill>
                <a:schemeClr val="dk1"/>
              </a:solidFill>
              <a:latin typeface="Calibri"/>
              <a:ea typeface="Calibri"/>
              <a:cs typeface="Calibri"/>
              <a:sym typeface="Calibri"/>
            </a:endParaRPr>
          </a:p>
        </p:txBody>
      </p:sp>
      <p:sp>
        <p:nvSpPr>
          <p:cNvPr id="417" name="Google Shape;417;p10"/>
          <p:cNvSpPr/>
          <p:nvPr/>
        </p:nvSpPr>
        <p:spPr>
          <a:xfrm>
            <a:off x="6217920" y="11887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0"/>
          <p:cNvSpPr/>
          <p:nvPr/>
        </p:nvSpPr>
        <p:spPr>
          <a:xfrm>
            <a:off x="6355080" y="13258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19" name="Google Shape;419;p10"/>
          <p:cNvSpPr/>
          <p:nvPr/>
        </p:nvSpPr>
        <p:spPr>
          <a:xfrm>
            <a:off x="6355080" y="17830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Follow the word count</a:t>
            </a:r>
            <a:endParaRPr b="0" i="0" sz="1200" u="none" cap="none" strike="noStrike">
              <a:solidFill>
                <a:schemeClr val="dk1"/>
              </a:solidFill>
              <a:latin typeface="Calibri"/>
              <a:ea typeface="Calibri"/>
              <a:cs typeface="Calibri"/>
              <a:sym typeface="Calibri"/>
            </a:endParaRPr>
          </a:p>
        </p:txBody>
      </p:sp>
      <p:sp>
        <p:nvSpPr>
          <p:cNvPr id="420" name="Google Shape;420;p10"/>
          <p:cNvSpPr/>
          <p:nvPr/>
        </p:nvSpPr>
        <p:spPr>
          <a:xfrm>
            <a:off x="6355080" y="21031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proposals are typically 2,000–3,000 words. Check your course guidelines.</a:t>
            </a:r>
            <a:endParaRPr b="0" i="0" sz="1050" u="none" cap="none" strike="noStrike">
              <a:solidFill>
                <a:schemeClr val="dk1"/>
              </a:solidFill>
              <a:latin typeface="Calibri"/>
              <a:ea typeface="Calibri"/>
              <a:cs typeface="Calibri"/>
              <a:sym typeface="Calibri"/>
            </a:endParaRPr>
          </a:p>
        </p:txBody>
      </p:sp>
      <p:sp>
        <p:nvSpPr>
          <p:cNvPr id="421" name="Google Shape;421;p10"/>
          <p:cNvSpPr/>
          <p:nvPr/>
        </p:nvSpPr>
        <p:spPr>
          <a:xfrm>
            <a:off x="365760" y="30175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0"/>
          <p:cNvSpPr/>
          <p:nvPr/>
        </p:nvSpPr>
        <p:spPr>
          <a:xfrm>
            <a:off x="502920" y="31546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23" name="Google Shape;423;p10"/>
          <p:cNvSpPr/>
          <p:nvPr/>
        </p:nvSpPr>
        <p:spPr>
          <a:xfrm>
            <a:off x="502920" y="3611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Keep sections connected</a:t>
            </a:r>
            <a:endParaRPr b="0" i="0" sz="1200" u="none" cap="none" strike="noStrike">
              <a:solidFill>
                <a:schemeClr val="dk1"/>
              </a:solidFill>
              <a:latin typeface="Calibri"/>
              <a:ea typeface="Calibri"/>
              <a:cs typeface="Calibri"/>
              <a:sym typeface="Calibri"/>
            </a:endParaRPr>
          </a:p>
        </p:txBody>
      </p:sp>
      <p:sp>
        <p:nvSpPr>
          <p:cNvPr id="424" name="Google Shape;424;p10"/>
          <p:cNvSpPr/>
          <p:nvPr/>
        </p:nvSpPr>
        <p:spPr>
          <a:xfrm>
            <a:off x="502920" y="39319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Your objectives should link to your methodology, Gantt chart and expected outcomes.</a:t>
            </a:r>
            <a:endParaRPr b="0" i="0" sz="1050" u="none" cap="none" strike="noStrike">
              <a:solidFill>
                <a:schemeClr val="dk1"/>
              </a:solidFill>
              <a:latin typeface="Calibri"/>
              <a:ea typeface="Calibri"/>
              <a:cs typeface="Calibri"/>
              <a:sym typeface="Calibri"/>
            </a:endParaRPr>
          </a:p>
        </p:txBody>
      </p:sp>
      <p:sp>
        <p:nvSpPr>
          <p:cNvPr id="425" name="Google Shape;425;p10"/>
          <p:cNvSpPr/>
          <p:nvPr/>
        </p:nvSpPr>
        <p:spPr>
          <a:xfrm>
            <a:off x="3291840" y="30175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p:nvPr/>
        </p:nvSpPr>
        <p:spPr>
          <a:xfrm>
            <a:off x="3429000" y="31546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27" name="Google Shape;427;p10"/>
          <p:cNvSpPr/>
          <p:nvPr/>
        </p:nvSpPr>
        <p:spPr>
          <a:xfrm>
            <a:off x="3429000" y="3611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Proofread carefully</a:t>
            </a:r>
            <a:endParaRPr b="0" i="0" sz="1200" u="none" cap="none" strike="noStrike">
              <a:solidFill>
                <a:schemeClr val="dk1"/>
              </a:solidFill>
              <a:latin typeface="Calibri"/>
              <a:ea typeface="Calibri"/>
              <a:cs typeface="Calibri"/>
              <a:sym typeface="Calibri"/>
            </a:endParaRPr>
          </a:p>
        </p:txBody>
      </p:sp>
      <p:sp>
        <p:nvSpPr>
          <p:cNvPr id="428" name="Google Shape;428;p10"/>
          <p:cNvSpPr/>
          <p:nvPr/>
        </p:nvSpPr>
        <p:spPr>
          <a:xfrm>
            <a:off x="3429000" y="39319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Grammar errors reduce credibility. Use Grammarly or ask a peer to review.</a:t>
            </a:r>
            <a:endParaRPr b="0" i="0" sz="1050" u="none" cap="none" strike="noStrike">
              <a:solidFill>
                <a:schemeClr val="dk1"/>
              </a:solidFill>
              <a:latin typeface="Calibri"/>
              <a:ea typeface="Calibri"/>
              <a:cs typeface="Calibri"/>
              <a:sym typeface="Calibri"/>
            </a:endParaRPr>
          </a:p>
        </p:txBody>
      </p:sp>
      <p:sp>
        <p:nvSpPr>
          <p:cNvPr id="429" name="Google Shape;429;p10"/>
          <p:cNvSpPr/>
          <p:nvPr/>
        </p:nvSpPr>
        <p:spPr>
          <a:xfrm>
            <a:off x="6217920" y="3017520"/>
            <a:ext cx="2743200" cy="1645920"/>
          </a:xfrm>
          <a:prstGeom prst="rect">
            <a:avLst/>
          </a:prstGeom>
          <a:solidFill>
            <a:srgbClr val="FFFFFF"/>
          </a:solidFill>
          <a:ln cap="flat" cmpd="sng" w="12700">
            <a:solidFill>
              <a:srgbClr val="E8EC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0"/>
          <p:cNvSpPr/>
          <p:nvPr/>
        </p:nvSpPr>
        <p:spPr>
          <a:xfrm>
            <a:off x="6355080" y="3154680"/>
            <a:ext cx="548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431" name="Google Shape;431;p10"/>
          <p:cNvSpPr/>
          <p:nvPr/>
        </p:nvSpPr>
        <p:spPr>
          <a:xfrm>
            <a:off x="6355080" y="3611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Be realistic with timelines</a:t>
            </a:r>
            <a:endParaRPr b="0" i="0" sz="1200" u="none" cap="none" strike="noStrike">
              <a:solidFill>
                <a:schemeClr val="dk1"/>
              </a:solidFill>
              <a:latin typeface="Calibri"/>
              <a:ea typeface="Calibri"/>
              <a:cs typeface="Calibri"/>
              <a:sym typeface="Calibri"/>
            </a:endParaRPr>
          </a:p>
        </p:txBody>
      </p:sp>
      <p:sp>
        <p:nvSpPr>
          <p:cNvPr id="432" name="Google Shape;432;p10"/>
          <p:cNvSpPr/>
          <p:nvPr/>
        </p:nvSpPr>
        <p:spPr>
          <a:xfrm>
            <a:off x="6355080" y="3931920"/>
            <a:ext cx="246888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5A6A7E"/>
              </a:buClr>
              <a:buSzPts val="1050"/>
              <a:buFont typeface="Calibri"/>
              <a:buNone/>
            </a:pPr>
            <a:r>
              <a:rPr b="0" i="0" lang="en-US" sz="1050" u="none" cap="none" strike="noStrike">
                <a:solidFill>
                  <a:srgbClr val="5A6A7E"/>
                </a:solidFill>
                <a:latin typeface="Calibri"/>
                <a:ea typeface="Calibri"/>
                <a:cs typeface="Calibri"/>
                <a:sym typeface="Calibri"/>
              </a:rPr>
              <a:t>Don't plan 5 major tasks in one week — spread work realistically in your Gantt chart.</a:t>
            </a:r>
            <a:endParaRPr b="0" i="0" sz="1050" u="none" cap="none" strike="noStrike">
              <a:solidFill>
                <a:schemeClr val="dk1"/>
              </a:solidFill>
              <a:latin typeface="Calibri"/>
              <a:ea typeface="Calibri"/>
              <a:cs typeface="Calibri"/>
              <a:sym typeface="Calibri"/>
            </a:endParaRPr>
          </a:p>
        </p:txBody>
      </p:sp>
      <p:sp>
        <p:nvSpPr>
          <p:cNvPr id="433" name="Google Shape;433;p10"/>
          <p:cNvSpPr/>
          <p:nvPr/>
        </p:nvSpPr>
        <p:spPr>
          <a:xfrm>
            <a:off x="365760" y="4754880"/>
            <a:ext cx="8412480" cy="29260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a:off x="548640" y="4782312"/>
            <a:ext cx="80467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C32"/>
              </a:buClr>
              <a:buSzPts val="1100"/>
              <a:buFont typeface="Calibri"/>
              <a:buNone/>
            </a:pPr>
            <a:r>
              <a:rPr b="1" i="0" lang="en-US" sz="1100" u="none" cap="none" strike="noStrike">
                <a:solidFill>
                  <a:srgbClr val="0F1C32"/>
                </a:solidFill>
                <a:latin typeface="Calibri"/>
                <a:ea typeface="Calibri"/>
                <a:cs typeface="Calibri"/>
                <a:sym typeface="Calibri"/>
              </a:rPr>
              <a:t>Remember: A well-structured proposal shows your supervisor that you are ready to execute your project!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1"/>
          <p:cNvSpPr/>
          <p:nvPr/>
        </p:nvSpPr>
        <p:spPr>
          <a:xfrm>
            <a:off x="0" y="0"/>
            <a:ext cx="9144000" cy="6400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0" y="5074920"/>
            <a:ext cx="9144000" cy="6400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457200" y="22860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020"/>
              </a:buClr>
              <a:buSzPts val="1400"/>
              <a:buFont typeface="Calibri"/>
              <a:buNone/>
            </a:pPr>
            <a:r>
              <a:rPr b="1" i="0" lang="en-US" sz="1400" u="none" cap="none" strike="noStrike">
                <a:solidFill>
                  <a:srgbClr val="E8A020"/>
                </a:solidFill>
                <a:latin typeface="Calibri"/>
                <a:ea typeface="Calibri"/>
                <a:cs typeface="Calibri"/>
                <a:sym typeface="Calibri"/>
              </a:rPr>
              <a:t>🎓  STUDENT ACTIVITY</a:t>
            </a:r>
            <a:endParaRPr b="0" i="0" sz="1400" u="none" cap="none" strike="noStrike">
              <a:solidFill>
                <a:schemeClr val="dk1"/>
              </a:solidFill>
              <a:latin typeface="Calibri"/>
              <a:ea typeface="Calibri"/>
              <a:cs typeface="Calibri"/>
              <a:sym typeface="Calibri"/>
            </a:endParaRPr>
          </a:p>
        </p:txBody>
      </p:sp>
      <p:sp>
        <p:nvSpPr>
          <p:cNvPr id="443" name="Google Shape;443;p11"/>
          <p:cNvSpPr/>
          <p:nvPr/>
        </p:nvSpPr>
        <p:spPr>
          <a:xfrm>
            <a:off x="457200" y="640080"/>
            <a:ext cx="82296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Create Your Own</a:t>
            </a:r>
            <a:endParaRPr b="0" i="0" sz="3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Project Proposal</a:t>
            </a:r>
            <a:endParaRPr b="0" i="0" sz="3800" u="none" cap="none" strike="noStrike">
              <a:solidFill>
                <a:schemeClr val="dk1"/>
              </a:solidFill>
              <a:latin typeface="Calibri"/>
              <a:ea typeface="Calibri"/>
              <a:cs typeface="Calibri"/>
              <a:sym typeface="Calibri"/>
            </a:endParaRPr>
          </a:p>
        </p:txBody>
      </p:sp>
      <p:sp>
        <p:nvSpPr>
          <p:cNvPr id="444" name="Google Shape;444;p11"/>
          <p:cNvSpPr/>
          <p:nvPr/>
        </p:nvSpPr>
        <p:spPr>
          <a:xfrm>
            <a:off x="457200" y="1783080"/>
            <a:ext cx="8229600" cy="457200"/>
          </a:xfrm>
          <a:prstGeom prst="rect">
            <a:avLst/>
          </a:prstGeom>
          <a:solidFill>
            <a:srgbClr val="E8A020"/>
          </a:solidFill>
          <a:ln cap="flat" cmpd="sng" w="12700">
            <a:solidFill>
              <a:srgbClr val="E8A02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594360" y="1828800"/>
            <a:ext cx="7955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C32"/>
              </a:buClr>
              <a:buSzPts val="1200"/>
              <a:buFont typeface="Calibri"/>
              <a:buNone/>
            </a:pPr>
            <a:r>
              <a:rPr b="1" i="0" lang="en-US" sz="1200" u="none" cap="none" strike="noStrike">
                <a:solidFill>
                  <a:srgbClr val="0F1C32"/>
                </a:solidFill>
                <a:latin typeface="Calibri"/>
                <a:ea typeface="Calibri"/>
                <a:cs typeface="Calibri"/>
                <a:sym typeface="Calibri"/>
              </a:rPr>
              <a:t>📋  Task: Write a complete 3-Month Project Proposal on a topic of your choice from the list below</a:t>
            </a:r>
            <a:endParaRPr b="0" i="0" sz="1200" u="none" cap="none" strike="noStrike">
              <a:solidFill>
                <a:schemeClr val="dk1"/>
              </a:solidFill>
              <a:latin typeface="Calibri"/>
              <a:ea typeface="Calibri"/>
              <a:cs typeface="Calibri"/>
              <a:sym typeface="Calibri"/>
            </a:endParaRPr>
          </a:p>
        </p:txBody>
      </p:sp>
      <p:sp>
        <p:nvSpPr>
          <p:cNvPr id="446" name="Google Shape;446;p11"/>
          <p:cNvSpPr/>
          <p:nvPr/>
        </p:nvSpPr>
        <p:spPr>
          <a:xfrm>
            <a:off x="457200" y="237744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020"/>
              </a:buClr>
              <a:buSzPts val="1300"/>
              <a:buFont typeface="Calibri"/>
              <a:buNone/>
            </a:pPr>
            <a:r>
              <a:rPr b="1" i="0" lang="en-US" sz="1300" u="none" cap="none" strike="noStrike">
                <a:solidFill>
                  <a:srgbClr val="E8A020"/>
                </a:solidFill>
                <a:latin typeface="Calibri"/>
                <a:ea typeface="Calibri"/>
                <a:cs typeface="Calibri"/>
                <a:sym typeface="Calibri"/>
              </a:rPr>
              <a:t>Suggested Topics:</a:t>
            </a:r>
            <a:endParaRPr b="0" i="0" sz="1300" u="none" cap="none" strike="noStrike">
              <a:solidFill>
                <a:schemeClr val="dk1"/>
              </a:solidFill>
              <a:latin typeface="Calibri"/>
              <a:ea typeface="Calibri"/>
              <a:cs typeface="Calibri"/>
              <a:sym typeface="Calibri"/>
            </a:endParaRPr>
          </a:p>
        </p:txBody>
      </p:sp>
      <p:sp>
        <p:nvSpPr>
          <p:cNvPr id="447" name="Google Shape;447;p11"/>
          <p:cNvSpPr/>
          <p:nvPr/>
        </p:nvSpPr>
        <p:spPr>
          <a:xfrm>
            <a:off x="457200" y="2697480"/>
            <a:ext cx="411480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Online Student Attendance Management System</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AI Chatbot for Student Helpdesk</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E-Commerce Platform for Local Businesses</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Hospital Appointment Booking System</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Smart Library Management System</a:t>
            </a:r>
            <a:endParaRPr b="0" i="0" sz="11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AABCD8"/>
              </a:buClr>
              <a:buSzPts val="1150"/>
              <a:buFont typeface="Calibri"/>
              <a:buChar char="•"/>
            </a:pPr>
            <a:r>
              <a:rPr b="0" i="0" lang="en-US" sz="1150" u="none" cap="none" strike="noStrike">
                <a:solidFill>
                  <a:srgbClr val="AABCD8"/>
                </a:solidFill>
                <a:latin typeface="Calibri"/>
                <a:ea typeface="Calibri"/>
                <a:cs typeface="Calibri"/>
                <a:sym typeface="Calibri"/>
              </a:rPr>
              <a:t>Mobile App for Campus Navigation</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4846320" y="2377440"/>
            <a:ext cx="3840480" cy="2331720"/>
          </a:xfrm>
          <a:prstGeom prst="rect">
            <a:avLst/>
          </a:prstGeom>
          <a:solidFill>
            <a:srgbClr val="1B2A4A"/>
          </a:solidFill>
          <a:ln cap="flat" cmpd="sng" w="12700">
            <a:solidFill>
              <a:srgbClr val="E8A02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4983480" y="2450592"/>
            <a:ext cx="35661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  Your Proposal Must Include:</a:t>
            </a:r>
            <a:endParaRPr b="0" i="0" sz="1100" u="none" cap="none" strike="noStrike">
              <a:solidFill>
                <a:schemeClr val="dk1"/>
              </a:solidFill>
              <a:latin typeface="Calibri"/>
              <a:ea typeface="Calibri"/>
              <a:cs typeface="Calibri"/>
              <a:sym typeface="Calibri"/>
            </a:endParaRPr>
          </a:p>
        </p:txBody>
      </p:sp>
      <p:sp>
        <p:nvSpPr>
          <p:cNvPr id="450" name="Google Shape;450;p11"/>
          <p:cNvSpPr/>
          <p:nvPr/>
        </p:nvSpPr>
        <p:spPr>
          <a:xfrm>
            <a:off x="4983480" y="2743200"/>
            <a:ext cx="3566160" cy="18288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Title Page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Introduction &amp; Background</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Problem Statement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Aim &amp; 3–5 SMART Objectives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Brief Literature Review (3 sources)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Methodology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Gantt Chart (12 weeks)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Expected Outcomes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FFFFFF"/>
              </a:buClr>
              <a:buSzPts val="1050"/>
              <a:buFont typeface="Calibri"/>
              <a:buChar char="•"/>
            </a:pPr>
            <a:r>
              <a:rPr b="0" i="0" lang="en-US" sz="1050" u="none" cap="none" strike="noStrike">
                <a:solidFill>
                  <a:srgbClr val="FFFFFF"/>
                </a:solidFill>
                <a:latin typeface="Calibri"/>
                <a:ea typeface="Calibri"/>
                <a:cs typeface="Calibri"/>
                <a:sym typeface="Calibri"/>
              </a:rPr>
              <a:t>References (Harvard style)</a:t>
            </a:r>
            <a:endParaRPr b="0" i="0" sz="1050" u="none" cap="none" strike="noStrike">
              <a:solidFill>
                <a:schemeClr val="dk1"/>
              </a:solidFill>
              <a:latin typeface="Calibri"/>
              <a:ea typeface="Calibri"/>
              <a:cs typeface="Calibri"/>
              <a:sym typeface="Calibri"/>
            </a:endParaRPr>
          </a:p>
        </p:txBody>
      </p:sp>
      <p:sp>
        <p:nvSpPr>
          <p:cNvPr id="451" name="Google Shape;451;p11"/>
          <p:cNvSpPr/>
          <p:nvPr/>
        </p:nvSpPr>
        <p:spPr>
          <a:xfrm>
            <a:off x="457200" y="4663440"/>
            <a:ext cx="8229600" cy="347472"/>
          </a:xfrm>
          <a:prstGeom prst="rect">
            <a:avLst/>
          </a:prstGeom>
          <a:solidFill>
            <a:srgbClr val="8B0000"/>
          </a:solidFill>
          <a:ln cap="flat" cmpd="sng" w="12700">
            <a:solidFill>
              <a:srgbClr val="8B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548640" y="4700016"/>
            <a:ext cx="80467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Deadline: 3 Weeks from Today   |   Word Count: 2,000–3,000 words   |   Format: MS Word / PDF</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2026-02-21T04:26:31Z</dcterms:created>
  <dc:creator>PptxGenJS</dc:creator>
</cp:coreProperties>
</file>